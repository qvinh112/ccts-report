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73" r:id="rId2"/>
    <p:sldId id="256" r:id="rId3"/>
    <p:sldId id="274" r:id="rId4"/>
    <p:sldId id="257" r:id="rId5"/>
    <p:sldId id="258" r:id="rId6"/>
    <p:sldId id="259" r:id="rId7"/>
    <p:sldId id="260" r:id="rId8"/>
    <p:sldId id="261" r:id="rId9"/>
    <p:sldId id="262" r:id="rId10"/>
    <p:sldId id="3078" r:id="rId11"/>
    <p:sldId id="264" r:id="rId12"/>
    <p:sldId id="287" r:id="rId13"/>
    <p:sldId id="289" r:id="rId14"/>
    <p:sldId id="3084" r:id="rId15"/>
    <p:sldId id="3085" r:id="rId16"/>
    <p:sldId id="293" r:id="rId17"/>
    <p:sldId id="276" r:id="rId18"/>
    <p:sldId id="3086" r:id="rId19"/>
    <p:sldId id="290" r:id="rId20"/>
    <p:sldId id="3073" r:id="rId21"/>
    <p:sldId id="294" r:id="rId22"/>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20C3AE7-38BF-C197-98D8-8FC43B401308}" name="Dzung Khuc" initials="DK" userId="ba817fc38424ebe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607" autoAdjust="0"/>
    <p:restoredTop sz="94610"/>
  </p:normalViewPr>
  <p:slideViewPr>
    <p:cSldViewPr snapToGrid="0" snapToObjects="1">
      <p:cViewPr>
        <p:scale>
          <a:sx n="66" d="100"/>
          <a:sy n="66" d="100"/>
        </p:scale>
        <p:origin x="900"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pPr>
              <a:defRPr sz="1600" b="1"/>
            </a:pPr>
            <a:r>
              <a:rPr lang="en-US" sz="1600" b="1"/>
              <a:t>EVCS – Top 5 Spare Parts by Usage Qty</a:t>
            </a:r>
          </a:p>
        </c:rich>
      </c:tx>
      <c:overlay val="0"/>
    </c:title>
    <c:autoTitleDeleted val="0"/>
    <c:plotArea>
      <c:layout/>
      <c:barChart>
        <c:barDir val="bar"/>
        <c:grouping val="clustered"/>
        <c:varyColors val="1"/>
        <c:ser>
          <c:idx val="0"/>
          <c:order val="0"/>
          <c:tx>
            <c:v>Usage Qty</c:v>
          </c:tx>
          <c:spPr>
            <a:solidFill>
              <a:srgbClr val="619B32"/>
            </a:solidFill>
          </c:spPr>
          <c:invertIfNegative val="1"/>
          <c:dLbls>
            <c:spPr>
              <a:noFill/>
            </c:spPr>
            <c:txPr>
              <a:bodyPr/>
              <a:lstStyle/>
              <a:p>
                <a:pPr>
                  <a:defRPr sz="1400" b="1"/>
                </a:pPr>
                <a:endParaRPr lang="en-US"/>
              </a:p>
            </c:txPr>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5"/>
              <c:pt idx="0">
                <c:v>AD-DC Power Module</c:v>
              </c:pt>
              <c:pt idx="1">
                <c:v>COREmini QT Screen (Excluded PCBA)</c:v>
              </c:pt>
              <c:pt idx="2">
                <c:v>AC PCBA - AC 22Kw</c:v>
              </c:pt>
              <c:pt idx="3">
                <c:v>HV Core V2.8 - Core 60/80/120/150Kw</c:v>
              </c:pt>
              <c:pt idx="4">
                <c:v>AD-DC Power Module - Core 60/120/150 Kw</c:v>
              </c:pt>
            </c:strLit>
          </c:cat>
          <c:val>
            <c:numLit>
              <c:formatCode>General</c:formatCode>
              <c:ptCount val="5"/>
              <c:pt idx="0">
                <c:v>160</c:v>
              </c:pt>
              <c:pt idx="1">
                <c:v>211</c:v>
              </c:pt>
              <c:pt idx="2">
                <c:v>212</c:v>
              </c:pt>
              <c:pt idx="3">
                <c:v>221</c:v>
              </c:pt>
              <c:pt idx="4">
                <c:v>560</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C8E-44FE-8457-09A231C9CE9C}"/>
            </c:ext>
          </c:extLst>
        </c:ser>
        <c:dLbls>
          <c:showLegendKey val="0"/>
          <c:showVal val="0"/>
          <c:showCatName val="0"/>
          <c:showSerName val="0"/>
          <c:showPercent val="0"/>
          <c:showBubbleSize val="0"/>
        </c:dLbls>
        <c:gapWidth val="150"/>
        <c:axId val="1"/>
        <c:axId val="2"/>
      </c:barChart>
      <c:catAx>
        <c:axId val="1"/>
        <c:scaling>
          <c:orientation val="minMax"/>
        </c:scaling>
        <c:delete val="0"/>
        <c:axPos val="l"/>
        <c:numFmt formatCode="General" sourceLinked="0"/>
        <c:majorTickMark val="none"/>
        <c:minorTickMark val="none"/>
        <c:tickLblPos val="nextTo"/>
        <c:txPr>
          <a:bodyPr/>
          <a:lstStyle/>
          <a:p>
            <a:pPr>
              <a:defRPr sz="1400"/>
            </a:pPr>
            <a:endParaRPr lang="en-US"/>
          </a:p>
        </c:txPr>
        <c:crossAx val="2"/>
        <c:crosses val="autoZero"/>
        <c:auto val="1"/>
        <c:lblAlgn val="ctr"/>
        <c:lblOffset val="100"/>
        <c:noMultiLvlLbl val="1"/>
      </c:catAx>
      <c:valAx>
        <c:axId val="2"/>
        <c:scaling>
          <c:orientation val="minMax"/>
        </c:scaling>
        <c:delete val="0"/>
        <c:axPos val="b"/>
        <c:numFmt formatCode="General" sourceLinked="1"/>
        <c:majorTickMark val="out"/>
        <c:minorTickMark val="none"/>
        <c:tickLblPos val="nextTo"/>
        <c:txPr>
          <a:bodyPr/>
          <a:lstStyle/>
          <a:p>
            <a:pPr>
              <a:defRPr sz="1400"/>
            </a:pPr>
            <a:endParaRPr lang="en-US"/>
          </a:p>
        </c:txPr>
        <c:crossAx val="1"/>
        <c:crosses val="autoZero"/>
        <c:crossBetween val="between"/>
      </c:valAx>
    </c:plotArea>
    <c:plotVisOnly val="1"/>
    <c:dispBlanksAs val="zero"/>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pPr>
              <a:defRPr sz="1600" b="1"/>
            </a:pPr>
            <a:r>
              <a:rPr lang="en-US" sz="1600" b="1"/>
              <a:t>BSS – Top 5 Spare Parts by Usage Qty</a:t>
            </a:r>
          </a:p>
        </c:rich>
      </c:tx>
      <c:overlay val="0"/>
    </c:title>
    <c:autoTitleDeleted val="0"/>
    <c:plotArea>
      <c:layout/>
      <c:barChart>
        <c:barDir val="bar"/>
        <c:grouping val="clustered"/>
        <c:varyColors val="1"/>
        <c:ser>
          <c:idx val="0"/>
          <c:order val="0"/>
          <c:tx>
            <c:v>Usage Qty</c:v>
          </c:tx>
          <c:spPr>
            <a:solidFill>
              <a:srgbClr val="619B32"/>
            </a:solidFill>
          </c:spPr>
          <c:invertIfNegative val="1"/>
          <c:dLbls>
            <c:spPr>
              <a:noFill/>
            </c:spPr>
            <c:txPr>
              <a:bodyPr/>
              <a:lstStyle/>
              <a:p>
                <a:pPr>
                  <a:defRPr sz="1400" b="1"/>
                </a:pPr>
                <a:endParaRPr lang="en-US"/>
              </a:p>
            </c:txPr>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5"/>
              <c:pt idx="0">
                <c:v>Back plate - Shengjiu lock</c:v>
              </c:pt>
              <c:pt idx="1">
                <c:v>Battery Compartment Lock Sensor - SK | BSS</c:v>
              </c:pt>
              <c:pt idx="2">
                <c:v>After-sales Module ZZ - BSS Gen 1</c:v>
              </c:pt>
              <c:pt idx="3">
                <c:v>Battery Compartment Lock - Shengjiu gen3 | BSS</c:v>
              </c:pt>
              <c:pt idx="4">
                <c:v>Battery Compartment Lock Sensor - Shengjiu | BSS</c:v>
              </c:pt>
            </c:strLit>
          </c:cat>
          <c:val>
            <c:numLit>
              <c:formatCode>General</c:formatCode>
              <c:ptCount val="5"/>
              <c:pt idx="0">
                <c:v>609</c:v>
              </c:pt>
              <c:pt idx="1">
                <c:v>706</c:v>
              </c:pt>
              <c:pt idx="2">
                <c:v>1302</c:v>
              </c:pt>
              <c:pt idx="3">
                <c:v>1375</c:v>
              </c:pt>
              <c:pt idx="4">
                <c:v>3138</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B5C8-4DAE-8C1E-54B4B18ED356}"/>
            </c:ext>
          </c:extLst>
        </c:ser>
        <c:dLbls>
          <c:showLegendKey val="0"/>
          <c:showVal val="0"/>
          <c:showCatName val="0"/>
          <c:showSerName val="0"/>
          <c:showPercent val="0"/>
          <c:showBubbleSize val="0"/>
        </c:dLbls>
        <c:gapWidth val="150"/>
        <c:axId val="1"/>
        <c:axId val="2"/>
      </c:barChart>
      <c:catAx>
        <c:axId val="1"/>
        <c:scaling>
          <c:orientation val="minMax"/>
        </c:scaling>
        <c:delete val="0"/>
        <c:axPos val="l"/>
        <c:numFmt formatCode="General" sourceLinked="0"/>
        <c:majorTickMark val="none"/>
        <c:minorTickMark val="none"/>
        <c:tickLblPos val="nextTo"/>
        <c:txPr>
          <a:bodyPr/>
          <a:lstStyle/>
          <a:p>
            <a:pPr>
              <a:defRPr sz="1400"/>
            </a:pPr>
            <a:endParaRPr lang="en-US"/>
          </a:p>
        </c:txPr>
        <c:crossAx val="2"/>
        <c:crosses val="autoZero"/>
        <c:auto val="1"/>
        <c:lblAlgn val="ctr"/>
        <c:lblOffset val="100"/>
        <c:noMultiLvlLbl val="1"/>
      </c:catAx>
      <c:valAx>
        <c:axId val="2"/>
        <c:scaling>
          <c:orientation val="minMax"/>
        </c:scaling>
        <c:delete val="0"/>
        <c:axPos val="b"/>
        <c:numFmt formatCode="General" sourceLinked="1"/>
        <c:majorTickMark val="out"/>
        <c:minorTickMark val="none"/>
        <c:tickLblPos val="nextTo"/>
        <c:txPr>
          <a:bodyPr/>
          <a:lstStyle/>
          <a:p>
            <a:pPr>
              <a:defRPr sz="1400"/>
            </a:pPr>
            <a:endParaRPr lang="en-US"/>
          </a:p>
        </c:txPr>
        <c:crossAx val="1"/>
        <c:crosses val="autoZero"/>
        <c:crossBetween val="between"/>
      </c:valAx>
    </c:plotArea>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8103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of the report.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EVCS ticket classification. 79.9% of tickets are ChargeCore-owned; no fault found is the biggest single bucket.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BSS ticket classification. Ticket rate 65% of the fleet.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EVCS failure status. Fleet failure rate improved to 20.0%. Kern improved most, Socket is the only model rising.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Ticket volume vs failure rate and repeat frequency by model - this replaces the old dual-axis chart.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BSS failure status. Automatic ticket dispatch went live, so M07 is the first month with complete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BSS ticket volume vs failure rate; BSS-06 carries the whole load.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5 alarms per product line with RCA and solution. Most fixes are in the July FW batch.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BSS top 10 alarms; lock, sensor and door faults dominate.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Spare parts EVCS. July export from CCTS still pending; M6 figures kept as reference.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Spare parts BSS. Lock sensors and SD cards are the biggest items; proposal to HQ on component quality.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 by ASP and SE for EVCS. Heatmap shows the six-month direction, the map shows volume vs rate.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 by ASP and SE for BSS. ITS is worst at 40%; SE rising fast from a low base.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 by CSE for EVCS. Heatmap plus M6 to M7 change per CSE; daochu is the only one getting worse.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 by CSE for BSS. daochu 63.8% and dinhnguyen 44.2% are critical.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M7 service cost is 464,345 USD, down 11.4% versus M6 — the first drop in five months, driven entirely by lower spare-parts consumption, and cost per equipment reached its best level at 9.69 USD. Two watch items: SE salary is now 15% of total cost, and if the pending BSS payment to ASP is included the month would instead be 660,609 USD at 13.79 USD per equipment.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0985807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62" y="-29528"/>
            <a:ext cx="18307050" cy="10329862"/>
            <a:chOff x="0" y="0"/>
            <a:chExt cx="24409400" cy="13773150"/>
          </a:xfrm>
        </p:grpSpPr>
        <p:sp>
          <p:nvSpPr>
            <p:cNvPr id="3" name="Freeform 3"/>
            <p:cNvSpPr/>
            <p:nvPr/>
          </p:nvSpPr>
          <p:spPr>
            <a:xfrm>
              <a:off x="12700" y="12700"/>
              <a:ext cx="24384000" cy="13747750"/>
            </a:xfrm>
            <a:custGeom>
              <a:avLst/>
              <a:gdLst/>
              <a:ahLst/>
              <a:cxnLst/>
              <a:rect l="l" t="t" r="r" b="b"/>
              <a:pathLst>
                <a:path w="24384000" h="13747750">
                  <a:moveTo>
                    <a:pt x="0" y="0"/>
                  </a:moveTo>
                  <a:lnTo>
                    <a:pt x="24384000" y="0"/>
                  </a:lnTo>
                  <a:lnTo>
                    <a:pt x="24384000" y="13747750"/>
                  </a:lnTo>
                  <a:lnTo>
                    <a:pt x="0" y="13747750"/>
                  </a:lnTo>
                  <a:close/>
                </a:path>
              </a:pathLst>
            </a:custGeom>
            <a:solidFill>
              <a:srgbClr val="7DB039"/>
            </a:solidFill>
          </p:spPr>
          <p:txBody>
            <a:bodyPr/>
            <a:lstStyle/>
            <a:p>
              <a:endParaRPr lang="en-US"/>
            </a:p>
          </p:txBody>
        </p:sp>
        <p:sp>
          <p:nvSpPr>
            <p:cNvPr id="4" name="Freeform 4"/>
            <p:cNvSpPr/>
            <p:nvPr/>
          </p:nvSpPr>
          <p:spPr>
            <a:xfrm>
              <a:off x="0" y="0"/>
              <a:ext cx="24409400" cy="13773150"/>
            </a:xfrm>
            <a:custGeom>
              <a:avLst/>
              <a:gdLst/>
              <a:ahLst/>
              <a:cxnLst/>
              <a:rect l="l" t="t" r="r" b="b"/>
              <a:pathLst>
                <a:path w="24409400" h="13773150">
                  <a:moveTo>
                    <a:pt x="12700" y="0"/>
                  </a:moveTo>
                  <a:lnTo>
                    <a:pt x="24396700" y="0"/>
                  </a:lnTo>
                  <a:cubicBezTo>
                    <a:pt x="24403686" y="0"/>
                    <a:pt x="24409400" y="5715"/>
                    <a:pt x="24409400" y="12700"/>
                  </a:cubicBezTo>
                  <a:lnTo>
                    <a:pt x="24409400" y="13760450"/>
                  </a:lnTo>
                  <a:cubicBezTo>
                    <a:pt x="24409400" y="13767436"/>
                    <a:pt x="24403686" y="13773150"/>
                    <a:pt x="24396700" y="13773150"/>
                  </a:cubicBezTo>
                  <a:lnTo>
                    <a:pt x="12700" y="13773150"/>
                  </a:lnTo>
                  <a:cubicBezTo>
                    <a:pt x="5715" y="13773150"/>
                    <a:pt x="0" y="13767436"/>
                    <a:pt x="0" y="13760450"/>
                  </a:cubicBezTo>
                  <a:lnTo>
                    <a:pt x="0" y="12700"/>
                  </a:lnTo>
                  <a:cubicBezTo>
                    <a:pt x="0" y="5715"/>
                    <a:pt x="5715" y="0"/>
                    <a:pt x="12700" y="0"/>
                  </a:cubicBezTo>
                  <a:moveTo>
                    <a:pt x="12700" y="25400"/>
                  </a:moveTo>
                  <a:lnTo>
                    <a:pt x="12700" y="12700"/>
                  </a:lnTo>
                  <a:lnTo>
                    <a:pt x="25400" y="12700"/>
                  </a:lnTo>
                  <a:lnTo>
                    <a:pt x="25400" y="13760450"/>
                  </a:lnTo>
                  <a:lnTo>
                    <a:pt x="12700" y="13760450"/>
                  </a:lnTo>
                  <a:lnTo>
                    <a:pt x="12700" y="13747750"/>
                  </a:lnTo>
                  <a:lnTo>
                    <a:pt x="24396700" y="13747750"/>
                  </a:lnTo>
                  <a:lnTo>
                    <a:pt x="24396700" y="13760450"/>
                  </a:lnTo>
                  <a:lnTo>
                    <a:pt x="24384000" y="13760450"/>
                  </a:lnTo>
                  <a:lnTo>
                    <a:pt x="24384000" y="12700"/>
                  </a:lnTo>
                  <a:lnTo>
                    <a:pt x="24396700" y="12700"/>
                  </a:lnTo>
                  <a:lnTo>
                    <a:pt x="24396700" y="25400"/>
                  </a:lnTo>
                  <a:lnTo>
                    <a:pt x="12700" y="25400"/>
                  </a:lnTo>
                  <a:close/>
                </a:path>
              </a:pathLst>
            </a:custGeom>
            <a:solidFill>
              <a:srgbClr val="2F5597"/>
            </a:solidFill>
          </p:spPr>
          <p:txBody>
            <a:bodyPr/>
            <a:lstStyle/>
            <a:p>
              <a:endParaRPr lang="en-US"/>
            </a:p>
          </p:txBody>
        </p:sp>
      </p:grpSp>
      <p:grpSp>
        <p:nvGrpSpPr>
          <p:cNvPr id="5" name="Group 5"/>
          <p:cNvGrpSpPr/>
          <p:nvPr/>
        </p:nvGrpSpPr>
        <p:grpSpPr>
          <a:xfrm>
            <a:off x="13882688" y="457200"/>
            <a:ext cx="3726180" cy="830580"/>
            <a:chOff x="0" y="0"/>
            <a:chExt cx="4968240" cy="1107440"/>
          </a:xfrm>
        </p:grpSpPr>
        <p:sp>
          <p:nvSpPr>
            <p:cNvPr id="6" name="Freeform 6" descr="939fdf69654cbb4694a0a885ba77713"/>
            <p:cNvSpPr/>
            <p:nvPr/>
          </p:nvSpPr>
          <p:spPr>
            <a:xfrm>
              <a:off x="0" y="0"/>
              <a:ext cx="4968240" cy="1107440"/>
            </a:xfrm>
            <a:custGeom>
              <a:avLst/>
              <a:gdLst/>
              <a:ahLst/>
              <a:cxnLst/>
              <a:rect l="l" t="t" r="r" b="b"/>
              <a:pathLst>
                <a:path w="4968240" h="1107440">
                  <a:moveTo>
                    <a:pt x="0" y="0"/>
                  </a:moveTo>
                  <a:lnTo>
                    <a:pt x="4968240" y="0"/>
                  </a:lnTo>
                  <a:lnTo>
                    <a:pt x="4968240" y="1107440"/>
                  </a:lnTo>
                  <a:lnTo>
                    <a:pt x="0" y="1107440"/>
                  </a:lnTo>
                  <a:lnTo>
                    <a:pt x="0" y="0"/>
                  </a:lnTo>
                  <a:close/>
                </a:path>
              </a:pathLst>
            </a:custGeom>
            <a:blipFill>
              <a:blip r:embed="rId2"/>
              <a:stretch>
                <a:fillRect t="-21" b="-21"/>
              </a:stretch>
            </a:blipFill>
          </p:spPr>
          <p:txBody>
            <a:bodyPr/>
            <a:lstStyle/>
            <a:p>
              <a:endParaRPr lang="en-US"/>
            </a:p>
          </p:txBody>
        </p:sp>
      </p:grpSp>
      <p:grpSp>
        <p:nvGrpSpPr>
          <p:cNvPr id="7" name="Group 7"/>
          <p:cNvGrpSpPr/>
          <p:nvPr/>
        </p:nvGrpSpPr>
        <p:grpSpPr>
          <a:xfrm>
            <a:off x="7623781" y="5217795"/>
            <a:ext cx="10664219" cy="5069205"/>
            <a:chOff x="0" y="0"/>
            <a:chExt cx="16262350" cy="7730260"/>
          </a:xfrm>
        </p:grpSpPr>
        <p:sp>
          <p:nvSpPr>
            <p:cNvPr id="8" name="Freeform 8" descr="未标题-3"/>
            <p:cNvSpPr/>
            <p:nvPr/>
          </p:nvSpPr>
          <p:spPr>
            <a:xfrm>
              <a:off x="0" y="0"/>
              <a:ext cx="16262350" cy="7730260"/>
            </a:xfrm>
            <a:custGeom>
              <a:avLst/>
              <a:gdLst/>
              <a:ahLst/>
              <a:cxnLst/>
              <a:rect l="l" t="t" r="r" b="b"/>
              <a:pathLst>
                <a:path w="16262350" h="7730260">
                  <a:moveTo>
                    <a:pt x="0" y="0"/>
                  </a:moveTo>
                  <a:lnTo>
                    <a:pt x="16262350" y="0"/>
                  </a:lnTo>
                  <a:lnTo>
                    <a:pt x="16262350" y="7730260"/>
                  </a:lnTo>
                  <a:lnTo>
                    <a:pt x="0" y="7730260"/>
                  </a:lnTo>
                  <a:lnTo>
                    <a:pt x="0" y="0"/>
                  </a:lnTo>
                  <a:close/>
                </a:path>
              </a:pathLst>
            </a:custGeom>
            <a:blipFill>
              <a:blip r:embed="rId3"/>
              <a:stretch>
                <a:fillRect t="-13111" b="-13111"/>
              </a:stretch>
            </a:blipFill>
          </p:spPr>
          <p:txBody>
            <a:bodyPr/>
            <a:lstStyle/>
            <a:p>
              <a:endParaRPr lang="en-US"/>
            </a:p>
          </p:txBody>
        </p:sp>
      </p:grpSp>
      <p:grpSp>
        <p:nvGrpSpPr>
          <p:cNvPr id="9" name="Group 9"/>
          <p:cNvGrpSpPr/>
          <p:nvPr/>
        </p:nvGrpSpPr>
        <p:grpSpPr>
          <a:xfrm>
            <a:off x="1622108" y="5217795"/>
            <a:ext cx="3070860" cy="787718"/>
            <a:chOff x="0" y="0"/>
            <a:chExt cx="4094480" cy="1050290"/>
          </a:xfrm>
        </p:grpSpPr>
        <p:sp>
          <p:nvSpPr>
            <p:cNvPr id="10" name="Freeform 10"/>
            <p:cNvSpPr/>
            <p:nvPr/>
          </p:nvSpPr>
          <p:spPr>
            <a:xfrm>
              <a:off x="0" y="0"/>
              <a:ext cx="4094480" cy="1050290"/>
            </a:xfrm>
            <a:custGeom>
              <a:avLst/>
              <a:gdLst/>
              <a:ahLst/>
              <a:cxnLst/>
              <a:rect l="l" t="t" r="r" b="b"/>
              <a:pathLst>
                <a:path w="4094480" h="1050290">
                  <a:moveTo>
                    <a:pt x="0" y="525145"/>
                  </a:moveTo>
                  <a:cubicBezTo>
                    <a:pt x="0" y="235077"/>
                    <a:pt x="235077" y="0"/>
                    <a:pt x="525145" y="0"/>
                  </a:cubicBezTo>
                  <a:lnTo>
                    <a:pt x="3569335" y="0"/>
                  </a:lnTo>
                  <a:cubicBezTo>
                    <a:pt x="3859403" y="0"/>
                    <a:pt x="4094480" y="235077"/>
                    <a:pt x="4094480" y="525145"/>
                  </a:cubicBezTo>
                  <a:cubicBezTo>
                    <a:pt x="4094480" y="815213"/>
                    <a:pt x="3859403" y="1050290"/>
                    <a:pt x="3569335" y="1050290"/>
                  </a:cubicBezTo>
                  <a:lnTo>
                    <a:pt x="525145" y="1050290"/>
                  </a:lnTo>
                  <a:cubicBezTo>
                    <a:pt x="235077" y="1050290"/>
                    <a:pt x="0" y="815213"/>
                    <a:pt x="0" y="525145"/>
                  </a:cubicBezTo>
                  <a:close/>
                </a:path>
              </a:pathLst>
            </a:custGeom>
            <a:gradFill rotWithShape="1">
              <a:gsLst>
                <a:gs pos="0">
                  <a:srgbClr val="619B32">
                    <a:alpha val="100000"/>
                  </a:srgbClr>
                </a:gs>
                <a:gs pos="93000">
                  <a:srgbClr val="B7D882">
                    <a:alpha val="100000"/>
                  </a:srgbClr>
                </a:gs>
              </a:gsLst>
              <a:lin ang="9000000"/>
            </a:gradFill>
          </p:spPr>
          <p:txBody>
            <a:bodyPr/>
            <a:lstStyle/>
            <a:p>
              <a:endParaRPr lang="en-US"/>
            </a:p>
          </p:txBody>
        </p:sp>
      </p:grpSp>
      <p:grpSp>
        <p:nvGrpSpPr>
          <p:cNvPr id="11" name="Group 11"/>
          <p:cNvGrpSpPr/>
          <p:nvPr/>
        </p:nvGrpSpPr>
        <p:grpSpPr>
          <a:xfrm>
            <a:off x="1978342" y="5217795"/>
            <a:ext cx="5019675" cy="787718"/>
            <a:chOff x="0" y="0"/>
            <a:chExt cx="6692900" cy="1050290"/>
          </a:xfrm>
        </p:grpSpPr>
        <p:sp>
          <p:nvSpPr>
            <p:cNvPr id="12" name="Freeform 12"/>
            <p:cNvSpPr/>
            <p:nvPr/>
          </p:nvSpPr>
          <p:spPr>
            <a:xfrm>
              <a:off x="0" y="0"/>
              <a:ext cx="6692900" cy="1050290"/>
            </a:xfrm>
            <a:custGeom>
              <a:avLst/>
              <a:gdLst/>
              <a:ahLst/>
              <a:cxnLst/>
              <a:rect l="l" t="t" r="r" b="b"/>
              <a:pathLst>
                <a:path w="6692900" h="1050290">
                  <a:moveTo>
                    <a:pt x="0" y="525145"/>
                  </a:moveTo>
                  <a:cubicBezTo>
                    <a:pt x="0" y="235077"/>
                    <a:pt x="235077" y="0"/>
                    <a:pt x="525145" y="0"/>
                  </a:cubicBezTo>
                  <a:lnTo>
                    <a:pt x="6167755" y="0"/>
                  </a:lnTo>
                  <a:cubicBezTo>
                    <a:pt x="6457823" y="0"/>
                    <a:pt x="6692900" y="235077"/>
                    <a:pt x="6692900" y="525145"/>
                  </a:cubicBezTo>
                  <a:cubicBezTo>
                    <a:pt x="6692900" y="815213"/>
                    <a:pt x="6457823" y="1050290"/>
                    <a:pt x="6167755" y="1050290"/>
                  </a:cubicBezTo>
                  <a:lnTo>
                    <a:pt x="525145" y="1050290"/>
                  </a:lnTo>
                  <a:cubicBezTo>
                    <a:pt x="235077" y="1050290"/>
                    <a:pt x="0" y="815213"/>
                    <a:pt x="0" y="525145"/>
                  </a:cubicBezTo>
                  <a:close/>
                </a:path>
              </a:pathLst>
            </a:custGeom>
            <a:solidFill>
              <a:srgbClr val="FFFFFF"/>
            </a:solidFill>
          </p:spPr>
          <p:txBody>
            <a:bodyPr/>
            <a:lstStyle/>
            <a:p>
              <a:endParaRPr lang="en-US"/>
            </a:p>
          </p:txBody>
        </p:sp>
      </p:grpSp>
      <p:sp>
        <p:nvSpPr>
          <p:cNvPr id="13" name="Freeform 13"/>
          <p:cNvSpPr/>
          <p:nvPr/>
        </p:nvSpPr>
        <p:spPr>
          <a:xfrm>
            <a:off x="2292667" y="5341620"/>
            <a:ext cx="528638" cy="533400"/>
          </a:xfrm>
          <a:custGeom>
            <a:avLst/>
            <a:gdLst/>
            <a:ahLst/>
            <a:cxnLst/>
            <a:rect l="l" t="t" r="r" b="b"/>
            <a:pathLst>
              <a:path w="528638" h="533400">
                <a:moveTo>
                  <a:pt x="0" y="0"/>
                </a:moveTo>
                <a:lnTo>
                  <a:pt x="528638" y="0"/>
                </a:lnTo>
                <a:lnTo>
                  <a:pt x="528638" y="533400"/>
                </a:lnTo>
                <a:lnTo>
                  <a:pt x="0" y="5334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TextBox 14"/>
          <p:cNvSpPr txBox="1"/>
          <p:nvPr/>
        </p:nvSpPr>
        <p:spPr>
          <a:xfrm>
            <a:off x="1067456" y="2099710"/>
            <a:ext cx="16153743" cy="1157433"/>
          </a:xfrm>
          <a:prstGeom prst="rect">
            <a:avLst/>
          </a:prstGeom>
        </p:spPr>
        <p:txBody>
          <a:bodyPr wrap="square" lIns="0" tIns="0" rIns="0" bIns="0" rtlCol="0" anchor="t">
            <a:spAutoFit/>
          </a:bodyPr>
          <a:lstStyle/>
          <a:p>
            <a:pPr algn="l">
              <a:lnSpc>
                <a:spcPts val="9480"/>
              </a:lnSpc>
            </a:pPr>
            <a:r>
              <a:rPr lang="en-US" sz="7200" b="1" dirty="0">
                <a:solidFill>
                  <a:srgbClr val="FFFFFF"/>
                </a:solidFill>
                <a:latin typeface="+mj-lt"/>
                <a:ea typeface="Arial Bold"/>
                <a:cs typeface="Arial Bold" panose="020B0704020202020204" pitchFamily="34" charset="0"/>
                <a:sym typeface="Arial Bold"/>
              </a:rPr>
              <a:t>CCVN Monthly Report - Month 07 </a:t>
            </a:r>
            <a:r>
              <a:rPr lang="en-US" sz="7200" b="1" dirty="0">
                <a:solidFill>
                  <a:srgbClr val="000000"/>
                </a:solidFill>
                <a:latin typeface="+mj-lt"/>
                <a:ea typeface="Arial Bold"/>
                <a:cs typeface="Arial Bold" panose="020B0704020202020204" pitchFamily="34" charset="0"/>
                <a:sym typeface="Arial Bold"/>
              </a:rPr>
              <a:t> </a:t>
            </a:r>
          </a:p>
        </p:txBody>
      </p:sp>
      <p:sp>
        <p:nvSpPr>
          <p:cNvPr id="15" name="TextBox 15"/>
          <p:cNvSpPr txBox="1"/>
          <p:nvPr/>
        </p:nvSpPr>
        <p:spPr>
          <a:xfrm>
            <a:off x="3116832" y="5406866"/>
            <a:ext cx="3152270" cy="410369"/>
          </a:xfrm>
          <a:prstGeom prst="rect">
            <a:avLst/>
          </a:prstGeom>
        </p:spPr>
        <p:txBody>
          <a:bodyPr lIns="0" tIns="0" rIns="0" bIns="0" rtlCol="0" anchor="t">
            <a:spAutoFit/>
          </a:bodyPr>
          <a:lstStyle/>
          <a:p>
            <a:pPr algn="l">
              <a:lnSpc>
                <a:spcPts val="3240"/>
              </a:lnSpc>
            </a:pPr>
            <a:r>
              <a:rPr lang="en-US" sz="2700" dirty="0">
                <a:solidFill>
                  <a:srgbClr val="000000"/>
                </a:solidFill>
                <a:latin typeface="+mj-lt"/>
                <a:ea typeface="Aptos"/>
                <a:cs typeface="Aptos"/>
                <a:sym typeface="Aptos"/>
              </a:rPr>
              <a:t>Date</a:t>
            </a:r>
            <a:r>
              <a:rPr lang="en-US" sz="2700">
                <a:solidFill>
                  <a:srgbClr val="000000"/>
                </a:solidFill>
                <a:latin typeface="+mj-lt"/>
                <a:ea typeface="Aptos"/>
                <a:cs typeface="Aptos"/>
                <a:sym typeface="Aptos"/>
              </a:rPr>
              <a:t>: 31</a:t>
            </a:r>
            <a:r>
              <a:rPr lang="en-US" sz="2700" baseline="30000">
                <a:solidFill>
                  <a:srgbClr val="000000"/>
                </a:solidFill>
                <a:latin typeface="+mj-lt"/>
                <a:ea typeface="Aptos"/>
                <a:cs typeface="Aptos"/>
                <a:sym typeface="Aptos"/>
              </a:rPr>
              <a:t>st</a:t>
            </a:r>
            <a:r>
              <a:rPr lang="en-US" sz="2700">
                <a:solidFill>
                  <a:srgbClr val="000000"/>
                </a:solidFill>
                <a:latin typeface="+mj-lt"/>
                <a:ea typeface="Aptos"/>
                <a:cs typeface="Aptos"/>
                <a:sym typeface="Aptos"/>
              </a:rPr>
              <a:t> </a:t>
            </a:r>
            <a:r>
              <a:rPr lang="en-US" sz="2700" dirty="0">
                <a:solidFill>
                  <a:srgbClr val="000000"/>
                </a:solidFill>
                <a:latin typeface="+mj-lt"/>
                <a:ea typeface="Aptos"/>
                <a:cs typeface="Aptos"/>
                <a:sym typeface="Aptos"/>
              </a:rPr>
              <a:t>July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114300" y="342900"/>
            <a:ext cx="571500" cy="571500"/>
          </a:xfrm>
          <a:prstGeom prst="rect">
            <a:avLst/>
          </a:prstGeom>
        </p:spPr>
      </p:pic>
      <p:pic>
        <p:nvPicPr>
          <p:cNvPr id="3" name="Image 1" descr="preencoded.png"/>
          <p:cNvPicPr>
            <a:picLocks noChangeAspect="1"/>
          </p:cNvPicPr>
          <p:nvPr/>
        </p:nvPicPr>
        <p:blipFill>
          <a:blip r:embed="rId4"/>
          <a:srcRect t="49" b="49"/>
          <a:stretch/>
        </p:blipFill>
        <p:spPr>
          <a:xfrm>
            <a:off x="14001750" y="114300"/>
            <a:ext cx="4114800" cy="914400"/>
          </a:xfrm>
          <a:prstGeom prst="rect">
            <a:avLst/>
          </a:prstGeom>
        </p:spPr>
      </p:pic>
      <p:sp>
        <p:nvSpPr>
          <p:cNvPr id="4" name="Text 0"/>
          <p:cNvSpPr/>
          <p:nvPr/>
        </p:nvSpPr>
        <p:spPr>
          <a:xfrm>
            <a:off x="876300" y="419100"/>
            <a:ext cx="1524258" cy="546100"/>
          </a:xfrm>
          <a:prstGeom prst="rect">
            <a:avLst/>
          </a:prstGeom>
          <a:noFill/>
          <a:ln/>
        </p:spPr>
        <p:txBody>
          <a:bodyPr wrap="square" lIns="25400" tIns="25400" rIns="25400" bIns="25400" rtlCol="0" anchor="t">
            <a:normAutofit lnSpcReduction="10000"/>
          </a:bodyPr>
          <a:lstStyle/>
          <a:p>
            <a:pPr marL="0" indent="0" algn="l">
              <a:buNone/>
            </a:pPr>
            <a:r>
              <a:rPr lang="en-US" sz="3300" b="1" dirty="0">
                <a:solidFill>
                  <a:srgbClr val="1A1A1A"/>
                </a:solidFill>
                <a:latin typeface="Calibri" pitchFamily="34" charset="0"/>
                <a:ea typeface="Calibri" pitchFamily="34" charset="-122"/>
                <a:cs typeface="Calibri" pitchFamily="34" charset="-120"/>
              </a:rPr>
              <a:t>Content</a:t>
            </a:r>
            <a:endParaRPr lang="en-US" sz="3300" dirty="0"/>
          </a:p>
        </p:txBody>
      </p:sp>
      <p:sp>
        <p:nvSpPr>
          <p:cNvPr id="5" name="Shape 1"/>
          <p:cNvSpPr/>
          <p:nvPr/>
        </p:nvSpPr>
        <p:spPr>
          <a:xfrm>
            <a:off x="0" y="1152525"/>
            <a:ext cx="18288000" cy="19050"/>
          </a:xfrm>
          <a:prstGeom prst="rect">
            <a:avLst/>
          </a:prstGeom>
          <a:solidFill>
            <a:srgbClr val="A6A6A6"/>
          </a:solidFill>
          <a:ln/>
        </p:spPr>
        <p:txBody>
          <a:bodyPr/>
          <a:lstStyle/>
          <a:p>
            <a:endParaRPr lang="en-US"/>
          </a:p>
        </p:txBody>
      </p:sp>
      <p:sp>
        <p:nvSpPr>
          <p:cNvPr id="6" name="Shape 2"/>
          <p:cNvSpPr/>
          <p:nvPr/>
        </p:nvSpPr>
        <p:spPr>
          <a:xfrm>
            <a:off x="647700" y="1619250"/>
            <a:ext cx="8229600" cy="736600"/>
          </a:xfrm>
          <a:prstGeom prst="rect">
            <a:avLst/>
          </a:prstGeom>
          <a:solidFill>
            <a:srgbClr val="E2EFDA"/>
          </a:solidFill>
          <a:ln/>
        </p:spPr>
        <p:txBody>
          <a:bodyPr/>
          <a:lstStyle/>
          <a:p>
            <a:endParaRPr lang="en-US"/>
          </a:p>
        </p:txBody>
      </p:sp>
      <p:sp>
        <p:nvSpPr>
          <p:cNvPr id="7" name="Text 3"/>
          <p:cNvSpPr/>
          <p:nvPr/>
        </p:nvSpPr>
        <p:spPr>
          <a:xfrm>
            <a:off x="876300" y="1790700"/>
            <a:ext cx="327025" cy="4318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619B32"/>
                </a:solidFill>
                <a:latin typeface="Calibri" pitchFamily="34" charset="0"/>
                <a:ea typeface="Calibri" pitchFamily="34" charset="-122"/>
                <a:cs typeface="Calibri" pitchFamily="34" charset="-120"/>
              </a:rPr>
              <a:t>1.</a:t>
            </a:r>
            <a:endParaRPr lang="en-US" sz="2550" dirty="0"/>
          </a:p>
        </p:txBody>
      </p:sp>
      <p:sp>
        <p:nvSpPr>
          <p:cNvPr id="8" name="Text 4"/>
          <p:cNvSpPr/>
          <p:nvPr/>
        </p:nvSpPr>
        <p:spPr>
          <a:xfrm>
            <a:off x="1298575" y="1790700"/>
            <a:ext cx="4061778" cy="4318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1A1A1A"/>
                </a:solidFill>
                <a:latin typeface="Calibri" pitchFamily="34" charset="0"/>
                <a:ea typeface="Calibri" pitchFamily="34" charset="-122"/>
                <a:cs typeface="Calibri" pitchFamily="34" charset="-120"/>
              </a:rPr>
              <a:t>Network quality and trends</a:t>
            </a:r>
            <a:endParaRPr lang="en-US" sz="2550" dirty="0"/>
          </a:p>
        </p:txBody>
      </p:sp>
      <p:sp>
        <p:nvSpPr>
          <p:cNvPr id="9" name="Text 5"/>
          <p:cNvSpPr/>
          <p:nvPr/>
        </p:nvSpPr>
        <p:spPr>
          <a:xfrm>
            <a:off x="800100" y="2565400"/>
            <a:ext cx="742950" cy="3683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619B32"/>
                </a:solidFill>
                <a:latin typeface="Calibri" pitchFamily="34" charset="0"/>
                <a:ea typeface="Calibri" pitchFamily="34" charset="-122"/>
                <a:cs typeface="Calibri" pitchFamily="34" charset="-120"/>
              </a:rPr>
              <a:t>1.1.</a:t>
            </a:r>
            <a:endParaRPr lang="en-US" sz="2100" dirty="0"/>
          </a:p>
        </p:txBody>
      </p:sp>
      <p:sp>
        <p:nvSpPr>
          <p:cNvPr id="10" name="Text 6"/>
          <p:cNvSpPr/>
          <p:nvPr/>
        </p:nvSpPr>
        <p:spPr>
          <a:xfrm>
            <a:off x="1638300" y="2565400"/>
            <a:ext cx="2283004" cy="3683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1A1A1A"/>
                </a:solidFill>
                <a:latin typeface="Calibri" pitchFamily="34" charset="0"/>
                <a:ea typeface="Calibri" pitchFamily="34" charset="-122"/>
                <a:cs typeface="Calibri" pitchFamily="34" charset="-120"/>
              </a:rPr>
              <a:t>Ticket classification</a:t>
            </a:r>
            <a:endParaRPr lang="en-US" sz="2100" dirty="0"/>
          </a:p>
        </p:txBody>
      </p:sp>
      <p:sp>
        <p:nvSpPr>
          <p:cNvPr id="11" name="Text 7"/>
          <p:cNvSpPr/>
          <p:nvPr/>
        </p:nvSpPr>
        <p:spPr>
          <a:xfrm>
            <a:off x="800100" y="3028950"/>
            <a:ext cx="742950" cy="3683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619B32"/>
                </a:solidFill>
                <a:latin typeface="Calibri" pitchFamily="34" charset="0"/>
                <a:ea typeface="Calibri" pitchFamily="34" charset="-122"/>
                <a:cs typeface="Calibri" pitchFamily="34" charset="-120"/>
              </a:rPr>
              <a:t>1.2.</a:t>
            </a:r>
            <a:endParaRPr lang="en-US" sz="2100" dirty="0"/>
          </a:p>
        </p:txBody>
      </p:sp>
      <p:sp>
        <p:nvSpPr>
          <p:cNvPr id="12" name="Text 8"/>
          <p:cNvSpPr/>
          <p:nvPr/>
        </p:nvSpPr>
        <p:spPr>
          <a:xfrm>
            <a:off x="1638300" y="3028950"/>
            <a:ext cx="1578173" cy="3683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1A1A1A"/>
                </a:solidFill>
                <a:latin typeface="Calibri" pitchFamily="34" charset="0"/>
                <a:ea typeface="Calibri" pitchFamily="34" charset="-122"/>
                <a:cs typeface="Calibri" pitchFamily="34" charset="-120"/>
              </a:rPr>
              <a:t>Failure status</a:t>
            </a:r>
            <a:endParaRPr lang="en-US" sz="2100" dirty="0"/>
          </a:p>
        </p:txBody>
      </p:sp>
      <p:sp>
        <p:nvSpPr>
          <p:cNvPr id="13" name="Text 9"/>
          <p:cNvSpPr/>
          <p:nvPr/>
        </p:nvSpPr>
        <p:spPr>
          <a:xfrm>
            <a:off x="800100" y="3492500"/>
            <a:ext cx="742950" cy="3683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619B32"/>
                </a:solidFill>
                <a:latin typeface="Calibri" pitchFamily="34" charset="0"/>
                <a:ea typeface="Calibri" pitchFamily="34" charset="-122"/>
                <a:cs typeface="Calibri" pitchFamily="34" charset="-120"/>
              </a:rPr>
              <a:t>1.3.</a:t>
            </a:r>
            <a:endParaRPr lang="en-US" sz="2100" dirty="0"/>
          </a:p>
        </p:txBody>
      </p:sp>
      <p:sp>
        <p:nvSpPr>
          <p:cNvPr id="14" name="Text 10"/>
          <p:cNvSpPr/>
          <p:nvPr/>
        </p:nvSpPr>
        <p:spPr>
          <a:xfrm>
            <a:off x="1638300" y="3492500"/>
            <a:ext cx="3833892" cy="3683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1A1A1A"/>
                </a:solidFill>
                <a:latin typeface="Calibri" pitchFamily="34" charset="0"/>
                <a:ea typeface="Calibri" pitchFamily="34" charset="-122"/>
                <a:cs typeface="Calibri" pitchFamily="34" charset="-120"/>
              </a:rPr>
              <a:t>Top alarms for each product line</a:t>
            </a:r>
            <a:endParaRPr lang="en-US" sz="2100" dirty="0"/>
          </a:p>
        </p:txBody>
      </p:sp>
      <p:sp>
        <p:nvSpPr>
          <p:cNvPr id="15" name="Text 11"/>
          <p:cNvSpPr/>
          <p:nvPr/>
        </p:nvSpPr>
        <p:spPr>
          <a:xfrm>
            <a:off x="800100" y="3956050"/>
            <a:ext cx="742950" cy="3683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619B32"/>
                </a:solidFill>
                <a:latin typeface="Calibri" pitchFamily="34" charset="0"/>
                <a:ea typeface="Calibri" pitchFamily="34" charset="-122"/>
                <a:cs typeface="Calibri" pitchFamily="34" charset="-120"/>
              </a:rPr>
              <a:t>1.4.</a:t>
            </a:r>
            <a:endParaRPr lang="en-US" sz="2100" dirty="0"/>
          </a:p>
        </p:txBody>
      </p:sp>
      <p:sp>
        <p:nvSpPr>
          <p:cNvPr id="16" name="Text 12"/>
          <p:cNvSpPr/>
          <p:nvPr/>
        </p:nvSpPr>
        <p:spPr>
          <a:xfrm>
            <a:off x="1638300" y="3956050"/>
            <a:ext cx="4069199" cy="3683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1A1A1A"/>
                </a:solidFill>
                <a:latin typeface="Calibri" pitchFamily="34" charset="0"/>
                <a:ea typeface="Calibri" pitchFamily="34" charset="-122"/>
                <a:cs typeface="Calibri" pitchFamily="34" charset="-120"/>
              </a:rPr>
              <a:t>Top spare parts used in the month</a:t>
            </a:r>
            <a:endParaRPr lang="en-US" sz="2100" dirty="0"/>
          </a:p>
        </p:txBody>
      </p:sp>
      <p:sp>
        <p:nvSpPr>
          <p:cNvPr id="19" name="Text 15"/>
          <p:cNvSpPr/>
          <p:nvPr/>
        </p:nvSpPr>
        <p:spPr>
          <a:xfrm>
            <a:off x="783508" y="4427776"/>
            <a:ext cx="742950" cy="368300"/>
          </a:xfrm>
          <a:prstGeom prst="rect">
            <a:avLst/>
          </a:prstGeom>
          <a:noFill/>
          <a:ln/>
        </p:spPr>
        <p:txBody>
          <a:bodyPr wrap="square" lIns="25400" tIns="25400" rIns="25400" bIns="25400" rtlCol="0" anchor="t">
            <a:normAutofit lnSpcReduction="10000"/>
          </a:bodyPr>
          <a:lstStyle/>
          <a:p>
            <a:pPr marL="0" indent="0" algn="l">
              <a:buNone/>
            </a:pPr>
            <a:r>
              <a:rPr lang="en-US" sz="2100" b="1">
                <a:solidFill>
                  <a:srgbClr val="619B32"/>
                </a:solidFill>
                <a:latin typeface="Calibri" pitchFamily="34" charset="0"/>
                <a:ea typeface="Calibri" pitchFamily="34" charset="-122"/>
                <a:cs typeface="Calibri" pitchFamily="34" charset="-120"/>
              </a:rPr>
              <a:t>1.5.</a:t>
            </a:r>
            <a:endParaRPr lang="en-US" sz="2100" dirty="0"/>
          </a:p>
        </p:txBody>
      </p:sp>
      <p:sp>
        <p:nvSpPr>
          <p:cNvPr id="20" name="Text 16"/>
          <p:cNvSpPr/>
          <p:nvPr/>
        </p:nvSpPr>
        <p:spPr>
          <a:xfrm>
            <a:off x="1638300" y="4894176"/>
            <a:ext cx="4307344" cy="3683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1A1A1A"/>
                </a:solidFill>
                <a:latin typeface="Calibri" pitchFamily="34" charset="0"/>
                <a:ea typeface="Calibri" pitchFamily="34" charset="-122"/>
                <a:cs typeface="Calibri" pitchFamily="34" charset="-120"/>
              </a:rPr>
              <a:t>Service cost in the month</a:t>
            </a:r>
            <a:endParaRPr lang="en-US" sz="2100" dirty="0"/>
          </a:p>
        </p:txBody>
      </p:sp>
      <p:sp>
        <p:nvSpPr>
          <p:cNvPr id="23" name="Shape 19"/>
          <p:cNvSpPr/>
          <p:nvPr/>
        </p:nvSpPr>
        <p:spPr>
          <a:xfrm>
            <a:off x="647700" y="5580617"/>
            <a:ext cx="8229600" cy="736600"/>
          </a:xfrm>
          <a:prstGeom prst="rect">
            <a:avLst/>
          </a:prstGeom>
          <a:solidFill>
            <a:srgbClr val="E2EFDA"/>
          </a:solidFill>
          <a:ln/>
        </p:spPr>
        <p:txBody>
          <a:bodyPr/>
          <a:lstStyle/>
          <a:p>
            <a:endParaRPr lang="en-US"/>
          </a:p>
        </p:txBody>
      </p:sp>
      <p:sp>
        <p:nvSpPr>
          <p:cNvPr id="24" name="Text 20"/>
          <p:cNvSpPr/>
          <p:nvPr/>
        </p:nvSpPr>
        <p:spPr>
          <a:xfrm>
            <a:off x="876300" y="5752067"/>
            <a:ext cx="327025" cy="4318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619B32"/>
                </a:solidFill>
                <a:latin typeface="Calibri" pitchFamily="34" charset="0"/>
                <a:ea typeface="Calibri" pitchFamily="34" charset="-122"/>
                <a:cs typeface="Calibri" pitchFamily="34" charset="-120"/>
              </a:rPr>
              <a:t>2.</a:t>
            </a:r>
            <a:endParaRPr lang="en-US" sz="2550" dirty="0"/>
          </a:p>
        </p:txBody>
      </p:sp>
      <p:sp>
        <p:nvSpPr>
          <p:cNvPr id="25" name="Text 21"/>
          <p:cNvSpPr/>
          <p:nvPr/>
        </p:nvSpPr>
        <p:spPr>
          <a:xfrm>
            <a:off x="1298575" y="5752067"/>
            <a:ext cx="6646883" cy="4318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1A1A1A"/>
                </a:solidFill>
                <a:latin typeface="Calibri" pitchFamily="34" charset="0"/>
                <a:ea typeface="Calibri" pitchFamily="34" charset="-122"/>
                <a:cs typeface="Calibri" pitchFamily="34" charset="-120"/>
              </a:rPr>
              <a:t>Issues, actions &amp; resolution progress tracking</a:t>
            </a:r>
            <a:endParaRPr lang="en-US" sz="2550" dirty="0"/>
          </a:p>
        </p:txBody>
      </p:sp>
      <p:sp>
        <p:nvSpPr>
          <p:cNvPr id="26" name="Text 22"/>
          <p:cNvSpPr/>
          <p:nvPr/>
        </p:nvSpPr>
        <p:spPr>
          <a:xfrm>
            <a:off x="800100" y="6526767"/>
            <a:ext cx="742950" cy="3683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619B32"/>
                </a:solidFill>
                <a:latin typeface="Calibri" pitchFamily="34" charset="0"/>
                <a:ea typeface="Calibri" pitchFamily="34" charset="-122"/>
                <a:cs typeface="Calibri" pitchFamily="34" charset="-120"/>
              </a:rPr>
              <a:t>2.1.</a:t>
            </a:r>
            <a:endParaRPr lang="en-US" sz="2100" dirty="0"/>
          </a:p>
        </p:txBody>
      </p:sp>
      <p:sp>
        <p:nvSpPr>
          <p:cNvPr id="27" name="Text 23"/>
          <p:cNvSpPr/>
          <p:nvPr/>
        </p:nvSpPr>
        <p:spPr>
          <a:xfrm>
            <a:off x="1638300" y="6526767"/>
            <a:ext cx="7324427" cy="3683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1A1A1A"/>
                </a:solidFill>
                <a:latin typeface="Calibri" pitchFamily="34" charset="0"/>
                <a:ea typeface="Calibri" pitchFamily="34" charset="-122"/>
                <a:cs typeface="Calibri" pitchFamily="34" charset="-120"/>
              </a:rPr>
              <a:t>Audit program for quality control of charging stations and BSS</a:t>
            </a:r>
            <a:endParaRPr lang="en-US" sz="2100" dirty="0"/>
          </a:p>
        </p:txBody>
      </p:sp>
      <p:sp>
        <p:nvSpPr>
          <p:cNvPr id="18" name="Text 15">
            <a:extLst>
              <a:ext uri="{FF2B5EF4-FFF2-40B4-BE49-F238E27FC236}">
                <a16:creationId xmlns:a16="http://schemas.microsoft.com/office/drawing/2014/main" id="{1B4C454E-E926-85B7-F789-A343CEF7751C}"/>
              </a:ext>
            </a:extLst>
          </p:cNvPr>
          <p:cNvSpPr/>
          <p:nvPr/>
        </p:nvSpPr>
        <p:spPr>
          <a:xfrm>
            <a:off x="783508" y="4891326"/>
            <a:ext cx="742950" cy="3683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619B32"/>
                </a:solidFill>
                <a:latin typeface="Calibri" pitchFamily="34" charset="0"/>
                <a:ea typeface="Calibri" pitchFamily="34" charset="-122"/>
                <a:cs typeface="Calibri" pitchFamily="34" charset="-120"/>
              </a:rPr>
              <a:t>1.6.</a:t>
            </a:r>
            <a:endParaRPr lang="en-US" sz="2100" dirty="0"/>
          </a:p>
        </p:txBody>
      </p:sp>
      <p:sp>
        <p:nvSpPr>
          <p:cNvPr id="22" name="Text 16">
            <a:extLst>
              <a:ext uri="{FF2B5EF4-FFF2-40B4-BE49-F238E27FC236}">
                <a16:creationId xmlns:a16="http://schemas.microsoft.com/office/drawing/2014/main" id="{25773E22-8189-A2D8-198F-F7BF67A13FC2}"/>
              </a:ext>
            </a:extLst>
          </p:cNvPr>
          <p:cNvSpPr/>
          <p:nvPr/>
        </p:nvSpPr>
        <p:spPr>
          <a:xfrm>
            <a:off x="1638300" y="4427776"/>
            <a:ext cx="4307344" cy="3683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1A1A1A"/>
                </a:solidFill>
                <a:latin typeface="Calibri" pitchFamily="34" charset="0"/>
                <a:ea typeface="Calibri" pitchFamily="34" charset="-122"/>
                <a:cs typeface="Calibri" pitchFamily="34" charset="-120"/>
              </a:rPr>
              <a:t>SLA Performance</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62" y="-29528"/>
            <a:ext cx="18307050" cy="10329862"/>
            <a:chOff x="0" y="0"/>
            <a:chExt cx="24409400" cy="13773150"/>
          </a:xfrm>
        </p:grpSpPr>
        <p:sp>
          <p:nvSpPr>
            <p:cNvPr id="3" name="Freeform 3"/>
            <p:cNvSpPr/>
            <p:nvPr/>
          </p:nvSpPr>
          <p:spPr>
            <a:xfrm>
              <a:off x="12700" y="12700"/>
              <a:ext cx="24384000" cy="13747750"/>
            </a:xfrm>
            <a:custGeom>
              <a:avLst/>
              <a:gdLst/>
              <a:ahLst/>
              <a:cxnLst/>
              <a:rect l="l" t="t" r="r" b="b"/>
              <a:pathLst>
                <a:path w="24384000" h="13747750">
                  <a:moveTo>
                    <a:pt x="0" y="0"/>
                  </a:moveTo>
                  <a:lnTo>
                    <a:pt x="24384000" y="0"/>
                  </a:lnTo>
                  <a:lnTo>
                    <a:pt x="24384000" y="13747750"/>
                  </a:lnTo>
                  <a:lnTo>
                    <a:pt x="0" y="13747750"/>
                  </a:lnTo>
                  <a:close/>
                </a:path>
              </a:pathLst>
            </a:custGeom>
            <a:solidFill>
              <a:srgbClr val="7DB039"/>
            </a:solidFill>
          </p:spPr>
          <p:txBody>
            <a:bodyPr/>
            <a:lstStyle/>
            <a:p>
              <a:endParaRPr lang="en-US"/>
            </a:p>
          </p:txBody>
        </p:sp>
        <p:sp>
          <p:nvSpPr>
            <p:cNvPr id="4" name="Freeform 4"/>
            <p:cNvSpPr/>
            <p:nvPr/>
          </p:nvSpPr>
          <p:spPr>
            <a:xfrm>
              <a:off x="0" y="0"/>
              <a:ext cx="24409400" cy="13773150"/>
            </a:xfrm>
            <a:custGeom>
              <a:avLst/>
              <a:gdLst/>
              <a:ahLst/>
              <a:cxnLst/>
              <a:rect l="l" t="t" r="r" b="b"/>
              <a:pathLst>
                <a:path w="24409400" h="13773150">
                  <a:moveTo>
                    <a:pt x="12700" y="0"/>
                  </a:moveTo>
                  <a:lnTo>
                    <a:pt x="24396700" y="0"/>
                  </a:lnTo>
                  <a:cubicBezTo>
                    <a:pt x="24403686" y="0"/>
                    <a:pt x="24409400" y="5715"/>
                    <a:pt x="24409400" y="12700"/>
                  </a:cubicBezTo>
                  <a:lnTo>
                    <a:pt x="24409400" y="13760450"/>
                  </a:lnTo>
                  <a:cubicBezTo>
                    <a:pt x="24409400" y="13767436"/>
                    <a:pt x="24403686" y="13773150"/>
                    <a:pt x="24396700" y="13773150"/>
                  </a:cubicBezTo>
                  <a:lnTo>
                    <a:pt x="12700" y="13773150"/>
                  </a:lnTo>
                  <a:cubicBezTo>
                    <a:pt x="5715" y="13773150"/>
                    <a:pt x="0" y="13767436"/>
                    <a:pt x="0" y="13760450"/>
                  </a:cubicBezTo>
                  <a:lnTo>
                    <a:pt x="0" y="12700"/>
                  </a:lnTo>
                  <a:cubicBezTo>
                    <a:pt x="0" y="5715"/>
                    <a:pt x="5715" y="0"/>
                    <a:pt x="12700" y="0"/>
                  </a:cubicBezTo>
                  <a:moveTo>
                    <a:pt x="12700" y="25400"/>
                  </a:moveTo>
                  <a:lnTo>
                    <a:pt x="12700" y="12700"/>
                  </a:lnTo>
                  <a:lnTo>
                    <a:pt x="25400" y="12700"/>
                  </a:lnTo>
                  <a:lnTo>
                    <a:pt x="25400" y="13760450"/>
                  </a:lnTo>
                  <a:lnTo>
                    <a:pt x="12700" y="13760450"/>
                  </a:lnTo>
                  <a:lnTo>
                    <a:pt x="12700" y="13747750"/>
                  </a:lnTo>
                  <a:lnTo>
                    <a:pt x="24396700" y="13747750"/>
                  </a:lnTo>
                  <a:lnTo>
                    <a:pt x="24396700" y="13760450"/>
                  </a:lnTo>
                  <a:lnTo>
                    <a:pt x="24384000" y="13760450"/>
                  </a:lnTo>
                  <a:lnTo>
                    <a:pt x="24384000" y="12700"/>
                  </a:lnTo>
                  <a:lnTo>
                    <a:pt x="24396700" y="12700"/>
                  </a:lnTo>
                  <a:lnTo>
                    <a:pt x="24396700" y="25400"/>
                  </a:lnTo>
                  <a:lnTo>
                    <a:pt x="12700" y="25400"/>
                  </a:lnTo>
                  <a:close/>
                </a:path>
              </a:pathLst>
            </a:custGeom>
            <a:solidFill>
              <a:srgbClr val="2F5597"/>
            </a:solidFill>
          </p:spPr>
          <p:txBody>
            <a:bodyPr/>
            <a:lstStyle/>
            <a:p>
              <a:endParaRPr lang="en-US"/>
            </a:p>
          </p:txBody>
        </p:sp>
      </p:grpSp>
      <p:grpSp>
        <p:nvGrpSpPr>
          <p:cNvPr id="5" name="Group 5"/>
          <p:cNvGrpSpPr/>
          <p:nvPr/>
        </p:nvGrpSpPr>
        <p:grpSpPr>
          <a:xfrm>
            <a:off x="13882688" y="457200"/>
            <a:ext cx="3726180" cy="830580"/>
            <a:chOff x="0" y="0"/>
            <a:chExt cx="4968240" cy="1107440"/>
          </a:xfrm>
        </p:grpSpPr>
        <p:sp>
          <p:nvSpPr>
            <p:cNvPr id="6" name="Freeform 6" descr="939fdf69654cbb4694a0a885ba77713"/>
            <p:cNvSpPr/>
            <p:nvPr/>
          </p:nvSpPr>
          <p:spPr>
            <a:xfrm>
              <a:off x="0" y="0"/>
              <a:ext cx="4968240" cy="1107440"/>
            </a:xfrm>
            <a:custGeom>
              <a:avLst/>
              <a:gdLst/>
              <a:ahLst/>
              <a:cxnLst/>
              <a:rect l="l" t="t" r="r" b="b"/>
              <a:pathLst>
                <a:path w="4968240" h="1107440">
                  <a:moveTo>
                    <a:pt x="0" y="0"/>
                  </a:moveTo>
                  <a:lnTo>
                    <a:pt x="4968240" y="0"/>
                  </a:lnTo>
                  <a:lnTo>
                    <a:pt x="4968240" y="1107440"/>
                  </a:lnTo>
                  <a:lnTo>
                    <a:pt x="0" y="1107440"/>
                  </a:lnTo>
                  <a:lnTo>
                    <a:pt x="0" y="0"/>
                  </a:lnTo>
                  <a:close/>
                </a:path>
              </a:pathLst>
            </a:custGeom>
            <a:blipFill>
              <a:blip r:embed="rId2"/>
              <a:stretch>
                <a:fillRect t="-21" b="-21"/>
              </a:stretch>
            </a:blipFill>
          </p:spPr>
          <p:txBody>
            <a:bodyPr/>
            <a:lstStyle/>
            <a:p>
              <a:endParaRPr lang="en-US"/>
            </a:p>
          </p:txBody>
        </p:sp>
      </p:grpSp>
      <p:grpSp>
        <p:nvGrpSpPr>
          <p:cNvPr id="7" name="Group 7"/>
          <p:cNvGrpSpPr/>
          <p:nvPr/>
        </p:nvGrpSpPr>
        <p:grpSpPr>
          <a:xfrm>
            <a:off x="7623781" y="5217795"/>
            <a:ext cx="10664219" cy="5069205"/>
            <a:chOff x="0" y="0"/>
            <a:chExt cx="16262350" cy="7730260"/>
          </a:xfrm>
        </p:grpSpPr>
        <p:sp>
          <p:nvSpPr>
            <p:cNvPr id="8" name="Freeform 8" descr="未标题-3"/>
            <p:cNvSpPr/>
            <p:nvPr/>
          </p:nvSpPr>
          <p:spPr>
            <a:xfrm>
              <a:off x="0" y="0"/>
              <a:ext cx="16262350" cy="7730260"/>
            </a:xfrm>
            <a:custGeom>
              <a:avLst/>
              <a:gdLst/>
              <a:ahLst/>
              <a:cxnLst/>
              <a:rect l="l" t="t" r="r" b="b"/>
              <a:pathLst>
                <a:path w="16262350" h="7730260">
                  <a:moveTo>
                    <a:pt x="0" y="0"/>
                  </a:moveTo>
                  <a:lnTo>
                    <a:pt x="16262350" y="0"/>
                  </a:lnTo>
                  <a:lnTo>
                    <a:pt x="16262350" y="7730260"/>
                  </a:lnTo>
                  <a:lnTo>
                    <a:pt x="0" y="7730260"/>
                  </a:lnTo>
                  <a:lnTo>
                    <a:pt x="0" y="0"/>
                  </a:lnTo>
                  <a:close/>
                </a:path>
              </a:pathLst>
            </a:custGeom>
            <a:blipFill>
              <a:blip r:embed="rId3"/>
              <a:stretch>
                <a:fillRect t="-13111" b="-13111"/>
              </a:stretch>
            </a:blipFill>
          </p:spPr>
          <p:txBody>
            <a:bodyPr/>
            <a:lstStyle/>
            <a:p>
              <a:endParaRPr lang="en-US"/>
            </a:p>
          </p:txBody>
        </p:sp>
      </p:grpSp>
      <p:sp>
        <p:nvSpPr>
          <p:cNvPr id="9" name="TextBox 9"/>
          <p:cNvSpPr txBox="1"/>
          <p:nvPr/>
        </p:nvSpPr>
        <p:spPr>
          <a:xfrm>
            <a:off x="1028700" y="2727675"/>
            <a:ext cx="8186857" cy="790575"/>
          </a:xfrm>
          <a:prstGeom prst="rect">
            <a:avLst/>
          </a:prstGeom>
        </p:spPr>
        <p:txBody>
          <a:bodyPr lIns="0" tIns="0" rIns="0" bIns="0" rtlCol="0" anchor="t">
            <a:spAutoFit/>
          </a:bodyPr>
          <a:lstStyle/>
          <a:p>
            <a:pPr algn="l">
              <a:lnSpc>
                <a:spcPts val="6000"/>
              </a:lnSpc>
            </a:pPr>
            <a:r>
              <a:rPr lang="en-US" sz="5000" b="1">
                <a:solidFill>
                  <a:srgbClr val="FFFFFF"/>
                </a:solidFill>
                <a:latin typeface="Aptos" panose="020B0004020202020204" pitchFamily="34" charset="0"/>
                <a:ea typeface="Arial Bold"/>
                <a:cs typeface="Arial Bold"/>
                <a:sym typeface="Arial Bold"/>
              </a:rPr>
              <a:t>1. Network quality &amp; trends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6300" y="419100"/>
            <a:ext cx="5169337" cy="508000"/>
          </a:xfrm>
          <a:prstGeom prst="rect">
            <a:avLst/>
          </a:prstGeom>
          <a:noFill/>
          <a:ln/>
        </p:spPr>
        <p:txBody>
          <a:bodyPr wrap="square" lIns="25400" tIns="25400" rIns="25400" bIns="25400" rtlCol="0" anchor="t">
            <a:normAutofit/>
          </a:bodyPr>
          <a:lstStyle/>
          <a:p>
            <a:pPr marL="0" indent="0" algn="l">
              <a:buNone/>
            </a:pPr>
            <a:r>
              <a:rPr lang="en-US" sz="3000" b="1" dirty="0">
                <a:solidFill>
                  <a:srgbClr val="1A1A1A"/>
                </a:solidFill>
                <a:latin typeface="Calibri" pitchFamily="34" charset="0"/>
                <a:ea typeface="Calibri" pitchFamily="34" charset="-122"/>
                <a:cs typeface="Calibri" pitchFamily="34" charset="-120"/>
              </a:rPr>
              <a:t>1.1. Ticket classification: EVCS</a:t>
            </a:r>
            <a:endParaRPr lang="en-US" sz="3000" dirty="0"/>
          </a:p>
        </p:txBody>
      </p:sp>
      <p:sp>
        <p:nvSpPr>
          <p:cNvPr id="3" name="Shape 1"/>
          <p:cNvSpPr/>
          <p:nvPr/>
        </p:nvSpPr>
        <p:spPr>
          <a:xfrm>
            <a:off x="0" y="1152525"/>
            <a:ext cx="18288000" cy="19050"/>
          </a:xfrm>
          <a:prstGeom prst="rect">
            <a:avLst/>
          </a:prstGeom>
          <a:solidFill>
            <a:srgbClr val="A6A6A6"/>
          </a:solidFill>
          <a:ln/>
        </p:spPr>
        <p:txBody>
          <a:bodyPr/>
          <a:lstStyle/>
          <a:p>
            <a:endParaRPr lang="en-US"/>
          </a:p>
        </p:txBody>
      </p:sp>
      <p:sp>
        <p:nvSpPr>
          <p:cNvPr id="4" name="Shape 2"/>
          <p:cNvSpPr/>
          <p:nvPr/>
        </p:nvSpPr>
        <p:spPr>
          <a:xfrm>
            <a:off x="647700" y="1428750"/>
            <a:ext cx="8349457" cy="476250"/>
          </a:xfrm>
          <a:prstGeom prst="rect">
            <a:avLst/>
          </a:prstGeom>
          <a:solidFill>
            <a:srgbClr val="619B32"/>
          </a:solidFill>
          <a:ln/>
        </p:spPr>
        <p:txBody>
          <a:bodyPr/>
          <a:lstStyle/>
          <a:p>
            <a:endParaRPr lang="en-US"/>
          </a:p>
        </p:txBody>
      </p:sp>
      <p:sp>
        <p:nvSpPr>
          <p:cNvPr id="5" name="Text 3"/>
          <p:cNvSpPr/>
          <p:nvPr/>
        </p:nvSpPr>
        <p:spPr>
          <a:xfrm>
            <a:off x="781050" y="1533525"/>
            <a:ext cx="3252498" cy="304800"/>
          </a:xfrm>
          <a:prstGeom prst="rect">
            <a:avLst/>
          </a:prstGeom>
          <a:noFill/>
          <a:ln/>
        </p:spPr>
        <p:txBody>
          <a:bodyPr wrap="square" lIns="25400" tIns="25400" rIns="25400" bIns="25400" rtlCol="0" anchor="ctr">
            <a:normAutofit lnSpcReduction="10000"/>
          </a:bodyPr>
          <a:lstStyle/>
          <a:p>
            <a:pPr marL="0" indent="0" algn="l">
              <a:buNone/>
            </a:pPr>
            <a:r>
              <a:rPr lang="en-US" sz="1725" b="1" dirty="0">
                <a:solidFill>
                  <a:srgbClr val="FFFFFF"/>
                </a:solidFill>
                <a:latin typeface="Calibri" pitchFamily="34" charset="0"/>
                <a:ea typeface="Calibri" pitchFamily="34" charset="-122"/>
                <a:cs typeface="Calibri" pitchFamily="34" charset="-120"/>
              </a:rPr>
              <a:t>Classification</a:t>
            </a:r>
            <a:endParaRPr lang="en-US" sz="1725" dirty="0"/>
          </a:p>
        </p:txBody>
      </p:sp>
      <p:sp>
        <p:nvSpPr>
          <p:cNvPr id="6" name="Text 4"/>
          <p:cNvSpPr/>
          <p:nvPr/>
        </p:nvSpPr>
        <p:spPr>
          <a:xfrm>
            <a:off x="4121547" y="1533525"/>
            <a:ext cx="1570434" cy="304800"/>
          </a:xfrm>
          <a:prstGeom prst="rect">
            <a:avLst/>
          </a:prstGeom>
          <a:noFill/>
          <a:ln/>
        </p:spPr>
        <p:txBody>
          <a:bodyPr wrap="square" lIns="25400" tIns="25400" rIns="25400" bIns="25400" rtlCol="0" anchor="ctr">
            <a:normAutofit lnSpcReduction="10000"/>
          </a:bodyPr>
          <a:lstStyle/>
          <a:p>
            <a:pPr marL="0" indent="0" algn="r">
              <a:buNone/>
            </a:pPr>
            <a:r>
              <a:rPr lang="en-US" sz="1725" b="1" dirty="0">
                <a:solidFill>
                  <a:srgbClr val="FFFFFF"/>
                </a:solidFill>
                <a:latin typeface="Calibri" pitchFamily="34" charset="0"/>
                <a:ea typeface="Calibri" pitchFamily="34" charset="-122"/>
                <a:cs typeface="Calibri" pitchFamily="34" charset="-120"/>
              </a:rPr>
              <a:t>Ticket q'ty</a:t>
            </a:r>
            <a:endParaRPr lang="en-US" sz="1725" dirty="0"/>
          </a:p>
        </p:txBody>
      </p:sp>
      <p:sp>
        <p:nvSpPr>
          <p:cNvPr id="7" name="Text 5"/>
          <p:cNvSpPr/>
          <p:nvPr/>
        </p:nvSpPr>
        <p:spPr>
          <a:xfrm>
            <a:off x="5882482" y="1533525"/>
            <a:ext cx="1199356" cy="304800"/>
          </a:xfrm>
          <a:prstGeom prst="rect">
            <a:avLst/>
          </a:prstGeom>
          <a:noFill/>
          <a:ln/>
        </p:spPr>
        <p:txBody>
          <a:bodyPr wrap="square" lIns="25400" tIns="25400" rIns="25400" bIns="25400" rtlCol="0" anchor="ctr">
            <a:normAutofit lnSpcReduction="10000"/>
          </a:bodyPr>
          <a:lstStyle/>
          <a:p>
            <a:pPr marL="0" indent="0" algn="r">
              <a:buNone/>
            </a:pPr>
            <a:r>
              <a:rPr lang="en-US" sz="1725" b="1" dirty="0">
                <a:solidFill>
                  <a:srgbClr val="FFFFFF"/>
                </a:solidFill>
                <a:latin typeface="Calibri" pitchFamily="34" charset="0"/>
                <a:ea typeface="Calibri" pitchFamily="34" charset="-122"/>
                <a:cs typeface="Calibri" pitchFamily="34" charset="-120"/>
              </a:rPr>
              <a:t>Sharing</a:t>
            </a:r>
            <a:endParaRPr lang="en-US" sz="1725" dirty="0"/>
          </a:p>
        </p:txBody>
      </p:sp>
      <p:sp>
        <p:nvSpPr>
          <p:cNvPr id="8" name="Text 6"/>
          <p:cNvSpPr/>
          <p:nvPr/>
        </p:nvSpPr>
        <p:spPr>
          <a:xfrm>
            <a:off x="7348538" y="1533525"/>
            <a:ext cx="1591469" cy="304800"/>
          </a:xfrm>
          <a:prstGeom prst="rect">
            <a:avLst/>
          </a:prstGeom>
          <a:noFill/>
          <a:ln/>
        </p:spPr>
        <p:txBody>
          <a:bodyPr wrap="square" lIns="25400" tIns="25400" rIns="25400" bIns="25400" rtlCol="0" anchor="ctr">
            <a:normAutofit lnSpcReduction="10000"/>
          </a:bodyPr>
          <a:lstStyle/>
          <a:p>
            <a:pPr marL="0" indent="0" algn="l">
              <a:buNone/>
            </a:pPr>
            <a:r>
              <a:rPr lang="en-US" sz="1725" b="1" dirty="0">
                <a:solidFill>
                  <a:srgbClr val="FFFFFF"/>
                </a:solidFill>
                <a:latin typeface="Calibri" pitchFamily="34" charset="0"/>
                <a:ea typeface="Calibri" pitchFamily="34" charset="-122"/>
                <a:cs typeface="Calibri" pitchFamily="34" charset="-120"/>
              </a:rPr>
              <a:t>Ticket rate</a:t>
            </a:r>
            <a:endParaRPr lang="en-US" sz="1725" dirty="0"/>
          </a:p>
        </p:txBody>
      </p:sp>
      <p:sp>
        <p:nvSpPr>
          <p:cNvPr id="9" name="Shape 7"/>
          <p:cNvSpPr/>
          <p:nvPr/>
        </p:nvSpPr>
        <p:spPr>
          <a:xfrm>
            <a:off x="647700" y="2374900"/>
            <a:ext cx="8349457" cy="12700"/>
          </a:xfrm>
          <a:prstGeom prst="rect">
            <a:avLst/>
          </a:prstGeom>
          <a:solidFill>
            <a:srgbClr val="D9DED7"/>
          </a:solidFill>
          <a:ln/>
        </p:spPr>
        <p:txBody>
          <a:bodyPr/>
          <a:lstStyle/>
          <a:p>
            <a:endParaRPr lang="en-US"/>
          </a:p>
        </p:txBody>
      </p:sp>
      <p:sp>
        <p:nvSpPr>
          <p:cNvPr id="10" name="Shape 8"/>
          <p:cNvSpPr/>
          <p:nvPr/>
        </p:nvSpPr>
        <p:spPr>
          <a:xfrm>
            <a:off x="781050" y="2076450"/>
            <a:ext cx="133350" cy="133350"/>
          </a:xfrm>
          <a:prstGeom prst="rect">
            <a:avLst/>
          </a:prstGeom>
          <a:solidFill>
            <a:srgbClr val="B5BAB2"/>
          </a:solidFill>
          <a:ln/>
        </p:spPr>
        <p:txBody>
          <a:bodyPr/>
          <a:lstStyle/>
          <a:p>
            <a:endParaRPr lang="en-US"/>
          </a:p>
        </p:txBody>
      </p:sp>
      <p:sp>
        <p:nvSpPr>
          <p:cNvPr id="11" name="Text 9"/>
          <p:cNvSpPr/>
          <p:nvPr/>
        </p:nvSpPr>
        <p:spPr>
          <a:xfrm>
            <a:off x="1028700" y="2009775"/>
            <a:ext cx="820142"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Disclaim</a:t>
            </a:r>
            <a:endParaRPr lang="en-US" sz="1725" dirty="0"/>
          </a:p>
        </p:txBody>
      </p:sp>
      <p:sp>
        <p:nvSpPr>
          <p:cNvPr id="12" name="Text 10"/>
          <p:cNvSpPr/>
          <p:nvPr/>
        </p:nvSpPr>
        <p:spPr>
          <a:xfrm>
            <a:off x="4121547" y="2009775"/>
            <a:ext cx="1570434" cy="311150"/>
          </a:xfrm>
          <a:prstGeom prst="rect">
            <a:avLst/>
          </a:prstGeom>
          <a:noFill/>
          <a:ln/>
        </p:spPr>
        <p:txBody>
          <a:bodyPr wrap="square" lIns="25400" tIns="25400" rIns="25400" bIns="25400" rtlCol="0" anchor="ctr">
            <a:normAutofit lnSpcReduction="10000"/>
          </a:bodyPr>
          <a:lstStyle/>
          <a:p>
            <a:pPr marL="0" indent="0" algn="r">
              <a:buNone/>
            </a:pPr>
            <a:r>
              <a:rPr lang="en-US" sz="1725" dirty="0">
                <a:solidFill>
                  <a:srgbClr val="1A1A1A"/>
                </a:solidFill>
                <a:latin typeface="Calibri" pitchFamily="34" charset="0"/>
                <a:ea typeface="Calibri" pitchFamily="34" charset="-122"/>
                <a:cs typeface="Calibri" pitchFamily="34" charset="-120"/>
              </a:rPr>
              <a:t>2,280</a:t>
            </a:r>
            <a:endParaRPr lang="en-US" sz="1725" dirty="0"/>
          </a:p>
        </p:txBody>
      </p:sp>
      <p:sp>
        <p:nvSpPr>
          <p:cNvPr id="13" name="Text 11"/>
          <p:cNvSpPr/>
          <p:nvPr/>
        </p:nvSpPr>
        <p:spPr>
          <a:xfrm>
            <a:off x="5882482" y="2009775"/>
            <a:ext cx="1199356" cy="311150"/>
          </a:xfrm>
          <a:prstGeom prst="rect">
            <a:avLst/>
          </a:prstGeom>
          <a:noFill/>
          <a:ln/>
        </p:spPr>
        <p:txBody>
          <a:bodyPr wrap="square" lIns="25400" tIns="25400" rIns="25400" bIns="25400" rtlCol="0" anchor="ctr">
            <a:normAutofit lnSpcReduction="10000"/>
          </a:bodyPr>
          <a:lstStyle/>
          <a:p>
            <a:pPr marL="0" indent="0" algn="r">
              <a:buNone/>
            </a:pPr>
            <a:r>
              <a:rPr lang="en-US" sz="1725" dirty="0">
                <a:solidFill>
                  <a:srgbClr val="1A1A1A"/>
                </a:solidFill>
                <a:latin typeface="Calibri" pitchFamily="34" charset="0"/>
                <a:ea typeface="Calibri" pitchFamily="34" charset="-122"/>
                <a:cs typeface="Calibri" pitchFamily="34" charset="-120"/>
              </a:rPr>
              <a:t>20.1%</a:t>
            </a:r>
            <a:endParaRPr lang="en-US" sz="1725" dirty="0"/>
          </a:p>
        </p:txBody>
      </p:sp>
      <p:sp>
        <p:nvSpPr>
          <p:cNvPr id="14" name="Shape 12"/>
          <p:cNvSpPr/>
          <p:nvPr/>
        </p:nvSpPr>
        <p:spPr>
          <a:xfrm>
            <a:off x="7348538" y="2076450"/>
            <a:ext cx="753269" cy="133350"/>
          </a:xfrm>
          <a:prstGeom prst="rect">
            <a:avLst/>
          </a:prstGeom>
          <a:solidFill>
            <a:srgbClr val="EDEFEA"/>
          </a:solidFill>
          <a:ln/>
        </p:spPr>
        <p:txBody>
          <a:bodyPr/>
          <a:lstStyle/>
          <a:p>
            <a:endParaRPr lang="en-US"/>
          </a:p>
        </p:txBody>
      </p:sp>
      <p:sp>
        <p:nvSpPr>
          <p:cNvPr id="15" name="Shape 13"/>
          <p:cNvSpPr/>
          <p:nvPr/>
        </p:nvSpPr>
        <p:spPr>
          <a:xfrm>
            <a:off x="7348538" y="2076450"/>
            <a:ext cx="448866" cy="133350"/>
          </a:xfrm>
          <a:prstGeom prst="rect">
            <a:avLst/>
          </a:prstGeom>
          <a:solidFill>
            <a:srgbClr val="B5BAB2"/>
          </a:solidFill>
          <a:ln/>
        </p:spPr>
        <p:txBody>
          <a:bodyPr/>
          <a:lstStyle/>
          <a:p>
            <a:endParaRPr lang="en-US"/>
          </a:p>
        </p:txBody>
      </p:sp>
      <p:sp>
        <p:nvSpPr>
          <p:cNvPr id="16" name="Text 14"/>
          <p:cNvSpPr/>
          <p:nvPr/>
        </p:nvSpPr>
        <p:spPr>
          <a:xfrm>
            <a:off x="8120857" y="2009775"/>
            <a:ext cx="742950" cy="304800"/>
          </a:xfrm>
          <a:prstGeom prst="rect">
            <a:avLst/>
          </a:prstGeom>
          <a:noFill/>
          <a:ln/>
        </p:spPr>
        <p:txBody>
          <a:bodyPr wrap="square" lIns="25400" tIns="25400" rIns="25400" bIns="25400" rtlCol="0" anchor="t">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9.0%</a:t>
            </a:r>
            <a:endParaRPr lang="en-US" sz="1725" dirty="0"/>
          </a:p>
        </p:txBody>
      </p:sp>
      <p:sp>
        <p:nvSpPr>
          <p:cNvPr id="17" name="Shape 15"/>
          <p:cNvSpPr/>
          <p:nvPr/>
        </p:nvSpPr>
        <p:spPr>
          <a:xfrm>
            <a:off x="647700" y="2863850"/>
            <a:ext cx="8349457" cy="12700"/>
          </a:xfrm>
          <a:prstGeom prst="rect">
            <a:avLst/>
          </a:prstGeom>
          <a:solidFill>
            <a:srgbClr val="D9DED7"/>
          </a:solidFill>
          <a:ln/>
        </p:spPr>
        <p:txBody>
          <a:bodyPr/>
          <a:lstStyle/>
          <a:p>
            <a:endParaRPr lang="en-US"/>
          </a:p>
        </p:txBody>
      </p:sp>
      <p:sp>
        <p:nvSpPr>
          <p:cNvPr id="18" name="Shape 16"/>
          <p:cNvSpPr/>
          <p:nvPr/>
        </p:nvSpPr>
        <p:spPr>
          <a:xfrm>
            <a:off x="781050" y="2565400"/>
            <a:ext cx="133350" cy="133350"/>
          </a:xfrm>
          <a:prstGeom prst="rect">
            <a:avLst/>
          </a:prstGeom>
          <a:solidFill>
            <a:srgbClr val="C0504D"/>
          </a:solidFill>
          <a:ln/>
        </p:spPr>
        <p:txBody>
          <a:bodyPr/>
          <a:lstStyle/>
          <a:p>
            <a:endParaRPr lang="en-US"/>
          </a:p>
        </p:txBody>
      </p:sp>
      <p:sp>
        <p:nvSpPr>
          <p:cNvPr id="19" name="Text 17"/>
          <p:cNvSpPr/>
          <p:nvPr/>
        </p:nvSpPr>
        <p:spPr>
          <a:xfrm>
            <a:off x="1028700" y="2498725"/>
            <a:ext cx="947737"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Hardware</a:t>
            </a:r>
            <a:endParaRPr lang="en-US" sz="1725" dirty="0"/>
          </a:p>
        </p:txBody>
      </p:sp>
      <p:sp>
        <p:nvSpPr>
          <p:cNvPr id="20" name="Text 18"/>
          <p:cNvSpPr/>
          <p:nvPr/>
        </p:nvSpPr>
        <p:spPr>
          <a:xfrm>
            <a:off x="4121547" y="2492375"/>
            <a:ext cx="1570434"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1,700</a:t>
            </a:r>
            <a:endParaRPr lang="en-US" sz="1725" dirty="0"/>
          </a:p>
        </p:txBody>
      </p:sp>
      <p:sp>
        <p:nvSpPr>
          <p:cNvPr id="21" name="Text 19"/>
          <p:cNvSpPr/>
          <p:nvPr/>
        </p:nvSpPr>
        <p:spPr>
          <a:xfrm>
            <a:off x="5882482" y="2492375"/>
            <a:ext cx="1199356"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15.0%</a:t>
            </a:r>
            <a:endParaRPr lang="en-US" sz="1725" dirty="0"/>
          </a:p>
        </p:txBody>
      </p:sp>
      <p:sp>
        <p:nvSpPr>
          <p:cNvPr id="22" name="Shape 20"/>
          <p:cNvSpPr/>
          <p:nvPr/>
        </p:nvSpPr>
        <p:spPr>
          <a:xfrm>
            <a:off x="7348538" y="2565400"/>
            <a:ext cx="753269" cy="133350"/>
          </a:xfrm>
          <a:prstGeom prst="rect">
            <a:avLst/>
          </a:prstGeom>
          <a:solidFill>
            <a:srgbClr val="EDEFEA"/>
          </a:solidFill>
          <a:ln/>
        </p:spPr>
        <p:txBody>
          <a:bodyPr/>
          <a:lstStyle/>
          <a:p>
            <a:endParaRPr lang="en-US"/>
          </a:p>
        </p:txBody>
      </p:sp>
      <p:sp>
        <p:nvSpPr>
          <p:cNvPr id="23" name="Shape 21"/>
          <p:cNvSpPr/>
          <p:nvPr/>
        </p:nvSpPr>
        <p:spPr>
          <a:xfrm>
            <a:off x="7348538" y="2565400"/>
            <a:ext cx="334367" cy="133350"/>
          </a:xfrm>
          <a:prstGeom prst="rect">
            <a:avLst/>
          </a:prstGeom>
          <a:solidFill>
            <a:srgbClr val="C0504D"/>
          </a:solidFill>
          <a:ln/>
        </p:spPr>
        <p:txBody>
          <a:bodyPr/>
          <a:lstStyle/>
          <a:p>
            <a:endParaRPr lang="en-US"/>
          </a:p>
        </p:txBody>
      </p:sp>
      <p:sp>
        <p:nvSpPr>
          <p:cNvPr id="24" name="Text 22"/>
          <p:cNvSpPr/>
          <p:nvPr/>
        </p:nvSpPr>
        <p:spPr>
          <a:xfrm>
            <a:off x="8120857" y="2498725"/>
            <a:ext cx="742950" cy="304800"/>
          </a:xfrm>
          <a:prstGeom prst="rect">
            <a:avLst/>
          </a:prstGeom>
          <a:noFill/>
          <a:ln/>
        </p:spPr>
        <p:txBody>
          <a:bodyPr wrap="square" lIns="25400" tIns="25400" rIns="25400" bIns="25400" rtlCol="0" anchor="t">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6.7%</a:t>
            </a:r>
            <a:endParaRPr lang="en-US" sz="1725" dirty="0"/>
          </a:p>
        </p:txBody>
      </p:sp>
      <p:sp>
        <p:nvSpPr>
          <p:cNvPr id="25" name="Shape 23"/>
          <p:cNvSpPr/>
          <p:nvPr/>
        </p:nvSpPr>
        <p:spPr>
          <a:xfrm>
            <a:off x="647700" y="3352800"/>
            <a:ext cx="8349457" cy="12700"/>
          </a:xfrm>
          <a:prstGeom prst="rect">
            <a:avLst/>
          </a:prstGeom>
          <a:solidFill>
            <a:srgbClr val="D9DED7"/>
          </a:solidFill>
          <a:ln/>
        </p:spPr>
        <p:txBody>
          <a:bodyPr/>
          <a:lstStyle/>
          <a:p>
            <a:endParaRPr lang="en-US"/>
          </a:p>
        </p:txBody>
      </p:sp>
      <p:sp>
        <p:nvSpPr>
          <p:cNvPr id="26" name="Shape 24"/>
          <p:cNvSpPr/>
          <p:nvPr/>
        </p:nvSpPr>
        <p:spPr>
          <a:xfrm>
            <a:off x="781050" y="3054350"/>
            <a:ext cx="133350" cy="133350"/>
          </a:xfrm>
          <a:prstGeom prst="rect">
            <a:avLst/>
          </a:prstGeom>
          <a:solidFill>
            <a:srgbClr val="E8A33D"/>
          </a:solidFill>
          <a:ln/>
        </p:spPr>
        <p:txBody>
          <a:bodyPr/>
          <a:lstStyle/>
          <a:p>
            <a:endParaRPr lang="en-US"/>
          </a:p>
        </p:txBody>
      </p:sp>
      <p:sp>
        <p:nvSpPr>
          <p:cNvPr id="27" name="Text 25"/>
          <p:cNvSpPr/>
          <p:nvPr/>
        </p:nvSpPr>
        <p:spPr>
          <a:xfrm>
            <a:off x="1028700" y="2987675"/>
            <a:ext cx="2000766"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Firmware / Software</a:t>
            </a:r>
            <a:endParaRPr lang="en-US" sz="1725" dirty="0"/>
          </a:p>
        </p:txBody>
      </p:sp>
      <p:sp>
        <p:nvSpPr>
          <p:cNvPr id="28" name="Text 26"/>
          <p:cNvSpPr/>
          <p:nvPr/>
        </p:nvSpPr>
        <p:spPr>
          <a:xfrm>
            <a:off x="4121547" y="2981325"/>
            <a:ext cx="1570434"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3,087</a:t>
            </a:r>
            <a:endParaRPr lang="en-US" sz="1725" dirty="0"/>
          </a:p>
        </p:txBody>
      </p:sp>
      <p:sp>
        <p:nvSpPr>
          <p:cNvPr id="29" name="Text 27"/>
          <p:cNvSpPr/>
          <p:nvPr/>
        </p:nvSpPr>
        <p:spPr>
          <a:xfrm>
            <a:off x="5882482" y="2981325"/>
            <a:ext cx="1199356"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27.3%</a:t>
            </a:r>
            <a:endParaRPr lang="en-US" sz="1725" dirty="0"/>
          </a:p>
        </p:txBody>
      </p:sp>
      <p:sp>
        <p:nvSpPr>
          <p:cNvPr id="30" name="Shape 28"/>
          <p:cNvSpPr/>
          <p:nvPr/>
        </p:nvSpPr>
        <p:spPr>
          <a:xfrm>
            <a:off x="7348538" y="3054350"/>
            <a:ext cx="753269" cy="133350"/>
          </a:xfrm>
          <a:prstGeom prst="rect">
            <a:avLst/>
          </a:prstGeom>
          <a:solidFill>
            <a:srgbClr val="EDEFEA"/>
          </a:solidFill>
          <a:ln/>
        </p:spPr>
        <p:txBody>
          <a:bodyPr/>
          <a:lstStyle/>
          <a:p>
            <a:endParaRPr lang="en-US"/>
          </a:p>
        </p:txBody>
      </p:sp>
      <p:sp>
        <p:nvSpPr>
          <p:cNvPr id="31" name="Shape 29"/>
          <p:cNvSpPr/>
          <p:nvPr/>
        </p:nvSpPr>
        <p:spPr>
          <a:xfrm>
            <a:off x="7348538" y="3054350"/>
            <a:ext cx="608608" cy="133350"/>
          </a:xfrm>
          <a:prstGeom prst="rect">
            <a:avLst/>
          </a:prstGeom>
          <a:solidFill>
            <a:srgbClr val="E8A33D"/>
          </a:solidFill>
          <a:ln/>
        </p:spPr>
        <p:txBody>
          <a:bodyPr/>
          <a:lstStyle/>
          <a:p>
            <a:endParaRPr lang="en-US"/>
          </a:p>
        </p:txBody>
      </p:sp>
      <p:sp>
        <p:nvSpPr>
          <p:cNvPr id="32" name="Text 30"/>
          <p:cNvSpPr/>
          <p:nvPr/>
        </p:nvSpPr>
        <p:spPr>
          <a:xfrm>
            <a:off x="8120857" y="2987675"/>
            <a:ext cx="742950" cy="304800"/>
          </a:xfrm>
          <a:prstGeom prst="rect">
            <a:avLst/>
          </a:prstGeom>
          <a:noFill/>
          <a:ln/>
        </p:spPr>
        <p:txBody>
          <a:bodyPr wrap="square" lIns="25400" tIns="25400" rIns="25400" bIns="25400" rtlCol="0" anchor="t">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12.2%</a:t>
            </a:r>
            <a:endParaRPr lang="en-US" sz="1725" dirty="0"/>
          </a:p>
        </p:txBody>
      </p:sp>
      <p:sp>
        <p:nvSpPr>
          <p:cNvPr id="33" name="Shape 31"/>
          <p:cNvSpPr/>
          <p:nvPr/>
        </p:nvSpPr>
        <p:spPr>
          <a:xfrm>
            <a:off x="647700" y="3841750"/>
            <a:ext cx="8349457" cy="12700"/>
          </a:xfrm>
          <a:prstGeom prst="rect">
            <a:avLst/>
          </a:prstGeom>
          <a:solidFill>
            <a:srgbClr val="D9DED7"/>
          </a:solidFill>
          <a:ln/>
        </p:spPr>
        <p:txBody>
          <a:bodyPr/>
          <a:lstStyle/>
          <a:p>
            <a:endParaRPr lang="en-US"/>
          </a:p>
        </p:txBody>
      </p:sp>
      <p:sp>
        <p:nvSpPr>
          <p:cNvPr id="34" name="Shape 32"/>
          <p:cNvSpPr/>
          <p:nvPr/>
        </p:nvSpPr>
        <p:spPr>
          <a:xfrm>
            <a:off x="781050" y="3543300"/>
            <a:ext cx="133350" cy="133350"/>
          </a:xfrm>
          <a:prstGeom prst="rect">
            <a:avLst/>
          </a:prstGeom>
          <a:solidFill>
            <a:srgbClr val="2F5597"/>
          </a:solidFill>
          <a:ln/>
        </p:spPr>
        <p:txBody>
          <a:bodyPr/>
          <a:lstStyle/>
          <a:p>
            <a:endParaRPr lang="en-US"/>
          </a:p>
        </p:txBody>
      </p:sp>
      <p:sp>
        <p:nvSpPr>
          <p:cNvPr id="35" name="Text 33"/>
          <p:cNvSpPr/>
          <p:nvPr/>
        </p:nvSpPr>
        <p:spPr>
          <a:xfrm>
            <a:off x="1028700" y="3476625"/>
            <a:ext cx="1414026"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No fault found</a:t>
            </a:r>
            <a:endParaRPr lang="en-US" sz="1725" dirty="0"/>
          </a:p>
        </p:txBody>
      </p:sp>
      <p:sp>
        <p:nvSpPr>
          <p:cNvPr id="36" name="Text 34"/>
          <p:cNvSpPr/>
          <p:nvPr/>
        </p:nvSpPr>
        <p:spPr>
          <a:xfrm>
            <a:off x="4121547" y="3470275"/>
            <a:ext cx="1570434"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3,818</a:t>
            </a:r>
            <a:endParaRPr lang="en-US" sz="1725" dirty="0"/>
          </a:p>
        </p:txBody>
      </p:sp>
      <p:sp>
        <p:nvSpPr>
          <p:cNvPr id="37" name="Text 35"/>
          <p:cNvSpPr/>
          <p:nvPr/>
        </p:nvSpPr>
        <p:spPr>
          <a:xfrm>
            <a:off x="5882482" y="3470275"/>
            <a:ext cx="1199356"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33.7%</a:t>
            </a:r>
            <a:endParaRPr lang="en-US" sz="1725" dirty="0"/>
          </a:p>
        </p:txBody>
      </p:sp>
      <p:sp>
        <p:nvSpPr>
          <p:cNvPr id="38" name="Shape 36"/>
          <p:cNvSpPr/>
          <p:nvPr/>
        </p:nvSpPr>
        <p:spPr>
          <a:xfrm>
            <a:off x="7348538" y="3543300"/>
            <a:ext cx="753269" cy="133350"/>
          </a:xfrm>
          <a:prstGeom prst="rect">
            <a:avLst/>
          </a:prstGeom>
          <a:solidFill>
            <a:srgbClr val="EDEFEA"/>
          </a:solidFill>
          <a:ln/>
        </p:spPr>
        <p:txBody>
          <a:bodyPr/>
          <a:lstStyle/>
          <a:p>
            <a:endParaRPr lang="en-US"/>
          </a:p>
        </p:txBody>
      </p:sp>
      <p:sp>
        <p:nvSpPr>
          <p:cNvPr id="39" name="Shape 37"/>
          <p:cNvSpPr/>
          <p:nvPr/>
        </p:nvSpPr>
        <p:spPr>
          <a:xfrm>
            <a:off x="7348538" y="3543300"/>
            <a:ext cx="753269" cy="133350"/>
          </a:xfrm>
          <a:prstGeom prst="rect">
            <a:avLst/>
          </a:prstGeom>
          <a:solidFill>
            <a:srgbClr val="2F5597"/>
          </a:solidFill>
          <a:ln/>
        </p:spPr>
        <p:txBody>
          <a:bodyPr/>
          <a:lstStyle/>
          <a:p>
            <a:endParaRPr lang="en-US"/>
          </a:p>
        </p:txBody>
      </p:sp>
      <p:sp>
        <p:nvSpPr>
          <p:cNvPr id="40" name="Text 38"/>
          <p:cNvSpPr/>
          <p:nvPr/>
        </p:nvSpPr>
        <p:spPr>
          <a:xfrm>
            <a:off x="8120857" y="3476625"/>
            <a:ext cx="742950" cy="304800"/>
          </a:xfrm>
          <a:prstGeom prst="rect">
            <a:avLst/>
          </a:prstGeom>
          <a:noFill/>
          <a:ln/>
        </p:spPr>
        <p:txBody>
          <a:bodyPr wrap="square" lIns="25400" tIns="25400" rIns="25400" bIns="25400" rtlCol="0" anchor="t">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15.1%</a:t>
            </a:r>
            <a:endParaRPr lang="en-US" sz="1725" dirty="0"/>
          </a:p>
        </p:txBody>
      </p:sp>
      <p:sp>
        <p:nvSpPr>
          <p:cNvPr id="41" name="Shape 39"/>
          <p:cNvSpPr/>
          <p:nvPr/>
        </p:nvSpPr>
        <p:spPr>
          <a:xfrm>
            <a:off x="647700" y="4330700"/>
            <a:ext cx="8349457" cy="12700"/>
          </a:xfrm>
          <a:prstGeom prst="rect">
            <a:avLst/>
          </a:prstGeom>
          <a:solidFill>
            <a:srgbClr val="D9DED7"/>
          </a:solidFill>
          <a:ln/>
        </p:spPr>
        <p:txBody>
          <a:bodyPr/>
          <a:lstStyle/>
          <a:p>
            <a:endParaRPr lang="en-US"/>
          </a:p>
        </p:txBody>
      </p:sp>
      <p:sp>
        <p:nvSpPr>
          <p:cNvPr id="42" name="Shape 40"/>
          <p:cNvSpPr/>
          <p:nvPr/>
        </p:nvSpPr>
        <p:spPr>
          <a:xfrm>
            <a:off x="781050" y="4032250"/>
            <a:ext cx="133350" cy="133350"/>
          </a:xfrm>
          <a:prstGeom prst="rect">
            <a:avLst/>
          </a:prstGeom>
          <a:solidFill>
            <a:srgbClr val="7F7F7F"/>
          </a:solidFill>
          <a:ln/>
        </p:spPr>
        <p:txBody>
          <a:bodyPr/>
          <a:lstStyle/>
          <a:p>
            <a:endParaRPr lang="en-US"/>
          </a:p>
        </p:txBody>
      </p:sp>
      <p:sp>
        <p:nvSpPr>
          <p:cNvPr id="43" name="Text 41"/>
          <p:cNvSpPr/>
          <p:nvPr/>
        </p:nvSpPr>
        <p:spPr>
          <a:xfrm>
            <a:off x="1028700" y="3965575"/>
            <a:ext cx="1386304"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Undefined yet</a:t>
            </a:r>
            <a:endParaRPr lang="en-US" sz="1725" dirty="0"/>
          </a:p>
        </p:txBody>
      </p:sp>
      <p:sp>
        <p:nvSpPr>
          <p:cNvPr id="44" name="Text 42"/>
          <p:cNvSpPr/>
          <p:nvPr/>
        </p:nvSpPr>
        <p:spPr>
          <a:xfrm>
            <a:off x="4121547" y="3959225"/>
            <a:ext cx="1570434"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433</a:t>
            </a:r>
            <a:endParaRPr lang="en-US" sz="1725" dirty="0"/>
          </a:p>
        </p:txBody>
      </p:sp>
      <p:sp>
        <p:nvSpPr>
          <p:cNvPr id="45" name="Text 43"/>
          <p:cNvSpPr/>
          <p:nvPr/>
        </p:nvSpPr>
        <p:spPr>
          <a:xfrm>
            <a:off x="5882482" y="3959225"/>
            <a:ext cx="1199356"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3.8%</a:t>
            </a:r>
            <a:endParaRPr lang="en-US" sz="1725" dirty="0"/>
          </a:p>
        </p:txBody>
      </p:sp>
      <p:sp>
        <p:nvSpPr>
          <p:cNvPr id="46" name="Shape 44"/>
          <p:cNvSpPr/>
          <p:nvPr/>
        </p:nvSpPr>
        <p:spPr>
          <a:xfrm>
            <a:off x="7348538" y="4032250"/>
            <a:ext cx="753269" cy="133350"/>
          </a:xfrm>
          <a:prstGeom prst="rect">
            <a:avLst/>
          </a:prstGeom>
          <a:solidFill>
            <a:srgbClr val="EDEFEA"/>
          </a:solidFill>
          <a:ln/>
        </p:spPr>
        <p:txBody>
          <a:bodyPr/>
          <a:lstStyle/>
          <a:p>
            <a:endParaRPr lang="en-US"/>
          </a:p>
        </p:txBody>
      </p:sp>
      <p:sp>
        <p:nvSpPr>
          <p:cNvPr id="47" name="Shape 45"/>
          <p:cNvSpPr/>
          <p:nvPr/>
        </p:nvSpPr>
        <p:spPr>
          <a:xfrm>
            <a:off x="7348538" y="4032250"/>
            <a:ext cx="84931" cy="133350"/>
          </a:xfrm>
          <a:prstGeom prst="rect">
            <a:avLst/>
          </a:prstGeom>
          <a:solidFill>
            <a:srgbClr val="7F7F7F"/>
          </a:solidFill>
          <a:ln/>
        </p:spPr>
        <p:txBody>
          <a:bodyPr/>
          <a:lstStyle/>
          <a:p>
            <a:endParaRPr lang="en-US"/>
          </a:p>
        </p:txBody>
      </p:sp>
      <p:sp>
        <p:nvSpPr>
          <p:cNvPr id="48" name="Text 46"/>
          <p:cNvSpPr/>
          <p:nvPr/>
        </p:nvSpPr>
        <p:spPr>
          <a:xfrm>
            <a:off x="8120857" y="3965575"/>
            <a:ext cx="742950" cy="304800"/>
          </a:xfrm>
          <a:prstGeom prst="rect">
            <a:avLst/>
          </a:prstGeom>
          <a:noFill/>
          <a:ln/>
        </p:spPr>
        <p:txBody>
          <a:bodyPr wrap="square" lIns="25400" tIns="25400" rIns="25400" bIns="25400" rtlCol="0" anchor="t">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1.7%</a:t>
            </a:r>
            <a:endParaRPr lang="en-US" sz="1725" dirty="0"/>
          </a:p>
        </p:txBody>
      </p:sp>
      <p:sp>
        <p:nvSpPr>
          <p:cNvPr id="49" name="Shape 47"/>
          <p:cNvSpPr/>
          <p:nvPr/>
        </p:nvSpPr>
        <p:spPr>
          <a:xfrm>
            <a:off x="647700" y="4343400"/>
            <a:ext cx="8349457" cy="482600"/>
          </a:xfrm>
          <a:prstGeom prst="rect">
            <a:avLst/>
          </a:prstGeom>
          <a:solidFill>
            <a:srgbClr val="E2EFDA"/>
          </a:solidFill>
          <a:ln/>
        </p:spPr>
        <p:txBody>
          <a:bodyPr/>
          <a:lstStyle/>
          <a:p>
            <a:endParaRPr lang="en-US"/>
          </a:p>
        </p:txBody>
      </p:sp>
      <p:sp>
        <p:nvSpPr>
          <p:cNvPr id="50" name="Text 48"/>
          <p:cNvSpPr/>
          <p:nvPr/>
        </p:nvSpPr>
        <p:spPr>
          <a:xfrm>
            <a:off x="781050" y="4448175"/>
            <a:ext cx="3252498" cy="311150"/>
          </a:xfrm>
          <a:prstGeom prst="rect">
            <a:avLst/>
          </a:prstGeom>
          <a:noFill/>
          <a:ln/>
        </p:spPr>
        <p:txBody>
          <a:bodyPr wrap="square" lIns="25400" tIns="25400" rIns="25400" bIns="25400" rtlCol="0" anchor="ctr">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Grand Total</a:t>
            </a:r>
            <a:endParaRPr lang="en-US" sz="1725" dirty="0"/>
          </a:p>
        </p:txBody>
      </p:sp>
      <p:sp>
        <p:nvSpPr>
          <p:cNvPr id="51" name="Text 49"/>
          <p:cNvSpPr/>
          <p:nvPr/>
        </p:nvSpPr>
        <p:spPr>
          <a:xfrm>
            <a:off x="4121547" y="4448175"/>
            <a:ext cx="1570434" cy="311150"/>
          </a:xfrm>
          <a:prstGeom prst="rect">
            <a:avLst/>
          </a:prstGeom>
          <a:noFill/>
          <a:ln/>
        </p:spPr>
        <p:txBody>
          <a:bodyPr wrap="square" lIns="25400" tIns="25400" rIns="25400" bIns="25400" rtlCol="0" anchor="ctr">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11,318</a:t>
            </a:r>
            <a:endParaRPr lang="en-US" sz="1725" dirty="0"/>
          </a:p>
        </p:txBody>
      </p:sp>
      <p:sp>
        <p:nvSpPr>
          <p:cNvPr id="52" name="Text 50"/>
          <p:cNvSpPr/>
          <p:nvPr/>
        </p:nvSpPr>
        <p:spPr>
          <a:xfrm>
            <a:off x="5882482" y="4448175"/>
            <a:ext cx="1199356" cy="311150"/>
          </a:xfrm>
          <a:prstGeom prst="rect">
            <a:avLst/>
          </a:prstGeom>
          <a:noFill/>
          <a:ln/>
        </p:spPr>
        <p:txBody>
          <a:bodyPr wrap="square" lIns="25400" tIns="25400" rIns="25400" bIns="25400" rtlCol="0" anchor="ctr">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100.0%</a:t>
            </a:r>
            <a:endParaRPr lang="en-US" sz="1725" dirty="0"/>
          </a:p>
        </p:txBody>
      </p:sp>
      <p:sp>
        <p:nvSpPr>
          <p:cNvPr id="53" name="Text 51"/>
          <p:cNvSpPr/>
          <p:nvPr/>
        </p:nvSpPr>
        <p:spPr>
          <a:xfrm>
            <a:off x="7348538" y="4448175"/>
            <a:ext cx="1591469" cy="311150"/>
          </a:xfrm>
          <a:prstGeom prst="rect">
            <a:avLst/>
          </a:prstGeom>
          <a:noFill/>
          <a:ln/>
        </p:spPr>
        <p:txBody>
          <a:bodyPr wrap="square" lIns="25400" tIns="25400" rIns="25400" bIns="25400" rtlCol="0" anchor="ctr">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44.6%</a:t>
            </a:r>
            <a:endParaRPr lang="en-US" sz="1725" dirty="0"/>
          </a:p>
        </p:txBody>
      </p:sp>
      <p:sp>
        <p:nvSpPr>
          <p:cNvPr id="54" name="Text 52"/>
          <p:cNvSpPr/>
          <p:nvPr/>
        </p:nvSpPr>
        <p:spPr>
          <a:xfrm>
            <a:off x="647700" y="4997450"/>
            <a:ext cx="9184402" cy="279400"/>
          </a:xfrm>
          <a:prstGeom prst="rect">
            <a:avLst/>
          </a:prstGeom>
          <a:noFill/>
          <a:ln/>
        </p:spPr>
        <p:txBody>
          <a:bodyPr wrap="square" lIns="25400" tIns="25400" rIns="25400" bIns="25400" rtlCol="0" anchor="t">
            <a:normAutofit lnSpcReduction="10000"/>
          </a:bodyPr>
          <a:lstStyle/>
          <a:p>
            <a:pPr marL="0" indent="0" algn="l">
              <a:buNone/>
            </a:pPr>
            <a:r>
              <a:rPr lang="en-US" sz="1575" dirty="0">
                <a:solidFill>
                  <a:srgbClr val="595959"/>
                </a:solidFill>
                <a:latin typeface="Calibri" pitchFamily="34" charset="0"/>
                <a:ea typeface="Calibri" pitchFamily="34" charset="-122"/>
                <a:cs typeface="Calibri" pitchFamily="34" charset="-120"/>
              </a:rPr>
              <a:t>Note: Ticket rate = Ticket Q'ty / Total Chargers on service (25,354 chargers).</a:t>
            </a:r>
            <a:endParaRPr lang="en-US" sz="1575" dirty="0"/>
          </a:p>
        </p:txBody>
      </p:sp>
      <p:sp>
        <p:nvSpPr>
          <p:cNvPr id="55" name="Text 53"/>
          <p:cNvSpPr/>
          <p:nvPr/>
        </p:nvSpPr>
        <p:spPr>
          <a:xfrm>
            <a:off x="647700" y="5467350"/>
            <a:ext cx="9184402"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2F5597"/>
                </a:solidFill>
                <a:latin typeface="Calibri" pitchFamily="34" charset="0"/>
                <a:ea typeface="Calibri" pitchFamily="34" charset="-122"/>
                <a:cs typeface="Calibri" pitchFamily="34" charset="-120"/>
              </a:rPr>
              <a:t>Description of Disclaim — 2,276 tickets</a:t>
            </a:r>
            <a:endParaRPr lang="en-US" sz="1875" dirty="0"/>
          </a:p>
        </p:txBody>
      </p:sp>
      <p:sp>
        <p:nvSpPr>
          <p:cNvPr id="56" name="Text 54"/>
          <p:cNvSpPr/>
          <p:nvPr/>
        </p:nvSpPr>
        <p:spPr>
          <a:xfrm>
            <a:off x="647700" y="5930900"/>
            <a:ext cx="3457575"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Duplicated / wrong information</a:t>
            </a:r>
            <a:endParaRPr lang="en-US" sz="1725" dirty="0"/>
          </a:p>
        </p:txBody>
      </p:sp>
      <p:sp>
        <p:nvSpPr>
          <p:cNvPr id="57" name="Shape 55"/>
          <p:cNvSpPr/>
          <p:nvPr/>
        </p:nvSpPr>
        <p:spPr>
          <a:xfrm>
            <a:off x="3924300" y="5978525"/>
            <a:ext cx="3510756" cy="171450"/>
          </a:xfrm>
          <a:prstGeom prst="rect">
            <a:avLst/>
          </a:prstGeom>
          <a:solidFill>
            <a:srgbClr val="EDEFEA"/>
          </a:solidFill>
          <a:ln/>
        </p:spPr>
        <p:txBody>
          <a:bodyPr/>
          <a:lstStyle/>
          <a:p>
            <a:endParaRPr lang="en-US"/>
          </a:p>
        </p:txBody>
      </p:sp>
      <p:sp>
        <p:nvSpPr>
          <p:cNvPr id="58" name="Shape 56"/>
          <p:cNvSpPr/>
          <p:nvPr/>
        </p:nvSpPr>
        <p:spPr>
          <a:xfrm>
            <a:off x="3924300" y="5978525"/>
            <a:ext cx="3510756" cy="171450"/>
          </a:xfrm>
          <a:prstGeom prst="rect">
            <a:avLst/>
          </a:prstGeom>
          <a:solidFill>
            <a:srgbClr val="4A5C3A"/>
          </a:solidFill>
          <a:ln/>
        </p:spPr>
        <p:txBody>
          <a:bodyPr/>
          <a:lstStyle/>
          <a:p>
            <a:endParaRPr lang="en-US"/>
          </a:p>
        </p:txBody>
      </p:sp>
      <p:sp>
        <p:nvSpPr>
          <p:cNvPr id="59" name="Text 57"/>
          <p:cNvSpPr/>
          <p:nvPr/>
        </p:nvSpPr>
        <p:spPr>
          <a:xfrm>
            <a:off x="7425532" y="5930900"/>
            <a:ext cx="1571625" cy="304800"/>
          </a:xfrm>
          <a:prstGeom prst="rect">
            <a:avLst/>
          </a:prstGeom>
          <a:noFill/>
          <a:ln/>
        </p:spPr>
        <p:txBody>
          <a:bodyPr wrap="square" lIns="25400" tIns="25400" rIns="25400" bIns="25400" rtlCol="0" anchor="t">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850 · 37.3%</a:t>
            </a:r>
            <a:endParaRPr lang="en-US" sz="1725" dirty="0"/>
          </a:p>
        </p:txBody>
      </p:sp>
      <p:sp>
        <p:nvSpPr>
          <p:cNvPr id="60" name="Text 58"/>
          <p:cNvSpPr/>
          <p:nvPr/>
        </p:nvSpPr>
        <p:spPr>
          <a:xfrm>
            <a:off x="647700" y="6302375"/>
            <a:ext cx="3457575"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Power &amp; internet infrastructure</a:t>
            </a:r>
            <a:endParaRPr lang="en-US" sz="1725" dirty="0"/>
          </a:p>
        </p:txBody>
      </p:sp>
      <p:sp>
        <p:nvSpPr>
          <p:cNvPr id="61" name="Shape 59"/>
          <p:cNvSpPr/>
          <p:nvPr/>
        </p:nvSpPr>
        <p:spPr>
          <a:xfrm>
            <a:off x="3924300" y="6350000"/>
            <a:ext cx="3510756" cy="171450"/>
          </a:xfrm>
          <a:prstGeom prst="rect">
            <a:avLst/>
          </a:prstGeom>
          <a:solidFill>
            <a:srgbClr val="EDEFEA"/>
          </a:solidFill>
          <a:ln/>
        </p:spPr>
        <p:txBody>
          <a:bodyPr/>
          <a:lstStyle/>
          <a:p>
            <a:endParaRPr lang="en-US"/>
          </a:p>
        </p:txBody>
      </p:sp>
      <p:sp>
        <p:nvSpPr>
          <p:cNvPr id="62" name="Shape 60"/>
          <p:cNvSpPr/>
          <p:nvPr/>
        </p:nvSpPr>
        <p:spPr>
          <a:xfrm>
            <a:off x="3924300" y="6350000"/>
            <a:ext cx="2520553" cy="171450"/>
          </a:xfrm>
          <a:prstGeom prst="rect">
            <a:avLst/>
          </a:prstGeom>
          <a:solidFill>
            <a:srgbClr val="6B7D5A"/>
          </a:solidFill>
          <a:ln/>
        </p:spPr>
        <p:txBody>
          <a:bodyPr/>
          <a:lstStyle/>
          <a:p>
            <a:endParaRPr lang="en-US"/>
          </a:p>
        </p:txBody>
      </p:sp>
      <p:sp>
        <p:nvSpPr>
          <p:cNvPr id="63" name="Text 61"/>
          <p:cNvSpPr/>
          <p:nvPr/>
        </p:nvSpPr>
        <p:spPr>
          <a:xfrm>
            <a:off x="7425532" y="6302375"/>
            <a:ext cx="1571625" cy="304800"/>
          </a:xfrm>
          <a:prstGeom prst="rect">
            <a:avLst/>
          </a:prstGeom>
          <a:noFill/>
          <a:ln/>
        </p:spPr>
        <p:txBody>
          <a:bodyPr wrap="square" lIns="25400" tIns="25400" rIns="25400" bIns="25400" rtlCol="0" anchor="t">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612 · 26.8%</a:t>
            </a:r>
            <a:endParaRPr lang="en-US" sz="1725" dirty="0"/>
          </a:p>
        </p:txBody>
      </p:sp>
      <p:sp>
        <p:nvSpPr>
          <p:cNvPr id="64" name="Text 62"/>
          <p:cNvSpPr/>
          <p:nvPr/>
        </p:nvSpPr>
        <p:spPr>
          <a:xfrm>
            <a:off x="647700" y="6673850"/>
            <a:ext cx="3457575"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Cleaning / maintenance</a:t>
            </a:r>
            <a:endParaRPr lang="en-US" sz="1725" dirty="0"/>
          </a:p>
        </p:txBody>
      </p:sp>
      <p:sp>
        <p:nvSpPr>
          <p:cNvPr id="65" name="Shape 63"/>
          <p:cNvSpPr/>
          <p:nvPr/>
        </p:nvSpPr>
        <p:spPr>
          <a:xfrm>
            <a:off x="3924300" y="6721475"/>
            <a:ext cx="3510756" cy="171450"/>
          </a:xfrm>
          <a:prstGeom prst="rect">
            <a:avLst/>
          </a:prstGeom>
          <a:solidFill>
            <a:srgbClr val="EDEFEA"/>
          </a:solidFill>
          <a:ln/>
        </p:spPr>
        <p:txBody>
          <a:bodyPr/>
          <a:lstStyle/>
          <a:p>
            <a:endParaRPr lang="en-US"/>
          </a:p>
        </p:txBody>
      </p:sp>
      <p:sp>
        <p:nvSpPr>
          <p:cNvPr id="66" name="Shape 64"/>
          <p:cNvSpPr/>
          <p:nvPr/>
        </p:nvSpPr>
        <p:spPr>
          <a:xfrm>
            <a:off x="3924300" y="6721475"/>
            <a:ext cx="1175941" cy="171450"/>
          </a:xfrm>
          <a:prstGeom prst="rect">
            <a:avLst/>
          </a:prstGeom>
          <a:solidFill>
            <a:srgbClr val="8B9C7A"/>
          </a:solidFill>
          <a:ln/>
        </p:spPr>
        <p:txBody>
          <a:bodyPr/>
          <a:lstStyle/>
          <a:p>
            <a:endParaRPr lang="en-US"/>
          </a:p>
        </p:txBody>
      </p:sp>
      <p:sp>
        <p:nvSpPr>
          <p:cNvPr id="67" name="Text 65"/>
          <p:cNvSpPr/>
          <p:nvPr/>
        </p:nvSpPr>
        <p:spPr>
          <a:xfrm>
            <a:off x="7425532" y="6673850"/>
            <a:ext cx="1571625" cy="304800"/>
          </a:xfrm>
          <a:prstGeom prst="rect">
            <a:avLst/>
          </a:prstGeom>
          <a:noFill/>
          <a:ln/>
        </p:spPr>
        <p:txBody>
          <a:bodyPr wrap="square" lIns="25400" tIns="25400" rIns="25400" bIns="25400" rtlCol="0" anchor="t">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284 · 12.5%</a:t>
            </a:r>
            <a:endParaRPr lang="en-US" sz="1725" dirty="0"/>
          </a:p>
        </p:txBody>
      </p:sp>
      <p:sp>
        <p:nvSpPr>
          <p:cNvPr id="68" name="Text 66"/>
          <p:cNvSpPr/>
          <p:nvPr/>
        </p:nvSpPr>
        <p:spPr>
          <a:xfrm>
            <a:off x="647700" y="7045325"/>
            <a:ext cx="3457575"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User operation error</a:t>
            </a:r>
            <a:endParaRPr lang="en-US" sz="1725" dirty="0"/>
          </a:p>
        </p:txBody>
      </p:sp>
      <p:sp>
        <p:nvSpPr>
          <p:cNvPr id="69" name="Shape 67"/>
          <p:cNvSpPr/>
          <p:nvPr/>
        </p:nvSpPr>
        <p:spPr>
          <a:xfrm>
            <a:off x="3924300" y="7092950"/>
            <a:ext cx="3510756" cy="171450"/>
          </a:xfrm>
          <a:prstGeom prst="rect">
            <a:avLst/>
          </a:prstGeom>
          <a:solidFill>
            <a:srgbClr val="EDEFEA"/>
          </a:solidFill>
          <a:ln/>
        </p:spPr>
        <p:txBody>
          <a:bodyPr/>
          <a:lstStyle/>
          <a:p>
            <a:endParaRPr lang="en-US"/>
          </a:p>
        </p:txBody>
      </p:sp>
      <p:sp>
        <p:nvSpPr>
          <p:cNvPr id="70" name="Shape 68"/>
          <p:cNvSpPr/>
          <p:nvPr/>
        </p:nvSpPr>
        <p:spPr>
          <a:xfrm>
            <a:off x="3924300" y="7092950"/>
            <a:ext cx="660003" cy="171450"/>
          </a:xfrm>
          <a:prstGeom prst="rect">
            <a:avLst/>
          </a:prstGeom>
          <a:solidFill>
            <a:srgbClr val="A9B79A"/>
          </a:solidFill>
          <a:ln/>
        </p:spPr>
        <p:txBody>
          <a:bodyPr/>
          <a:lstStyle/>
          <a:p>
            <a:endParaRPr lang="en-US"/>
          </a:p>
        </p:txBody>
      </p:sp>
      <p:sp>
        <p:nvSpPr>
          <p:cNvPr id="71" name="Text 69"/>
          <p:cNvSpPr/>
          <p:nvPr/>
        </p:nvSpPr>
        <p:spPr>
          <a:xfrm>
            <a:off x="7425532" y="7045325"/>
            <a:ext cx="1571625" cy="304800"/>
          </a:xfrm>
          <a:prstGeom prst="rect">
            <a:avLst/>
          </a:prstGeom>
          <a:noFill/>
          <a:ln/>
        </p:spPr>
        <p:txBody>
          <a:bodyPr wrap="square" lIns="25400" tIns="25400" rIns="25400" bIns="25400" rtlCol="0" anchor="t">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160 · 7.0%</a:t>
            </a:r>
            <a:endParaRPr lang="en-US" sz="1725" dirty="0"/>
          </a:p>
        </p:txBody>
      </p:sp>
      <p:sp>
        <p:nvSpPr>
          <p:cNvPr id="72" name="Text 70"/>
          <p:cNvSpPr/>
          <p:nvPr/>
        </p:nvSpPr>
        <p:spPr>
          <a:xfrm>
            <a:off x="647700" y="7416800"/>
            <a:ext cx="3457575"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Other reasons</a:t>
            </a:r>
            <a:endParaRPr lang="en-US" sz="1725" dirty="0"/>
          </a:p>
        </p:txBody>
      </p:sp>
      <p:sp>
        <p:nvSpPr>
          <p:cNvPr id="73" name="Shape 71"/>
          <p:cNvSpPr/>
          <p:nvPr/>
        </p:nvSpPr>
        <p:spPr>
          <a:xfrm>
            <a:off x="3924300" y="7464425"/>
            <a:ext cx="3510756" cy="171450"/>
          </a:xfrm>
          <a:prstGeom prst="rect">
            <a:avLst/>
          </a:prstGeom>
          <a:solidFill>
            <a:srgbClr val="EDEFEA"/>
          </a:solidFill>
          <a:ln/>
        </p:spPr>
        <p:txBody>
          <a:bodyPr/>
          <a:lstStyle/>
          <a:p>
            <a:endParaRPr lang="en-US"/>
          </a:p>
        </p:txBody>
      </p:sp>
      <p:sp>
        <p:nvSpPr>
          <p:cNvPr id="74" name="Shape 72"/>
          <p:cNvSpPr/>
          <p:nvPr/>
        </p:nvSpPr>
        <p:spPr>
          <a:xfrm>
            <a:off x="3924300" y="7464425"/>
            <a:ext cx="968772" cy="171450"/>
          </a:xfrm>
          <a:prstGeom prst="rect">
            <a:avLst/>
          </a:prstGeom>
          <a:solidFill>
            <a:srgbClr val="C3CDB8"/>
          </a:solidFill>
          <a:ln/>
        </p:spPr>
        <p:txBody>
          <a:bodyPr/>
          <a:lstStyle/>
          <a:p>
            <a:endParaRPr lang="en-US"/>
          </a:p>
        </p:txBody>
      </p:sp>
      <p:sp>
        <p:nvSpPr>
          <p:cNvPr id="75" name="Text 73"/>
          <p:cNvSpPr/>
          <p:nvPr/>
        </p:nvSpPr>
        <p:spPr>
          <a:xfrm>
            <a:off x="7425532" y="7416800"/>
            <a:ext cx="1571625" cy="304800"/>
          </a:xfrm>
          <a:prstGeom prst="rect">
            <a:avLst/>
          </a:prstGeom>
          <a:noFill/>
          <a:ln/>
        </p:spPr>
        <p:txBody>
          <a:bodyPr wrap="square" lIns="25400" tIns="25400" rIns="25400" bIns="25400" rtlCol="0" anchor="t">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235 · 10.3%</a:t>
            </a:r>
            <a:endParaRPr lang="en-US" sz="1725" dirty="0"/>
          </a:p>
        </p:txBody>
      </p:sp>
      <p:sp>
        <p:nvSpPr>
          <p:cNvPr id="76" name="Text 74"/>
          <p:cNvSpPr/>
          <p:nvPr/>
        </p:nvSpPr>
        <p:spPr>
          <a:xfrm>
            <a:off x="647700" y="7788275"/>
            <a:ext cx="3457575"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Power off / CB tripped</a:t>
            </a:r>
            <a:endParaRPr lang="en-US" sz="1725" dirty="0"/>
          </a:p>
        </p:txBody>
      </p:sp>
      <p:sp>
        <p:nvSpPr>
          <p:cNvPr id="77" name="Shape 75"/>
          <p:cNvSpPr/>
          <p:nvPr/>
        </p:nvSpPr>
        <p:spPr>
          <a:xfrm>
            <a:off x="3924300" y="7835900"/>
            <a:ext cx="3510756" cy="171450"/>
          </a:xfrm>
          <a:prstGeom prst="rect">
            <a:avLst/>
          </a:prstGeom>
          <a:solidFill>
            <a:srgbClr val="EDEFEA"/>
          </a:solidFill>
          <a:ln/>
        </p:spPr>
        <p:txBody>
          <a:bodyPr/>
          <a:lstStyle/>
          <a:p>
            <a:endParaRPr lang="en-US"/>
          </a:p>
        </p:txBody>
      </p:sp>
      <p:sp>
        <p:nvSpPr>
          <p:cNvPr id="78" name="Shape 76"/>
          <p:cNvSpPr/>
          <p:nvPr/>
        </p:nvSpPr>
        <p:spPr>
          <a:xfrm>
            <a:off x="3924300" y="7835900"/>
            <a:ext cx="150813" cy="171450"/>
          </a:xfrm>
          <a:prstGeom prst="rect">
            <a:avLst/>
          </a:prstGeom>
          <a:solidFill>
            <a:srgbClr val="D7DED0"/>
          </a:solidFill>
          <a:ln/>
        </p:spPr>
        <p:txBody>
          <a:bodyPr/>
          <a:lstStyle/>
          <a:p>
            <a:endParaRPr lang="en-US"/>
          </a:p>
        </p:txBody>
      </p:sp>
      <p:sp>
        <p:nvSpPr>
          <p:cNvPr id="79" name="Text 77"/>
          <p:cNvSpPr/>
          <p:nvPr/>
        </p:nvSpPr>
        <p:spPr>
          <a:xfrm>
            <a:off x="7425532" y="7788275"/>
            <a:ext cx="1571625" cy="304800"/>
          </a:xfrm>
          <a:prstGeom prst="rect">
            <a:avLst/>
          </a:prstGeom>
          <a:noFill/>
          <a:ln/>
        </p:spPr>
        <p:txBody>
          <a:bodyPr wrap="square" lIns="25400" tIns="25400" rIns="25400" bIns="25400" rtlCol="0" anchor="t">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36 · 1.6%</a:t>
            </a:r>
            <a:endParaRPr lang="en-US" sz="1725" dirty="0"/>
          </a:p>
        </p:txBody>
      </p:sp>
      <p:sp>
        <p:nvSpPr>
          <p:cNvPr id="80" name="Text 78"/>
          <p:cNvSpPr/>
          <p:nvPr/>
        </p:nvSpPr>
        <p:spPr>
          <a:xfrm>
            <a:off x="9454357" y="1428750"/>
            <a:ext cx="9004320"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2F5597"/>
                </a:solidFill>
                <a:latin typeface="Calibri" pitchFamily="34" charset="0"/>
                <a:ea typeface="Calibri" pitchFamily="34" charset="-122"/>
                <a:cs typeface="Calibri" pitchFamily="34" charset="-120"/>
              </a:rPr>
              <a:t>Who owns the ticket — share of 11,318</a:t>
            </a:r>
            <a:endParaRPr lang="en-US" sz="1875" dirty="0"/>
          </a:p>
        </p:txBody>
      </p:sp>
      <p:sp>
        <p:nvSpPr>
          <p:cNvPr id="81" name="Shape 79"/>
          <p:cNvSpPr/>
          <p:nvPr/>
        </p:nvSpPr>
        <p:spPr>
          <a:xfrm>
            <a:off x="9454357" y="1854200"/>
            <a:ext cx="1657945" cy="704850"/>
          </a:xfrm>
          <a:prstGeom prst="rect">
            <a:avLst/>
          </a:prstGeom>
          <a:solidFill>
            <a:srgbClr val="B5BAB2"/>
          </a:solidFill>
          <a:ln/>
        </p:spPr>
        <p:txBody>
          <a:bodyPr/>
          <a:lstStyle/>
          <a:p>
            <a:endParaRPr lang="en-US"/>
          </a:p>
        </p:txBody>
      </p:sp>
      <p:sp>
        <p:nvSpPr>
          <p:cNvPr id="82" name="Shape 80"/>
          <p:cNvSpPr/>
          <p:nvPr/>
        </p:nvSpPr>
        <p:spPr>
          <a:xfrm>
            <a:off x="11099602" y="1854200"/>
            <a:ext cx="12700" cy="704850"/>
          </a:xfrm>
          <a:prstGeom prst="rect">
            <a:avLst/>
          </a:prstGeom>
          <a:solidFill>
            <a:srgbClr val="FFFFFF"/>
          </a:solidFill>
          <a:ln/>
        </p:spPr>
        <p:txBody>
          <a:bodyPr/>
          <a:lstStyle/>
          <a:p>
            <a:endParaRPr lang="en-US"/>
          </a:p>
        </p:txBody>
      </p:sp>
      <p:sp>
        <p:nvSpPr>
          <p:cNvPr id="83" name="Text 81"/>
          <p:cNvSpPr/>
          <p:nvPr/>
        </p:nvSpPr>
        <p:spPr>
          <a:xfrm>
            <a:off x="9977240" y="2060575"/>
            <a:ext cx="675481"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FFFFFF"/>
                </a:solidFill>
                <a:latin typeface="Calibri" pitchFamily="34" charset="0"/>
                <a:ea typeface="Calibri" pitchFamily="34" charset="-122"/>
                <a:cs typeface="Calibri" pitchFamily="34" charset="-120"/>
              </a:rPr>
              <a:t>20.1%</a:t>
            </a:r>
            <a:endParaRPr lang="en-US" sz="1875" dirty="0"/>
          </a:p>
        </p:txBody>
      </p:sp>
      <p:sp>
        <p:nvSpPr>
          <p:cNvPr id="84" name="Shape 82"/>
          <p:cNvSpPr/>
          <p:nvPr/>
        </p:nvSpPr>
        <p:spPr>
          <a:xfrm>
            <a:off x="11112302" y="1854200"/>
            <a:ext cx="1240433" cy="704850"/>
          </a:xfrm>
          <a:prstGeom prst="rect">
            <a:avLst/>
          </a:prstGeom>
          <a:solidFill>
            <a:srgbClr val="C0504D"/>
          </a:solidFill>
          <a:ln/>
        </p:spPr>
        <p:txBody>
          <a:bodyPr/>
          <a:lstStyle/>
          <a:p>
            <a:endParaRPr lang="en-US"/>
          </a:p>
        </p:txBody>
      </p:sp>
      <p:sp>
        <p:nvSpPr>
          <p:cNvPr id="85" name="Shape 83"/>
          <p:cNvSpPr/>
          <p:nvPr/>
        </p:nvSpPr>
        <p:spPr>
          <a:xfrm>
            <a:off x="12340035" y="1854200"/>
            <a:ext cx="12700" cy="704850"/>
          </a:xfrm>
          <a:prstGeom prst="rect">
            <a:avLst/>
          </a:prstGeom>
          <a:solidFill>
            <a:srgbClr val="FFFFFF"/>
          </a:solidFill>
          <a:ln/>
        </p:spPr>
        <p:txBody>
          <a:bodyPr/>
          <a:lstStyle/>
          <a:p>
            <a:endParaRPr lang="en-US"/>
          </a:p>
        </p:txBody>
      </p:sp>
      <p:sp>
        <p:nvSpPr>
          <p:cNvPr id="86" name="Text 84"/>
          <p:cNvSpPr/>
          <p:nvPr/>
        </p:nvSpPr>
        <p:spPr>
          <a:xfrm>
            <a:off x="11426428" y="2060575"/>
            <a:ext cx="675481"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FFFFFF"/>
                </a:solidFill>
                <a:latin typeface="Calibri" pitchFamily="34" charset="0"/>
                <a:ea typeface="Calibri" pitchFamily="34" charset="-122"/>
                <a:cs typeface="Calibri" pitchFamily="34" charset="-120"/>
              </a:rPr>
              <a:t>15.0%</a:t>
            </a:r>
            <a:endParaRPr lang="en-US" sz="1875" dirty="0"/>
          </a:p>
        </p:txBody>
      </p:sp>
      <p:sp>
        <p:nvSpPr>
          <p:cNvPr id="87" name="Shape 85"/>
          <p:cNvSpPr/>
          <p:nvPr/>
        </p:nvSpPr>
        <p:spPr>
          <a:xfrm>
            <a:off x="12352734" y="1854200"/>
            <a:ext cx="2247305" cy="704850"/>
          </a:xfrm>
          <a:prstGeom prst="rect">
            <a:avLst/>
          </a:prstGeom>
          <a:solidFill>
            <a:srgbClr val="E8A33D"/>
          </a:solidFill>
          <a:ln/>
        </p:spPr>
        <p:txBody>
          <a:bodyPr/>
          <a:lstStyle/>
          <a:p>
            <a:endParaRPr lang="en-US"/>
          </a:p>
        </p:txBody>
      </p:sp>
      <p:sp>
        <p:nvSpPr>
          <p:cNvPr id="88" name="Shape 86"/>
          <p:cNvSpPr/>
          <p:nvPr/>
        </p:nvSpPr>
        <p:spPr>
          <a:xfrm>
            <a:off x="14587339" y="1854200"/>
            <a:ext cx="12700" cy="704850"/>
          </a:xfrm>
          <a:prstGeom prst="rect">
            <a:avLst/>
          </a:prstGeom>
          <a:solidFill>
            <a:srgbClr val="FFFFFF"/>
          </a:solidFill>
          <a:ln/>
        </p:spPr>
        <p:txBody>
          <a:bodyPr/>
          <a:lstStyle/>
          <a:p>
            <a:endParaRPr lang="en-US"/>
          </a:p>
        </p:txBody>
      </p:sp>
      <p:sp>
        <p:nvSpPr>
          <p:cNvPr id="89" name="Text 87"/>
          <p:cNvSpPr/>
          <p:nvPr/>
        </p:nvSpPr>
        <p:spPr>
          <a:xfrm>
            <a:off x="13170297" y="2060575"/>
            <a:ext cx="675481"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FFFFFF"/>
                </a:solidFill>
                <a:latin typeface="Calibri" pitchFamily="34" charset="0"/>
                <a:ea typeface="Calibri" pitchFamily="34" charset="-122"/>
                <a:cs typeface="Calibri" pitchFamily="34" charset="-120"/>
              </a:rPr>
              <a:t>27.3%</a:t>
            </a:r>
            <a:endParaRPr lang="en-US" sz="1875" dirty="0"/>
          </a:p>
        </p:txBody>
      </p:sp>
      <p:sp>
        <p:nvSpPr>
          <p:cNvPr id="90" name="Shape 88"/>
          <p:cNvSpPr/>
          <p:nvPr/>
        </p:nvSpPr>
        <p:spPr>
          <a:xfrm>
            <a:off x="14600039" y="1854200"/>
            <a:ext cx="2771180" cy="704850"/>
          </a:xfrm>
          <a:prstGeom prst="rect">
            <a:avLst/>
          </a:prstGeom>
          <a:solidFill>
            <a:srgbClr val="2F5597"/>
          </a:solidFill>
          <a:ln/>
        </p:spPr>
        <p:txBody>
          <a:bodyPr/>
          <a:lstStyle/>
          <a:p>
            <a:endParaRPr lang="en-US"/>
          </a:p>
        </p:txBody>
      </p:sp>
      <p:sp>
        <p:nvSpPr>
          <p:cNvPr id="91" name="Shape 89"/>
          <p:cNvSpPr/>
          <p:nvPr/>
        </p:nvSpPr>
        <p:spPr>
          <a:xfrm>
            <a:off x="17358519" y="1854200"/>
            <a:ext cx="12700" cy="704850"/>
          </a:xfrm>
          <a:prstGeom prst="rect">
            <a:avLst/>
          </a:prstGeom>
          <a:solidFill>
            <a:srgbClr val="FFFFFF"/>
          </a:solidFill>
          <a:ln/>
        </p:spPr>
        <p:txBody>
          <a:bodyPr/>
          <a:lstStyle/>
          <a:p>
            <a:endParaRPr lang="en-US"/>
          </a:p>
        </p:txBody>
      </p:sp>
      <p:sp>
        <p:nvSpPr>
          <p:cNvPr id="92" name="Text 90"/>
          <p:cNvSpPr/>
          <p:nvPr/>
        </p:nvSpPr>
        <p:spPr>
          <a:xfrm>
            <a:off x="15679539" y="2060575"/>
            <a:ext cx="675481"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FFFFFF"/>
                </a:solidFill>
                <a:latin typeface="Calibri" pitchFamily="34" charset="0"/>
                <a:ea typeface="Calibri" pitchFamily="34" charset="-122"/>
                <a:cs typeface="Calibri" pitchFamily="34" charset="-120"/>
              </a:rPr>
              <a:t>33.7%</a:t>
            </a:r>
            <a:endParaRPr lang="en-US" sz="1875" dirty="0"/>
          </a:p>
        </p:txBody>
      </p:sp>
      <p:sp>
        <p:nvSpPr>
          <p:cNvPr id="93" name="Shape 91"/>
          <p:cNvSpPr/>
          <p:nvPr/>
        </p:nvSpPr>
        <p:spPr>
          <a:xfrm>
            <a:off x="17371219" y="1854200"/>
            <a:ext cx="323652" cy="704850"/>
          </a:xfrm>
          <a:prstGeom prst="rect">
            <a:avLst/>
          </a:prstGeom>
          <a:solidFill>
            <a:srgbClr val="7F7F7F"/>
          </a:solidFill>
          <a:ln/>
        </p:spPr>
        <p:txBody>
          <a:bodyPr/>
          <a:lstStyle/>
          <a:p>
            <a:endParaRPr lang="en-US"/>
          </a:p>
        </p:txBody>
      </p:sp>
      <p:sp>
        <p:nvSpPr>
          <p:cNvPr id="94" name="Shape 92"/>
          <p:cNvSpPr/>
          <p:nvPr/>
        </p:nvSpPr>
        <p:spPr>
          <a:xfrm>
            <a:off x="17682170" y="1854200"/>
            <a:ext cx="12700" cy="704850"/>
          </a:xfrm>
          <a:prstGeom prst="rect">
            <a:avLst/>
          </a:prstGeom>
          <a:solidFill>
            <a:srgbClr val="FFFFFF"/>
          </a:solidFill>
          <a:ln/>
        </p:spPr>
        <p:txBody>
          <a:bodyPr/>
          <a:lstStyle/>
          <a:p>
            <a:endParaRPr lang="en-US"/>
          </a:p>
        </p:txBody>
      </p:sp>
      <p:sp>
        <p:nvSpPr>
          <p:cNvPr id="95" name="Shape 93"/>
          <p:cNvSpPr/>
          <p:nvPr/>
        </p:nvSpPr>
        <p:spPr>
          <a:xfrm>
            <a:off x="9454357" y="2654300"/>
            <a:ext cx="1633934" cy="25400"/>
          </a:xfrm>
          <a:prstGeom prst="rect">
            <a:avLst/>
          </a:prstGeom>
          <a:solidFill>
            <a:srgbClr val="B5BAB2"/>
          </a:solidFill>
          <a:ln/>
        </p:spPr>
        <p:txBody>
          <a:bodyPr/>
          <a:lstStyle/>
          <a:p>
            <a:endParaRPr lang="en-US"/>
          </a:p>
        </p:txBody>
      </p:sp>
      <p:sp>
        <p:nvSpPr>
          <p:cNvPr id="96" name="Text 94"/>
          <p:cNvSpPr/>
          <p:nvPr/>
        </p:nvSpPr>
        <p:spPr>
          <a:xfrm>
            <a:off x="9454357" y="2679700"/>
            <a:ext cx="1710134" cy="292100"/>
          </a:xfrm>
          <a:prstGeom prst="rect">
            <a:avLst/>
          </a:prstGeom>
          <a:noFill/>
          <a:ln/>
        </p:spPr>
        <p:txBody>
          <a:bodyPr wrap="square" lIns="25400" tIns="25400" rIns="25400" bIns="25400" rtlCol="0" anchor="t">
            <a:noAutofit/>
          </a:bodyPr>
          <a:lstStyle/>
          <a:p>
            <a:pPr marL="0" indent="0" algn="l">
              <a:buNone/>
            </a:pPr>
            <a:r>
              <a:rPr lang="en-US" sz="1600" dirty="0">
                <a:solidFill>
                  <a:srgbClr val="1A1A1A"/>
                </a:solidFill>
                <a:latin typeface="Calibri" pitchFamily="34" charset="0"/>
                <a:ea typeface="Calibri" pitchFamily="34" charset="-122"/>
                <a:cs typeface="Calibri" pitchFamily="34" charset="-120"/>
              </a:rPr>
              <a:t>Disclaim 20.1% — not ChargeCore</a:t>
            </a:r>
            <a:endParaRPr lang="en-US" sz="1600" dirty="0"/>
          </a:p>
        </p:txBody>
      </p:sp>
      <p:sp>
        <p:nvSpPr>
          <p:cNvPr id="97" name="Shape 95"/>
          <p:cNvSpPr/>
          <p:nvPr/>
        </p:nvSpPr>
        <p:spPr>
          <a:xfrm>
            <a:off x="11145441" y="2654300"/>
            <a:ext cx="6494661" cy="25400"/>
          </a:xfrm>
          <a:prstGeom prst="rect">
            <a:avLst/>
          </a:prstGeom>
          <a:solidFill>
            <a:srgbClr val="619B32"/>
          </a:solidFill>
          <a:ln/>
        </p:spPr>
        <p:txBody>
          <a:bodyPr/>
          <a:lstStyle/>
          <a:p>
            <a:endParaRPr lang="en-US"/>
          </a:p>
        </p:txBody>
      </p:sp>
      <p:sp>
        <p:nvSpPr>
          <p:cNvPr id="98" name="Text 96"/>
          <p:cNvSpPr/>
          <p:nvPr/>
        </p:nvSpPr>
        <p:spPr>
          <a:xfrm>
            <a:off x="11145441" y="2755900"/>
            <a:ext cx="6689501" cy="29210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4A7A25"/>
                </a:solidFill>
                <a:latin typeface="Calibri" pitchFamily="34" charset="0"/>
                <a:ea typeface="Calibri" pitchFamily="34" charset="-122"/>
                <a:cs typeface="Calibri" pitchFamily="34" charset="-120"/>
              </a:rPr>
              <a:t>ChargeCore-owned 79.9% — 9,038 tickets</a:t>
            </a:r>
            <a:endParaRPr lang="en-US" sz="1650" dirty="0"/>
          </a:p>
        </p:txBody>
      </p:sp>
      <p:sp>
        <p:nvSpPr>
          <p:cNvPr id="99" name="Shape 97"/>
          <p:cNvSpPr/>
          <p:nvPr/>
        </p:nvSpPr>
        <p:spPr>
          <a:xfrm>
            <a:off x="9509125" y="3182257"/>
            <a:ext cx="8185746" cy="5057775"/>
          </a:xfrm>
          <a:prstGeom prst="rect">
            <a:avLst/>
          </a:prstGeom>
          <a:solidFill>
            <a:srgbClr val="F1F6F2"/>
          </a:solidFill>
          <a:ln/>
        </p:spPr>
        <p:txBody>
          <a:bodyPr/>
          <a:lstStyle/>
          <a:p>
            <a:endParaRPr lang="en-US"/>
          </a:p>
        </p:txBody>
      </p:sp>
      <p:sp>
        <p:nvSpPr>
          <p:cNvPr id="100" name="Text 98"/>
          <p:cNvSpPr/>
          <p:nvPr/>
        </p:nvSpPr>
        <p:spPr>
          <a:xfrm>
            <a:off x="9740107" y="3467100"/>
            <a:ext cx="8375670"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A1A1A"/>
                </a:solidFill>
                <a:latin typeface="Calibri" pitchFamily="34" charset="0"/>
                <a:ea typeface="Calibri" pitchFamily="34" charset="-122"/>
                <a:cs typeface="Calibri" pitchFamily="34" charset="-120"/>
              </a:rPr>
              <a:t>Data comments:</a:t>
            </a:r>
            <a:endParaRPr lang="en-US" sz="1950" dirty="0"/>
          </a:p>
        </p:txBody>
      </p:sp>
      <p:sp>
        <p:nvSpPr>
          <p:cNvPr id="101" name="Text 99"/>
          <p:cNvSpPr/>
          <p:nvPr/>
        </p:nvSpPr>
        <p:spPr>
          <a:xfrm>
            <a:off x="9797627" y="3899693"/>
            <a:ext cx="7842673" cy="728663"/>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 </a:t>
            </a:r>
            <a:r>
              <a:rPr lang="en-US" sz="1875" b="1" dirty="0">
                <a:solidFill>
                  <a:srgbClr val="1A1A1A"/>
                </a:solidFill>
                <a:latin typeface="Calibri" pitchFamily="34" charset="0"/>
                <a:ea typeface="Calibri" pitchFamily="34" charset="-122"/>
                <a:cs typeface="Calibri" pitchFamily="34" charset="-120"/>
              </a:rPr>
              <a:t>No fault found is the largest group </a:t>
            </a:r>
            <a:r>
              <a:rPr lang="en-US" sz="1875" dirty="0">
                <a:solidFill>
                  <a:srgbClr val="1A1A1A"/>
                </a:solidFill>
                <a:latin typeface="Calibri" pitchFamily="34" charset="0"/>
                <a:ea typeface="Calibri" pitchFamily="34" charset="-122"/>
                <a:cs typeface="Calibri" pitchFamily="34" charset="-120"/>
              </a:rPr>
              <a:t>— 3,818 tickets (33.7%, rate 15.1%). </a:t>
            </a:r>
            <a:endParaRPr lang="en-US" sz="1875" dirty="0"/>
          </a:p>
        </p:txBody>
      </p:sp>
      <p:sp>
        <p:nvSpPr>
          <p:cNvPr id="102" name="Text 100"/>
          <p:cNvSpPr/>
          <p:nvPr/>
        </p:nvSpPr>
        <p:spPr>
          <a:xfrm>
            <a:off x="9791564" y="4345781"/>
            <a:ext cx="7842673" cy="728663"/>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 </a:t>
            </a:r>
            <a:r>
              <a:rPr lang="en-US" sz="1875" b="1" dirty="0">
                <a:solidFill>
                  <a:srgbClr val="1A1A1A"/>
                </a:solidFill>
                <a:latin typeface="Calibri" pitchFamily="34" charset="0"/>
                <a:ea typeface="Calibri" pitchFamily="34" charset="-122"/>
                <a:cs typeface="Calibri" pitchFamily="34" charset="-120"/>
              </a:rPr>
              <a:t>Firmware / software is second </a:t>
            </a:r>
            <a:r>
              <a:rPr lang="en-US" sz="1875" dirty="0">
                <a:solidFill>
                  <a:srgbClr val="1A1A1A"/>
                </a:solidFill>
                <a:latin typeface="Calibri" pitchFamily="34" charset="0"/>
                <a:ea typeface="Calibri" pitchFamily="34" charset="-122"/>
                <a:cs typeface="Calibri" pitchFamily="34" charset="-120"/>
              </a:rPr>
              <a:t>— 3,087 tickets (27.3%, rate 12.2%)</a:t>
            </a:r>
            <a:endParaRPr lang="en-US" sz="1875" dirty="0"/>
          </a:p>
        </p:txBody>
      </p:sp>
      <p:sp>
        <p:nvSpPr>
          <p:cNvPr id="103" name="Text 101"/>
          <p:cNvSpPr/>
          <p:nvPr/>
        </p:nvSpPr>
        <p:spPr>
          <a:xfrm>
            <a:off x="9797627" y="4807109"/>
            <a:ext cx="7842673" cy="825341"/>
          </a:xfrm>
          <a:prstGeom prst="rect">
            <a:avLst/>
          </a:prstGeom>
          <a:noFill/>
          <a:ln/>
        </p:spPr>
        <p:txBody>
          <a:bodyPr wrap="square" lIns="25400" tIns="25400" rIns="25400" bIns="25400" rtlCol="0" anchor="t">
            <a:noAutofit/>
          </a:bodyPr>
          <a:lstStyle/>
          <a:p>
            <a:pPr marL="0" indent="0" algn="l">
              <a:lnSpc>
                <a:spcPct val="118207"/>
              </a:lnSpc>
              <a:buNone/>
            </a:pPr>
            <a:r>
              <a:rPr lang="en-US" dirty="0">
                <a:solidFill>
                  <a:srgbClr val="1A1A1A"/>
                </a:solidFill>
                <a:latin typeface="Calibri" pitchFamily="34" charset="0"/>
                <a:ea typeface="Calibri" pitchFamily="34" charset="-122"/>
                <a:cs typeface="Calibri" pitchFamily="34" charset="-120"/>
              </a:rPr>
              <a:t>· </a:t>
            </a:r>
            <a:r>
              <a:rPr lang="en-US" b="1" dirty="0">
                <a:solidFill>
                  <a:srgbClr val="1A1A1A"/>
                </a:solidFill>
                <a:latin typeface="Calibri" pitchFamily="34" charset="0"/>
                <a:ea typeface="Calibri" pitchFamily="34" charset="-122"/>
                <a:cs typeface="Calibri" pitchFamily="34" charset="-120"/>
              </a:rPr>
              <a:t>Hardware is 1,700 tickets </a:t>
            </a:r>
            <a:r>
              <a:rPr lang="en-US" dirty="0">
                <a:solidFill>
                  <a:srgbClr val="1A1A1A"/>
                </a:solidFill>
                <a:latin typeface="Calibri" pitchFamily="34" charset="0"/>
                <a:ea typeface="Calibri" pitchFamily="34" charset="-122"/>
                <a:cs typeface="Calibri" pitchFamily="34" charset="-120"/>
              </a:rPr>
              <a:t>(15.0%, rate 6.7%) — clearly lower than in June (1,813 tickets).</a:t>
            </a:r>
            <a:endParaRPr lang="en-US" dirty="0"/>
          </a:p>
        </p:txBody>
      </p:sp>
      <p:sp>
        <p:nvSpPr>
          <p:cNvPr id="104" name="Text 102"/>
          <p:cNvSpPr/>
          <p:nvPr/>
        </p:nvSpPr>
        <p:spPr>
          <a:xfrm>
            <a:off x="9797627" y="5514180"/>
            <a:ext cx="7842673" cy="728663"/>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 </a:t>
            </a:r>
            <a:r>
              <a:rPr lang="en-US" sz="1875" b="1" dirty="0">
                <a:solidFill>
                  <a:srgbClr val="1A1A1A"/>
                </a:solidFill>
                <a:latin typeface="Calibri" pitchFamily="34" charset="0"/>
                <a:ea typeface="Calibri" pitchFamily="34" charset="-122"/>
                <a:cs typeface="Calibri" pitchFamily="34" charset="-120"/>
              </a:rPr>
              <a:t>Disclaim is 20.1% </a:t>
            </a:r>
            <a:r>
              <a:rPr lang="en-US" sz="1875" dirty="0">
                <a:solidFill>
                  <a:srgbClr val="1A1A1A"/>
                </a:solidFill>
                <a:latin typeface="Calibri" pitchFamily="34" charset="0"/>
                <a:ea typeface="Calibri" pitchFamily="34" charset="-122"/>
                <a:cs typeface="Calibri" pitchFamily="34" charset="-120"/>
              </a:rPr>
              <a:t>, mostly duplicated / wrong information (37.3%) and power &amp; internet infrastructure (26.8%).</a:t>
            </a:r>
            <a:endParaRPr lang="en-US" sz="1875" dirty="0"/>
          </a:p>
        </p:txBody>
      </p:sp>
      <p:sp>
        <p:nvSpPr>
          <p:cNvPr id="105" name="Text 103"/>
          <p:cNvSpPr/>
          <p:nvPr/>
        </p:nvSpPr>
        <p:spPr>
          <a:xfrm>
            <a:off x="9760347" y="6242843"/>
            <a:ext cx="7842673" cy="728663"/>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 </a:t>
            </a:r>
            <a:r>
              <a:rPr lang="en-US" sz="1875" b="1" dirty="0">
                <a:solidFill>
                  <a:srgbClr val="1A1A1A"/>
                </a:solidFill>
                <a:latin typeface="Calibri" pitchFamily="34" charset="0"/>
                <a:ea typeface="Calibri" pitchFamily="34" charset="-122"/>
                <a:cs typeface="Calibri" pitchFamily="34" charset="-120"/>
              </a:rPr>
              <a:t>Undefined yet is 3.8% </a:t>
            </a:r>
            <a:r>
              <a:rPr lang="en-US" sz="1875" dirty="0">
                <a:solidFill>
                  <a:srgbClr val="1A1A1A"/>
                </a:solidFill>
                <a:latin typeface="Calibri" pitchFamily="34" charset="0"/>
                <a:ea typeface="Calibri" pitchFamily="34" charset="-122"/>
                <a:cs typeface="Calibri" pitchFamily="34" charset="-120"/>
              </a:rPr>
              <a:t>(433 tickets) — the work to reclassify tickets is working.</a:t>
            </a:r>
            <a:endParaRPr lang="en-US" sz="1875" dirty="0"/>
          </a:p>
        </p:txBody>
      </p:sp>
      <p:sp>
        <p:nvSpPr>
          <p:cNvPr id="106" name="Shape 104"/>
          <p:cNvSpPr/>
          <p:nvPr/>
        </p:nvSpPr>
        <p:spPr>
          <a:xfrm>
            <a:off x="9454357" y="8486775"/>
            <a:ext cx="8185746" cy="1381125"/>
          </a:xfrm>
          <a:prstGeom prst="rect">
            <a:avLst/>
          </a:prstGeom>
          <a:solidFill>
            <a:srgbClr val="E2EFDA"/>
          </a:solidFill>
          <a:ln/>
        </p:spPr>
        <p:txBody>
          <a:bodyPr/>
          <a:lstStyle/>
          <a:p>
            <a:endParaRPr lang="en-US"/>
          </a:p>
        </p:txBody>
      </p:sp>
      <p:sp>
        <p:nvSpPr>
          <p:cNvPr id="107" name="Text 105"/>
          <p:cNvSpPr/>
          <p:nvPr/>
        </p:nvSpPr>
        <p:spPr>
          <a:xfrm>
            <a:off x="9702007" y="8677275"/>
            <a:ext cx="7936018" cy="1038225"/>
          </a:xfrm>
          <a:prstGeom prst="rect">
            <a:avLst/>
          </a:prstGeom>
          <a:noFill/>
          <a:ln/>
        </p:spPr>
        <p:txBody>
          <a:bodyPr wrap="square" lIns="25400" tIns="25400" rIns="25400" bIns="25400" rtlCol="0" anchor="t">
            <a:normAutofit/>
          </a:bodyPr>
          <a:lstStyle/>
          <a:p>
            <a:pPr marL="0" indent="0" algn="l">
              <a:lnSpc>
                <a:spcPct val="114130"/>
              </a:lnSpc>
              <a:buNone/>
            </a:pPr>
            <a:r>
              <a:rPr lang="en-US" sz="1875" b="1" dirty="0">
                <a:solidFill>
                  <a:srgbClr val="1A1A1A"/>
                </a:solidFill>
                <a:latin typeface="Calibri" pitchFamily="34" charset="0"/>
                <a:ea typeface="Calibri" pitchFamily="34" charset="-122"/>
                <a:cs typeface="Calibri" pitchFamily="34" charset="-120"/>
              </a:rPr>
              <a:t>Action: </a:t>
            </a:r>
            <a:r>
              <a:rPr lang="en-US" sz="1875" dirty="0">
                <a:solidFill>
                  <a:srgbClr val="1A1A1A"/>
                </a:solidFill>
                <a:highlight>
                  <a:srgbClr val="E2EFDA"/>
                </a:highlight>
                <a:latin typeface="Calibri" pitchFamily="34" charset="0"/>
                <a:ea typeface="Calibri" pitchFamily="34" charset="-122"/>
                <a:cs typeface="Calibri" pitchFamily="34" charset="-120"/>
              </a:rPr>
              <a:t>merge duplicate tickets automatically, and add a remote check before we send a technician.</a:t>
            </a:r>
            <a:endParaRPr lang="en-US" sz="1875" dirty="0"/>
          </a:p>
        </p:txBody>
      </p:sp>
      <p:pic>
        <p:nvPicPr>
          <p:cNvPr id="108" name="Image 0" descr="preencoded.png"/>
          <p:cNvPicPr>
            <a:picLocks noChangeAspect="1"/>
          </p:cNvPicPr>
          <p:nvPr/>
        </p:nvPicPr>
        <p:blipFill>
          <a:blip r:embed="rId3"/>
          <a:srcRect t="49" b="49"/>
          <a:stretch/>
        </p:blipFill>
        <p:spPr>
          <a:xfrm>
            <a:off x="14001750" y="114300"/>
            <a:ext cx="4114800" cy="914400"/>
          </a:xfrm>
          <a:prstGeom prst="rect">
            <a:avLst/>
          </a:prstGeom>
        </p:spPr>
      </p:pic>
      <p:pic>
        <p:nvPicPr>
          <p:cNvPr id="109" name="Image 1" descr="preencoded.png"/>
          <p:cNvPicPr>
            <a:picLocks noChangeAspect="1"/>
          </p:cNvPicPr>
          <p:nvPr/>
        </p:nvPicPr>
        <p:blipFill>
          <a:blip r:embed="rId4"/>
          <a:srcRect/>
          <a:stretch/>
        </p:blipFill>
        <p:spPr>
          <a:xfrm>
            <a:off x="114300" y="342900"/>
            <a:ext cx="571500" cy="571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114300" y="342900"/>
            <a:ext cx="571500" cy="571500"/>
          </a:xfrm>
          <a:prstGeom prst="rect">
            <a:avLst/>
          </a:prstGeom>
        </p:spPr>
      </p:pic>
      <p:pic>
        <p:nvPicPr>
          <p:cNvPr id="3" name="Image 1" descr="preencoded.png"/>
          <p:cNvPicPr>
            <a:picLocks noChangeAspect="1"/>
          </p:cNvPicPr>
          <p:nvPr/>
        </p:nvPicPr>
        <p:blipFill>
          <a:blip r:embed="rId4"/>
          <a:srcRect t="49" b="49"/>
          <a:stretch/>
        </p:blipFill>
        <p:spPr>
          <a:xfrm>
            <a:off x="14001750" y="114300"/>
            <a:ext cx="4114800" cy="914400"/>
          </a:xfrm>
          <a:prstGeom prst="rect">
            <a:avLst/>
          </a:prstGeom>
        </p:spPr>
      </p:pic>
      <p:sp>
        <p:nvSpPr>
          <p:cNvPr id="4" name="Text 0"/>
          <p:cNvSpPr/>
          <p:nvPr/>
        </p:nvSpPr>
        <p:spPr>
          <a:xfrm>
            <a:off x="876300" y="419100"/>
            <a:ext cx="4934903" cy="508000"/>
          </a:xfrm>
          <a:prstGeom prst="rect">
            <a:avLst/>
          </a:prstGeom>
          <a:noFill/>
          <a:ln/>
        </p:spPr>
        <p:txBody>
          <a:bodyPr wrap="square" lIns="25400" tIns="25400" rIns="25400" bIns="25400" rtlCol="0" anchor="t">
            <a:normAutofit/>
          </a:bodyPr>
          <a:lstStyle/>
          <a:p>
            <a:pPr marL="0" indent="0" algn="l">
              <a:buNone/>
            </a:pPr>
            <a:r>
              <a:rPr lang="en-US" sz="3000" b="1" dirty="0">
                <a:solidFill>
                  <a:srgbClr val="1A1A1A"/>
                </a:solidFill>
                <a:latin typeface="Calibri" pitchFamily="34" charset="0"/>
                <a:ea typeface="Calibri" pitchFamily="34" charset="-122"/>
                <a:cs typeface="Calibri" pitchFamily="34" charset="-120"/>
              </a:rPr>
              <a:t>1.1. Ticket classification: BSS</a:t>
            </a:r>
            <a:endParaRPr lang="en-US" sz="3000" dirty="0"/>
          </a:p>
        </p:txBody>
      </p:sp>
      <p:sp>
        <p:nvSpPr>
          <p:cNvPr id="5" name="Shape 1"/>
          <p:cNvSpPr/>
          <p:nvPr/>
        </p:nvSpPr>
        <p:spPr>
          <a:xfrm>
            <a:off x="0" y="1152525"/>
            <a:ext cx="18288000" cy="19050"/>
          </a:xfrm>
          <a:prstGeom prst="rect">
            <a:avLst/>
          </a:prstGeom>
          <a:solidFill>
            <a:srgbClr val="A6A6A6"/>
          </a:solidFill>
          <a:ln/>
        </p:spPr>
        <p:txBody>
          <a:bodyPr/>
          <a:lstStyle/>
          <a:p>
            <a:endParaRPr lang="en-US"/>
          </a:p>
        </p:txBody>
      </p:sp>
      <p:sp>
        <p:nvSpPr>
          <p:cNvPr id="6" name="Shape 2"/>
          <p:cNvSpPr/>
          <p:nvPr/>
        </p:nvSpPr>
        <p:spPr>
          <a:xfrm>
            <a:off x="647700" y="1428750"/>
            <a:ext cx="8349457" cy="476250"/>
          </a:xfrm>
          <a:prstGeom prst="rect">
            <a:avLst/>
          </a:prstGeom>
          <a:solidFill>
            <a:srgbClr val="619B32"/>
          </a:solidFill>
          <a:ln/>
        </p:spPr>
        <p:txBody>
          <a:bodyPr/>
          <a:lstStyle/>
          <a:p>
            <a:endParaRPr lang="en-US"/>
          </a:p>
        </p:txBody>
      </p:sp>
      <p:sp>
        <p:nvSpPr>
          <p:cNvPr id="7" name="Text 3"/>
          <p:cNvSpPr/>
          <p:nvPr/>
        </p:nvSpPr>
        <p:spPr>
          <a:xfrm>
            <a:off x="781050" y="1533525"/>
            <a:ext cx="3252498" cy="304800"/>
          </a:xfrm>
          <a:prstGeom prst="rect">
            <a:avLst/>
          </a:prstGeom>
          <a:noFill/>
          <a:ln/>
        </p:spPr>
        <p:txBody>
          <a:bodyPr wrap="square" lIns="25400" tIns="25400" rIns="25400" bIns="25400" rtlCol="0" anchor="ctr">
            <a:normAutofit lnSpcReduction="10000"/>
          </a:bodyPr>
          <a:lstStyle/>
          <a:p>
            <a:pPr marL="0" indent="0" algn="l">
              <a:buNone/>
            </a:pPr>
            <a:r>
              <a:rPr lang="en-US" sz="1725" b="1" dirty="0">
                <a:solidFill>
                  <a:srgbClr val="FFFFFF"/>
                </a:solidFill>
                <a:latin typeface="Calibri" pitchFamily="34" charset="0"/>
                <a:ea typeface="Calibri" pitchFamily="34" charset="-122"/>
                <a:cs typeface="Calibri" pitchFamily="34" charset="-120"/>
              </a:rPr>
              <a:t>Classification</a:t>
            </a:r>
            <a:endParaRPr lang="en-US" sz="1725" dirty="0"/>
          </a:p>
        </p:txBody>
      </p:sp>
      <p:sp>
        <p:nvSpPr>
          <p:cNvPr id="8" name="Text 4"/>
          <p:cNvSpPr/>
          <p:nvPr/>
        </p:nvSpPr>
        <p:spPr>
          <a:xfrm>
            <a:off x="4121547" y="1533525"/>
            <a:ext cx="1570434" cy="304800"/>
          </a:xfrm>
          <a:prstGeom prst="rect">
            <a:avLst/>
          </a:prstGeom>
          <a:noFill/>
          <a:ln/>
        </p:spPr>
        <p:txBody>
          <a:bodyPr wrap="square" lIns="25400" tIns="25400" rIns="25400" bIns="25400" rtlCol="0" anchor="ctr">
            <a:normAutofit lnSpcReduction="10000"/>
          </a:bodyPr>
          <a:lstStyle/>
          <a:p>
            <a:pPr marL="0" indent="0" algn="r">
              <a:buNone/>
            </a:pPr>
            <a:r>
              <a:rPr lang="en-US" sz="1725" b="1" dirty="0">
                <a:solidFill>
                  <a:srgbClr val="FFFFFF"/>
                </a:solidFill>
                <a:latin typeface="Calibri" pitchFamily="34" charset="0"/>
                <a:ea typeface="Calibri" pitchFamily="34" charset="-122"/>
                <a:cs typeface="Calibri" pitchFamily="34" charset="-120"/>
              </a:rPr>
              <a:t>Ticket q'ty</a:t>
            </a:r>
            <a:endParaRPr lang="en-US" sz="1725" dirty="0"/>
          </a:p>
        </p:txBody>
      </p:sp>
      <p:sp>
        <p:nvSpPr>
          <p:cNvPr id="9" name="Text 5"/>
          <p:cNvSpPr/>
          <p:nvPr/>
        </p:nvSpPr>
        <p:spPr>
          <a:xfrm>
            <a:off x="5882482" y="1533525"/>
            <a:ext cx="1199356" cy="304800"/>
          </a:xfrm>
          <a:prstGeom prst="rect">
            <a:avLst/>
          </a:prstGeom>
          <a:noFill/>
          <a:ln/>
        </p:spPr>
        <p:txBody>
          <a:bodyPr wrap="square" lIns="25400" tIns="25400" rIns="25400" bIns="25400" rtlCol="0" anchor="ctr">
            <a:normAutofit lnSpcReduction="10000"/>
          </a:bodyPr>
          <a:lstStyle/>
          <a:p>
            <a:pPr marL="0" indent="0" algn="r">
              <a:buNone/>
            </a:pPr>
            <a:r>
              <a:rPr lang="en-US" sz="1725" b="1" dirty="0">
                <a:solidFill>
                  <a:srgbClr val="FFFFFF"/>
                </a:solidFill>
                <a:latin typeface="Calibri" pitchFamily="34" charset="0"/>
                <a:ea typeface="Calibri" pitchFamily="34" charset="-122"/>
                <a:cs typeface="Calibri" pitchFamily="34" charset="-120"/>
              </a:rPr>
              <a:t>Sharing</a:t>
            </a:r>
            <a:endParaRPr lang="en-US" sz="1725" dirty="0"/>
          </a:p>
        </p:txBody>
      </p:sp>
      <p:sp>
        <p:nvSpPr>
          <p:cNvPr id="10" name="Text 6"/>
          <p:cNvSpPr/>
          <p:nvPr/>
        </p:nvSpPr>
        <p:spPr>
          <a:xfrm>
            <a:off x="7348538" y="1533525"/>
            <a:ext cx="1591469" cy="304800"/>
          </a:xfrm>
          <a:prstGeom prst="rect">
            <a:avLst/>
          </a:prstGeom>
          <a:noFill/>
          <a:ln/>
        </p:spPr>
        <p:txBody>
          <a:bodyPr wrap="square" lIns="25400" tIns="25400" rIns="25400" bIns="25400" rtlCol="0" anchor="ctr">
            <a:normAutofit lnSpcReduction="10000"/>
          </a:bodyPr>
          <a:lstStyle/>
          <a:p>
            <a:pPr marL="0" indent="0" algn="l">
              <a:buNone/>
            </a:pPr>
            <a:r>
              <a:rPr lang="en-US" sz="1725" b="1" dirty="0">
                <a:solidFill>
                  <a:srgbClr val="FFFFFF"/>
                </a:solidFill>
                <a:latin typeface="Calibri" pitchFamily="34" charset="0"/>
                <a:ea typeface="Calibri" pitchFamily="34" charset="-122"/>
                <a:cs typeface="Calibri" pitchFamily="34" charset="-120"/>
              </a:rPr>
              <a:t>Ticket rate</a:t>
            </a:r>
            <a:endParaRPr lang="en-US" sz="1725" dirty="0"/>
          </a:p>
        </p:txBody>
      </p:sp>
      <p:sp>
        <p:nvSpPr>
          <p:cNvPr id="11" name="Shape 7"/>
          <p:cNvSpPr/>
          <p:nvPr/>
        </p:nvSpPr>
        <p:spPr>
          <a:xfrm>
            <a:off x="647700" y="2374900"/>
            <a:ext cx="8349457" cy="12700"/>
          </a:xfrm>
          <a:prstGeom prst="rect">
            <a:avLst/>
          </a:prstGeom>
          <a:solidFill>
            <a:srgbClr val="D9DED7"/>
          </a:solidFill>
          <a:ln/>
        </p:spPr>
        <p:txBody>
          <a:bodyPr/>
          <a:lstStyle/>
          <a:p>
            <a:endParaRPr lang="en-US"/>
          </a:p>
        </p:txBody>
      </p:sp>
      <p:sp>
        <p:nvSpPr>
          <p:cNvPr id="12" name="Shape 8"/>
          <p:cNvSpPr/>
          <p:nvPr/>
        </p:nvSpPr>
        <p:spPr>
          <a:xfrm>
            <a:off x="781050" y="2076450"/>
            <a:ext cx="133350" cy="133350"/>
          </a:xfrm>
          <a:prstGeom prst="rect">
            <a:avLst/>
          </a:prstGeom>
          <a:solidFill>
            <a:srgbClr val="B5BAB2"/>
          </a:solidFill>
          <a:ln/>
        </p:spPr>
        <p:txBody>
          <a:bodyPr/>
          <a:lstStyle/>
          <a:p>
            <a:endParaRPr lang="en-US"/>
          </a:p>
        </p:txBody>
      </p:sp>
      <p:sp>
        <p:nvSpPr>
          <p:cNvPr id="13" name="Text 9"/>
          <p:cNvSpPr/>
          <p:nvPr/>
        </p:nvSpPr>
        <p:spPr>
          <a:xfrm>
            <a:off x="1028700" y="2009775"/>
            <a:ext cx="820142"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Disclaim</a:t>
            </a:r>
            <a:endParaRPr lang="en-US" sz="1725" dirty="0"/>
          </a:p>
        </p:txBody>
      </p:sp>
      <p:sp>
        <p:nvSpPr>
          <p:cNvPr id="14" name="Text 10"/>
          <p:cNvSpPr/>
          <p:nvPr/>
        </p:nvSpPr>
        <p:spPr>
          <a:xfrm>
            <a:off x="4121547" y="2009775"/>
            <a:ext cx="1570434" cy="311150"/>
          </a:xfrm>
          <a:prstGeom prst="rect">
            <a:avLst/>
          </a:prstGeom>
          <a:noFill/>
          <a:ln/>
        </p:spPr>
        <p:txBody>
          <a:bodyPr wrap="square" lIns="25400" tIns="25400" rIns="25400" bIns="25400" rtlCol="0" anchor="ctr">
            <a:normAutofit lnSpcReduction="10000"/>
          </a:bodyPr>
          <a:lstStyle/>
          <a:p>
            <a:pPr marL="0" indent="0" algn="r">
              <a:buNone/>
            </a:pPr>
            <a:r>
              <a:rPr lang="en-US" sz="1725" dirty="0">
                <a:solidFill>
                  <a:srgbClr val="1A1A1A"/>
                </a:solidFill>
                <a:latin typeface="Calibri" pitchFamily="34" charset="0"/>
                <a:ea typeface="Calibri" pitchFamily="34" charset="-122"/>
                <a:cs typeface="Calibri" pitchFamily="34" charset="-120"/>
              </a:rPr>
              <a:t>3,607</a:t>
            </a:r>
            <a:endParaRPr lang="en-US" sz="1725" dirty="0"/>
          </a:p>
        </p:txBody>
      </p:sp>
      <p:sp>
        <p:nvSpPr>
          <p:cNvPr id="15" name="Text 11"/>
          <p:cNvSpPr/>
          <p:nvPr/>
        </p:nvSpPr>
        <p:spPr>
          <a:xfrm>
            <a:off x="5882482" y="2009775"/>
            <a:ext cx="1199356" cy="311150"/>
          </a:xfrm>
          <a:prstGeom prst="rect">
            <a:avLst/>
          </a:prstGeom>
          <a:noFill/>
          <a:ln/>
        </p:spPr>
        <p:txBody>
          <a:bodyPr wrap="square" lIns="25400" tIns="25400" rIns="25400" bIns="25400" rtlCol="0" anchor="ctr">
            <a:normAutofit lnSpcReduction="10000"/>
          </a:bodyPr>
          <a:lstStyle/>
          <a:p>
            <a:pPr marL="0" indent="0" algn="r">
              <a:buNone/>
            </a:pPr>
            <a:r>
              <a:rPr lang="en-US" sz="1725" dirty="0">
                <a:solidFill>
                  <a:srgbClr val="1A1A1A"/>
                </a:solidFill>
                <a:latin typeface="Calibri" pitchFamily="34" charset="0"/>
                <a:ea typeface="Calibri" pitchFamily="34" charset="-122"/>
                <a:cs typeface="Calibri" pitchFamily="34" charset="-120"/>
              </a:rPr>
              <a:t>21.8%</a:t>
            </a:r>
            <a:endParaRPr lang="en-US" sz="1725" dirty="0"/>
          </a:p>
        </p:txBody>
      </p:sp>
      <p:sp>
        <p:nvSpPr>
          <p:cNvPr id="16" name="Shape 12"/>
          <p:cNvSpPr/>
          <p:nvPr/>
        </p:nvSpPr>
        <p:spPr>
          <a:xfrm>
            <a:off x="7348538" y="2076450"/>
            <a:ext cx="753269" cy="133350"/>
          </a:xfrm>
          <a:prstGeom prst="rect">
            <a:avLst/>
          </a:prstGeom>
          <a:solidFill>
            <a:srgbClr val="EDEFEA"/>
          </a:solidFill>
          <a:ln/>
        </p:spPr>
        <p:txBody>
          <a:bodyPr/>
          <a:lstStyle/>
          <a:p>
            <a:endParaRPr lang="en-US"/>
          </a:p>
        </p:txBody>
      </p:sp>
      <p:sp>
        <p:nvSpPr>
          <p:cNvPr id="17" name="Shape 13"/>
          <p:cNvSpPr/>
          <p:nvPr/>
        </p:nvSpPr>
        <p:spPr>
          <a:xfrm>
            <a:off x="7348538" y="2076450"/>
            <a:ext cx="449659" cy="133350"/>
          </a:xfrm>
          <a:prstGeom prst="rect">
            <a:avLst/>
          </a:prstGeom>
          <a:solidFill>
            <a:srgbClr val="B5BAB2"/>
          </a:solidFill>
          <a:ln/>
        </p:spPr>
        <p:txBody>
          <a:bodyPr/>
          <a:lstStyle/>
          <a:p>
            <a:endParaRPr lang="en-US"/>
          </a:p>
        </p:txBody>
      </p:sp>
      <p:sp>
        <p:nvSpPr>
          <p:cNvPr id="18" name="Text 14"/>
          <p:cNvSpPr/>
          <p:nvPr/>
        </p:nvSpPr>
        <p:spPr>
          <a:xfrm>
            <a:off x="8120857" y="2009775"/>
            <a:ext cx="742950" cy="304800"/>
          </a:xfrm>
          <a:prstGeom prst="rect">
            <a:avLst/>
          </a:prstGeom>
          <a:noFill/>
          <a:ln/>
        </p:spPr>
        <p:txBody>
          <a:bodyPr wrap="square" lIns="25400" tIns="25400" rIns="25400" bIns="25400" rtlCol="0" anchor="t">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14.2%</a:t>
            </a:r>
            <a:endParaRPr lang="en-US" sz="1725" dirty="0"/>
          </a:p>
        </p:txBody>
      </p:sp>
      <p:sp>
        <p:nvSpPr>
          <p:cNvPr id="19" name="Shape 15"/>
          <p:cNvSpPr/>
          <p:nvPr/>
        </p:nvSpPr>
        <p:spPr>
          <a:xfrm>
            <a:off x="647700" y="2863850"/>
            <a:ext cx="8349457" cy="12700"/>
          </a:xfrm>
          <a:prstGeom prst="rect">
            <a:avLst/>
          </a:prstGeom>
          <a:solidFill>
            <a:srgbClr val="D9DED7"/>
          </a:solidFill>
          <a:ln/>
        </p:spPr>
        <p:txBody>
          <a:bodyPr/>
          <a:lstStyle/>
          <a:p>
            <a:endParaRPr lang="en-US"/>
          </a:p>
        </p:txBody>
      </p:sp>
      <p:sp>
        <p:nvSpPr>
          <p:cNvPr id="20" name="Shape 16"/>
          <p:cNvSpPr/>
          <p:nvPr/>
        </p:nvSpPr>
        <p:spPr>
          <a:xfrm>
            <a:off x="781050" y="2565400"/>
            <a:ext cx="133350" cy="133350"/>
          </a:xfrm>
          <a:prstGeom prst="rect">
            <a:avLst/>
          </a:prstGeom>
          <a:solidFill>
            <a:srgbClr val="C0504D"/>
          </a:solidFill>
          <a:ln/>
        </p:spPr>
        <p:txBody>
          <a:bodyPr/>
          <a:lstStyle/>
          <a:p>
            <a:endParaRPr lang="en-US"/>
          </a:p>
        </p:txBody>
      </p:sp>
      <p:sp>
        <p:nvSpPr>
          <p:cNvPr id="21" name="Text 17"/>
          <p:cNvSpPr/>
          <p:nvPr/>
        </p:nvSpPr>
        <p:spPr>
          <a:xfrm>
            <a:off x="1028700" y="2498725"/>
            <a:ext cx="947737"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Hardware</a:t>
            </a:r>
            <a:endParaRPr lang="en-US" sz="1725" dirty="0"/>
          </a:p>
        </p:txBody>
      </p:sp>
      <p:sp>
        <p:nvSpPr>
          <p:cNvPr id="22" name="Text 18"/>
          <p:cNvSpPr/>
          <p:nvPr/>
        </p:nvSpPr>
        <p:spPr>
          <a:xfrm>
            <a:off x="4121547" y="2492375"/>
            <a:ext cx="1570434"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2,215</a:t>
            </a:r>
            <a:endParaRPr lang="en-US" sz="1725" dirty="0"/>
          </a:p>
        </p:txBody>
      </p:sp>
      <p:sp>
        <p:nvSpPr>
          <p:cNvPr id="23" name="Text 19"/>
          <p:cNvSpPr/>
          <p:nvPr/>
        </p:nvSpPr>
        <p:spPr>
          <a:xfrm>
            <a:off x="5882482" y="2492375"/>
            <a:ext cx="1199356"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13.4%</a:t>
            </a:r>
            <a:endParaRPr lang="en-US" sz="1725" dirty="0"/>
          </a:p>
        </p:txBody>
      </p:sp>
      <p:sp>
        <p:nvSpPr>
          <p:cNvPr id="24" name="Shape 20"/>
          <p:cNvSpPr/>
          <p:nvPr/>
        </p:nvSpPr>
        <p:spPr>
          <a:xfrm>
            <a:off x="7348538" y="2565400"/>
            <a:ext cx="753269" cy="133350"/>
          </a:xfrm>
          <a:prstGeom prst="rect">
            <a:avLst/>
          </a:prstGeom>
          <a:solidFill>
            <a:srgbClr val="EDEFEA"/>
          </a:solidFill>
          <a:ln/>
        </p:spPr>
        <p:txBody>
          <a:bodyPr/>
          <a:lstStyle/>
          <a:p>
            <a:endParaRPr lang="en-US"/>
          </a:p>
        </p:txBody>
      </p:sp>
      <p:sp>
        <p:nvSpPr>
          <p:cNvPr id="25" name="Shape 21"/>
          <p:cNvSpPr/>
          <p:nvPr/>
        </p:nvSpPr>
        <p:spPr>
          <a:xfrm>
            <a:off x="7348538" y="2565400"/>
            <a:ext cx="275630" cy="133350"/>
          </a:xfrm>
          <a:prstGeom prst="rect">
            <a:avLst/>
          </a:prstGeom>
          <a:solidFill>
            <a:srgbClr val="C0504D"/>
          </a:solidFill>
          <a:ln/>
        </p:spPr>
        <p:txBody>
          <a:bodyPr/>
          <a:lstStyle/>
          <a:p>
            <a:endParaRPr lang="en-US"/>
          </a:p>
        </p:txBody>
      </p:sp>
      <p:sp>
        <p:nvSpPr>
          <p:cNvPr id="26" name="Text 22"/>
          <p:cNvSpPr/>
          <p:nvPr/>
        </p:nvSpPr>
        <p:spPr>
          <a:xfrm>
            <a:off x="8120857" y="2498725"/>
            <a:ext cx="742950" cy="304800"/>
          </a:xfrm>
          <a:prstGeom prst="rect">
            <a:avLst/>
          </a:prstGeom>
          <a:noFill/>
          <a:ln/>
        </p:spPr>
        <p:txBody>
          <a:bodyPr wrap="square" lIns="25400" tIns="25400" rIns="25400" bIns="25400" rtlCol="0" anchor="t">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8.7%</a:t>
            </a:r>
            <a:endParaRPr lang="en-US" sz="1725" dirty="0"/>
          </a:p>
        </p:txBody>
      </p:sp>
      <p:sp>
        <p:nvSpPr>
          <p:cNvPr id="27" name="Shape 23"/>
          <p:cNvSpPr/>
          <p:nvPr/>
        </p:nvSpPr>
        <p:spPr>
          <a:xfrm>
            <a:off x="647700" y="3352800"/>
            <a:ext cx="8349457" cy="12700"/>
          </a:xfrm>
          <a:prstGeom prst="rect">
            <a:avLst/>
          </a:prstGeom>
          <a:solidFill>
            <a:srgbClr val="D9DED7"/>
          </a:solidFill>
          <a:ln/>
        </p:spPr>
        <p:txBody>
          <a:bodyPr/>
          <a:lstStyle/>
          <a:p>
            <a:endParaRPr lang="en-US"/>
          </a:p>
        </p:txBody>
      </p:sp>
      <p:sp>
        <p:nvSpPr>
          <p:cNvPr id="28" name="Shape 24"/>
          <p:cNvSpPr/>
          <p:nvPr/>
        </p:nvSpPr>
        <p:spPr>
          <a:xfrm>
            <a:off x="781050" y="3054350"/>
            <a:ext cx="133350" cy="133350"/>
          </a:xfrm>
          <a:prstGeom prst="rect">
            <a:avLst/>
          </a:prstGeom>
          <a:solidFill>
            <a:srgbClr val="E8A33D"/>
          </a:solidFill>
          <a:ln/>
        </p:spPr>
        <p:txBody>
          <a:bodyPr/>
          <a:lstStyle/>
          <a:p>
            <a:endParaRPr lang="en-US"/>
          </a:p>
        </p:txBody>
      </p:sp>
      <p:sp>
        <p:nvSpPr>
          <p:cNvPr id="29" name="Text 25"/>
          <p:cNvSpPr/>
          <p:nvPr/>
        </p:nvSpPr>
        <p:spPr>
          <a:xfrm>
            <a:off x="1028700" y="2987675"/>
            <a:ext cx="2000766"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Firmware / Software</a:t>
            </a:r>
            <a:endParaRPr lang="en-US" sz="1725" dirty="0"/>
          </a:p>
        </p:txBody>
      </p:sp>
      <p:sp>
        <p:nvSpPr>
          <p:cNvPr id="30" name="Text 26"/>
          <p:cNvSpPr/>
          <p:nvPr/>
        </p:nvSpPr>
        <p:spPr>
          <a:xfrm>
            <a:off x="4121547" y="2981325"/>
            <a:ext cx="1570434"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3,279</a:t>
            </a:r>
            <a:endParaRPr lang="en-US" sz="1725" dirty="0"/>
          </a:p>
        </p:txBody>
      </p:sp>
      <p:sp>
        <p:nvSpPr>
          <p:cNvPr id="31" name="Text 27"/>
          <p:cNvSpPr/>
          <p:nvPr/>
        </p:nvSpPr>
        <p:spPr>
          <a:xfrm>
            <a:off x="5882482" y="2981325"/>
            <a:ext cx="1199356"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19.9%</a:t>
            </a:r>
            <a:endParaRPr lang="en-US" sz="1725" dirty="0"/>
          </a:p>
        </p:txBody>
      </p:sp>
      <p:sp>
        <p:nvSpPr>
          <p:cNvPr id="32" name="Shape 28"/>
          <p:cNvSpPr/>
          <p:nvPr/>
        </p:nvSpPr>
        <p:spPr>
          <a:xfrm>
            <a:off x="7348538" y="3054350"/>
            <a:ext cx="753269" cy="133350"/>
          </a:xfrm>
          <a:prstGeom prst="rect">
            <a:avLst/>
          </a:prstGeom>
          <a:solidFill>
            <a:srgbClr val="EDEFEA"/>
          </a:solidFill>
          <a:ln/>
        </p:spPr>
        <p:txBody>
          <a:bodyPr/>
          <a:lstStyle/>
          <a:p>
            <a:endParaRPr lang="en-US"/>
          </a:p>
        </p:txBody>
      </p:sp>
      <p:sp>
        <p:nvSpPr>
          <p:cNvPr id="33" name="Shape 29"/>
          <p:cNvSpPr/>
          <p:nvPr/>
        </p:nvSpPr>
        <p:spPr>
          <a:xfrm>
            <a:off x="7348538" y="3054350"/>
            <a:ext cx="408186" cy="133350"/>
          </a:xfrm>
          <a:prstGeom prst="rect">
            <a:avLst/>
          </a:prstGeom>
          <a:solidFill>
            <a:srgbClr val="E8A33D"/>
          </a:solidFill>
          <a:ln/>
        </p:spPr>
        <p:txBody>
          <a:bodyPr/>
          <a:lstStyle/>
          <a:p>
            <a:endParaRPr lang="en-US"/>
          </a:p>
        </p:txBody>
      </p:sp>
      <p:sp>
        <p:nvSpPr>
          <p:cNvPr id="34" name="Text 30"/>
          <p:cNvSpPr/>
          <p:nvPr/>
        </p:nvSpPr>
        <p:spPr>
          <a:xfrm>
            <a:off x="8120857" y="2987675"/>
            <a:ext cx="742950" cy="304800"/>
          </a:xfrm>
          <a:prstGeom prst="rect">
            <a:avLst/>
          </a:prstGeom>
          <a:noFill/>
          <a:ln/>
        </p:spPr>
        <p:txBody>
          <a:bodyPr wrap="square" lIns="25400" tIns="25400" rIns="25400" bIns="25400" rtlCol="0" anchor="t">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12.9%</a:t>
            </a:r>
            <a:endParaRPr lang="en-US" sz="1725" dirty="0"/>
          </a:p>
        </p:txBody>
      </p:sp>
      <p:sp>
        <p:nvSpPr>
          <p:cNvPr id="35" name="Shape 31"/>
          <p:cNvSpPr/>
          <p:nvPr/>
        </p:nvSpPr>
        <p:spPr>
          <a:xfrm>
            <a:off x="647700" y="3841750"/>
            <a:ext cx="8349457" cy="12700"/>
          </a:xfrm>
          <a:prstGeom prst="rect">
            <a:avLst/>
          </a:prstGeom>
          <a:solidFill>
            <a:srgbClr val="D9DED7"/>
          </a:solidFill>
          <a:ln/>
        </p:spPr>
        <p:txBody>
          <a:bodyPr/>
          <a:lstStyle/>
          <a:p>
            <a:endParaRPr lang="en-US"/>
          </a:p>
        </p:txBody>
      </p:sp>
      <p:sp>
        <p:nvSpPr>
          <p:cNvPr id="36" name="Shape 32"/>
          <p:cNvSpPr/>
          <p:nvPr/>
        </p:nvSpPr>
        <p:spPr>
          <a:xfrm>
            <a:off x="781050" y="3543300"/>
            <a:ext cx="133350" cy="133350"/>
          </a:xfrm>
          <a:prstGeom prst="rect">
            <a:avLst/>
          </a:prstGeom>
          <a:solidFill>
            <a:srgbClr val="2F5597"/>
          </a:solidFill>
          <a:ln/>
        </p:spPr>
        <p:txBody>
          <a:bodyPr/>
          <a:lstStyle/>
          <a:p>
            <a:endParaRPr lang="en-US"/>
          </a:p>
        </p:txBody>
      </p:sp>
      <p:sp>
        <p:nvSpPr>
          <p:cNvPr id="37" name="Text 33"/>
          <p:cNvSpPr/>
          <p:nvPr/>
        </p:nvSpPr>
        <p:spPr>
          <a:xfrm>
            <a:off x="1028700" y="3476625"/>
            <a:ext cx="1414026"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No fault found</a:t>
            </a:r>
            <a:endParaRPr lang="en-US" sz="1725" dirty="0"/>
          </a:p>
        </p:txBody>
      </p:sp>
      <p:sp>
        <p:nvSpPr>
          <p:cNvPr id="38" name="Text 34"/>
          <p:cNvSpPr/>
          <p:nvPr/>
        </p:nvSpPr>
        <p:spPr>
          <a:xfrm>
            <a:off x="4121547" y="3470275"/>
            <a:ext cx="1570434"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6,053</a:t>
            </a:r>
            <a:endParaRPr lang="en-US" sz="1725" dirty="0"/>
          </a:p>
        </p:txBody>
      </p:sp>
      <p:sp>
        <p:nvSpPr>
          <p:cNvPr id="39" name="Text 35"/>
          <p:cNvSpPr/>
          <p:nvPr/>
        </p:nvSpPr>
        <p:spPr>
          <a:xfrm>
            <a:off x="5882482" y="3470275"/>
            <a:ext cx="1199356"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36.6%</a:t>
            </a:r>
            <a:endParaRPr lang="en-US" sz="1725" dirty="0"/>
          </a:p>
        </p:txBody>
      </p:sp>
      <p:sp>
        <p:nvSpPr>
          <p:cNvPr id="40" name="Shape 36"/>
          <p:cNvSpPr/>
          <p:nvPr/>
        </p:nvSpPr>
        <p:spPr>
          <a:xfrm>
            <a:off x="7348538" y="3543300"/>
            <a:ext cx="753269" cy="133350"/>
          </a:xfrm>
          <a:prstGeom prst="rect">
            <a:avLst/>
          </a:prstGeom>
          <a:solidFill>
            <a:srgbClr val="EDEFEA"/>
          </a:solidFill>
          <a:ln/>
        </p:spPr>
        <p:txBody>
          <a:bodyPr/>
          <a:lstStyle/>
          <a:p>
            <a:endParaRPr lang="en-US"/>
          </a:p>
        </p:txBody>
      </p:sp>
      <p:sp>
        <p:nvSpPr>
          <p:cNvPr id="41" name="Shape 37"/>
          <p:cNvSpPr/>
          <p:nvPr/>
        </p:nvSpPr>
        <p:spPr>
          <a:xfrm>
            <a:off x="7348538" y="3543300"/>
            <a:ext cx="753269" cy="133350"/>
          </a:xfrm>
          <a:prstGeom prst="rect">
            <a:avLst/>
          </a:prstGeom>
          <a:solidFill>
            <a:srgbClr val="2F5597"/>
          </a:solidFill>
          <a:ln/>
        </p:spPr>
        <p:txBody>
          <a:bodyPr/>
          <a:lstStyle/>
          <a:p>
            <a:endParaRPr lang="en-US"/>
          </a:p>
        </p:txBody>
      </p:sp>
      <p:sp>
        <p:nvSpPr>
          <p:cNvPr id="42" name="Text 38"/>
          <p:cNvSpPr/>
          <p:nvPr/>
        </p:nvSpPr>
        <p:spPr>
          <a:xfrm>
            <a:off x="8120857" y="3476625"/>
            <a:ext cx="742950" cy="304800"/>
          </a:xfrm>
          <a:prstGeom prst="rect">
            <a:avLst/>
          </a:prstGeom>
          <a:noFill/>
          <a:ln/>
        </p:spPr>
        <p:txBody>
          <a:bodyPr wrap="square" lIns="25400" tIns="25400" rIns="25400" bIns="25400" rtlCol="0" anchor="t">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23.8%</a:t>
            </a:r>
            <a:endParaRPr lang="en-US" sz="1725" dirty="0"/>
          </a:p>
        </p:txBody>
      </p:sp>
      <p:sp>
        <p:nvSpPr>
          <p:cNvPr id="43" name="Shape 39"/>
          <p:cNvSpPr/>
          <p:nvPr/>
        </p:nvSpPr>
        <p:spPr>
          <a:xfrm>
            <a:off x="647700" y="4330700"/>
            <a:ext cx="8349457" cy="12700"/>
          </a:xfrm>
          <a:prstGeom prst="rect">
            <a:avLst/>
          </a:prstGeom>
          <a:solidFill>
            <a:srgbClr val="D9DED7"/>
          </a:solidFill>
          <a:ln/>
        </p:spPr>
        <p:txBody>
          <a:bodyPr/>
          <a:lstStyle/>
          <a:p>
            <a:endParaRPr lang="en-US"/>
          </a:p>
        </p:txBody>
      </p:sp>
      <p:sp>
        <p:nvSpPr>
          <p:cNvPr id="44" name="Shape 40"/>
          <p:cNvSpPr/>
          <p:nvPr/>
        </p:nvSpPr>
        <p:spPr>
          <a:xfrm>
            <a:off x="781050" y="4032250"/>
            <a:ext cx="133350" cy="133350"/>
          </a:xfrm>
          <a:prstGeom prst="rect">
            <a:avLst/>
          </a:prstGeom>
          <a:solidFill>
            <a:srgbClr val="7F7F7F"/>
          </a:solidFill>
          <a:ln/>
        </p:spPr>
        <p:txBody>
          <a:bodyPr/>
          <a:lstStyle/>
          <a:p>
            <a:endParaRPr lang="en-US"/>
          </a:p>
        </p:txBody>
      </p:sp>
      <p:sp>
        <p:nvSpPr>
          <p:cNvPr id="45" name="Text 41"/>
          <p:cNvSpPr/>
          <p:nvPr/>
        </p:nvSpPr>
        <p:spPr>
          <a:xfrm>
            <a:off x="1028700" y="3965575"/>
            <a:ext cx="1386304"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Undefined yet</a:t>
            </a:r>
            <a:endParaRPr lang="en-US" sz="1725" dirty="0"/>
          </a:p>
        </p:txBody>
      </p:sp>
      <p:sp>
        <p:nvSpPr>
          <p:cNvPr id="46" name="Text 42"/>
          <p:cNvSpPr/>
          <p:nvPr/>
        </p:nvSpPr>
        <p:spPr>
          <a:xfrm>
            <a:off x="4121547" y="3959225"/>
            <a:ext cx="1570434"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1,364</a:t>
            </a:r>
            <a:endParaRPr lang="en-US" sz="1725" dirty="0"/>
          </a:p>
        </p:txBody>
      </p:sp>
      <p:sp>
        <p:nvSpPr>
          <p:cNvPr id="47" name="Text 43"/>
          <p:cNvSpPr/>
          <p:nvPr/>
        </p:nvSpPr>
        <p:spPr>
          <a:xfrm>
            <a:off x="5882482" y="3959225"/>
            <a:ext cx="1199356"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8.3%</a:t>
            </a:r>
            <a:endParaRPr lang="en-US" sz="1725" dirty="0"/>
          </a:p>
        </p:txBody>
      </p:sp>
      <p:sp>
        <p:nvSpPr>
          <p:cNvPr id="48" name="Shape 44"/>
          <p:cNvSpPr/>
          <p:nvPr/>
        </p:nvSpPr>
        <p:spPr>
          <a:xfrm>
            <a:off x="7348538" y="4032250"/>
            <a:ext cx="753269" cy="133350"/>
          </a:xfrm>
          <a:prstGeom prst="rect">
            <a:avLst/>
          </a:prstGeom>
          <a:solidFill>
            <a:srgbClr val="EDEFEA"/>
          </a:solidFill>
          <a:ln/>
        </p:spPr>
        <p:txBody>
          <a:bodyPr/>
          <a:lstStyle/>
          <a:p>
            <a:endParaRPr lang="en-US"/>
          </a:p>
        </p:txBody>
      </p:sp>
      <p:sp>
        <p:nvSpPr>
          <p:cNvPr id="49" name="Shape 45"/>
          <p:cNvSpPr/>
          <p:nvPr/>
        </p:nvSpPr>
        <p:spPr>
          <a:xfrm>
            <a:off x="7348538" y="4032250"/>
            <a:ext cx="170855" cy="133350"/>
          </a:xfrm>
          <a:prstGeom prst="rect">
            <a:avLst/>
          </a:prstGeom>
          <a:solidFill>
            <a:srgbClr val="7F7F7F"/>
          </a:solidFill>
          <a:ln/>
        </p:spPr>
        <p:txBody>
          <a:bodyPr/>
          <a:lstStyle/>
          <a:p>
            <a:endParaRPr lang="en-US"/>
          </a:p>
        </p:txBody>
      </p:sp>
      <p:sp>
        <p:nvSpPr>
          <p:cNvPr id="50" name="Text 46"/>
          <p:cNvSpPr/>
          <p:nvPr/>
        </p:nvSpPr>
        <p:spPr>
          <a:xfrm>
            <a:off x="8120857" y="3965575"/>
            <a:ext cx="742950" cy="304800"/>
          </a:xfrm>
          <a:prstGeom prst="rect">
            <a:avLst/>
          </a:prstGeom>
          <a:noFill/>
          <a:ln/>
        </p:spPr>
        <p:txBody>
          <a:bodyPr wrap="square" lIns="25400" tIns="25400" rIns="25400" bIns="25400" rtlCol="0" anchor="t">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5.4%</a:t>
            </a:r>
            <a:endParaRPr lang="en-US" sz="1725" dirty="0"/>
          </a:p>
        </p:txBody>
      </p:sp>
      <p:sp>
        <p:nvSpPr>
          <p:cNvPr id="51" name="Shape 47"/>
          <p:cNvSpPr/>
          <p:nvPr/>
        </p:nvSpPr>
        <p:spPr>
          <a:xfrm>
            <a:off x="647700" y="4343400"/>
            <a:ext cx="8349457" cy="482600"/>
          </a:xfrm>
          <a:prstGeom prst="rect">
            <a:avLst/>
          </a:prstGeom>
          <a:solidFill>
            <a:srgbClr val="E2EFDA"/>
          </a:solidFill>
          <a:ln/>
        </p:spPr>
        <p:txBody>
          <a:bodyPr/>
          <a:lstStyle/>
          <a:p>
            <a:endParaRPr lang="en-US"/>
          </a:p>
        </p:txBody>
      </p:sp>
      <p:sp>
        <p:nvSpPr>
          <p:cNvPr id="52" name="Text 48"/>
          <p:cNvSpPr/>
          <p:nvPr/>
        </p:nvSpPr>
        <p:spPr>
          <a:xfrm>
            <a:off x="781050" y="4448175"/>
            <a:ext cx="3252498" cy="311150"/>
          </a:xfrm>
          <a:prstGeom prst="rect">
            <a:avLst/>
          </a:prstGeom>
          <a:noFill/>
          <a:ln/>
        </p:spPr>
        <p:txBody>
          <a:bodyPr wrap="square" lIns="25400" tIns="25400" rIns="25400" bIns="25400" rtlCol="0" anchor="ctr">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Grand Total</a:t>
            </a:r>
            <a:endParaRPr lang="en-US" sz="1725" dirty="0"/>
          </a:p>
        </p:txBody>
      </p:sp>
      <p:sp>
        <p:nvSpPr>
          <p:cNvPr id="53" name="Text 49"/>
          <p:cNvSpPr/>
          <p:nvPr/>
        </p:nvSpPr>
        <p:spPr>
          <a:xfrm>
            <a:off x="4121547" y="4448175"/>
            <a:ext cx="1570434" cy="311150"/>
          </a:xfrm>
          <a:prstGeom prst="rect">
            <a:avLst/>
          </a:prstGeom>
          <a:noFill/>
          <a:ln/>
        </p:spPr>
        <p:txBody>
          <a:bodyPr wrap="square" lIns="25400" tIns="25400" rIns="25400" bIns="25400" rtlCol="0" anchor="ctr">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16,518</a:t>
            </a:r>
            <a:endParaRPr lang="en-US" sz="1725" dirty="0"/>
          </a:p>
        </p:txBody>
      </p:sp>
      <p:sp>
        <p:nvSpPr>
          <p:cNvPr id="54" name="Text 50"/>
          <p:cNvSpPr/>
          <p:nvPr/>
        </p:nvSpPr>
        <p:spPr>
          <a:xfrm>
            <a:off x="5882482" y="4448175"/>
            <a:ext cx="1199356" cy="311150"/>
          </a:xfrm>
          <a:prstGeom prst="rect">
            <a:avLst/>
          </a:prstGeom>
          <a:noFill/>
          <a:ln/>
        </p:spPr>
        <p:txBody>
          <a:bodyPr wrap="square" lIns="25400" tIns="25400" rIns="25400" bIns="25400" rtlCol="0" anchor="ctr">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100.0%</a:t>
            </a:r>
            <a:endParaRPr lang="en-US" sz="1725" dirty="0"/>
          </a:p>
        </p:txBody>
      </p:sp>
      <p:sp>
        <p:nvSpPr>
          <p:cNvPr id="55" name="Text 51"/>
          <p:cNvSpPr/>
          <p:nvPr/>
        </p:nvSpPr>
        <p:spPr>
          <a:xfrm>
            <a:off x="7348538" y="4448175"/>
            <a:ext cx="1591469" cy="311150"/>
          </a:xfrm>
          <a:prstGeom prst="rect">
            <a:avLst/>
          </a:prstGeom>
          <a:noFill/>
          <a:ln/>
        </p:spPr>
        <p:txBody>
          <a:bodyPr wrap="square" lIns="25400" tIns="25400" rIns="25400" bIns="25400" rtlCol="0" anchor="ctr">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65.0%</a:t>
            </a:r>
            <a:endParaRPr lang="en-US" sz="1725" dirty="0"/>
          </a:p>
        </p:txBody>
      </p:sp>
      <p:sp>
        <p:nvSpPr>
          <p:cNvPr id="56" name="Text 52"/>
          <p:cNvSpPr/>
          <p:nvPr/>
        </p:nvSpPr>
        <p:spPr>
          <a:xfrm>
            <a:off x="647700" y="4997450"/>
            <a:ext cx="9184402" cy="279400"/>
          </a:xfrm>
          <a:prstGeom prst="rect">
            <a:avLst/>
          </a:prstGeom>
          <a:noFill/>
          <a:ln/>
        </p:spPr>
        <p:txBody>
          <a:bodyPr wrap="square" lIns="25400" tIns="25400" rIns="25400" bIns="25400" rtlCol="0" anchor="t">
            <a:normAutofit lnSpcReduction="10000"/>
          </a:bodyPr>
          <a:lstStyle/>
          <a:p>
            <a:pPr marL="0" indent="0" algn="l">
              <a:buNone/>
            </a:pPr>
            <a:r>
              <a:rPr lang="en-US" sz="1575" dirty="0">
                <a:solidFill>
                  <a:srgbClr val="595959"/>
                </a:solidFill>
                <a:latin typeface="Calibri" pitchFamily="34" charset="0"/>
                <a:ea typeface="Calibri" pitchFamily="34" charset="-122"/>
                <a:cs typeface="Calibri" pitchFamily="34" charset="-120"/>
              </a:rPr>
              <a:t>Note: Ticket rate = Ticket Q'ty / Total BSS on service (25,430 cabinets).</a:t>
            </a:r>
            <a:endParaRPr lang="en-US" sz="1575" dirty="0"/>
          </a:p>
        </p:txBody>
      </p:sp>
      <p:sp>
        <p:nvSpPr>
          <p:cNvPr id="57" name="Text 53"/>
          <p:cNvSpPr/>
          <p:nvPr/>
        </p:nvSpPr>
        <p:spPr>
          <a:xfrm>
            <a:off x="647700" y="5467350"/>
            <a:ext cx="9184402"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2F5597"/>
                </a:solidFill>
                <a:latin typeface="Calibri" pitchFamily="34" charset="0"/>
                <a:ea typeface="Calibri" pitchFamily="34" charset="-122"/>
                <a:cs typeface="Calibri" pitchFamily="34" charset="-120"/>
              </a:rPr>
              <a:t>Description of Disclaim — 3,584 tickets</a:t>
            </a:r>
            <a:endParaRPr lang="en-US" sz="1875" dirty="0"/>
          </a:p>
        </p:txBody>
      </p:sp>
      <p:sp>
        <p:nvSpPr>
          <p:cNvPr id="58" name="Text 54"/>
          <p:cNvSpPr/>
          <p:nvPr/>
        </p:nvSpPr>
        <p:spPr>
          <a:xfrm>
            <a:off x="647700" y="5930900"/>
            <a:ext cx="3457575"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Power &amp; internet infrastructure</a:t>
            </a:r>
            <a:endParaRPr lang="en-US" sz="1725" dirty="0"/>
          </a:p>
        </p:txBody>
      </p:sp>
      <p:sp>
        <p:nvSpPr>
          <p:cNvPr id="59" name="Shape 55"/>
          <p:cNvSpPr/>
          <p:nvPr/>
        </p:nvSpPr>
        <p:spPr>
          <a:xfrm>
            <a:off x="3924300" y="5978525"/>
            <a:ext cx="3510756" cy="171450"/>
          </a:xfrm>
          <a:prstGeom prst="rect">
            <a:avLst/>
          </a:prstGeom>
          <a:solidFill>
            <a:srgbClr val="EDEFEA"/>
          </a:solidFill>
          <a:ln/>
        </p:spPr>
        <p:txBody>
          <a:bodyPr/>
          <a:lstStyle/>
          <a:p>
            <a:endParaRPr lang="en-US"/>
          </a:p>
        </p:txBody>
      </p:sp>
      <p:sp>
        <p:nvSpPr>
          <p:cNvPr id="60" name="Shape 56"/>
          <p:cNvSpPr/>
          <p:nvPr/>
        </p:nvSpPr>
        <p:spPr>
          <a:xfrm>
            <a:off x="3924300" y="5978525"/>
            <a:ext cx="3510756" cy="171450"/>
          </a:xfrm>
          <a:prstGeom prst="rect">
            <a:avLst/>
          </a:prstGeom>
          <a:solidFill>
            <a:srgbClr val="4A5C3A"/>
          </a:solidFill>
          <a:ln/>
        </p:spPr>
        <p:txBody>
          <a:bodyPr/>
          <a:lstStyle/>
          <a:p>
            <a:endParaRPr lang="en-US"/>
          </a:p>
        </p:txBody>
      </p:sp>
      <p:sp>
        <p:nvSpPr>
          <p:cNvPr id="61" name="Text 57"/>
          <p:cNvSpPr/>
          <p:nvPr/>
        </p:nvSpPr>
        <p:spPr>
          <a:xfrm>
            <a:off x="7425532" y="5930900"/>
            <a:ext cx="1571625" cy="304800"/>
          </a:xfrm>
          <a:prstGeom prst="rect">
            <a:avLst/>
          </a:prstGeom>
          <a:noFill/>
          <a:ln/>
        </p:spPr>
        <p:txBody>
          <a:bodyPr wrap="square" lIns="25400" tIns="25400" rIns="25400" bIns="25400" rtlCol="0" anchor="t">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938 · 26.0%</a:t>
            </a:r>
            <a:endParaRPr lang="en-US" sz="1725" dirty="0"/>
          </a:p>
        </p:txBody>
      </p:sp>
      <p:sp>
        <p:nvSpPr>
          <p:cNvPr id="62" name="Text 58"/>
          <p:cNvSpPr/>
          <p:nvPr/>
        </p:nvSpPr>
        <p:spPr>
          <a:xfrm>
            <a:off x="647700" y="6302375"/>
            <a:ext cx="3457575"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Duplicated / wrong information</a:t>
            </a:r>
            <a:endParaRPr lang="en-US" sz="1725" dirty="0"/>
          </a:p>
        </p:txBody>
      </p:sp>
      <p:sp>
        <p:nvSpPr>
          <p:cNvPr id="63" name="Shape 59"/>
          <p:cNvSpPr/>
          <p:nvPr/>
        </p:nvSpPr>
        <p:spPr>
          <a:xfrm>
            <a:off x="3924300" y="6350000"/>
            <a:ext cx="3510756" cy="171450"/>
          </a:xfrm>
          <a:prstGeom prst="rect">
            <a:avLst/>
          </a:prstGeom>
          <a:solidFill>
            <a:srgbClr val="EDEFEA"/>
          </a:solidFill>
          <a:ln/>
        </p:spPr>
        <p:txBody>
          <a:bodyPr/>
          <a:lstStyle/>
          <a:p>
            <a:endParaRPr lang="en-US"/>
          </a:p>
        </p:txBody>
      </p:sp>
      <p:sp>
        <p:nvSpPr>
          <p:cNvPr id="64" name="Shape 60"/>
          <p:cNvSpPr/>
          <p:nvPr/>
        </p:nvSpPr>
        <p:spPr>
          <a:xfrm>
            <a:off x="3924300" y="6350000"/>
            <a:ext cx="2524125" cy="171450"/>
          </a:xfrm>
          <a:prstGeom prst="rect">
            <a:avLst/>
          </a:prstGeom>
          <a:solidFill>
            <a:srgbClr val="6B7D5A"/>
          </a:solidFill>
          <a:ln/>
        </p:spPr>
        <p:txBody>
          <a:bodyPr/>
          <a:lstStyle/>
          <a:p>
            <a:endParaRPr lang="en-US"/>
          </a:p>
        </p:txBody>
      </p:sp>
      <p:sp>
        <p:nvSpPr>
          <p:cNvPr id="65" name="Text 61"/>
          <p:cNvSpPr/>
          <p:nvPr/>
        </p:nvSpPr>
        <p:spPr>
          <a:xfrm>
            <a:off x="7425532" y="6302375"/>
            <a:ext cx="1571625" cy="304800"/>
          </a:xfrm>
          <a:prstGeom prst="rect">
            <a:avLst/>
          </a:prstGeom>
          <a:noFill/>
          <a:ln/>
        </p:spPr>
        <p:txBody>
          <a:bodyPr wrap="square" lIns="25400" tIns="25400" rIns="25400" bIns="25400" rtlCol="0" anchor="t">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676 · 18.7%</a:t>
            </a:r>
            <a:endParaRPr lang="en-US" sz="1725" dirty="0"/>
          </a:p>
        </p:txBody>
      </p:sp>
      <p:sp>
        <p:nvSpPr>
          <p:cNvPr id="66" name="Text 62"/>
          <p:cNvSpPr/>
          <p:nvPr/>
        </p:nvSpPr>
        <p:spPr>
          <a:xfrm>
            <a:off x="647700" y="6673850"/>
            <a:ext cx="3457575"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Cleaning / maintenance</a:t>
            </a:r>
            <a:endParaRPr lang="en-US" sz="1725" dirty="0"/>
          </a:p>
        </p:txBody>
      </p:sp>
      <p:sp>
        <p:nvSpPr>
          <p:cNvPr id="67" name="Shape 63"/>
          <p:cNvSpPr/>
          <p:nvPr/>
        </p:nvSpPr>
        <p:spPr>
          <a:xfrm>
            <a:off x="3924300" y="6721475"/>
            <a:ext cx="3510756" cy="171450"/>
          </a:xfrm>
          <a:prstGeom prst="rect">
            <a:avLst/>
          </a:prstGeom>
          <a:solidFill>
            <a:srgbClr val="EDEFEA"/>
          </a:solidFill>
          <a:ln/>
        </p:spPr>
        <p:txBody>
          <a:bodyPr/>
          <a:lstStyle/>
          <a:p>
            <a:endParaRPr lang="en-US"/>
          </a:p>
        </p:txBody>
      </p:sp>
      <p:sp>
        <p:nvSpPr>
          <p:cNvPr id="68" name="Shape 64"/>
          <p:cNvSpPr/>
          <p:nvPr/>
        </p:nvSpPr>
        <p:spPr>
          <a:xfrm>
            <a:off x="3924300" y="6721475"/>
            <a:ext cx="2404864" cy="171450"/>
          </a:xfrm>
          <a:prstGeom prst="rect">
            <a:avLst/>
          </a:prstGeom>
          <a:solidFill>
            <a:srgbClr val="8B9C7A"/>
          </a:solidFill>
          <a:ln/>
        </p:spPr>
        <p:txBody>
          <a:bodyPr/>
          <a:lstStyle/>
          <a:p>
            <a:endParaRPr lang="en-US"/>
          </a:p>
        </p:txBody>
      </p:sp>
      <p:sp>
        <p:nvSpPr>
          <p:cNvPr id="69" name="Text 65"/>
          <p:cNvSpPr/>
          <p:nvPr/>
        </p:nvSpPr>
        <p:spPr>
          <a:xfrm>
            <a:off x="7425532" y="6673850"/>
            <a:ext cx="1571625" cy="304800"/>
          </a:xfrm>
          <a:prstGeom prst="rect">
            <a:avLst/>
          </a:prstGeom>
          <a:noFill/>
          <a:ln/>
        </p:spPr>
        <p:txBody>
          <a:bodyPr wrap="square" lIns="25400" tIns="25400" rIns="25400" bIns="25400" rtlCol="0" anchor="t">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642 · 17.8%</a:t>
            </a:r>
            <a:endParaRPr lang="en-US" sz="1725" dirty="0"/>
          </a:p>
        </p:txBody>
      </p:sp>
      <p:sp>
        <p:nvSpPr>
          <p:cNvPr id="70" name="Text 66"/>
          <p:cNvSpPr/>
          <p:nvPr/>
        </p:nvSpPr>
        <p:spPr>
          <a:xfrm>
            <a:off x="647700" y="7045325"/>
            <a:ext cx="3457575"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Other reasons</a:t>
            </a:r>
            <a:endParaRPr lang="en-US" sz="1725" dirty="0"/>
          </a:p>
        </p:txBody>
      </p:sp>
      <p:sp>
        <p:nvSpPr>
          <p:cNvPr id="71" name="Shape 67"/>
          <p:cNvSpPr/>
          <p:nvPr/>
        </p:nvSpPr>
        <p:spPr>
          <a:xfrm>
            <a:off x="3924300" y="7092950"/>
            <a:ext cx="3510756" cy="171450"/>
          </a:xfrm>
          <a:prstGeom prst="rect">
            <a:avLst/>
          </a:prstGeom>
          <a:solidFill>
            <a:srgbClr val="EDEFEA"/>
          </a:solidFill>
          <a:ln/>
        </p:spPr>
        <p:txBody>
          <a:bodyPr/>
          <a:lstStyle/>
          <a:p>
            <a:endParaRPr lang="en-US"/>
          </a:p>
        </p:txBody>
      </p:sp>
      <p:sp>
        <p:nvSpPr>
          <p:cNvPr id="72" name="Shape 68"/>
          <p:cNvSpPr/>
          <p:nvPr/>
        </p:nvSpPr>
        <p:spPr>
          <a:xfrm>
            <a:off x="3924300" y="7092950"/>
            <a:ext cx="2078236" cy="171450"/>
          </a:xfrm>
          <a:prstGeom prst="rect">
            <a:avLst/>
          </a:prstGeom>
          <a:solidFill>
            <a:srgbClr val="A9B79A"/>
          </a:solidFill>
          <a:ln/>
        </p:spPr>
        <p:txBody>
          <a:bodyPr/>
          <a:lstStyle/>
          <a:p>
            <a:endParaRPr lang="en-US"/>
          </a:p>
        </p:txBody>
      </p:sp>
      <p:sp>
        <p:nvSpPr>
          <p:cNvPr id="73" name="Text 69"/>
          <p:cNvSpPr/>
          <p:nvPr/>
        </p:nvSpPr>
        <p:spPr>
          <a:xfrm>
            <a:off x="7425532" y="7045325"/>
            <a:ext cx="1571625" cy="304800"/>
          </a:xfrm>
          <a:prstGeom prst="rect">
            <a:avLst/>
          </a:prstGeom>
          <a:noFill/>
          <a:ln/>
        </p:spPr>
        <p:txBody>
          <a:bodyPr wrap="square" lIns="25400" tIns="25400" rIns="25400" bIns="25400" rtlCol="0" anchor="t">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557 · 15.4%</a:t>
            </a:r>
            <a:endParaRPr lang="en-US" sz="1725" dirty="0"/>
          </a:p>
        </p:txBody>
      </p:sp>
      <p:sp>
        <p:nvSpPr>
          <p:cNvPr id="74" name="Text 70"/>
          <p:cNvSpPr/>
          <p:nvPr/>
        </p:nvSpPr>
        <p:spPr>
          <a:xfrm>
            <a:off x="647700" y="7416800"/>
            <a:ext cx="3457575"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User operation error</a:t>
            </a:r>
            <a:endParaRPr lang="en-US" sz="1725" dirty="0"/>
          </a:p>
        </p:txBody>
      </p:sp>
      <p:sp>
        <p:nvSpPr>
          <p:cNvPr id="75" name="Shape 71"/>
          <p:cNvSpPr/>
          <p:nvPr/>
        </p:nvSpPr>
        <p:spPr>
          <a:xfrm>
            <a:off x="3924300" y="7464425"/>
            <a:ext cx="3510756" cy="171450"/>
          </a:xfrm>
          <a:prstGeom prst="rect">
            <a:avLst/>
          </a:prstGeom>
          <a:solidFill>
            <a:srgbClr val="EDEFEA"/>
          </a:solidFill>
          <a:ln/>
        </p:spPr>
        <p:txBody>
          <a:bodyPr/>
          <a:lstStyle/>
          <a:p>
            <a:endParaRPr lang="en-US"/>
          </a:p>
        </p:txBody>
      </p:sp>
      <p:sp>
        <p:nvSpPr>
          <p:cNvPr id="76" name="Shape 72"/>
          <p:cNvSpPr/>
          <p:nvPr/>
        </p:nvSpPr>
        <p:spPr>
          <a:xfrm>
            <a:off x="3924300" y="7464425"/>
            <a:ext cx="1323380" cy="171450"/>
          </a:xfrm>
          <a:prstGeom prst="rect">
            <a:avLst/>
          </a:prstGeom>
          <a:solidFill>
            <a:srgbClr val="C3CDB8"/>
          </a:solidFill>
          <a:ln/>
        </p:spPr>
        <p:txBody>
          <a:bodyPr/>
          <a:lstStyle/>
          <a:p>
            <a:endParaRPr lang="en-US"/>
          </a:p>
        </p:txBody>
      </p:sp>
      <p:sp>
        <p:nvSpPr>
          <p:cNvPr id="77" name="Text 73"/>
          <p:cNvSpPr/>
          <p:nvPr/>
        </p:nvSpPr>
        <p:spPr>
          <a:xfrm>
            <a:off x="7425532" y="7416800"/>
            <a:ext cx="1571625" cy="304800"/>
          </a:xfrm>
          <a:prstGeom prst="rect">
            <a:avLst/>
          </a:prstGeom>
          <a:noFill/>
          <a:ln/>
        </p:spPr>
        <p:txBody>
          <a:bodyPr wrap="square" lIns="25400" tIns="25400" rIns="25400" bIns="25400" rtlCol="0" anchor="t">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352 · 9.8%</a:t>
            </a:r>
            <a:endParaRPr lang="en-US" sz="1725" dirty="0"/>
          </a:p>
        </p:txBody>
      </p:sp>
      <p:sp>
        <p:nvSpPr>
          <p:cNvPr id="78" name="Text 74"/>
          <p:cNvSpPr/>
          <p:nvPr/>
        </p:nvSpPr>
        <p:spPr>
          <a:xfrm>
            <a:off x="647700" y="7788275"/>
            <a:ext cx="3457575"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Not installed / not accepted</a:t>
            </a:r>
            <a:endParaRPr lang="en-US" sz="1725" dirty="0"/>
          </a:p>
        </p:txBody>
      </p:sp>
      <p:sp>
        <p:nvSpPr>
          <p:cNvPr id="79" name="Shape 75"/>
          <p:cNvSpPr/>
          <p:nvPr/>
        </p:nvSpPr>
        <p:spPr>
          <a:xfrm>
            <a:off x="3924300" y="7835900"/>
            <a:ext cx="3510756" cy="171450"/>
          </a:xfrm>
          <a:prstGeom prst="rect">
            <a:avLst/>
          </a:prstGeom>
          <a:solidFill>
            <a:srgbClr val="EDEFEA"/>
          </a:solidFill>
          <a:ln/>
        </p:spPr>
        <p:txBody>
          <a:bodyPr/>
          <a:lstStyle/>
          <a:p>
            <a:endParaRPr lang="en-US"/>
          </a:p>
        </p:txBody>
      </p:sp>
      <p:sp>
        <p:nvSpPr>
          <p:cNvPr id="80" name="Shape 76"/>
          <p:cNvSpPr/>
          <p:nvPr/>
        </p:nvSpPr>
        <p:spPr>
          <a:xfrm>
            <a:off x="3924300" y="7835900"/>
            <a:ext cx="905669" cy="171450"/>
          </a:xfrm>
          <a:prstGeom prst="rect">
            <a:avLst/>
          </a:prstGeom>
          <a:solidFill>
            <a:srgbClr val="D7DED0"/>
          </a:solidFill>
          <a:ln/>
        </p:spPr>
        <p:txBody>
          <a:bodyPr/>
          <a:lstStyle/>
          <a:p>
            <a:endParaRPr lang="en-US"/>
          </a:p>
        </p:txBody>
      </p:sp>
      <p:sp>
        <p:nvSpPr>
          <p:cNvPr id="81" name="Text 77"/>
          <p:cNvSpPr/>
          <p:nvPr/>
        </p:nvSpPr>
        <p:spPr>
          <a:xfrm>
            <a:off x="7425532" y="7788275"/>
            <a:ext cx="1571625" cy="304800"/>
          </a:xfrm>
          <a:prstGeom prst="rect">
            <a:avLst/>
          </a:prstGeom>
          <a:noFill/>
          <a:ln/>
        </p:spPr>
        <p:txBody>
          <a:bodyPr wrap="square" lIns="25400" tIns="25400" rIns="25400" bIns="25400" rtlCol="0" anchor="t">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241 · 6.7%</a:t>
            </a:r>
            <a:endParaRPr lang="en-US" sz="1725" dirty="0"/>
          </a:p>
        </p:txBody>
      </p:sp>
      <p:sp>
        <p:nvSpPr>
          <p:cNvPr id="82" name="Text 78"/>
          <p:cNvSpPr/>
          <p:nvPr/>
        </p:nvSpPr>
        <p:spPr>
          <a:xfrm>
            <a:off x="9454357" y="1428750"/>
            <a:ext cx="9004320"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2F5597"/>
                </a:solidFill>
                <a:latin typeface="Calibri" pitchFamily="34" charset="0"/>
                <a:ea typeface="Calibri" pitchFamily="34" charset="-122"/>
                <a:cs typeface="Calibri" pitchFamily="34" charset="-120"/>
              </a:rPr>
              <a:t>Who owns the ticket — share of 16,518</a:t>
            </a:r>
            <a:endParaRPr lang="en-US" sz="1875" dirty="0"/>
          </a:p>
        </p:txBody>
      </p:sp>
      <p:sp>
        <p:nvSpPr>
          <p:cNvPr id="83" name="Shape 79"/>
          <p:cNvSpPr/>
          <p:nvPr/>
        </p:nvSpPr>
        <p:spPr>
          <a:xfrm>
            <a:off x="9454357" y="1854200"/>
            <a:ext cx="1797050" cy="704850"/>
          </a:xfrm>
          <a:prstGeom prst="rect">
            <a:avLst/>
          </a:prstGeom>
          <a:solidFill>
            <a:srgbClr val="B5BAB2"/>
          </a:solidFill>
          <a:ln/>
        </p:spPr>
        <p:txBody>
          <a:bodyPr/>
          <a:lstStyle/>
          <a:p>
            <a:endParaRPr lang="en-US"/>
          </a:p>
        </p:txBody>
      </p:sp>
      <p:sp>
        <p:nvSpPr>
          <p:cNvPr id="84" name="Shape 80"/>
          <p:cNvSpPr/>
          <p:nvPr/>
        </p:nvSpPr>
        <p:spPr>
          <a:xfrm>
            <a:off x="11238707" y="1854200"/>
            <a:ext cx="12700" cy="704850"/>
          </a:xfrm>
          <a:prstGeom prst="rect">
            <a:avLst/>
          </a:prstGeom>
          <a:solidFill>
            <a:srgbClr val="FFFFFF"/>
          </a:solidFill>
          <a:ln/>
        </p:spPr>
        <p:txBody>
          <a:bodyPr/>
          <a:lstStyle/>
          <a:p>
            <a:endParaRPr lang="en-US"/>
          </a:p>
        </p:txBody>
      </p:sp>
      <p:sp>
        <p:nvSpPr>
          <p:cNvPr id="85" name="Text 81"/>
          <p:cNvSpPr/>
          <p:nvPr/>
        </p:nvSpPr>
        <p:spPr>
          <a:xfrm>
            <a:off x="10046891" y="2060575"/>
            <a:ext cx="675481"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FFFFFF"/>
                </a:solidFill>
                <a:latin typeface="Calibri" pitchFamily="34" charset="0"/>
                <a:ea typeface="Calibri" pitchFamily="34" charset="-122"/>
                <a:cs typeface="Calibri" pitchFamily="34" charset="-120"/>
              </a:rPr>
              <a:t>21.8%</a:t>
            </a:r>
            <a:endParaRPr lang="en-US" sz="1875" dirty="0"/>
          </a:p>
        </p:txBody>
      </p:sp>
      <p:sp>
        <p:nvSpPr>
          <p:cNvPr id="86" name="Shape 82"/>
          <p:cNvSpPr/>
          <p:nvPr/>
        </p:nvSpPr>
        <p:spPr>
          <a:xfrm>
            <a:off x="11251406" y="1854200"/>
            <a:ext cx="1109464" cy="704850"/>
          </a:xfrm>
          <a:prstGeom prst="rect">
            <a:avLst/>
          </a:prstGeom>
          <a:solidFill>
            <a:srgbClr val="C0504D"/>
          </a:solidFill>
          <a:ln/>
        </p:spPr>
        <p:txBody>
          <a:bodyPr/>
          <a:lstStyle/>
          <a:p>
            <a:endParaRPr lang="en-US"/>
          </a:p>
        </p:txBody>
      </p:sp>
      <p:sp>
        <p:nvSpPr>
          <p:cNvPr id="87" name="Shape 83"/>
          <p:cNvSpPr/>
          <p:nvPr/>
        </p:nvSpPr>
        <p:spPr>
          <a:xfrm>
            <a:off x="12348170" y="1854200"/>
            <a:ext cx="12700" cy="704850"/>
          </a:xfrm>
          <a:prstGeom prst="rect">
            <a:avLst/>
          </a:prstGeom>
          <a:solidFill>
            <a:srgbClr val="FFFFFF"/>
          </a:solidFill>
          <a:ln/>
        </p:spPr>
        <p:txBody>
          <a:bodyPr/>
          <a:lstStyle/>
          <a:p>
            <a:endParaRPr lang="en-US"/>
          </a:p>
        </p:txBody>
      </p:sp>
      <p:sp>
        <p:nvSpPr>
          <p:cNvPr id="88" name="Text 84"/>
          <p:cNvSpPr/>
          <p:nvPr/>
        </p:nvSpPr>
        <p:spPr>
          <a:xfrm>
            <a:off x="11500049" y="2060575"/>
            <a:ext cx="675481"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FFFFFF"/>
                </a:solidFill>
                <a:latin typeface="Calibri" pitchFamily="34" charset="0"/>
                <a:ea typeface="Calibri" pitchFamily="34" charset="-122"/>
                <a:cs typeface="Calibri" pitchFamily="34" charset="-120"/>
              </a:rPr>
              <a:t>13.4%</a:t>
            </a:r>
            <a:endParaRPr lang="en-US" sz="1875" dirty="0"/>
          </a:p>
        </p:txBody>
      </p:sp>
      <p:sp>
        <p:nvSpPr>
          <p:cNvPr id="89" name="Shape 85"/>
          <p:cNvSpPr/>
          <p:nvPr/>
        </p:nvSpPr>
        <p:spPr>
          <a:xfrm>
            <a:off x="12360871" y="1854200"/>
            <a:ext cx="1641475" cy="704850"/>
          </a:xfrm>
          <a:prstGeom prst="rect">
            <a:avLst/>
          </a:prstGeom>
          <a:solidFill>
            <a:srgbClr val="E8A33D"/>
          </a:solidFill>
          <a:ln/>
        </p:spPr>
        <p:txBody>
          <a:bodyPr/>
          <a:lstStyle/>
          <a:p>
            <a:endParaRPr lang="en-US"/>
          </a:p>
        </p:txBody>
      </p:sp>
      <p:sp>
        <p:nvSpPr>
          <p:cNvPr id="90" name="Shape 86"/>
          <p:cNvSpPr/>
          <p:nvPr/>
        </p:nvSpPr>
        <p:spPr>
          <a:xfrm>
            <a:off x="13989646" y="1854200"/>
            <a:ext cx="12700" cy="704850"/>
          </a:xfrm>
          <a:prstGeom prst="rect">
            <a:avLst/>
          </a:prstGeom>
          <a:solidFill>
            <a:srgbClr val="FFFFFF"/>
          </a:solidFill>
          <a:ln/>
        </p:spPr>
        <p:txBody>
          <a:bodyPr/>
          <a:lstStyle/>
          <a:p>
            <a:endParaRPr lang="en-US"/>
          </a:p>
        </p:txBody>
      </p:sp>
      <p:sp>
        <p:nvSpPr>
          <p:cNvPr id="91" name="Text 87"/>
          <p:cNvSpPr/>
          <p:nvPr/>
        </p:nvSpPr>
        <p:spPr>
          <a:xfrm>
            <a:off x="12875618" y="2060575"/>
            <a:ext cx="675481"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FFFFFF"/>
                </a:solidFill>
                <a:latin typeface="Calibri" pitchFamily="34" charset="0"/>
                <a:ea typeface="Calibri" pitchFamily="34" charset="-122"/>
                <a:cs typeface="Calibri" pitchFamily="34" charset="-120"/>
              </a:rPr>
              <a:t>19.9%</a:t>
            </a:r>
            <a:endParaRPr lang="en-US" sz="1875" dirty="0"/>
          </a:p>
        </p:txBody>
      </p:sp>
      <p:sp>
        <p:nvSpPr>
          <p:cNvPr id="92" name="Shape 88"/>
          <p:cNvSpPr/>
          <p:nvPr/>
        </p:nvSpPr>
        <p:spPr>
          <a:xfrm>
            <a:off x="14002345" y="1854200"/>
            <a:ext cx="3008511" cy="704850"/>
          </a:xfrm>
          <a:prstGeom prst="rect">
            <a:avLst/>
          </a:prstGeom>
          <a:solidFill>
            <a:srgbClr val="2F5597"/>
          </a:solidFill>
          <a:ln/>
        </p:spPr>
        <p:txBody>
          <a:bodyPr/>
          <a:lstStyle/>
          <a:p>
            <a:endParaRPr lang="en-US"/>
          </a:p>
        </p:txBody>
      </p:sp>
      <p:sp>
        <p:nvSpPr>
          <p:cNvPr id="93" name="Shape 89"/>
          <p:cNvSpPr/>
          <p:nvPr/>
        </p:nvSpPr>
        <p:spPr>
          <a:xfrm>
            <a:off x="16998156" y="1854200"/>
            <a:ext cx="12700" cy="704850"/>
          </a:xfrm>
          <a:prstGeom prst="rect">
            <a:avLst/>
          </a:prstGeom>
          <a:solidFill>
            <a:srgbClr val="FFFFFF"/>
          </a:solidFill>
          <a:ln/>
        </p:spPr>
        <p:txBody>
          <a:bodyPr/>
          <a:lstStyle/>
          <a:p>
            <a:endParaRPr lang="en-US"/>
          </a:p>
        </p:txBody>
      </p:sp>
      <p:sp>
        <p:nvSpPr>
          <p:cNvPr id="94" name="Text 90"/>
          <p:cNvSpPr/>
          <p:nvPr/>
        </p:nvSpPr>
        <p:spPr>
          <a:xfrm>
            <a:off x="15200512" y="2060575"/>
            <a:ext cx="675481"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FFFFFF"/>
                </a:solidFill>
                <a:latin typeface="Calibri" pitchFamily="34" charset="0"/>
                <a:ea typeface="Calibri" pitchFamily="34" charset="-122"/>
                <a:cs typeface="Calibri" pitchFamily="34" charset="-120"/>
              </a:rPr>
              <a:t>36.6%</a:t>
            </a:r>
            <a:endParaRPr lang="en-US" sz="1875" dirty="0"/>
          </a:p>
        </p:txBody>
      </p:sp>
      <p:sp>
        <p:nvSpPr>
          <p:cNvPr id="95" name="Shape 91"/>
          <p:cNvSpPr/>
          <p:nvPr/>
        </p:nvSpPr>
        <p:spPr>
          <a:xfrm>
            <a:off x="17010857" y="1854200"/>
            <a:ext cx="691952" cy="704850"/>
          </a:xfrm>
          <a:prstGeom prst="rect">
            <a:avLst/>
          </a:prstGeom>
          <a:solidFill>
            <a:srgbClr val="7F7F7F"/>
          </a:solidFill>
          <a:ln/>
        </p:spPr>
        <p:txBody>
          <a:bodyPr/>
          <a:lstStyle/>
          <a:p>
            <a:endParaRPr lang="en-US"/>
          </a:p>
        </p:txBody>
      </p:sp>
      <p:sp>
        <p:nvSpPr>
          <p:cNvPr id="96" name="Shape 92"/>
          <p:cNvSpPr/>
          <p:nvPr/>
        </p:nvSpPr>
        <p:spPr>
          <a:xfrm>
            <a:off x="17690109" y="1854200"/>
            <a:ext cx="12700" cy="704850"/>
          </a:xfrm>
          <a:prstGeom prst="rect">
            <a:avLst/>
          </a:prstGeom>
          <a:solidFill>
            <a:srgbClr val="FFFFFF"/>
          </a:solidFill>
          <a:ln/>
        </p:spPr>
        <p:txBody>
          <a:bodyPr/>
          <a:lstStyle/>
          <a:p>
            <a:endParaRPr lang="en-US"/>
          </a:p>
        </p:txBody>
      </p:sp>
      <p:sp>
        <p:nvSpPr>
          <p:cNvPr id="97" name="Text 93"/>
          <p:cNvSpPr/>
          <p:nvPr/>
        </p:nvSpPr>
        <p:spPr>
          <a:xfrm>
            <a:off x="17111067" y="2060575"/>
            <a:ext cx="554831"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FFFFFF"/>
                </a:solidFill>
                <a:latin typeface="Calibri" pitchFamily="34" charset="0"/>
                <a:ea typeface="Calibri" pitchFamily="34" charset="-122"/>
                <a:cs typeface="Calibri" pitchFamily="34" charset="-120"/>
              </a:rPr>
              <a:t>8.3%</a:t>
            </a:r>
            <a:endParaRPr lang="en-US" sz="1875" dirty="0"/>
          </a:p>
        </p:txBody>
      </p:sp>
      <p:sp>
        <p:nvSpPr>
          <p:cNvPr id="98" name="Shape 94"/>
          <p:cNvSpPr/>
          <p:nvPr/>
        </p:nvSpPr>
        <p:spPr>
          <a:xfrm>
            <a:off x="9454357" y="2654300"/>
            <a:ext cx="1772047" cy="25400"/>
          </a:xfrm>
          <a:prstGeom prst="rect">
            <a:avLst/>
          </a:prstGeom>
          <a:solidFill>
            <a:srgbClr val="B5BAB2"/>
          </a:solidFill>
          <a:ln/>
        </p:spPr>
        <p:txBody>
          <a:bodyPr/>
          <a:lstStyle/>
          <a:p>
            <a:endParaRPr lang="en-US"/>
          </a:p>
        </p:txBody>
      </p:sp>
      <p:sp>
        <p:nvSpPr>
          <p:cNvPr id="99" name="Text 95"/>
          <p:cNvSpPr/>
          <p:nvPr/>
        </p:nvSpPr>
        <p:spPr>
          <a:xfrm>
            <a:off x="9454357" y="2694115"/>
            <a:ext cx="1848247" cy="292100"/>
          </a:xfrm>
          <a:prstGeom prst="rect">
            <a:avLst/>
          </a:prstGeom>
          <a:noFill/>
          <a:ln/>
        </p:spPr>
        <p:txBody>
          <a:bodyPr wrap="square" lIns="25400" tIns="25400" rIns="25400" bIns="25400" rtlCol="0" anchor="t">
            <a:noAutofit/>
          </a:bodyPr>
          <a:lstStyle/>
          <a:p>
            <a:pPr marL="0" indent="0" algn="l">
              <a:buNone/>
            </a:pPr>
            <a:r>
              <a:rPr lang="en-US" sz="1600" dirty="0">
                <a:solidFill>
                  <a:srgbClr val="1A1A1A"/>
                </a:solidFill>
                <a:latin typeface="Calibri" pitchFamily="34" charset="0"/>
                <a:ea typeface="Calibri" pitchFamily="34" charset="-122"/>
                <a:cs typeface="Calibri" pitchFamily="34" charset="-120"/>
              </a:rPr>
              <a:t>Disclaim 21.8% — not ChargeCore</a:t>
            </a:r>
            <a:endParaRPr lang="en-US" sz="1600" dirty="0"/>
          </a:p>
        </p:txBody>
      </p:sp>
      <p:sp>
        <p:nvSpPr>
          <p:cNvPr id="100" name="Shape 96"/>
          <p:cNvSpPr/>
          <p:nvPr/>
        </p:nvSpPr>
        <p:spPr>
          <a:xfrm>
            <a:off x="11283553" y="2654300"/>
            <a:ext cx="6356549" cy="25400"/>
          </a:xfrm>
          <a:prstGeom prst="rect">
            <a:avLst/>
          </a:prstGeom>
          <a:solidFill>
            <a:srgbClr val="619B32"/>
          </a:solidFill>
          <a:ln/>
        </p:spPr>
        <p:txBody>
          <a:bodyPr/>
          <a:lstStyle/>
          <a:p>
            <a:endParaRPr lang="en-US"/>
          </a:p>
        </p:txBody>
      </p:sp>
      <p:sp>
        <p:nvSpPr>
          <p:cNvPr id="101" name="Text 97"/>
          <p:cNvSpPr/>
          <p:nvPr/>
        </p:nvSpPr>
        <p:spPr>
          <a:xfrm>
            <a:off x="11283553" y="2755900"/>
            <a:ext cx="6547245" cy="29210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4A7A25"/>
                </a:solidFill>
                <a:latin typeface="Calibri" pitchFamily="34" charset="0"/>
                <a:ea typeface="Calibri" pitchFamily="34" charset="-122"/>
                <a:cs typeface="Calibri" pitchFamily="34" charset="-120"/>
              </a:rPr>
              <a:t>ChargeCore-owned 78.2% — 12,911 tickets</a:t>
            </a:r>
            <a:endParaRPr lang="en-US" sz="1650" dirty="0"/>
          </a:p>
        </p:txBody>
      </p:sp>
      <p:sp>
        <p:nvSpPr>
          <p:cNvPr id="102" name="Shape 98"/>
          <p:cNvSpPr/>
          <p:nvPr/>
        </p:nvSpPr>
        <p:spPr>
          <a:xfrm>
            <a:off x="9429941" y="3268662"/>
            <a:ext cx="8185746" cy="5057775"/>
          </a:xfrm>
          <a:prstGeom prst="rect">
            <a:avLst/>
          </a:prstGeom>
          <a:solidFill>
            <a:srgbClr val="F1F6F2"/>
          </a:solidFill>
          <a:ln/>
        </p:spPr>
        <p:txBody>
          <a:bodyPr/>
          <a:lstStyle/>
          <a:p>
            <a:endParaRPr lang="en-US"/>
          </a:p>
        </p:txBody>
      </p:sp>
      <p:sp>
        <p:nvSpPr>
          <p:cNvPr id="103" name="Text 99"/>
          <p:cNvSpPr/>
          <p:nvPr/>
        </p:nvSpPr>
        <p:spPr>
          <a:xfrm>
            <a:off x="9740107" y="3467100"/>
            <a:ext cx="8375670"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A1A1A"/>
                </a:solidFill>
                <a:latin typeface="Calibri" pitchFamily="34" charset="0"/>
                <a:ea typeface="Calibri" pitchFamily="34" charset="-122"/>
                <a:cs typeface="Calibri" pitchFamily="34" charset="-120"/>
              </a:rPr>
              <a:t>Data comments:</a:t>
            </a:r>
            <a:endParaRPr lang="en-US" sz="1950" dirty="0"/>
          </a:p>
        </p:txBody>
      </p:sp>
      <p:sp>
        <p:nvSpPr>
          <p:cNvPr id="104" name="Text 100"/>
          <p:cNvSpPr/>
          <p:nvPr/>
        </p:nvSpPr>
        <p:spPr>
          <a:xfrm>
            <a:off x="9740107" y="3905250"/>
            <a:ext cx="7842673" cy="728663"/>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 </a:t>
            </a:r>
            <a:r>
              <a:rPr lang="en-US" sz="1875" b="1" dirty="0">
                <a:solidFill>
                  <a:srgbClr val="1A1A1A"/>
                </a:solidFill>
                <a:latin typeface="Calibri" pitchFamily="34" charset="0"/>
                <a:ea typeface="Calibri" pitchFamily="34" charset="-122"/>
                <a:cs typeface="Calibri" pitchFamily="34" charset="-120"/>
              </a:rPr>
              <a:t>Ticket rate reached 65.0% </a:t>
            </a:r>
            <a:r>
              <a:rPr lang="en-US" sz="1875" dirty="0">
                <a:solidFill>
                  <a:srgbClr val="1A1A1A"/>
                </a:solidFill>
                <a:latin typeface="Calibri" pitchFamily="34" charset="0"/>
                <a:ea typeface="Calibri" pitchFamily="34" charset="-122"/>
                <a:cs typeface="Calibri" pitchFamily="34" charset="-120"/>
              </a:rPr>
              <a:t>of the cabinet fleet — two thirds of all BSS units had at least one ticket this month.</a:t>
            </a:r>
            <a:endParaRPr lang="en-US" sz="1875" dirty="0"/>
          </a:p>
        </p:txBody>
      </p:sp>
      <p:sp>
        <p:nvSpPr>
          <p:cNvPr id="105" name="Text 101"/>
          <p:cNvSpPr/>
          <p:nvPr/>
        </p:nvSpPr>
        <p:spPr>
          <a:xfrm>
            <a:off x="9740107" y="4710113"/>
            <a:ext cx="7842673" cy="728663"/>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 </a:t>
            </a:r>
            <a:r>
              <a:rPr lang="en-US" sz="1875" b="1" dirty="0">
                <a:solidFill>
                  <a:srgbClr val="1A1A1A"/>
                </a:solidFill>
                <a:latin typeface="Calibri" pitchFamily="34" charset="0"/>
                <a:ea typeface="Calibri" pitchFamily="34" charset="-122"/>
                <a:cs typeface="Calibri" pitchFamily="34" charset="-120"/>
              </a:rPr>
              <a:t>No fault found dominates </a:t>
            </a:r>
            <a:r>
              <a:rPr lang="en-US" sz="1875" dirty="0">
                <a:solidFill>
                  <a:srgbClr val="1A1A1A"/>
                </a:solidFill>
                <a:latin typeface="Calibri" pitchFamily="34" charset="0"/>
                <a:ea typeface="Calibri" pitchFamily="34" charset="-122"/>
                <a:cs typeface="Calibri" pitchFamily="34" charset="-120"/>
              </a:rPr>
              <a:t>— 6,053 tickets (36.6%, rate 23.8%), ahead of firmware / software 3,279 (19.9%).</a:t>
            </a:r>
            <a:endParaRPr lang="en-US" sz="1875" dirty="0"/>
          </a:p>
        </p:txBody>
      </p:sp>
      <p:sp>
        <p:nvSpPr>
          <p:cNvPr id="106" name="Text 102"/>
          <p:cNvSpPr/>
          <p:nvPr/>
        </p:nvSpPr>
        <p:spPr>
          <a:xfrm>
            <a:off x="9740107" y="5514975"/>
            <a:ext cx="7842673" cy="728663"/>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 </a:t>
            </a:r>
            <a:r>
              <a:rPr lang="en-US" sz="1875" b="1" dirty="0">
                <a:solidFill>
                  <a:srgbClr val="1A1A1A"/>
                </a:solidFill>
                <a:latin typeface="Calibri" pitchFamily="34" charset="0"/>
                <a:ea typeface="Calibri" pitchFamily="34" charset="-122"/>
                <a:cs typeface="Calibri" pitchFamily="34" charset="-120"/>
              </a:rPr>
              <a:t>Hardware 2,215 tickets </a:t>
            </a:r>
            <a:r>
              <a:rPr lang="en-US" sz="1875" dirty="0">
                <a:solidFill>
                  <a:srgbClr val="1A1A1A"/>
                </a:solidFill>
                <a:latin typeface="Calibri" pitchFamily="34" charset="0"/>
                <a:ea typeface="Calibri" pitchFamily="34" charset="-122"/>
                <a:cs typeface="Calibri" pitchFamily="34" charset="-120"/>
              </a:rPr>
              <a:t>(13.4%) — mostly locks, sensors (see 1.3 and 1.4).</a:t>
            </a:r>
            <a:endParaRPr lang="en-US" sz="1875" dirty="0"/>
          </a:p>
        </p:txBody>
      </p:sp>
      <p:sp>
        <p:nvSpPr>
          <p:cNvPr id="107" name="Text 103"/>
          <p:cNvSpPr/>
          <p:nvPr/>
        </p:nvSpPr>
        <p:spPr>
          <a:xfrm>
            <a:off x="9740107" y="5985668"/>
            <a:ext cx="7842673" cy="728663"/>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 </a:t>
            </a:r>
            <a:r>
              <a:rPr lang="en-US" sz="1875" b="1" dirty="0">
                <a:solidFill>
                  <a:srgbClr val="1A1A1A"/>
                </a:solidFill>
                <a:latin typeface="Calibri" pitchFamily="34" charset="0"/>
                <a:ea typeface="Calibri" pitchFamily="34" charset="-122"/>
                <a:cs typeface="Calibri" pitchFamily="34" charset="-120"/>
              </a:rPr>
              <a:t>Disclaim 21.8% </a:t>
            </a:r>
            <a:r>
              <a:rPr lang="en-US" sz="1875" dirty="0">
                <a:solidFill>
                  <a:srgbClr val="1A1A1A"/>
                </a:solidFill>
                <a:latin typeface="Calibri" pitchFamily="34" charset="0"/>
                <a:ea typeface="Calibri" pitchFamily="34" charset="-122"/>
                <a:cs typeface="Calibri" pitchFamily="34" charset="-120"/>
              </a:rPr>
              <a:t>: infrastructure 26.0%, duplicated / wrong info 18.7%, cleaning 17.8%.</a:t>
            </a:r>
            <a:endParaRPr lang="en-US" sz="1875" dirty="0"/>
          </a:p>
        </p:txBody>
      </p:sp>
      <p:sp>
        <p:nvSpPr>
          <p:cNvPr id="108" name="Text 104"/>
          <p:cNvSpPr/>
          <p:nvPr/>
        </p:nvSpPr>
        <p:spPr>
          <a:xfrm>
            <a:off x="9761483" y="6733948"/>
            <a:ext cx="7842673" cy="728663"/>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 </a:t>
            </a:r>
            <a:r>
              <a:rPr lang="en-US" sz="1875" b="1" dirty="0">
                <a:solidFill>
                  <a:srgbClr val="1A1A1A"/>
                </a:solidFill>
                <a:latin typeface="Calibri" pitchFamily="34" charset="0"/>
                <a:ea typeface="Calibri" pitchFamily="34" charset="-122"/>
                <a:cs typeface="Calibri" pitchFamily="34" charset="-120"/>
              </a:rPr>
              <a:t>Undefined yet 8.3% </a:t>
            </a:r>
            <a:r>
              <a:rPr lang="en-US" sz="1875" dirty="0">
                <a:solidFill>
                  <a:srgbClr val="1A1A1A"/>
                </a:solidFill>
                <a:latin typeface="Calibri" pitchFamily="34" charset="0"/>
                <a:ea typeface="Calibri" pitchFamily="34" charset="-122"/>
                <a:cs typeface="Calibri" pitchFamily="34" charset="-120"/>
              </a:rPr>
              <a:t>(1,364) — more than twice the EVCS share; BSS classification needs to improve.</a:t>
            </a:r>
            <a:endParaRPr lang="en-US" sz="1875" dirty="0"/>
          </a:p>
        </p:txBody>
      </p:sp>
      <p:sp>
        <p:nvSpPr>
          <p:cNvPr id="109" name="Shape 105"/>
          <p:cNvSpPr/>
          <p:nvPr/>
        </p:nvSpPr>
        <p:spPr>
          <a:xfrm>
            <a:off x="9454357" y="8486775"/>
            <a:ext cx="8185746" cy="1381125"/>
          </a:xfrm>
          <a:prstGeom prst="rect">
            <a:avLst/>
          </a:prstGeom>
          <a:solidFill>
            <a:srgbClr val="E2EFDA"/>
          </a:solidFill>
          <a:ln/>
        </p:spPr>
        <p:txBody>
          <a:bodyPr/>
          <a:lstStyle/>
          <a:p>
            <a:endParaRPr lang="en-US"/>
          </a:p>
        </p:txBody>
      </p:sp>
      <p:sp>
        <p:nvSpPr>
          <p:cNvPr id="110" name="Text 106"/>
          <p:cNvSpPr/>
          <p:nvPr/>
        </p:nvSpPr>
        <p:spPr>
          <a:xfrm>
            <a:off x="9702007" y="8677275"/>
            <a:ext cx="7936018" cy="1038225"/>
          </a:xfrm>
          <a:prstGeom prst="rect">
            <a:avLst/>
          </a:prstGeom>
          <a:noFill/>
          <a:ln/>
        </p:spPr>
        <p:txBody>
          <a:bodyPr wrap="square" lIns="25400" tIns="25400" rIns="25400" bIns="25400" rtlCol="0" anchor="t">
            <a:normAutofit/>
          </a:bodyPr>
          <a:lstStyle/>
          <a:p>
            <a:pPr marL="0" indent="0" algn="l">
              <a:lnSpc>
                <a:spcPct val="114130"/>
              </a:lnSpc>
              <a:buNone/>
            </a:pPr>
            <a:r>
              <a:rPr lang="en-US" sz="1875" b="1" dirty="0">
                <a:solidFill>
                  <a:srgbClr val="1A1A1A"/>
                </a:solidFill>
                <a:latin typeface="Calibri" pitchFamily="34" charset="0"/>
                <a:ea typeface="Calibri" pitchFamily="34" charset="-122"/>
                <a:cs typeface="Calibri" pitchFamily="34" charset="-120"/>
              </a:rPr>
              <a:t>Action</a:t>
            </a:r>
            <a:r>
              <a:rPr lang="en-US" sz="1875" b="1">
                <a:solidFill>
                  <a:srgbClr val="1A1A1A"/>
                </a:solidFill>
                <a:latin typeface="Calibri" pitchFamily="34" charset="0"/>
                <a:ea typeface="Calibri" pitchFamily="34" charset="-122"/>
                <a:cs typeface="Calibri" pitchFamily="34" charset="-120"/>
              </a:rPr>
              <a:t>: </a:t>
            </a:r>
            <a:r>
              <a:rPr lang="en-US" sz="1875">
                <a:solidFill>
                  <a:srgbClr val="1A1A1A"/>
                </a:solidFill>
                <a:highlight>
                  <a:srgbClr val="E2EFDA"/>
                </a:highlight>
                <a:latin typeface="Calibri" pitchFamily="34" charset="0"/>
                <a:ea typeface="Calibri" pitchFamily="34" charset="-122"/>
                <a:cs typeface="Calibri" pitchFamily="34" charset="-120"/>
              </a:rPr>
              <a:t>the </a:t>
            </a:r>
            <a:r>
              <a:rPr lang="en-US" sz="1875" dirty="0">
                <a:solidFill>
                  <a:srgbClr val="1A1A1A"/>
                </a:solidFill>
                <a:highlight>
                  <a:srgbClr val="E2EFDA"/>
                </a:highlight>
                <a:latin typeface="Calibri" pitchFamily="34" charset="0"/>
                <a:ea typeface="Calibri" pitchFamily="34" charset="-122"/>
                <a:cs typeface="Calibri" pitchFamily="34" charset="-120"/>
              </a:rPr>
              <a:t>BSS SOP </a:t>
            </a:r>
            <a:r>
              <a:rPr lang="en-US" sz="1875">
                <a:solidFill>
                  <a:srgbClr val="1A1A1A"/>
                </a:solidFill>
                <a:highlight>
                  <a:srgbClr val="E2EFDA"/>
                </a:highlight>
                <a:latin typeface="Calibri" pitchFamily="34" charset="0"/>
                <a:ea typeface="Calibri" pitchFamily="34" charset="-122"/>
                <a:cs typeface="Calibri" pitchFamily="34" charset="-120"/>
              </a:rPr>
              <a:t>package (</a:t>
            </a:r>
            <a:r>
              <a:rPr lang="en-US" sz="1875" b="1">
                <a:solidFill>
                  <a:srgbClr val="1A1A1A"/>
                </a:solidFill>
                <a:highlight>
                  <a:srgbClr val="E2EFDA"/>
                </a:highlight>
                <a:latin typeface="Calibri" pitchFamily="34" charset="0"/>
                <a:ea typeface="Calibri" pitchFamily="34" charset="-122"/>
                <a:cs typeface="Calibri" pitchFamily="34" charset="-120"/>
              </a:rPr>
              <a:t>status: completed</a:t>
            </a:r>
            <a:r>
              <a:rPr lang="en-US" sz="1875">
                <a:solidFill>
                  <a:srgbClr val="1A1A1A"/>
                </a:solidFill>
                <a:highlight>
                  <a:srgbClr val="E2EFDA"/>
                </a:highlight>
                <a:latin typeface="Calibri" pitchFamily="34" charset="0"/>
                <a:ea typeface="Calibri" pitchFamily="34" charset="-122"/>
                <a:cs typeface="Calibri" pitchFamily="34" charset="-120"/>
              </a:rPr>
              <a:t>) </a:t>
            </a:r>
            <a:r>
              <a:rPr lang="en-US" sz="1875" dirty="0">
                <a:solidFill>
                  <a:srgbClr val="1A1A1A"/>
                </a:solidFill>
                <a:highlight>
                  <a:srgbClr val="E2EFDA"/>
                </a:highlight>
                <a:latin typeface="Calibri" pitchFamily="34" charset="0"/>
                <a:ea typeface="Calibri" pitchFamily="34" charset="-122"/>
                <a:cs typeface="Calibri" pitchFamily="34" charset="-120"/>
              </a:rPr>
              <a:t>and the reclassification of the 1,364 undefined tickets are both needed before we can trust the baseline.</a:t>
            </a:r>
            <a:endParaRPr lang="en-US" sz="18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114300" y="342900"/>
            <a:ext cx="571500" cy="571500"/>
          </a:xfrm>
          <a:prstGeom prst="rect">
            <a:avLst/>
          </a:prstGeom>
        </p:spPr>
      </p:pic>
      <p:pic>
        <p:nvPicPr>
          <p:cNvPr id="3" name="Image 1" descr="preencoded.png"/>
          <p:cNvPicPr>
            <a:picLocks noChangeAspect="1"/>
          </p:cNvPicPr>
          <p:nvPr/>
        </p:nvPicPr>
        <p:blipFill>
          <a:blip r:embed="rId4"/>
          <a:srcRect t="49" b="49"/>
          <a:stretch/>
        </p:blipFill>
        <p:spPr>
          <a:xfrm>
            <a:off x="14001750" y="114300"/>
            <a:ext cx="4114800" cy="914400"/>
          </a:xfrm>
          <a:prstGeom prst="rect">
            <a:avLst/>
          </a:prstGeom>
        </p:spPr>
      </p:pic>
      <p:sp>
        <p:nvSpPr>
          <p:cNvPr id="4" name="Text 0"/>
          <p:cNvSpPr/>
          <p:nvPr/>
        </p:nvSpPr>
        <p:spPr>
          <a:xfrm>
            <a:off x="876300" y="419100"/>
            <a:ext cx="4132064" cy="508000"/>
          </a:xfrm>
          <a:prstGeom prst="rect">
            <a:avLst/>
          </a:prstGeom>
          <a:noFill/>
          <a:ln/>
        </p:spPr>
        <p:txBody>
          <a:bodyPr wrap="square" lIns="25400" tIns="25400" rIns="25400" bIns="25400" rtlCol="0" anchor="t">
            <a:normAutofit/>
          </a:bodyPr>
          <a:lstStyle/>
          <a:p>
            <a:pPr marL="0" indent="0" algn="l">
              <a:buNone/>
            </a:pPr>
            <a:r>
              <a:rPr lang="en-US" sz="3000" b="1" dirty="0">
                <a:solidFill>
                  <a:srgbClr val="1A1A1A"/>
                </a:solidFill>
                <a:latin typeface="Calibri" pitchFamily="34" charset="0"/>
                <a:ea typeface="Calibri" pitchFamily="34" charset="-122"/>
                <a:cs typeface="Calibri" pitchFamily="34" charset="-120"/>
              </a:rPr>
              <a:t>1.2. Failure status: EVCS</a:t>
            </a:r>
            <a:endParaRPr lang="en-US" sz="3000" dirty="0"/>
          </a:p>
        </p:txBody>
      </p:sp>
      <p:sp>
        <p:nvSpPr>
          <p:cNvPr id="5" name="Shape 1"/>
          <p:cNvSpPr/>
          <p:nvPr/>
        </p:nvSpPr>
        <p:spPr>
          <a:xfrm>
            <a:off x="0" y="1152525"/>
            <a:ext cx="18288000" cy="19050"/>
          </a:xfrm>
          <a:prstGeom prst="rect">
            <a:avLst/>
          </a:prstGeom>
          <a:solidFill>
            <a:srgbClr val="A6A6A6"/>
          </a:solidFill>
          <a:ln/>
        </p:spPr>
        <p:txBody>
          <a:bodyPr/>
          <a:lstStyle/>
          <a:p>
            <a:endParaRPr lang="en-US"/>
          </a:p>
        </p:txBody>
      </p:sp>
      <p:sp>
        <p:nvSpPr>
          <p:cNvPr id="6" name="Shape 2"/>
          <p:cNvSpPr/>
          <p:nvPr/>
        </p:nvSpPr>
        <p:spPr>
          <a:xfrm>
            <a:off x="647700" y="1428750"/>
            <a:ext cx="8864798" cy="723900"/>
          </a:xfrm>
          <a:prstGeom prst="rect">
            <a:avLst/>
          </a:prstGeom>
          <a:solidFill>
            <a:srgbClr val="619B32"/>
          </a:solidFill>
          <a:ln/>
        </p:spPr>
        <p:txBody>
          <a:bodyPr/>
          <a:lstStyle/>
          <a:p>
            <a:endParaRPr lang="en-US"/>
          </a:p>
        </p:txBody>
      </p:sp>
      <p:sp>
        <p:nvSpPr>
          <p:cNvPr id="7" name="Text 3"/>
          <p:cNvSpPr/>
          <p:nvPr/>
        </p:nvSpPr>
        <p:spPr>
          <a:xfrm>
            <a:off x="762000" y="1524000"/>
            <a:ext cx="899120" cy="571500"/>
          </a:xfrm>
          <a:prstGeom prst="rect">
            <a:avLst/>
          </a:prstGeom>
          <a:noFill/>
          <a:ln/>
        </p:spPr>
        <p:txBody>
          <a:bodyPr wrap="square" lIns="25400" tIns="25400" rIns="25400" bIns="25400" rtlCol="0" anchor="ctr">
            <a:normAutofit/>
          </a:bodyPr>
          <a:lstStyle/>
          <a:p>
            <a:pPr marL="0" indent="0" algn="l">
              <a:buNone/>
            </a:pPr>
            <a:r>
              <a:rPr lang="en-US" sz="1725" b="1" dirty="0">
                <a:solidFill>
                  <a:srgbClr val="FFFFFF"/>
                </a:solidFill>
                <a:latin typeface="Calibri" pitchFamily="34" charset="0"/>
                <a:ea typeface="Calibri" pitchFamily="34" charset="-122"/>
                <a:cs typeface="Calibri" pitchFamily="34" charset="-120"/>
              </a:rPr>
              <a:t>Models</a:t>
            </a:r>
            <a:endParaRPr lang="en-US" sz="1725" dirty="0"/>
          </a:p>
        </p:txBody>
      </p:sp>
      <p:sp>
        <p:nvSpPr>
          <p:cNvPr id="8" name="Text 4"/>
          <p:cNvSpPr/>
          <p:nvPr/>
        </p:nvSpPr>
        <p:spPr>
          <a:xfrm>
            <a:off x="1737320" y="1524000"/>
            <a:ext cx="1728986" cy="571500"/>
          </a:xfrm>
          <a:prstGeom prst="rect">
            <a:avLst/>
          </a:prstGeom>
          <a:noFill/>
          <a:ln/>
        </p:spPr>
        <p:txBody>
          <a:bodyPr wrap="square" lIns="25400" tIns="25400" rIns="25400" bIns="25400" rtlCol="0" anchor="ctr">
            <a:normAutofit lnSpcReduction="10000"/>
          </a:bodyPr>
          <a:lstStyle/>
          <a:p>
            <a:pPr marL="0" indent="0" algn="r">
              <a:buNone/>
            </a:pPr>
            <a:r>
              <a:rPr lang="en-US" sz="1725" b="1" dirty="0">
                <a:solidFill>
                  <a:srgbClr val="FFFFFF"/>
                </a:solidFill>
                <a:latin typeface="Calibri" pitchFamily="34" charset="0"/>
                <a:ea typeface="Calibri" pitchFamily="34" charset="-122"/>
                <a:cs typeface="Calibri" pitchFamily="34" charset="-120"/>
              </a:rPr>
              <a:t>Charger q'ty on service</a:t>
            </a:r>
            <a:endParaRPr lang="en-US" sz="1725" dirty="0"/>
          </a:p>
        </p:txBody>
      </p:sp>
      <p:sp>
        <p:nvSpPr>
          <p:cNvPr id="9" name="Text 5"/>
          <p:cNvSpPr/>
          <p:nvPr/>
        </p:nvSpPr>
        <p:spPr>
          <a:xfrm>
            <a:off x="3618706" y="1524000"/>
            <a:ext cx="1249363" cy="571500"/>
          </a:xfrm>
          <a:prstGeom prst="rect">
            <a:avLst/>
          </a:prstGeom>
          <a:noFill/>
          <a:ln/>
        </p:spPr>
        <p:txBody>
          <a:bodyPr wrap="square" lIns="25400" tIns="25400" rIns="25400" bIns="25400" rtlCol="0" anchor="ctr">
            <a:normAutofit lnSpcReduction="10000"/>
          </a:bodyPr>
          <a:lstStyle/>
          <a:p>
            <a:pPr marL="0" indent="0" algn="r">
              <a:buNone/>
            </a:pPr>
            <a:r>
              <a:rPr lang="en-US" sz="1725" b="1" dirty="0">
                <a:solidFill>
                  <a:srgbClr val="FFFFFF"/>
                </a:solidFill>
                <a:latin typeface="Calibri" pitchFamily="34" charset="0"/>
                <a:ea typeface="Calibri" pitchFamily="34" charset="-122"/>
                <a:cs typeface="Calibri" pitchFamily="34" charset="-120"/>
              </a:rPr>
              <a:t>Failed chargers</a:t>
            </a:r>
            <a:endParaRPr lang="en-US" sz="1725" dirty="0"/>
          </a:p>
        </p:txBody>
      </p:sp>
      <p:sp>
        <p:nvSpPr>
          <p:cNvPr id="10" name="Text 6"/>
          <p:cNvSpPr/>
          <p:nvPr/>
        </p:nvSpPr>
        <p:spPr>
          <a:xfrm>
            <a:off x="5096669" y="1524000"/>
            <a:ext cx="1770658" cy="571500"/>
          </a:xfrm>
          <a:prstGeom prst="rect">
            <a:avLst/>
          </a:prstGeom>
          <a:noFill/>
          <a:ln/>
        </p:spPr>
        <p:txBody>
          <a:bodyPr wrap="square" lIns="25400" tIns="25400" rIns="25400" bIns="25400" rtlCol="0" anchor="ctr">
            <a:normAutofit/>
          </a:bodyPr>
          <a:lstStyle/>
          <a:p>
            <a:pPr marL="0" indent="0" algn="l">
              <a:buNone/>
            </a:pPr>
            <a:r>
              <a:rPr lang="en-US" sz="1725" b="1" dirty="0">
                <a:solidFill>
                  <a:srgbClr val="FFFFFF"/>
                </a:solidFill>
                <a:latin typeface="Calibri" pitchFamily="34" charset="0"/>
                <a:ea typeface="Calibri" pitchFamily="34" charset="-122"/>
                <a:cs typeface="Calibri" pitchFamily="34" charset="-120"/>
              </a:rPr>
              <a:t>Fail. rate</a:t>
            </a:r>
            <a:endParaRPr lang="en-US" sz="1725" dirty="0"/>
          </a:p>
        </p:txBody>
      </p:sp>
      <p:sp>
        <p:nvSpPr>
          <p:cNvPr id="11" name="Text 7"/>
          <p:cNvSpPr/>
          <p:nvPr/>
        </p:nvSpPr>
        <p:spPr>
          <a:xfrm>
            <a:off x="6943527" y="1524000"/>
            <a:ext cx="1072158" cy="571500"/>
          </a:xfrm>
          <a:prstGeom prst="rect">
            <a:avLst/>
          </a:prstGeom>
          <a:noFill/>
          <a:ln/>
        </p:spPr>
        <p:txBody>
          <a:bodyPr wrap="square" lIns="25400" tIns="25400" rIns="25400" bIns="25400" rtlCol="0" anchor="ctr">
            <a:normAutofit lnSpcReduction="10000"/>
          </a:bodyPr>
          <a:lstStyle/>
          <a:p>
            <a:pPr marL="0" indent="0" algn="r">
              <a:buNone/>
            </a:pPr>
            <a:r>
              <a:rPr lang="en-US" sz="1725" b="1" dirty="0">
                <a:solidFill>
                  <a:srgbClr val="FFFFFF"/>
                </a:solidFill>
                <a:latin typeface="Calibri" pitchFamily="34" charset="0"/>
                <a:ea typeface="Calibri" pitchFamily="34" charset="-122"/>
                <a:cs typeface="Calibri" pitchFamily="34" charset="-120"/>
              </a:rPr>
              <a:t>Failure ticket</a:t>
            </a:r>
            <a:endParaRPr lang="en-US" sz="1725" dirty="0"/>
          </a:p>
        </p:txBody>
      </p:sp>
      <p:sp>
        <p:nvSpPr>
          <p:cNvPr id="12" name="Text 8"/>
          <p:cNvSpPr/>
          <p:nvPr/>
        </p:nvSpPr>
        <p:spPr>
          <a:xfrm>
            <a:off x="8244285" y="1524000"/>
            <a:ext cx="1230114" cy="571500"/>
          </a:xfrm>
          <a:prstGeom prst="rect">
            <a:avLst/>
          </a:prstGeom>
          <a:noFill/>
          <a:ln/>
        </p:spPr>
        <p:txBody>
          <a:bodyPr wrap="square" lIns="25400" tIns="25400" rIns="25400" bIns="25400" rtlCol="0" anchor="ctr">
            <a:normAutofit/>
          </a:bodyPr>
          <a:lstStyle/>
          <a:p>
            <a:pPr marL="0" indent="0" algn="l">
              <a:buNone/>
            </a:pPr>
            <a:r>
              <a:rPr lang="en-US" sz="1725" b="1" dirty="0">
                <a:solidFill>
                  <a:srgbClr val="FFFFFF"/>
                </a:solidFill>
                <a:latin typeface="Calibri" pitchFamily="34" charset="0"/>
                <a:ea typeface="Calibri" pitchFamily="34" charset="-122"/>
                <a:cs typeface="Calibri" pitchFamily="34" charset="-120"/>
              </a:rPr>
              <a:t>Freq.</a:t>
            </a:r>
            <a:endParaRPr lang="en-US" sz="1725" dirty="0"/>
          </a:p>
        </p:txBody>
      </p:sp>
      <p:sp>
        <p:nvSpPr>
          <p:cNvPr id="13" name="Shape 9"/>
          <p:cNvSpPr/>
          <p:nvPr/>
        </p:nvSpPr>
        <p:spPr>
          <a:xfrm>
            <a:off x="647700" y="2603500"/>
            <a:ext cx="8864798" cy="12700"/>
          </a:xfrm>
          <a:prstGeom prst="rect">
            <a:avLst/>
          </a:prstGeom>
          <a:solidFill>
            <a:srgbClr val="D9DED7"/>
          </a:solidFill>
          <a:ln/>
        </p:spPr>
        <p:txBody>
          <a:bodyPr/>
          <a:lstStyle/>
          <a:p>
            <a:endParaRPr lang="en-US"/>
          </a:p>
        </p:txBody>
      </p:sp>
      <p:sp>
        <p:nvSpPr>
          <p:cNvPr id="14" name="Text 10"/>
          <p:cNvSpPr/>
          <p:nvPr/>
        </p:nvSpPr>
        <p:spPr>
          <a:xfrm>
            <a:off x="762000" y="2247900"/>
            <a:ext cx="899120" cy="311150"/>
          </a:xfrm>
          <a:prstGeom prst="rect">
            <a:avLst/>
          </a:prstGeom>
          <a:noFill/>
          <a:ln/>
        </p:spPr>
        <p:txBody>
          <a:bodyPr wrap="square" lIns="25400" tIns="25400" rIns="25400" bIns="25400" rtlCol="0" anchor="ctr">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AC</a:t>
            </a:r>
            <a:endParaRPr lang="en-US" sz="1725" dirty="0"/>
          </a:p>
        </p:txBody>
      </p:sp>
      <p:sp>
        <p:nvSpPr>
          <p:cNvPr id="15" name="Text 11"/>
          <p:cNvSpPr/>
          <p:nvPr/>
        </p:nvSpPr>
        <p:spPr>
          <a:xfrm>
            <a:off x="1737320" y="2247900"/>
            <a:ext cx="1728986" cy="311150"/>
          </a:xfrm>
          <a:prstGeom prst="rect">
            <a:avLst/>
          </a:prstGeom>
          <a:noFill/>
          <a:ln/>
        </p:spPr>
        <p:txBody>
          <a:bodyPr wrap="square" lIns="25400" tIns="25400" rIns="25400" bIns="25400" rtlCol="0" anchor="ctr">
            <a:normAutofit lnSpcReduction="10000"/>
          </a:bodyPr>
          <a:lstStyle/>
          <a:p>
            <a:pPr marL="0" indent="0" algn="r">
              <a:buNone/>
            </a:pPr>
            <a:r>
              <a:rPr lang="en-US" sz="1725" dirty="0">
                <a:solidFill>
                  <a:srgbClr val="1A1A1A"/>
                </a:solidFill>
                <a:latin typeface="Calibri" pitchFamily="34" charset="0"/>
                <a:ea typeface="Calibri" pitchFamily="34" charset="-122"/>
                <a:cs typeface="Calibri" pitchFamily="34" charset="-120"/>
              </a:rPr>
              <a:t>7,936</a:t>
            </a:r>
            <a:endParaRPr lang="en-US" sz="1725" dirty="0"/>
          </a:p>
        </p:txBody>
      </p:sp>
      <p:sp>
        <p:nvSpPr>
          <p:cNvPr id="16" name="Text 12"/>
          <p:cNvSpPr/>
          <p:nvPr/>
        </p:nvSpPr>
        <p:spPr>
          <a:xfrm>
            <a:off x="3618706" y="2247900"/>
            <a:ext cx="1249363" cy="311150"/>
          </a:xfrm>
          <a:prstGeom prst="rect">
            <a:avLst/>
          </a:prstGeom>
          <a:noFill/>
          <a:ln/>
        </p:spPr>
        <p:txBody>
          <a:bodyPr wrap="square" lIns="25400" tIns="25400" rIns="25400" bIns="25400" rtlCol="0" anchor="ctr">
            <a:normAutofit lnSpcReduction="10000"/>
          </a:bodyPr>
          <a:lstStyle/>
          <a:p>
            <a:pPr marL="0" indent="0" algn="r">
              <a:buNone/>
            </a:pPr>
            <a:r>
              <a:rPr lang="en-US" sz="1725" dirty="0">
                <a:solidFill>
                  <a:srgbClr val="1A1A1A"/>
                </a:solidFill>
                <a:latin typeface="Calibri" pitchFamily="34" charset="0"/>
                <a:ea typeface="Calibri" pitchFamily="34" charset="-122"/>
                <a:cs typeface="Calibri" pitchFamily="34" charset="-120"/>
              </a:rPr>
              <a:t>842</a:t>
            </a:r>
            <a:endParaRPr lang="en-US" sz="1725" dirty="0"/>
          </a:p>
        </p:txBody>
      </p:sp>
      <p:sp>
        <p:nvSpPr>
          <p:cNvPr id="17" name="Shape 13"/>
          <p:cNvSpPr/>
          <p:nvPr/>
        </p:nvSpPr>
        <p:spPr>
          <a:xfrm>
            <a:off x="5096669" y="2314575"/>
            <a:ext cx="1047750" cy="133350"/>
          </a:xfrm>
          <a:prstGeom prst="rect">
            <a:avLst/>
          </a:prstGeom>
          <a:solidFill>
            <a:srgbClr val="EDEFEA"/>
          </a:solidFill>
          <a:ln/>
        </p:spPr>
        <p:txBody>
          <a:bodyPr/>
          <a:lstStyle/>
          <a:p>
            <a:endParaRPr lang="en-US"/>
          </a:p>
        </p:txBody>
      </p:sp>
      <p:sp>
        <p:nvSpPr>
          <p:cNvPr id="18" name="Shape 14"/>
          <p:cNvSpPr/>
          <p:nvPr/>
        </p:nvSpPr>
        <p:spPr>
          <a:xfrm>
            <a:off x="5096669" y="2314575"/>
            <a:ext cx="247253" cy="133350"/>
          </a:xfrm>
          <a:prstGeom prst="rect">
            <a:avLst/>
          </a:prstGeom>
          <a:solidFill>
            <a:srgbClr val="2F5597"/>
          </a:solidFill>
          <a:ln/>
        </p:spPr>
        <p:txBody>
          <a:bodyPr/>
          <a:lstStyle/>
          <a:p>
            <a:endParaRPr lang="en-US"/>
          </a:p>
        </p:txBody>
      </p:sp>
      <p:sp>
        <p:nvSpPr>
          <p:cNvPr id="19" name="Text 15"/>
          <p:cNvSpPr/>
          <p:nvPr/>
        </p:nvSpPr>
        <p:spPr>
          <a:xfrm>
            <a:off x="6239669" y="2247900"/>
            <a:ext cx="627658"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10.6%</a:t>
            </a:r>
            <a:endParaRPr lang="en-US" sz="1725" dirty="0"/>
          </a:p>
        </p:txBody>
      </p:sp>
      <p:sp>
        <p:nvSpPr>
          <p:cNvPr id="20" name="Text 16"/>
          <p:cNvSpPr/>
          <p:nvPr/>
        </p:nvSpPr>
        <p:spPr>
          <a:xfrm>
            <a:off x="6943527" y="2247900"/>
            <a:ext cx="1072158" cy="311150"/>
          </a:xfrm>
          <a:prstGeom prst="rect">
            <a:avLst/>
          </a:prstGeom>
          <a:noFill/>
          <a:ln/>
        </p:spPr>
        <p:txBody>
          <a:bodyPr wrap="square" lIns="25400" tIns="25400" rIns="25400" bIns="25400" rtlCol="0" anchor="ctr">
            <a:normAutofit lnSpcReduction="10000"/>
          </a:bodyPr>
          <a:lstStyle/>
          <a:p>
            <a:pPr marL="0" indent="0" algn="r">
              <a:buNone/>
            </a:pPr>
            <a:r>
              <a:rPr lang="en-US" sz="1725" dirty="0">
                <a:solidFill>
                  <a:srgbClr val="1A1A1A"/>
                </a:solidFill>
                <a:latin typeface="Calibri" pitchFamily="34" charset="0"/>
                <a:ea typeface="Calibri" pitchFamily="34" charset="-122"/>
                <a:cs typeface="Calibri" pitchFamily="34" charset="-120"/>
              </a:rPr>
              <a:t>1,154</a:t>
            </a:r>
            <a:endParaRPr lang="en-US" sz="1725" dirty="0"/>
          </a:p>
        </p:txBody>
      </p:sp>
      <p:sp>
        <p:nvSpPr>
          <p:cNvPr id="21" name="Shape 17"/>
          <p:cNvSpPr/>
          <p:nvPr/>
        </p:nvSpPr>
        <p:spPr>
          <a:xfrm>
            <a:off x="8244285" y="2314575"/>
            <a:ext cx="666750" cy="133350"/>
          </a:xfrm>
          <a:prstGeom prst="rect">
            <a:avLst/>
          </a:prstGeom>
          <a:solidFill>
            <a:srgbClr val="EDEFEA"/>
          </a:solidFill>
          <a:ln/>
        </p:spPr>
        <p:txBody>
          <a:bodyPr/>
          <a:lstStyle/>
          <a:p>
            <a:endParaRPr lang="en-US"/>
          </a:p>
        </p:txBody>
      </p:sp>
      <p:sp>
        <p:nvSpPr>
          <p:cNvPr id="22" name="Shape 18"/>
          <p:cNvSpPr/>
          <p:nvPr/>
        </p:nvSpPr>
        <p:spPr>
          <a:xfrm>
            <a:off x="8244285" y="2314575"/>
            <a:ext cx="365323" cy="133350"/>
          </a:xfrm>
          <a:prstGeom prst="rect">
            <a:avLst/>
          </a:prstGeom>
          <a:solidFill>
            <a:srgbClr val="7F7F7F"/>
          </a:solidFill>
          <a:ln/>
        </p:spPr>
        <p:txBody>
          <a:bodyPr/>
          <a:lstStyle/>
          <a:p>
            <a:endParaRPr lang="en-US"/>
          </a:p>
        </p:txBody>
      </p:sp>
      <p:sp>
        <p:nvSpPr>
          <p:cNvPr id="23" name="Text 19"/>
          <p:cNvSpPr/>
          <p:nvPr/>
        </p:nvSpPr>
        <p:spPr>
          <a:xfrm>
            <a:off x="9006285" y="2247900"/>
            <a:ext cx="467916"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1.37</a:t>
            </a:r>
            <a:endParaRPr lang="en-US" sz="1725" dirty="0"/>
          </a:p>
        </p:txBody>
      </p:sp>
      <p:sp>
        <p:nvSpPr>
          <p:cNvPr id="24" name="Shape 20"/>
          <p:cNvSpPr/>
          <p:nvPr/>
        </p:nvSpPr>
        <p:spPr>
          <a:xfrm>
            <a:off x="647700" y="3073400"/>
            <a:ext cx="8864798" cy="12700"/>
          </a:xfrm>
          <a:prstGeom prst="rect">
            <a:avLst/>
          </a:prstGeom>
          <a:solidFill>
            <a:srgbClr val="D9DED7"/>
          </a:solidFill>
          <a:ln/>
        </p:spPr>
        <p:txBody>
          <a:bodyPr/>
          <a:lstStyle/>
          <a:p>
            <a:endParaRPr lang="en-US"/>
          </a:p>
        </p:txBody>
      </p:sp>
      <p:sp>
        <p:nvSpPr>
          <p:cNvPr id="25" name="Text 21"/>
          <p:cNvSpPr/>
          <p:nvPr/>
        </p:nvSpPr>
        <p:spPr>
          <a:xfrm>
            <a:off x="762000" y="2711450"/>
            <a:ext cx="899120" cy="317500"/>
          </a:xfrm>
          <a:prstGeom prst="rect">
            <a:avLst/>
          </a:prstGeom>
          <a:noFill/>
          <a:ln/>
        </p:spPr>
        <p:txBody>
          <a:bodyPr wrap="square" lIns="25400" tIns="25400" rIns="25400" bIns="25400" rtlCol="0" anchor="ctr">
            <a:normAutofit/>
          </a:bodyPr>
          <a:lstStyle/>
          <a:p>
            <a:pPr marL="0" indent="0" algn="l">
              <a:buNone/>
            </a:pPr>
            <a:r>
              <a:rPr lang="en-US" sz="1725" b="1" dirty="0">
                <a:solidFill>
                  <a:srgbClr val="1A1A1A"/>
                </a:solidFill>
                <a:latin typeface="Calibri" pitchFamily="34" charset="0"/>
                <a:ea typeface="Calibri" pitchFamily="34" charset="-122"/>
                <a:cs typeface="Calibri" pitchFamily="34" charset="-120"/>
              </a:rPr>
              <a:t>Core</a:t>
            </a:r>
            <a:endParaRPr lang="en-US" sz="1725" dirty="0"/>
          </a:p>
        </p:txBody>
      </p:sp>
      <p:sp>
        <p:nvSpPr>
          <p:cNvPr id="26" name="Text 22"/>
          <p:cNvSpPr/>
          <p:nvPr/>
        </p:nvSpPr>
        <p:spPr>
          <a:xfrm>
            <a:off x="1737320" y="2711450"/>
            <a:ext cx="1728986"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3,177</a:t>
            </a:r>
            <a:endParaRPr lang="en-US" sz="1725" dirty="0"/>
          </a:p>
        </p:txBody>
      </p:sp>
      <p:sp>
        <p:nvSpPr>
          <p:cNvPr id="27" name="Text 23"/>
          <p:cNvSpPr/>
          <p:nvPr/>
        </p:nvSpPr>
        <p:spPr>
          <a:xfrm>
            <a:off x="3618706" y="2711450"/>
            <a:ext cx="1249363"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957</a:t>
            </a:r>
            <a:endParaRPr lang="en-US" sz="1725" dirty="0"/>
          </a:p>
        </p:txBody>
      </p:sp>
      <p:sp>
        <p:nvSpPr>
          <p:cNvPr id="28" name="Shape 24"/>
          <p:cNvSpPr/>
          <p:nvPr/>
        </p:nvSpPr>
        <p:spPr>
          <a:xfrm>
            <a:off x="5096669" y="2784475"/>
            <a:ext cx="1047750" cy="133350"/>
          </a:xfrm>
          <a:prstGeom prst="rect">
            <a:avLst/>
          </a:prstGeom>
          <a:solidFill>
            <a:srgbClr val="EDEFEA"/>
          </a:solidFill>
          <a:ln/>
        </p:spPr>
        <p:txBody>
          <a:bodyPr/>
          <a:lstStyle/>
          <a:p>
            <a:endParaRPr lang="en-US"/>
          </a:p>
        </p:txBody>
      </p:sp>
      <p:sp>
        <p:nvSpPr>
          <p:cNvPr id="29" name="Shape 25"/>
          <p:cNvSpPr/>
          <p:nvPr/>
        </p:nvSpPr>
        <p:spPr>
          <a:xfrm>
            <a:off x="5096669" y="2784475"/>
            <a:ext cx="700881" cy="133350"/>
          </a:xfrm>
          <a:prstGeom prst="rect">
            <a:avLst/>
          </a:prstGeom>
          <a:solidFill>
            <a:srgbClr val="C0504D"/>
          </a:solidFill>
          <a:ln/>
        </p:spPr>
        <p:txBody>
          <a:bodyPr/>
          <a:lstStyle/>
          <a:p>
            <a:endParaRPr lang="en-US"/>
          </a:p>
        </p:txBody>
      </p:sp>
      <p:sp>
        <p:nvSpPr>
          <p:cNvPr id="30" name="Text 26"/>
          <p:cNvSpPr/>
          <p:nvPr/>
        </p:nvSpPr>
        <p:spPr>
          <a:xfrm>
            <a:off x="6239669" y="2717800"/>
            <a:ext cx="627658"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30.1%</a:t>
            </a:r>
            <a:endParaRPr lang="en-US" sz="1725" dirty="0"/>
          </a:p>
        </p:txBody>
      </p:sp>
      <p:sp>
        <p:nvSpPr>
          <p:cNvPr id="31" name="Text 27"/>
          <p:cNvSpPr/>
          <p:nvPr/>
        </p:nvSpPr>
        <p:spPr>
          <a:xfrm>
            <a:off x="6943527" y="2711450"/>
            <a:ext cx="1072158"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2,112</a:t>
            </a:r>
            <a:endParaRPr lang="en-US" sz="1725" dirty="0"/>
          </a:p>
        </p:txBody>
      </p:sp>
      <p:sp>
        <p:nvSpPr>
          <p:cNvPr id="32" name="Shape 28"/>
          <p:cNvSpPr/>
          <p:nvPr/>
        </p:nvSpPr>
        <p:spPr>
          <a:xfrm>
            <a:off x="8244285" y="2784475"/>
            <a:ext cx="666750" cy="133350"/>
          </a:xfrm>
          <a:prstGeom prst="rect">
            <a:avLst/>
          </a:prstGeom>
          <a:solidFill>
            <a:srgbClr val="EDEFEA"/>
          </a:solidFill>
          <a:ln/>
        </p:spPr>
        <p:txBody>
          <a:bodyPr/>
          <a:lstStyle/>
          <a:p>
            <a:endParaRPr lang="en-US"/>
          </a:p>
        </p:txBody>
      </p:sp>
      <p:sp>
        <p:nvSpPr>
          <p:cNvPr id="33" name="Shape 29"/>
          <p:cNvSpPr/>
          <p:nvPr/>
        </p:nvSpPr>
        <p:spPr>
          <a:xfrm>
            <a:off x="8244285" y="2784475"/>
            <a:ext cx="589359" cy="133350"/>
          </a:xfrm>
          <a:prstGeom prst="rect">
            <a:avLst/>
          </a:prstGeom>
          <a:solidFill>
            <a:srgbClr val="7F7F7F"/>
          </a:solidFill>
          <a:ln/>
        </p:spPr>
        <p:txBody>
          <a:bodyPr/>
          <a:lstStyle/>
          <a:p>
            <a:endParaRPr lang="en-US"/>
          </a:p>
        </p:txBody>
      </p:sp>
      <p:sp>
        <p:nvSpPr>
          <p:cNvPr id="34" name="Text 30"/>
          <p:cNvSpPr/>
          <p:nvPr/>
        </p:nvSpPr>
        <p:spPr>
          <a:xfrm>
            <a:off x="9006285" y="2717800"/>
            <a:ext cx="467916"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2.21</a:t>
            </a:r>
            <a:endParaRPr lang="en-US" sz="1725" dirty="0"/>
          </a:p>
        </p:txBody>
      </p:sp>
      <p:sp>
        <p:nvSpPr>
          <p:cNvPr id="35" name="Shape 31"/>
          <p:cNvSpPr/>
          <p:nvPr/>
        </p:nvSpPr>
        <p:spPr>
          <a:xfrm>
            <a:off x="647700" y="3543300"/>
            <a:ext cx="8864798" cy="12700"/>
          </a:xfrm>
          <a:prstGeom prst="rect">
            <a:avLst/>
          </a:prstGeom>
          <a:solidFill>
            <a:srgbClr val="D9DED7"/>
          </a:solidFill>
          <a:ln/>
        </p:spPr>
        <p:txBody>
          <a:bodyPr/>
          <a:lstStyle/>
          <a:p>
            <a:endParaRPr lang="en-US"/>
          </a:p>
        </p:txBody>
      </p:sp>
      <p:sp>
        <p:nvSpPr>
          <p:cNvPr id="36" name="Text 32"/>
          <p:cNvSpPr/>
          <p:nvPr/>
        </p:nvSpPr>
        <p:spPr>
          <a:xfrm>
            <a:off x="762000" y="3181350"/>
            <a:ext cx="899120" cy="317500"/>
          </a:xfrm>
          <a:prstGeom prst="rect">
            <a:avLst/>
          </a:prstGeom>
          <a:noFill/>
          <a:ln/>
        </p:spPr>
        <p:txBody>
          <a:bodyPr wrap="square" lIns="25400" tIns="25400" rIns="25400" bIns="25400" rtlCol="0" anchor="ctr">
            <a:normAutofit/>
          </a:bodyPr>
          <a:lstStyle/>
          <a:p>
            <a:pPr marL="0" indent="0" algn="l">
              <a:buNone/>
            </a:pPr>
            <a:r>
              <a:rPr lang="en-US" sz="1725" b="1" dirty="0">
                <a:solidFill>
                  <a:srgbClr val="1A1A1A"/>
                </a:solidFill>
                <a:latin typeface="Calibri" pitchFamily="34" charset="0"/>
                <a:ea typeface="Calibri" pitchFamily="34" charset="-122"/>
                <a:cs typeface="Calibri" pitchFamily="34" charset="-120"/>
              </a:rPr>
              <a:t>Coremini</a:t>
            </a:r>
            <a:endParaRPr lang="en-US" sz="1725" dirty="0"/>
          </a:p>
        </p:txBody>
      </p:sp>
      <p:sp>
        <p:nvSpPr>
          <p:cNvPr id="37" name="Text 33"/>
          <p:cNvSpPr/>
          <p:nvPr/>
        </p:nvSpPr>
        <p:spPr>
          <a:xfrm>
            <a:off x="1737320" y="3181350"/>
            <a:ext cx="1728986"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4,424</a:t>
            </a:r>
            <a:endParaRPr lang="en-US" sz="1725" dirty="0"/>
          </a:p>
        </p:txBody>
      </p:sp>
      <p:sp>
        <p:nvSpPr>
          <p:cNvPr id="38" name="Text 34"/>
          <p:cNvSpPr/>
          <p:nvPr/>
        </p:nvSpPr>
        <p:spPr>
          <a:xfrm>
            <a:off x="3618706" y="3181350"/>
            <a:ext cx="1249363"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1,405</a:t>
            </a:r>
            <a:endParaRPr lang="en-US" sz="1725" dirty="0"/>
          </a:p>
        </p:txBody>
      </p:sp>
      <p:sp>
        <p:nvSpPr>
          <p:cNvPr id="39" name="Shape 35"/>
          <p:cNvSpPr/>
          <p:nvPr/>
        </p:nvSpPr>
        <p:spPr>
          <a:xfrm>
            <a:off x="5096669" y="3254375"/>
            <a:ext cx="1047750" cy="133350"/>
          </a:xfrm>
          <a:prstGeom prst="rect">
            <a:avLst/>
          </a:prstGeom>
          <a:solidFill>
            <a:srgbClr val="EDEFEA"/>
          </a:solidFill>
          <a:ln/>
        </p:spPr>
        <p:txBody>
          <a:bodyPr/>
          <a:lstStyle/>
          <a:p>
            <a:endParaRPr lang="en-US"/>
          </a:p>
        </p:txBody>
      </p:sp>
      <p:sp>
        <p:nvSpPr>
          <p:cNvPr id="40" name="Shape 36"/>
          <p:cNvSpPr/>
          <p:nvPr/>
        </p:nvSpPr>
        <p:spPr>
          <a:xfrm>
            <a:off x="5096669" y="3254375"/>
            <a:ext cx="740569" cy="133350"/>
          </a:xfrm>
          <a:prstGeom prst="rect">
            <a:avLst/>
          </a:prstGeom>
          <a:solidFill>
            <a:srgbClr val="E8A33D"/>
          </a:solidFill>
          <a:ln/>
        </p:spPr>
        <p:txBody>
          <a:bodyPr/>
          <a:lstStyle/>
          <a:p>
            <a:endParaRPr lang="en-US"/>
          </a:p>
        </p:txBody>
      </p:sp>
      <p:sp>
        <p:nvSpPr>
          <p:cNvPr id="41" name="Text 37"/>
          <p:cNvSpPr/>
          <p:nvPr/>
        </p:nvSpPr>
        <p:spPr>
          <a:xfrm>
            <a:off x="6239669" y="3187700"/>
            <a:ext cx="627658"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31.8%</a:t>
            </a:r>
            <a:endParaRPr lang="en-US" sz="1725" dirty="0"/>
          </a:p>
        </p:txBody>
      </p:sp>
      <p:sp>
        <p:nvSpPr>
          <p:cNvPr id="42" name="Text 38"/>
          <p:cNvSpPr/>
          <p:nvPr/>
        </p:nvSpPr>
        <p:spPr>
          <a:xfrm>
            <a:off x="6943527" y="3181350"/>
            <a:ext cx="1072158"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2,906</a:t>
            </a:r>
            <a:endParaRPr lang="en-US" sz="1725" dirty="0"/>
          </a:p>
        </p:txBody>
      </p:sp>
      <p:sp>
        <p:nvSpPr>
          <p:cNvPr id="43" name="Shape 39"/>
          <p:cNvSpPr/>
          <p:nvPr/>
        </p:nvSpPr>
        <p:spPr>
          <a:xfrm>
            <a:off x="8244285" y="3254375"/>
            <a:ext cx="666750" cy="133350"/>
          </a:xfrm>
          <a:prstGeom prst="rect">
            <a:avLst/>
          </a:prstGeom>
          <a:solidFill>
            <a:srgbClr val="EDEFEA"/>
          </a:solidFill>
          <a:ln/>
        </p:spPr>
        <p:txBody>
          <a:bodyPr/>
          <a:lstStyle/>
          <a:p>
            <a:endParaRPr lang="en-US"/>
          </a:p>
        </p:txBody>
      </p:sp>
      <p:sp>
        <p:nvSpPr>
          <p:cNvPr id="44" name="Shape 40"/>
          <p:cNvSpPr/>
          <p:nvPr/>
        </p:nvSpPr>
        <p:spPr>
          <a:xfrm>
            <a:off x="8244285" y="3254375"/>
            <a:ext cx="552053" cy="133350"/>
          </a:xfrm>
          <a:prstGeom prst="rect">
            <a:avLst/>
          </a:prstGeom>
          <a:solidFill>
            <a:srgbClr val="7F7F7F"/>
          </a:solidFill>
          <a:ln/>
        </p:spPr>
        <p:txBody>
          <a:bodyPr/>
          <a:lstStyle/>
          <a:p>
            <a:endParaRPr lang="en-US"/>
          </a:p>
        </p:txBody>
      </p:sp>
      <p:sp>
        <p:nvSpPr>
          <p:cNvPr id="45" name="Text 41"/>
          <p:cNvSpPr/>
          <p:nvPr/>
        </p:nvSpPr>
        <p:spPr>
          <a:xfrm>
            <a:off x="9006285" y="3187700"/>
            <a:ext cx="467916"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2.07</a:t>
            </a:r>
            <a:endParaRPr lang="en-US" sz="1725" dirty="0"/>
          </a:p>
        </p:txBody>
      </p:sp>
      <p:sp>
        <p:nvSpPr>
          <p:cNvPr id="46" name="Shape 42"/>
          <p:cNvSpPr/>
          <p:nvPr/>
        </p:nvSpPr>
        <p:spPr>
          <a:xfrm>
            <a:off x="647700" y="4013200"/>
            <a:ext cx="8864798" cy="12700"/>
          </a:xfrm>
          <a:prstGeom prst="rect">
            <a:avLst/>
          </a:prstGeom>
          <a:solidFill>
            <a:srgbClr val="D9DED7"/>
          </a:solidFill>
          <a:ln/>
        </p:spPr>
        <p:txBody>
          <a:bodyPr/>
          <a:lstStyle/>
          <a:p>
            <a:endParaRPr lang="en-US"/>
          </a:p>
        </p:txBody>
      </p:sp>
      <p:sp>
        <p:nvSpPr>
          <p:cNvPr id="47" name="Text 43"/>
          <p:cNvSpPr/>
          <p:nvPr/>
        </p:nvSpPr>
        <p:spPr>
          <a:xfrm>
            <a:off x="762000" y="3651250"/>
            <a:ext cx="899120" cy="317500"/>
          </a:xfrm>
          <a:prstGeom prst="rect">
            <a:avLst/>
          </a:prstGeom>
          <a:noFill/>
          <a:ln/>
        </p:spPr>
        <p:txBody>
          <a:bodyPr wrap="square" lIns="25400" tIns="25400" rIns="25400" bIns="25400" rtlCol="0" anchor="ctr">
            <a:normAutofit/>
          </a:bodyPr>
          <a:lstStyle/>
          <a:p>
            <a:pPr marL="0" indent="0" algn="l">
              <a:buNone/>
            </a:pPr>
            <a:r>
              <a:rPr lang="en-US" sz="1725" b="1" dirty="0">
                <a:solidFill>
                  <a:srgbClr val="1A1A1A"/>
                </a:solidFill>
                <a:latin typeface="Calibri" pitchFamily="34" charset="0"/>
                <a:ea typeface="Calibri" pitchFamily="34" charset="-122"/>
                <a:cs typeface="Calibri" pitchFamily="34" charset="-120"/>
              </a:rPr>
              <a:t>Kern</a:t>
            </a:r>
            <a:endParaRPr lang="en-US" sz="1725" dirty="0"/>
          </a:p>
        </p:txBody>
      </p:sp>
      <p:sp>
        <p:nvSpPr>
          <p:cNvPr id="48" name="Text 44"/>
          <p:cNvSpPr/>
          <p:nvPr/>
        </p:nvSpPr>
        <p:spPr>
          <a:xfrm>
            <a:off x="1737320" y="3651250"/>
            <a:ext cx="1728986"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3,699</a:t>
            </a:r>
            <a:endParaRPr lang="en-US" sz="1725" dirty="0"/>
          </a:p>
        </p:txBody>
      </p:sp>
      <p:sp>
        <p:nvSpPr>
          <p:cNvPr id="49" name="Text 45"/>
          <p:cNvSpPr/>
          <p:nvPr/>
        </p:nvSpPr>
        <p:spPr>
          <a:xfrm>
            <a:off x="3618706" y="3651250"/>
            <a:ext cx="1249363"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1,181</a:t>
            </a:r>
            <a:endParaRPr lang="en-US" sz="1725" dirty="0"/>
          </a:p>
        </p:txBody>
      </p:sp>
      <p:sp>
        <p:nvSpPr>
          <p:cNvPr id="50" name="Shape 46"/>
          <p:cNvSpPr/>
          <p:nvPr/>
        </p:nvSpPr>
        <p:spPr>
          <a:xfrm>
            <a:off x="5096669" y="3724275"/>
            <a:ext cx="1047750" cy="133350"/>
          </a:xfrm>
          <a:prstGeom prst="rect">
            <a:avLst/>
          </a:prstGeom>
          <a:solidFill>
            <a:srgbClr val="EDEFEA"/>
          </a:solidFill>
          <a:ln/>
        </p:spPr>
        <p:txBody>
          <a:bodyPr/>
          <a:lstStyle/>
          <a:p>
            <a:endParaRPr lang="en-US"/>
          </a:p>
        </p:txBody>
      </p:sp>
      <p:sp>
        <p:nvSpPr>
          <p:cNvPr id="51" name="Shape 47"/>
          <p:cNvSpPr/>
          <p:nvPr/>
        </p:nvSpPr>
        <p:spPr>
          <a:xfrm>
            <a:off x="5096669" y="3724275"/>
            <a:ext cx="742752" cy="133350"/>
          </a:xfrm>
          <a:prstGeom prst="rect">
            <a:avLst/>
          </a:prstGeom>
          <a:solidFill>
            <a:srgbClr val="7F5FA0"/>
          </a:solidFill>
          <a:ln/>
        </p:spPr>
        <p:txBody>
          <a:bodyPr/>
          <a:lstStyle/>
          <a:p>
            <a:endParaRPr lang="en-US"/>
          </a:p>
        </p:txBody>
      </p:sp>
      <p:sp>
        <p:nvSpPr>
          <p:cNvPr id="52" name="Text 48"/>
          <p:cNvSpPr/>
          <p:nvPr/>
        </p:nvSpPr>
        <p:spPr>
          <a:xfrm>
            <a:off x="6239669" y="3657600"/>
            <a:ext cx="627658"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31.9%</a:t>
            </a:r>
            <a:endParaRPr lang="en-US" sz="1725" dirty="0"/>
          </a:p>
        </p:txBody>
      </p:sp>
      <p:sp>
        <p:nvSpPr>
          <p:cNvPr id="53" name="Text 49"/>
          <p:cNvSpPr/>
          <p:nvPr/>
        </p:nvSpPr>
        <p:spPr>
          <a:xfrm>
            <a:off x="6943527" y="3651250"/>
            <a:ext cx="1072158"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1,853</a:t>
            </a:r>
            <a:endParaRPr lang="en-US" sz="1725" dirty="0"/>
          </a:p>
        </p:txBody>
      </p:sp>
      <p:sp>
        <p:nvSpPr>
          <p:cNvPr id="54" name="Shape 50"/>
          <p:cNvSpPr/>
          <p:nvPr/>
        </p:nvSpPr>
        <p:spPr>
          <a:xfrm>
            <a:off x="8244285" y="3724275"/>
            <a:ext cx="666750" cy="133350"/>
          </a:xfrm>
          <a:prstGeom prst="rect">
            <a:avLst/>
          </a:prstGeom>
          <a:solidFill>
            <a:srgbClr val="EDEFEA"/>
          </a:solidFill>
          <a:ln/>
        </p:spPr>
        <p:txBody>
          <a:bodyPr/>
          <a:lstStyle/>
          <a:p>
            <a:endParaRPr lang="en-US"/>
          </a:p>
        </p:txBody>
      </p:sp>
      <p:sp>
        <p:nvSpPr>
          <p:cNvPr id="55" name="Shape 51"/>
          <p:cNvSpPr/>
          <p:nvPr/>
        </p:nvSpPr>
        <p:spPr>
          <a:xfrm>
            <a:off x="8244285" y="3724275"/>
            <a:ext cx="418703" cy="133350"/>
          </a:xfrm>
          <a:prstGeom prst="rect">
            <a:avLst/>
          </a:prstGeom>
          <a:solidFill>
            <a:srgbClr val="7F7F7F"/>
          </a:solidFill>
          <a:ln/>
        </p:spPr>
        <p:txBody>
          <a:bodyPr/>
          <a:lstStyle/>
          <a:p>
            <a:endParaRPr lang="en-US"/>
          </a:p>
        </p:txBody>
      </p:sp>
      <p:sp>
        <p:nvSpPr>
          <p:cNvPr id="56" name="Text 52"/>
          <p:cNvSpPr/>
          <p:nvPr/>
        </p:nvSpPr>
        <p:spPr>
          <a:xfrm>
            <a:off x="9006285" y="3657600"/>
            <a:ext cx="467916"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1.57</a:t>
            </a:r>
            <a:endParaRPr lang="en-US" sz="1725" dirty="0"/>
          </a:p>
        </p:txBody>
      </p:sp>
      <p:sp>
        <p:nvSpPr>
          <p:cNvPr id="57" name="Shape 53"/>
          <p:cNvSpPr/>
          <p:nvPr/>
        </p:nvSpPr>
        <p:spPr>
          <a:xfrm>
            <a:off x="647700" y="4483100"/>
            <a:ext cx="8864798" cy="12700"/>
          </a:xfrm>
          <a:prstGeom prst="rect">
            <a:avLst/>
          </a:prstGeom>
          <a:solidFill>
            <a:srgbClr val="D9DED7"/>
          </a:solidFill>
          <a:ln/>
        </p:spPr>
        <p:txBody>
          <a:bodyPr/>
          <a:lstStyle/>
          <a:p>
            <a:endParaRPr lang="en-US"/>
          </a:p>
        </p:txBody>
      </p:sp>
      <p:sp>
        <p:nvSpPr>
          <p:cNvPr id="58" name="Text 54"/>
          <p:cNvSpPr/>
          <p:nvPr/>
        </p:nvSpPr>
        <p:spPr>
          <a:xfrm>
            <a:off x="762000" y="4121150"/>
            <a:ext cx="899120" cy="317500"/>
          </a:xfrm>
          <a:prstGeom prst="rect">
            <a:avLst/>
          </a:prstGeom>
          <a:noFill/>
          <a:ln/>
        </p:spPr>
        <p:txBody>
          <a:bodyPr wrap="square" lIns="25400" tIns="25400" rIns="25400" bIns="25400" rtlCol="0" anchor="ctr">
            <a:normAutofit/>
          </a:bodyPr>
          <a:lstStyle/>
          <a:p>
            <a:pPr marL="0" indent="0" algn="l">
              <a:buNone/>
            </a:pPr>
            <a:r>
              <a:rPr lang="en-US" sz="1725" b="1" dirty="0">
                <a:solidFill>
                  <a:srgbClr val="1A1A1A"/>
                </a:solidFill>
                <a:latin typeface="Calibri" pitchFamily="34" charset="0"/>
                <a:ea typeface="Calibri" pitchFamily="34" charset="-122"/>
                <a:cs typeface="Calibri" pitchFamily="34" charset="-120"/>
              </a:rPr>
              <a:t>Socket</a:t>
            </a:r>
            <a:endParaRPr lang="en-US" sz="1725" dirty="0"/>
          </a:p>
        </p:txBody>
      </p:sp>
      <p:sp>
        <p:nvSpPr>
          <p:cNvPr id="59" name="Text 55"/>
          <p:cNvSpPr/>
          <p:nvPr/>
        </p:nvSpPr>
        <p:spPr>
          <a:xfrm>
            <a:off x="1737320" y="4121150"/>
            <a:ext cx="1728986"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6,118</a:t>
            </a:r>
            <a:endParaRPr lang="en-US" sz="1725" dirty="0"/>
          </a:p>
        </p:txBody>
      </p:sp>
      <p:sp>
        <p:nvSpPr>
          <p:cNvPr id="60" name="Text 56"/>
          <p:cNvSpPr/>
          <p:nvPr/>
        </p:nvSpPr>
        <p:spPr>
          <a:xfrm>
            <a:off x="3618706" y="4121150"/>
            <a:ext cx="1249363"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695</a:t>
            </a:r>
            <a:endParaRPr lang="en-US" sz="1725" dirty="0"/>
          </a:p>
        </p:txBody>
      </p:sp>
      <p:sp>
        <p:nvSpPr>
          <p:cNvPr id="61" name="Shape 57"/>
          <p:cNvSpPr/>
          <p:nvPr/>
        </p:nvSpPr>
        <p:spPr>
          <a:xfrm>
            <a:off x="5096669" y="4194175"/>
            <a:ext cx="1047750" cy="133350"/>
          </a:xfrm>
          <a:prstGeom prst="rect">
            <a:avLst/>
          </a:prstGeom>
          <a:solidFill>
            <a:srgbClr val="EDEFEA"/>
          </a:solidFill>
          <a:ln/>
        </p:spPr>
        <p:txBody>
          <a:bodyPr/>
          <a:lstStyle/>
          <a:p>
            <a:endParaRPr lang="en-US"/>
          </a:p>
        </p:txBody>
      </p:sp>
      <p:sp>
        <p:nvSpPr>
          <p:cNvPr id="62" name="Shape 58"/>
          <p:cNvSpPr/>
          <p:nvPr/>
        </p:nvSpPr>
        <p:spPr>
          <a:xfrm>
            <a:off x="5096669" y="4194175"/>
            <a:ext cx="264914" cy="133350"/>
          </a:xfrm>
          <a:prstGeom prst="rect">
            <a:avLst/>
          </a:prstGeom>
          <a:solidFill>
            <a:srgbClr val="619B32"/>
          </a:solidFill>
          <a:ln/>
        </p:spPr>
        <p:txBody>
          <a:bodyPr/>
          <a:lstStyle/>
          <a:p>
            <a:endParaRPr lang="en-US"/>
          </a:p>
        </p:txBody>
      </p:sp>
      <p:sp>
        <p:nvSpPr>
          <p:cNvPr id="63" name="Text 59"/>
          <p:cNvSpPr/>
          <p:nvPr/>
        </p:nvSpPr>
        <p:spPr>
          <a:xfrm>
            <a:off x="6239669" y="4127500"/>
            <a:ext cx="627658"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11.4%</a:t>
            </a:r>
            <a:endParaRPr lang="en-US" sz="1725" dirty="0"/>
          </a:p>
        </p:txBody>
      </p:sp>
      <p:sp>
        <p:nvSpPr>
          <p:cNvPr id="64" name="Text 60"/>
          <p:cNvSpPr/>
          <p:nvPr/>
        </p:nvSpPr>
        <p:spPr>
          <a:xfrm>
            <a:off x="6943527" y="4121150"/>
            <a:ext cx="1072158"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1,013</a:t>
            </a:r>
            <a:endParaRPr lang="en-US" sz="1725" dirty="0"/>
          </a:p>
        </p:txBody>
      </p:sp>
      <p:sp>
        <p:nvSpPr>
          <p:cNvPr id="65" name="Shape 61"/>
          <p:cNvSpPr/>
          <p:nvPr/>
        </p:nvSpPr>
        <p:spPr>
          <a:xfrm>
            <a:off x="8244285" y="4194175"/>
            <a:ext cx="666750" cy="133350"/>
          </a:xfrm>
          <a:prstGeom prst="rect">
            <a:avLst/>
          </a:prstGeom>
          <a:solidFill>
            <a:srgbClr val="EDEFEA"/>
          </a:solidFill>
          <a:ln/>
        </p:spPr>
        <p:txBody>
          <a:bodyPr/>
          <a:lstStyle/>
          <a:p>
            <a:endParaRPr lang="en-US"/>
          </a:p>
        </p:txBody>
      </p:sp>
      <p:sp>
        <p:nvSpPr>
          <p:cNvPr id="66" name="Shape 62"/>
          <p:cNvSpPr/>
          <p:nvPr/>
        </p:nvSpPr>
        <p:spPr>
          <a:xfrm>
            <a:off x="8244285" y="4194175"/>
            <a:ext cx="389334" cy="133350"/>
          </a:xfrm>
          <a:prstGeom prst="rect">
            <a:avLst/>
          </a:prstGeom>
          <a:solidFill>
            <a:srgbClr val="7F7F7F"/>
          </a:solidFill>
          <a:ln/>
        </p:spPr>
        <p:txBody>
          <a:bodyPr/>
          <a:lstStyle/>
          <a:p>
            <a:endParaRPr lang="en-US"/>
          </a:p>
        </p:txBody>
      </p:sp>
      <p:sp>
        <p:nvSpPr>
          <p:cNvPr id="67" name="Text 63"/>
          <p:cNvSpPr/>
          <p:nvPr/>
        </p:nvSpPr>
        <p:spPr>
          <a:xfrm>
            <a:off x="9006285" y="4127500"/>
            <a:ext cx="467916"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1.46</a:t>
            </a:r>
            <a:endParaRPr lang="en-US" sz="1725" dirty="0"/>
          </a:p>
        </p:txBody>
      </p:sp>
      <p:sp>
        <p:nvSpPr>
          <p:cNvPr id="68" name="Shape 64"/>
          <p:cNvSpPr/>
          <p:nvPr/>
        </p:nvSpPr>
        <p:spPr>
          <a:xfrm>
            <a:off x="647700" y="4495800"/>
            <a:ext cx="8864798" cy="463550"/>
          </a:xfrm>
          <a:prstGeom prst="rect">
            <a:avLst/>
          </a:prstGeom>
          <a:solidFill>
            <a:srgbClr val="E2EFDA"/>
          </a:solidFill>
          <a:ln/>
        </p:spPr>
        <p:txBody>
          <a:bodyPr/>
          <a:lstStyle/>
          <a:p>
            <a:endParaRPr lang="en-US"/>
          </a:p>
        </p:txBody>
      </p:sp>
      <p:sp>
        <p:nvSpPr>
          <p:cNvPr id="69" name="Text 65"/>
          <p:cNvSpPr/>
          <p:nvPr/>
        </p:nvSpPr>
        <p:spPr>
          <a:xfrm>
            <a:off x="762000" y="4591050"/>
            <a:ext cx="899120" cy="311150"/>
          </a:xfrm>
          <a:prstGeom prst="rect">
            <a:avLst/>
          </a:prstGeom>
          <a:noFill/>
          <a:ln/>
        </p:spPr>
        <p:txBody>
          <a:bodyPr wrap="square" lIns="25400" tIns="25400" rIns="25400" bIns="25400" rtlCol="0" anchor="ctr">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Total</a:t>
            </a:r>
            <a:endParaRPr lang="en-US" sz="1725" dirty="0"/>
          </a:p>
        </p:txBody>
      </p:sp>
      <p:sp>
        <p:nvSpPr>
          <p:cNvPr id="70" name="Text 66"/>
          <p:cNvSpPr/>
          <p:nvPr/>
        </p:nvSpPr>
        <p:spPr>
          <a:xfrm>
            <a:off x="1737320" y="4591050"/>
            <a:ext cx="1728986" cy="311150"/>
          </a:xfrm>
          <a:prstGeom prst="rect">
            <a:avLst/>
          </a:prstGeom>
          <a:noFill/>
          <a:ln/>
        </p:spPr>
        <p:txBody>
          <a:bodyPr wrap="square" lIns="25400" tIns="25400" rIns="25400" bIns="25400" rtlCol="0" anchor="ctr">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25,354</a:t>
            </a:r>
            <a:endParaRPr lang="en-US" sz="1725" dirty="0"/>
          </a:p>
        </p:txBody>
      </p:sp>
      <p:sp>
        <p:nvSpPr>
          <p:cNvPr id="71" name="Text 67"/>
          <p:cNvSpPr/>
          <p:nvPr/>
        </p:nvSpPr>
        <p:spPr>
          <a:xfrm>
            <a:off x="3618706" y="4591050"/>
            <a:ext cx="1249363" cy="311150"/>
          </a:xfrm>
          <a:prstGeom prst="rect">
            <a:avLst/>
          </a:prstGeom>
          <a:noFill/>
          <a:ln/>
        </p:spPr>
        <p:txBody>
          <a:bodyPr wrap="square" lIns="25400" tIns="25400" rIns="25400" bIns="25400" rtlCol="0" anchor="ctr">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5,080</a:t>
            </a:r>
            <a:endParaRPr lang="en-US" sz="1725" dirty="0"/>
          </a:p>
        </p:txBody>
      </p:sp>
      <p:sp>
        <p:nvSpPr>
          <p:cNvPr id="72" name="Text 68"/>
          <p:cNvSpPr/>
          <p:nvPr/>
        </p:nvSpPr>
        <p:spPr>
          <a:xfrm>
            <a:off x="5096669" y="4591050"/>
            <a:ext cx="1770658" cy="311150"/>
          </a:xfrm>
          <a:prstGeom prst="rect">
            <a:avLst/>
          </a:prstGeom>
          <a:noFill/>
          <a:ln/>
        </p:spPr>
        <p:txBody>
          <a:bodyPr wrap="square" lIns="25400" tIns="25400" rIns="25400" bIns="25400" rtlCol="0" anchor="ctr">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20.0%</a:t>
            </a:r>
            <a:endParaRPr lang="en-US" sz="1725" dirty="0"/>
          </a:p>
        </p:txBody>
      </p:sp>
      <p:sp>
        <p:nvSpPr>
          <p:cNvPr id="73" name="Text 69"/>
          <p:cNvSpPr/>
          <p:nvPr/>
        </p:nvSpPr>
        <p:spPr>
          <a:xfrm>
            <a:off x="6943527" y="4591050"/>
            <a:ext cx="1072158" cy="311150"/>
          </a:xfrm>
          <a:prstGeom prst="rect">
            <a:avLst/>
          </a:prstGeom>
          <a:noFill/>
          <a:ln/>
        </p:spPr>
        <p:txBody>
          <a:bodyPr wrap="square" lIns="25400" tIns="25400" rIns="25400" bIns="25400" rtlCol="0" anchor="ctr">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9,038</a:t>
            </a:r>
            <a:endParaRPr lang="en-US" sz="1725" dirty="0"/>
          </a:p>
        </p:txBody>
      </p:sp>
      <p:sp>
        <p:nvSpPr>
          <p:cNvPr id="74" name="Text 70"/>
          <p:cNvSpPr/>
          <p:nvPr/>
        </p:nvSpPr>
        <p:spPr>
          <a:xfrm>
            <a:off x="8244285" y="4591050"/>
            <a:ext cx="1230114" cy="311150"/>
          </a:xfrm>
          <a:prstGeom prst="rect">
            <a:avLst/>
          </a:prstGeom>
          <a:noFill/>
          <a:ln/>
        </p:spPr>
        <p:txBody>
          <a:bodyPr wrap="square" lIns="25400" tIns="25400" rIns="25400" bIns="25400" rtlCol="0" anchor="ctr">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1.78</a:t>
            </a:r>
            <a:endParaRPr lang="en-US" sz="1725" dirty="0"/>
          </a:p>
        </p:txBody>
      </p:sp>
      <p:sp>
        <p:nvSpPr>
          <p:cNvPr id="75" name="Text 71"/>
          <p:cNvSpPr/>
          <p:nvPr/>
        </p:nvSpPr>
        <p:spPr>
          <a:xfrm>
            <a:off x="647700" y="5187950"/>
            <a:ext cx="9751278"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2F5597"/>
                </a:solidFill>
                <a:latin typeface="Calibri" pitchFamily="34" charset="0"/>
                <a:ea typeface="Calibri" pitchFamily="34" charset="-122"/>
                <a:cs typeface="Calibri" pitchFamily="34" charset="-120"/>
              </a:rPr>
              <a:t>Failure rate by model — M2 → M7 (colour = severity)</a:t>
            </a:r>
            <a:endParaRPr lang="en-US" sz="1875" dirty="0"/>
          </a:p>
        </p:txBody>
      </p:sp>
      <p:sp>
        <p:nvSpPr>
          <p:cNvPr id="76" name="Text 72"/>
          <p:cNvSpPr/>
          <p:nvPr/>
        </p:nvSpPr>
        <p:spPr>
          <a:xfrm>
            <a:off x="2114550" y="5670550"/>
            <a:ext cx="924917"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M2</a:t>
            </a:r>
            <a:endParaRPr lang="en-US" sz="1575" dirty="0"/>
          </a:p>
        </p:txBody>
      </p:sp>
      <p:sp>
        <p:nvSpPr>
          <p:cNvPr id="77" name="Text 73"/>
          <p:cNvSpPr/>
          <p:nvPr/>
        </p:nvSpPr>
        <p:spPr>
          <a:xfrm>
            <a:off x="3039467" y="5670550"/>
            <a:ext cx="925116"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M3</a:t>
            </a:r>
            <a:endParaRPr lang="en-US" sz="1575" dirty="0"/>
          </a:p>
        </p:txBody>
      </p:sp>
      <p:sp>
        <p:nvSpPr>
          <p:cNvPr id="78" name="Text 74"/>
          <p:cNvSpPr/>
          <p:nvPr/>
        </p:nvSpPr>
        <p:spPr>
          <a:xfrm>
            <a:off x="3964583" y="5670550"/>
            <a:ext cx="924917"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M4</a:t>
            </a:r>
            <a:endParaRPr lang="en-US" sz="1575" dirty="0"/>
          </a:p>
        </p:txBody>
      </p:sp>
      <p:sp>
        <p:nvSpPr>
          <p:cNvPr id="79" name="Text 75"/>
          <p:cNvSpPr/>
          <p:nvPr/>
        </p:nvSpPr>
        <p:spPr>
          <a:xfrm>
            <a:off x="4889500" y="5670550"/>
            <a:ext cx="925116"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M5</a:t>
            </a:r>
            <a:endParaRPr lang="en-US" sz="1575" dirty="0"/>
          </a:p>
        </p:txBody>
      </p:sp>
      <p:sp>
        <p:nvSpPr>
          <p:cNvPr id="80" name="Text 76"/>
          <p:cNvSpPr/>
          <p:nvPr/>
        </p:nvSpPr>
        <p:spPr>
          <a:xfrm>
            <a:off x="5814616" y="5670550"/>
            <a:ext cx="924917"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M6</a:t>
            </a:r>
            <a:endParaRPr lang="en-US" sz="1575" dirty="0"/>
          </a:p>
        </p:txBody>
      </p:sp>
      <p:sp>
        <p:nvSpPr>
          <p:cNvPr id="81" name="Text 77"/>
          <p:cNvSpPr/>
          <p:nvPr/>
        </p:nvSpPr>
        <p:spPr>
          <a:xfrm>
            <a:off x="6739533" y="5670550"/>
            <a:ext cx="925116"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M7</a:t>
            </a:r>
            <a:endParaRPr lang="en-US" sz="1575" dirty="0"/>
          </a:p>
        </p:txBody>
      </p:sp>
      <p:sp>
        <p:nvSpPr>
          <p:cNvPr id="82" name="Text 78"/>
          <p:cNvSpPr/>
          <p:nvPr/>
        </p:nvSpPr>
        <p:spPr>
          <a:xfrm>
            <a:off x="7521773" y="5670550"/>
            <a:ext cx="199072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595959"/>
                </a:solidFill>
                <a:latin typeface="Calibri" pitchFamily="34" charset="0"/>
                <a:ea typeface="Calibri" pitchFamily="34" charset="-122"/>
                <a:cs typeface="Calibri" pitchFamily="34" charset="-120"/>
              </a:rPr>
              <a:t>Trend · vs M6</a:t>
            </a:r>
            <a:endParaRPr lang="en-US" sz="1575" dirty="0"/>
          </a:p>
        </p:txBody>
      </p:sp>
      <p:sp>
        <p:nvSpPr>
          <p:cNvPr id="83" name="Text 79"/>
          <p:cNvSpPr/>
          <p:nvPr/>
        </p:nvSpPr>
        <p:spPr>
          <a:xfrm>
            <a:off x="647700" y="6086475"/>
            <a:ext cx="1571625"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AC</a:t>
            </a:r>
            <a:endParaRPr lang="en-US" sz="1725" dirty="0"/>
          </a:p>
        </p:txBody>
      </p:sp>
      <p:sp>
        <p:nvSpPr>
          <p:cNvPr id="84" name="Shape 80"/>
          <p:cNvSpPr/>
          <p:nvPr/>
        </p:nvSpPr>
        <p:spPr>
          <a:xfrm>
            <a:off x="2152650" y="5988050"/>
            <a:ext cx="848717" cy="463550"/>
          </a:xfrm>
          <a:prstGeom prst="rect">
            <a:avLst/>
          </a:prstGeom>
          <a:solidFill>
            <a:srgbClr val="EDEFD3"/>
          </a:solidFill>
          <a:ln/>
        </p:spPr>
        <p:txBody>
          <a:bodyPr/>
          <a:lstStyle/>
          <a:p>
            <a:endParaRPr lang="en-US"/>
          </a:p>
        </p:txBody>
      </p:sp>
      <p:sp>
        <p:nvSpPr>
          <p:cNvPr id="85" name="Text 81"/>
          <p:cNvSpPr/>
          <p:nvPr/>
        </p:nvSpPr>
        <p:spPr>
          <a:xfrm>
            <a:off x="2114550" y="6092825"/>
            <a:ext cx="924917"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6.3%</a:t>
            </a:r>
            <a:endParaRPr lang="en-US" sz="1650" dirty="0"/>
          </a:p>
        </p:txBody>
      </p:sp>
      <p:sp>
        <p:nvSpPr>
          <p:cNvPr id="86" name="Shape 82"/>
          <p:cNvSpPr/>
          <p:nvPr/>
        </p:nvSpPr>
        <p:spPr>
          <a:xfrm>
            <a:off x="3077567" y="5988050"/>
            <a:ext cx="848916" cy="463550"/>
          </a:xfrm>
          <a:prstGeom prst="rect">
            <a:avLst/>
          </a:prstGeom>
          <a:solidFill>
            <a:srgbClr val="FAE2C2"/>
          </a:solidFill>
          <a:ln/>
        </p:spPr>
        <p:txBody>
          <a:bodyPr/>
          <a:lstStyle/>
          <a:p>
            <a:endParaRPr lang="en-US"/>
          </a:p>
        </p:txBody>
      </p:sp>
      <p:sp>
        <p:nvSpPr>
          <p:cNvPr id="87" name="Text 83"/>
          <p:cNvSpPr/>
          <p:nvPr/>
        </p:nvSpPr>
        <p:spPr>
          <a:xfrm>
            <a:off x="3039467" y="6092825"/>
            <a:ext cx="925116"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11.8%</a:t>
            </a:r>
            <a:endParaRPr lang="en-US" sz="1650" dirty="0"/>
          </a:p>
        </p:txBody>
      </p:sp>
      <p:sp>
        <p:nvSpPr>
          <p:cNvPr id="88" name="Shape 84"/>
          <p:cNvSpPr/>
          <p:nvPr/>
        </p:nvSpPr>
        <p:spPr>
          <a:xfrm>
            <a:off x="4002683" y="5988050"/>
            <a:ext cx="848717" cy="463550"/>
          </a:xfrm>
          <a:prstGeom prst="rect">
            <a:avLst/>
          </a:prstGeom>
          <a:solidFill>
            <a:srgbClr val="FAE2C2"/>
          </a:solidFill>
          <a:ln/>
        </p:spPr>
        <p:txBody>
          <a:bodyPr/>
          <a:lstStyle/>
          <a:p>
            <a:endParaRPr lang="en-US"/>
          </a:p>
        </p:txBody>
      </p:sp>
      <p:sp>
        <p:nvSpPr>
          <p:cNvPr id="89" name="Text 85"/>
          <p:cNvSpPr/>
          <p:nvPr/>
        </p:nvSpPr>
        <p:spPr>
          <a:xfrm>
            <a:off x="3964583" y="6092825"/>
            <a:ext cx="924917"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13.6%</a:t>
            </a:r>
            <a:endParaRPr lang="en-US" sz="1650" dirty="0"/>
          </a:p>
        </p:txBody>
      </p:sp>
      <p:sp>
        <p:nvSpPr>
          <p:cNvPr id="90" name="Shape 86"/>
          <p:cNvSpPr/>
          <p:nvPr/>
        </p:nvSpPr>
        <p:spPr>
          <a:xfrm>
            <a:off x="4927600" y="5988050"/>
            <a:ext cx="848916" cy="463550"/>
          </a:xfrm>
          <a:prstGeom prst="rect">
            <a:avLst/>
          </a:prstGeom>
          <a:solidFill>
            <a:srgbClr val="FAE2C2"/>
          </a:solidFill>
          <a:ln/>
        </p:spPr>
        <p:txBody>
          <a:bodyPr/>
          <a:lstStyle/>
          <a:p>
            <a:endParaRPr lang="en-US"/>
          </a:p>
        </p:txBody>
      </p:sp>
      <p:sp>
        <p:nvSpPr>
          <p:cNvPr id="91" name="Text 87"/>
          <p:cNvSpPr/>
          <p:nvPr/>
        </p:nvSpPr>
        <p:spPr>
          <a:xfrm>
            <a:off x="4889500" y="6092825"/>
            <a:ext cx="925116"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14.8%</a:t>
            </a:r>
            <a:endParaRPr lang="en-US" sz="1650" dirty="0"/>
          </a:p>
        </p:txBody>
      </p:sp>
      <p:sp>
        <p:nvSpPr>
          <p:cNvPr id="92" name="Shape 88"/>
          <p:cNvSpPr/>
          <p:nvPr/>
        </p:nvSpPr>
        <p:spPr>
          <a:xfrm>
            <a:off x="5852716" y="5988050"/>
            <a:ext cx="848717" cy="463550"/>
          </a:xfrm>
          <a:prstGeom prst="rect">
            <a:avLst/>
          </a:prstGeom>
          <a:solidFill>
            <a:srgbClr val="FAE2C2"/>
          </a:solidFill>
          <a:ln/>
        </p:spPr>
        <p:txBody>
          <a:bodyPr/>
          <a:lstStyle/>
          <a:p>
            <a:endParaRPr lang="en-US"/>
          </a:p>
        </p:txBody>
      </p:sp>
      <p:sp>
        <p:nvSpPr>
          <p:cNvPr id="93" name="Text 89"/>
          <p:cNvSpPr/>
          <p:nvPr/>
        </p:nvSpPr>
        <p:spPr>
          <a:xfrm>
            <a:off x="5814616" y="6092825"/>
            <a:ext cx="924917"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14.8%</a:t>
            </a:r>
            <a:endParaRPr lang="en-US" sz="1650" dirty="0"/>
          </a:p>
        </p:txBody>
      </p:sp>
      <p:sp>
        <p:nvSpPr>
          <p:cNvPr id="94" name="Shape 90"/>
          <p:cNvSpPr/>
          <p:nvPr/>
        </p:nvSpPr>
        <p:spPr>
          <a:xfrm>
            <a:off x="6777633" y="5988050"/>
            <a:ext cx="848916" cy="463550"/>
          </a:xfrm>
          <a:prstGeom prst="rect">
            <a:avLst/>
          </a:prstGeom>
          <a:solidFill>
            <a:srgbClr val="FAE2C2"/>
          </a:solidFill>
          <a:ln/>
        </p:spPr>
        <p:txBody>
          <a:bodyPr/>
          <a:lstStyle/>
          <a:p>
            <a:endParaRPr lang="en-US"/>
          </a:p>
        </p:txBody>
      </p:sp>
      <p:sp>
        <p:nvSpPr>
          <p:cNvPr id="95" name="Text 91"/>
          <p:cNvSpPr/>
          <p:nvPr/>
        </p:nvSpPr>
        <p:spPr>
          <a:xfrm>
            <a:off x="6739533" y="6092825"/>
            <a:ext cx="925116"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10.6%</a:t>
            </a:r>
            <a:endParaRPr lang="en-US" sz="1650" dirty="0"/>
          </a:p>
        </p:txBody>
      </p:sp>
      <p:sp>
        <p:nvSpPr>
          <p:cNvPr id="96" name="Text 92"/>
          <p:cNvSpPr/>
          <p:nvPr/>
        </p:nvSpPr>
        <p:spPr>
          <a:xfrm>
            <a:off x="7521773" y="6080125"/>
            <a:ext cx="1990725" cy="317500"/>
          </a:xfrm>
          <a:prstGeom prst="rect">
            <a:avLst/>
          </a:prstGeom>
          <a:noFill/>
          <a:ln/>
        </p:spPr>
        <p:txBody>
          <a:bodyPr wrap="square" lIns="25400" tIns="25400" rIns="25400" bIns="25400" rtlCol="0" anchor="t">
            <a:normAutofit/>
          </a:bodyPr>
          <a:lstStyle/>
          <a:p>
            <a:pPr marL="0" indent="0" algn="r">
              <a:buNone/>
            </a:pPr>
            <a:r>
              <a:rPr lang="en-US" sz="1650" b="1" dirty="0">
                <a:solidFill>
                  <a:srgbClr val="2F5F1F"/>
                </a:solidFill>
                <a:latin typeface="Calibri" pitchFamily="34" charset="0"/>
                <a:ea typeface="Calibri" pitchFamily="34" charset="-122"/>
                <a:cs typeface="Calibri" pitchFamily="34" charset="-120"/>
              </a:rPr>
              <a:t>▼ -4.2pt</a:t>
            </a:r>
            <a:endParaRPr lang="en-US" sz="1650" dirty="0"/>
          </a:p>
        </p:txBody>
      </p:sp>
      <p:sp>
        <p:nvSpPr>
          <p:cNvPr id="97" name="Text 93"/>
          <p:cNvSpPr/>
          <p:nvPr/>
        </p:nvSpPr>
        <p:spPr>
          <a:xfrm>
            <a:off x="647700" y="6626225"/>
            <a:ext cx="1571625"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Core</a:t>
            </a:r>
            <a:endParaRPr lang="en-US" sz="1725" dirty="0"/>
          </a:p>
        </p:txBody>
      </p:sp>
      <p:sp>
        <p:nvSpPr>
          <p:cNvPr id="98" name="Shape 94"/>
          <p:cNvSpPr/>
          <p:nvPr/>
        </p:nvSpPr>
        <p:spPr>
          <a:xfrm>
            <a:off x="2152650" y="6527800"/>
            <a:ext cx="848717" cy="463550"/>
          </a:xfrm>
          <a:prstGeom prst="rect">
            <a:avLst/>
          </a:prstGeom>
          <a:solidFill>
            <a:srgbClr val="F3C7BB"/>
          </a:solidFill>
          <a:ln/>
        </p:spPr>
        <p:txBody>
          <a:bodyPr/>
          <a:lstStyle/>
          <a:p>
            <a:endParaRPr lang="en-US"/>
          </a:p>
        </p:txBody>
      </p:sp>
      <p:sp>
        <p:nvSpPr>
          <p:cNvPr id="99" name="Text 95"/>
          <p:cNvSpPr/>
          <p:nvPr/>
        </p:nvSpPr>
        <p:spPr>
          <a:xfrm>
            <a:off x="2114550" y="6632575"/>
            <a:ext cx="924917"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22.3%</a:t>
            </a:r>
            <a:endParaRPr lang="en-US" sz="1650" dirty="0"/>
          </a:p>
        </p:txBody>
      </p:sp>
      <p:sp>
        <p:nvSpPr>
          <p:cNvPr id="100" name="Shape 96"/>
          <p:cNvSpPr/>
          <p:nvPr/>
        </p:nvSpPr>
        <p:spPr>
          <a:xfrm>
            <a:off x="3077567" y="6527800"/>
            <a:ext cx="848916" cy="463550"/>
          </a:xfrm>
          <a:prstGeom prst="rect">
            <a:avLst/>
          </a:prstGeom>
          <a:solidFill>
            <a:srgbClr val="F3C7BB"/>
          </a:solidFill>
          <a:ln/>
        </p:spPr>
        <p:txBody>
          <a:bodyPr/>
          <a:lstStyle/>
          <a:p>
            <a:endParaRPr lang="en-US"/>
          </a:p>
        </p:txBody>
      </p:sp>
      <p:sp>
        <p:nvSpPr>
          <p:cNvPr id="101" name="Text 97"/>
          <p:cNvSpPr/>
          <p:nvPr/>
        </p:nvSpPr>
        <p:spPr>
          <a:xfrm>
            <a:off x="3039467" y="6632575"/>
            <a:ext cx="925116"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24.1%</a:t>
            </a:r>
            <a:endParaRPr lang="en-US" sz="1650" dirty="0"/>
          </a:p>
        </p:txBody>
      </p:sp>
      <p:sp>
        <p:nvSpPr>
          <p:cNvPr id="102" name="Shape 98"/>
          <p:cNvSpPr/>
          <p:nvPr/>
        </p:nvSpPr>
        <p:spPr>
          <a:xfrm>
            <a:off x="4002683" y="6527800"/>
            <a:ext cx="848717" cy="463550"/>
          </a:xfrm>
          <a:prstGeom prst="rect">
            <a:avLst/>
          </a:prstGeom>
          <a:solidFill>
            <a:srgbClr val="F3C7BB"/>
          </a:solidFill>
          <a:ln/>
        </p:spPr>
        <p:txBody>
          <a:bodyPr/>
          <a:lstStyle/>
          <a:p>
            <a:endParaRPr lang="en-US"/>
          </a:p>
        </p:txBody>
      </p:sp>
      <p:sp>
        <p:nvSpPr>
          <p:cNvPr id="103" name="Text 99"/>
          <p:cNvSpPr/>
          <p:nvPr/>
        </p:nvSpPr>
        <p:spPr>
          <a:xfrm>
            <a:off x="3964583" y="6632575"/>
            <a:ext cx="924917"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30.5%</a:t>
            </a:r>
            <a:endParaRPr lang="en-US" sz="1650" dirty="0"/>
          </a:p>
        </p:txBody>
      </p:sp>
      <p:sp>
        <p:nvSpPr>
          <p:cNvPr id="104" name="Shape 100"/>
          <p:cNvSpPr/>
          <p:nvPr/>
        </p:nvSpPr>
        <p:spPr>
          <a:xfrm>
            <a:off x="4927600" y="6527800"/>
            <a:ext cx="848916" cy="463550"/>
          </a:xfrm>
          <a:prstGeom prst="rect">
            <a:avLst/>
          </a:prstGeom>
          <a:solidFill>
            <a:srgbClr val="F3C7BB"/>
          </a:solidFill>
          <a:ln/>
        </p:spPr>
        <p:txBody>
          <a:bodyPr/>
          <a:lstStyle/>
          <a:p>
            <a:endParaRPr lang="en-US"/>
          </a:p>
        </p:txBody>
      </p:sp>
      <p:sp>
        <p:nvSpPr>
          <p:cNvPr id="105" name="Text 101"/>
          <p:cNvSpPr/>
          <p:nvPr/>
        </p:nvSpPr>
        <p:spPr>
          <a:xfrm>
            <a:off x="4889500" y="6632575"/>
            <a:ext cx="925116"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32.3%</a:t>
            </a:r>
            <a:endParaRPr lang="en-US" sz="1650" dirty="0"/>
          </a:p>
        </p:txBody>
      </p:sp>
      <p:sp>
        <p:nvSpPr>
          <p:cNvPr id="106" name="Shape 102"/>
          <p:cNvSpPr/>
          <p:nvPr/>
        </p:nvSpPr>
        <p:spPr>
          <a:xfrm>
            <a:off x="5852716" y="6527800"/>
            <a:ext cx="848717" cy="463550"/>
          </a:xfrm>
          <a:prstGeom prst="rect">
            <a:avLst/>
          </a:prstGeom>
          <a:solidFill>
            <a:srgbClr val="F3C7BB"/>
          </a:solidFill>
          <a:ln/>
        </p:spPr>
        <p:txBody>
          <a:bodyPr/>
          <a:lstStyle/>
          <a:p>
            <a:endParaRPr lang="en-US"/>
          </a:p>
        </p:txBody>
      </p:sp>
      <p:sp>
        <p:nvSpPr>
          <p:cNvPr id="107" name="Text 103"/>
          <p:cNvSpPr/>
          <p:nvPr/>
        </p:nvSpPr>
        <p:spPr>
          <a:xfrm>
            <a:off x="5814616" y="6632575"/>
            <a:ext cx="924917"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31.8%</a:t>
            </a:r>
            <a:endParaRPr lang="en-US" sz="1650" dirty="0"/>
          </a:p>
        </p:txBody>
      </p:sp>
      <p:sp>
        <p:nvSpPr>
          <p:cNvPr id="108" name="Shape 104"/>
          <p:cNvSpPr/>
          <p:nvPr/>
        </p:nvSpPr>
        <p:spPr>
          <a:xfrm>
            <a:off x="6777633" y="6527800"/>
            <a:ext cx="848916" cy="463550"/>
          </a:xfrm>
          <a:prstGeom prst="rect">
            <a:avLst/>
          </a:prstGeom>
          <a:solidFill>
            <a:srgbClr val="F3C7BB"/>
          </a:solidFill>
          <a:ln/>
        </p:spPr>
        <p:txBody>
          <a:bodyPr/>
          <a:lstStyle/>
          <a:p>
            <a:endParaRPr lang="en-US"/>
          </a:p>
        </p:txBody>
      </p:sp>
      <p:sp>
        <p:nvSpPr>
          <p:cNvPr id="109" name="Text 105"/>
          <p:cNvSpPr/>
          <p:nvPr/>
        </p:nvSpPr>
        <p:spPr>
          <a:xfrm>
            <a:off x="6739533" y="6632575"/>
            <a:ext cx="925116"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30.1%</a:t>
            </a:r>
            <a:endParaRPr lang="en-US" sz="1650" dirty="0"/>
          </a:p>
        </p:txBody>
      </p:sp>
      <p:sp>
        <p:nvSpPr>
          <p:cNvPr id="110" name="Text 106"/>
          <p:cNvSpPr/>
          <p:nvPr/>
        </p:nvSpPr>
        <p:spPr>
          <a:xfrm>
            <a:off x="7521773" y="6619875"/>
            <a:ext cx="1990725" cy="317500"/>
          </a:xfrm>
          <a:prstGeom prst="rect">
            <a:avLst/>
          </a:prstGeom>
          <a:noFill/>
          <a:ln/>
        </p:spPr>
        <p:txBody>
          <a:bodyPr wrap="square" lIns="25400" tIns="25400" rIns="25400" bIns="25400" rtlCol="0" anchor="t">
            <a:normAutofit/>
          </a:bodyPr>
          <a:lstStyle/>
          <a:p>
            <a:pPr marL="0" indent="0" algn="r">
              <a:buNone/>
            </a:pPr>
            <a:r>
              <a:rPr lang="en-US" sz="1650" b="1" dirty="0">
                <a:solidFill>
                  <a:srgbClr val="2F5F1F"/>
                </a:solidFill>
                <a:latin typeface="Calibri" pitchFamily="34" charset="0"/>
                <a:ea typeface="Calibri" pitchFamily="34" charset="-122"/>
                <a:cs typeface="Calibri" pitchFamily="34" charset="-120"/>
              </a:rPr>
              <a:t>▼ -1.7pt</a:t>
            </a:r>
            <a:endParaRPr lang="en-US" sz="1650" dirty="0"/>
          </a:p>
        </p:txBody>
      </p:sp>
      <p:sp>
        <p:nvSpPr>
          <p:cNvPr id="111" name="Text 107"/>
          <p:cNvSpPr/>
          <p:nvPr/>
        </p:nvSpPr>
        <p:spPr>
          <a:xfrm>
            <a:off x="647700" y="7165975"/>
            <a:ext cx="1571625"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Coremini</a:t>
            </a:r>
            <a:endParaRPr lang="en-US" sz="1725" dirty="0"/>
          </a:p>
        </p:txBody>
      </p:sp>
      <p:sp>
        <p:nvSpPr>
          <p:cNvPr id="112" name="Shape 108"/>
          <p:cNvSpPr/>
          <p:nvPr/>
        </p:nvSpPr>
        <p:spPr>
          <a:xfrm>
            <a:off x="2152650" y="7067550"/>
            <a:ext cx="848717" cy="463550"/>
          </a:xfrm>
          <a:prstGeom prst="rect">
            <a:avLst/>
          </a:prstGeom>
          <a:solidFill>
            <a:srgbClr val="F3C7BB"/>
          </a:solidFill>
          <a:ln/>
        </p:spPr>
        <p:txBody>
          <a:bodyPr/>
          <a:lstStyle/>
          <a:p>
            <a:endParaRPr lang="en-US"/>
          </a:p>
        </p:txBody>
      </p:sp>
      <p:sp>
        <p:nvSpPr>
          <p:cNvPr id="113" name="Text 109"/>
          <p:cNvSpPr/>
          <p:nvPr/>
        </p:nvSpPr>
        <p:spPr>
          <a:xfrm>
            <a:off x="2114550" y="7172325"/>
            <a:ext cx="924917"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30.0%</a:t>
            </a:r>
            <a:endParaRPr lang="en-US" sz="1650" dirty="0"/>
          </a:p>
        </p:txBody>
      </p:sp>
      <p:sp>
        <p:nvSpPr>
          <p:cNvPr id="114" name="Shape 110"/>
          <p:cNvSpPr/>
          <p:nvPr/>
        </p:nvSpPr>
        <p:spPr>
          <a:xfrm>
            <a:off x="3077567" y="7067550"/>
            <a:ext cx="848916" cy="463550"/>
          </a:xfrm>
          <a:prstGeom prst="rect">
            <a:avLst/>
          </a:prstGeom>
          <a:solidFill>
            <a:srgbClr val="F3C7BB"/>
          </a:solidFill>
          <a:ln/>
        </p:spPr>
        <p:txBody>
          <a:bodyPr/>
          <a:lstStyle/>
          <a:p>
            <a:endParaRPr lang="en-US"/>
          </a:p>
        </p:txBody>
      </p:sp>
      <p:sp>
        <p:nvSpPr>
          <p:cNvPr id="115" name="Text 111"/>
          <p:cNvSpPr/>
          <p:nvPr/>
        </p:nvSpPr>
        <p:spPr>
          <a:xfrm>
            <a:off x="3039467" y="7172325"/>
            <a:ext cx="925116"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28.1%</a:t>
            </a:r>
            <a:endParaRPr lang="en-US" sz="1650" dirty="0"/>
          </a:p>
        </p:txBody>
      </p:sp>
      <p:sp>
        <p:nvSpPr>
          <p:cNvPr id="116" name="Shape 112"/>
          <p:cNvSpPr/>
          <p:nvPr/>
        </p:nvSpPr>
        <p:spPr>
          <a:xfrm>
            <a:off x="4002683" y="7067550"/>
            <a:ext cx="848717" cy="463550"/>
          </a:xfrm>
          <a:prstGeom prst="rect">
            <a:avLst/>
          </a:prstGeom>
          <a:solidFill>
            <a:srgbClr val="F3C7BB"/>
          </a:solidFill>
          <a:ln/>
        </p:spPr>
        <p:txBody>
          <a:bodyPr/>
          <a:lstStyle/>
          <a:p>
            <a:endParaRPr lang="en-US"/>
          </a:p>
        </p:txBody>
      </p:sp>
      <p:sp>
        <p:nvSpPr>
          <p:cNvPr id="117" name="Text 113"/>
          <p:cNvSpPr/>
          <p:nvPr/>
        </p:nvSpPr>
        <p:spPr>
          <a:xfrm>
            <a:off x="3964583" y="7172325"/>
            <a:ext cx="924917"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31.5%</a:t>
            </a:r>
            <a:endParaRPr lang="en-US" sz="1650" dirty="0"/>
          </a:p>
        </p:txBody>
      </p:sp>
      <p:sp>
        <p:nvSpPr>
          <p:cNvPr id="118" name="Shape 114"/>
          <p:cNvSpPr/>
          <p:nvPr/>
        </p:nvSpPr>
        <p:spPr>
          <a:xfrm>
            <a:off x="4927600" y="7067550"/>
            <a:ext cx="848916" cy="463550"/>
          </a:xfrm>
          <a:prstGeom prst="rect">
            <a:avLst/>
          </a:prstGeom>
          <a:solidFill>
            <a:srgbClr val="DE9285"/>
          </a:solidFill>
          <a:ln/>
        </p:spPr>
        <p:txBody>
          <a:bodyPr/>
          <a:lstStyle/>
          <a:p>
            <a:endParaRPr lang="en-US"/>
          </a:p>
        </p:txBody>
      </p:sp>
      <p:sp>
        <p:nvSpPr>
          <p:cNvPr id="119" name="Text 115"/>
          <p:cNvSpPr/>
          <p:nvPr/>
        </p:nvSpPr>
        <p:spPr>
          <a:xfrm>
            <a:off x="4889500" y="7172325"/>
            <a:ext cx="925116"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5A1A12"/>
                </a:solidFill>
                <a:latin typeface="Calibri" pitchFamily="34" charset="0"/>
                <a:ea typeface="Calibri" pitchFamily="34" charset="-122"/>
                <a:cs typeface="Calibri" pitchFamily="34" charset="-120"/>
              </a:rPr>
              <a:t>41.7%</a:t>
            </a:r>
            <a:endParaRPr lang="en-US" sz="1650" dirty="0"/>
          </a:p>
        </p:txBody>
      </p:sp>
      <p:sp>
        <p:nvSpPr>
          <p:cNvPr id="120" name="Shape 116"/>
          <p:cNvSpPr/>
          <p:nvPr/>
        </p:nvSpPr>
        <p:spPr>
          <a:xfrm>
            <a:off x="5852716" y="7067550"/>
            <a:ext cx="848717" cy="463550"/>
          </a:xfrm>
          <a:prstGeom prst="rect">
            <a:avLst/>
          </a:prstGeom>
          <a:solidFill>
            <a:srgbClr val="F3C7BB"/>
          </a:solidFill>
          <a:ln/>
        </p:spPr>
        <p:txBody>
          <a:bodyPr/>
          <a:lstStyle/>
          <a:p>
            <a:endParaRPr lang="en-US"/>
          </a:p>
        </p:txBody>
      </p:sp>
      <p:sp>
        <p:nvSpPr>
          <p:cNvPr id="121" name="Text 117"/>
          <p:cNvSpPr/>
          <p:nvPr/>
        </p:nvSpPr>
        <p:spPr>
          <a:xfrm>
            <a:off x="5814616" y="7172325"/>
            <a:ext cx="924917"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39.4%</a:t>
            </a:r>
            <a:endParaRPr lang="en-US" sz="1650" dirty="0"/>
          </a:p>
        </p:txBody>
      </p:sp>
      <p:sp>
        <p:nvSpPr>
          <p:cNvPr id="122" name="Shape 118"/>
          <p:cNvSpPr/>
          <p:nvPr/>
        </p:nvSpPr>
        <p:spPr>
          <a:xfrm>
            <a:off x="6777633" y="7067550"/>
            <a:ext cx="848916" cy="463550"/>
          </a:xfrm>
          <a:prstGeom prst="rect">
            <a:avLst/>
          </a:prstGeom>
          <a:solidFill>
            <a:srgbClr val="F3C7BB"/>
          </a:solidFill>
          <a:ln/>
        </p:spPr>
        <p:txBody>
          <a:bodyPr/>
          <a:lstStyle/>
          <a:p>
            <a:endParaRPr lang="en-US"/>
          </a:p>
        </p:txBody>
      </p:sp>
      <p:sp>
        <p:nvSpPr>
          <p:cNvPr id="123" name="Text 119"/>
          <p:cNvSpPr/>
          <p:nvPr/>
        </p:nvSpPr>
        <p:spPr>
          <a:xfrm>
            <a:off x="6739533" y="7172325"/>
            <a:ext cx="925116"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31.8%</a:t>
            </a:r>
            <a:endParaRPr lang="en-US" sz="1650" dirty="0"/>
          </a:p>
        </p:txBody>
      </p:sp>
      <p:sp>
        <p:nvSpPr>
          <p:cNvPr id="124" name="Text 120"/>
          <p:cNvSpPr/>
          <p:nvPr/>
        </p:nvSpPr>
        <p:spPr>
          <a:xfrm>
            <a:off x="7521773" y="7159625"/>
            <a:ext cx="1990725" cy="317500"/>
          </a:xfrm>
          <a:prstGeom prst="rect">
            <a:avLst/>
          </a:prstGeom>
          <a:noFill/>
          <a:ln/>
        </p:spPr>
        <p:txBody>
          <a:bodyPr wrap="square" lIns="25400" tIns="25400" rIns="25400" bIns="25400" rtlCol="0" anchor="t">
            <a:normAutofit/>
          </a:bodyPr>
          <a:lstStyle/>
          <a:p>
            <a:pPr marL="0" indent="0" algn="r">
              <a:buNone/>
            </a:pPr>
            <a:r>
              <a:rPr lang="en-US" sz="1650" b="1" dirty="0">
                <a:solidFill>
                  <a:srgbClr val="2F5F1F"/>
                </a:solidFill>
                <a:latin typeface="Calibri" pitchFamily="34" charset="0"/>
                <a:ea typeface="Calibri" pitchFamily="34" charset="-122"/>
                <a:cs typeface="Calibri" pitchFamily="34" charset="-120"/>
              </a:rPr>
              <a:t>▼ -7.6pt</a:t>
            </a:r>
            <a:endParaRPr lang="en-US" sz="1650" dirty="0"/>
          </a:p>
        </p:txBody>
      </p:sp>
      <p:sp>
        <p:nvSpPr>
          <p:cNvPr id="125" name="Text 121"/>
          <p:cNvSpPr/>
          <p:nvPr/>
        </p:nvSpPr>
        <p:spPr>
          <a:xfrm>
            <a:off x="647700" y="7705725"/>
            <a:ext cx="1571625"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Kern</a:t>
            </a:r>
            <a:endParaRPr lang="en-US" sz="1725" dirty="0"/>
          </a:p>
        </p:txBody>
      </p:sp>
      <p:sp>
        <p:nvSpPr>
          <p:cNvPr id="126" name="Shape 122"/>
          <p:cNvSpPr/>
          <p:nvPr/>
        </p:nvSpPr>
        <p:spPr>
          <a:xfrm>
            <a:off x="2152650" y="7607300"/>
            <a:ext cx="848717" cy="463550"/>
          </a:xfrm>
          <a:prstGeom prst="rect">
            <a:avLst/>
          </a:prstGeom>
          <a:solidFill>
            <a:srgbClr val="DE9285"/>
          </a:solidFill>
          <a:ln/>
        </p:spPr>
        <p:txBody>
          <a:bodyPr/>
          <a:lstStyle/>
          <a:p>
            <a:endParaRPr lang="en-US"/>
          </a:p>
        </p:txBody>
      </p:sp>
      <p:sp>
        <p:nvSpPr>
          <p:cNvPr id="127" name="Text 123"/>
          <p:cNvSpPr/>
          <p:nvPr/>
        </p:nvSpPr>
        <p:spPr>
          <a:xfrm>
            <a:off x="2114550" y="7712075"/>
            <a:ext cx="924917"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5A1A12"/>
                </a:solidFill>
                <a:latin typeface="Calibri" pitchFamily="34" charset="0"/>
                <a:ea typeface="Calibri" pitchFamily="34" charset="-122"/>
                <a:cs typeface="Calibri" pitchFamily="34" charset="-120"/>
              </a:rPr>
              <a:t>40.4%</a:t>
            </a:r>
            <a:endParaRPr lang="en-US" sz="1650" dirty="0"/>
          </a:p>
        </p:txBody>
      </p:sp>
      <p:sp>
        <p:nvSpPr>
          <p:cNvPr id="128" name="Shape 124"/>
          <p:cNvSpPr/>
          <p:nvPr/>
        </p:nvSpPr>
        <p:spPr>
          <a:xfrm>
            <a:off x="3077567" y="7607300"/>
            <a:ext cx="848916" cy="463550"/>
          </a:xfrm>
          <a:prstGeom prst="rect">
            <a:avLst/>
          </a:prstGeom>
          <a:solidFill>
            <a:srgbClr val="F3C7BB"/>
          </a:solidFill>
          <a:ln/>
        </p:spPr>
        <p:txBody>
          <a:bodyPr/>
          <a:lstStyle/>
          <a:p>
            <a:endParaRPr lang="en-US"/>
          </a:p>
        </p:txBody>
      </p:sp>
      <p:sp>
        <p:nvSpPr>
          <p:cNvPr id="129" name="Text 125"/>
          <p:cNvSpPr/>
          <p:nvPr/>
        </p:nvSpPr>
        <p:spPr>
          <a:xfrm>
            <a:off x="3039467" y="7712075"/>
            <a:ext cx="925116"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37.2%</a:t>
            </a:r>
            <a:endParaRPr lang="en-US" sz="1650" dirty="0"/>
          </a:p>
        </p:txBody>
      </p:sp>
      <p:sp>
        <p:nvSpPr>
          <p:cNvPr id="130" name="Shape 126"/>
          <p:cNvSpPr/>
          <p:nvPr/>
        </p:nvSpPr>
        <p:spPr>
          <a:xfrm>
            <a:off x="4002683" y="7607300"/>
            <a:ext cx="848717" cy="463550"/>
          </a:xfrm>
          <a:prstGeom prst="rect">
            <a:avLst/>
          </a:prstGeom>
          <a:solidFill>
            <a:srgbClr val="DE9285"/>
          </a:solidFill>
          <a:ln/>
        </p:spPr>
        <p:txBody>
          <a:bodyPr/>
          <a:lstStyle/>
          <a:p>
            <a:endParaRPr lang="en-US"/>
          </a:p>
        </p:txBody>
      </p:sp>
      <p:sp>
        <p:nvSpPr>
          <p:cNvPr id="131" name="Text 127"/>
          <p:cNvSpPr/>
          <p:nvPr/>
        </p:nvSpPr>
        <p:spPr>
          <a:xfrm>
            <a:off x="3964583" y="7712075"/>
            <a:ext cx="924917"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5A1A12"/>
                </a:solidFill>
                <a:latin typeface="Calibri" pitchFamily="34" charset="0"/>
                <a:ea typeface="Calibri" pitchFamily="34" charset="-122"/>
                <a:cs typeface="Calibri" pitchFamily="34" charset="-120"/>
              </a:rPr>
              <a:t>43.5%</a:t>
            </a:r>
            <a:endParaRPr lang="en-US" sz="1650" dirty="0"/>
          </a:p>
        </p:txBody>
      </p:sp>
      <p:sp>
        <p:nvSpPr>
          <p:cNvPr id="132" name="Shape 128"/>
          <p:cNvSpPr/>
          <p:nvPr/>
        </p:nvSpPr>
        <p:spPr>
          <a:xfrm>
            <a:off x="4927600" y="7607300"/>
            <a:ext cx="848916" cy="463550"/>
          </a:xfrm>
          <a:prstGeom prst="rect">
            <a:avLst/>
          </a:prstGeom>
          <a:solidFill>
            <a:srgbClr val="DE9285"/>
          </a:solidFill>
          <a:ln/>
        </p:spPr>
        <p:txBody>
          <a:bodyPr/>
          <a:lstStyle/>
          <a:p>
            <a:endParaRPr lang="en-US"/>
          </a:p>
        </p:txBody>
      </p:sp>
      <p:sp>
        <p:nvSpPr>
          <p:cNvPr id="133" name="Text 129"/>
          <p:cNvSpPr/>
          <p:nvPr/>
        </p:nvSpPr>
        <p:spPr>
          <a:xfrm>
            <a:off x="4889500" y="7712075"/>
            <a:ext cx="925116"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5A1A12"/>
                </a:solidFill>
                <a:latin typeface="Calibri" pitchFamily="34" charset="0"/>
                <a:ea typeface="Calibri" pitchFamily="34" charset="-122"/>
                <a:cs typeface="Calibri" pitchFamily="34" charset="-120"/>
              </a:rPr>
              <a:t>48.3%</a:t>
            </a:r>
            <a:endParaRPr lang="en-US" sz="1650" dirty="0"/>
          </a:p>
        </p:txBody>
      </p:sp>
      <p:sp>
        <p:nvSpPr>
          <p:cNvPr id="134" name="Shape 130"/>
          <p:cNvSpPr/>
          <p:nvPr/>
        </p:nvSpPr>
        <p:spPr>
          <a:xfrm>
            <a:off x="5852716" y="7607300"/>
            <a:ext cx="848717" cy="463550"/>
          </a:xfrm>
          <a:prstGeom prst="rect">
            <a:avLst/>
          </a:prstGeom>
          <a:solidFill>
            <a:srgbClr val="DE9285"/>
          </a:solidFill>
          <a:ln/>
        </p:spPr>
        <p:txBody>
          <a:bodyPr/>
          <a:lstStyle/>
          <a:p>
            <a:endParaRPr lang="en-US"/>
          </a:p>
        </p:txBody>
      </p:sp>
      <p:sp>
        <p:nvSpPr>
          <p:cNvPr id="135" name="Text 131"/>
          <p:cNvSpPr/>
          <p:nvPr/>
        </p:nvSpPr>
        <p:spPr>
          <a:xfrm>
            <a:off x="5814616" y="7712075"/>
            <a:ext cx="924917"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5A1A12"/>
                </a:solidFill>
                <a:latin typeface="Calibri" pitchFamily="34" charset="0"/>
                <a:ea typeface="Calibri" pitchFamily="34" charset="-122"/>
                <a:cs typeface="Calibri" pitchFamily="34" charset="-120"/>
              </a:rPr>
              <a:t>41.8%</a:t>
            </a:r>
            <a:endParaRPr lang="en-US" sz="1650" dirty="0"/>
          </a:p>
        </p:txBody>
      </p:sp>
      <p:sp>
        <p:nvSpPr>
          <p:cNvPr id="136" name="Shape 132"/>
          <p:cNvSpPr/>
          <p:nvPr/>
        </p:nvSpPr>
        <p:spPr>
          <a:xfrm>
            <a:off x="6777633" y="7607300"/>
            <a:ext cx="848916" cy="463550"/>
          </a:xfrm>
          <a:prstGeom prst="rect">
            <a:avLst/>
          </a:prstGeom>
          <a:solidFill>
            <a:srgbClr val="F3C7BB"/>
          </a:solidFill>
          <a:ln/>
        </p:spPr>
        <p:txBody>
          <a:bodyPr/>
          <a:lstStyle/>
          <a:p>
            <a:endParaRPr lang="en-US"/>
          </a:p>
        </p:txBody>
      </p:sp>
      <p:sp>
        <p:nvSpPr>
          <p:cNvPr id="137" name="Text 133"/>
          <p:cNvSpPr/>
          <p:nvPr/>
        </p:nvSpPr>
        <p:spPr>
          <a:xfrm>
            <a:off x="6739533" y="7712075"/>
            <a:ext cx="925116"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31.9%</a:t>
            </a:r>
            <a:endParaRPr lang="en-US" sz="1650" dirty="0"/>
          </a:p>
        </p:txBody>
      </p:sp>
      <p:sp>
        <p:nvSpPr>
          <p:cNvPr id="138" name="Text 134"/>
          <p:cNvSpPr/>
          <p:nvPr/>
        </p:nvSpPr>
        <p:spPr>
          <a:xfrm>
            <a:off x="7521773" y="7699375"/>
            <a:ext cx="1990725" cy="317500"/>
          </a:xfrm>
          <a:prstGeom prst="rect">
            <a:avLst/>
          </a:prstGeom>
          <a:noFill/>
          <a:ln/>
        </p:spPr>
        <p:txBody>
          <a:bodyPr wrap="square" lIns="25400" tIns="25400" rIns="25400" bIns="25400" rtlCol="0" anchor="t">
            <a:normAutofit/>
          </a:bodyPr>
          <a:lstStyle/>
          <a:p>
            <a:pPr marL="0" indent="0" algn="r">
              <a:buNone/>
            </a:pPr>
            <a:r>
              <a:rPr lang="en-US" sz="1650" b="1" dirty="0">
                <a:solidFill>
                  <a:srgbClr val="2F5F1F"/>
                </a:solidFill>
                <a:latin typeface="Calibri" pitchFamily="34" charset="0"/>
                <a:ea typeface="Calibri" pitchFamily="34" charset="-122"/>
                <a:cs typeface="Calibri" pitchFamily="34" charset="-120"/>
              </a:rPr>
              <a:t>▼ -9.9pt</a:t>
            </a:r>
            <a:endParaRPr lang="en-US" sz="1650" dirty="0"/>
          </a:p>
        </p:txBody>
      </p:sp>
      <p:sp>
        <p:nvSpPr>
          <p:cNvPr id="139" name="Text 135"/>
          <p:cNvSpPr/>
          <p:nvPr/>
        </p:nvSpPr>
        <p:spPr>
          <a:xfrm>
            <a:off x="647700" y="8245475"/>
            <a:ext cx="1571625"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Socket</a:t>
            </a:r>
            <a:endParaRPr lang="en-US" sz="1725" dirty="0"/>
          </a:p>
        </p:txBody>
      </p:sp>
      <p:sp>
        <p:nvSpPr>
          <p:cNvPr id="140" name="Shape 136"/>
          <p:cNvSpPr/>
          <p:nvPr/>
        </p:nvSpPr>
        <p:spPr>
          <a:xfrm>
            <a:off x="2152650" y="8147050"/>
            <a:ext cx="848717" cy="463550"/>
          </a:xfrm>
          <a:prstGeom prst="rect">
            <a:avLst/>
          </a:prstGeom>
          <a:solidFill>
            <a:srgbClr val="EDEFD3"/>
          </a:solidFill>
          <a:ln/>
        </p:spPr>
        <p:txBody>
          <a:bodyPr/>
          <a:lstStyle/>
          <a:p>
            <a:endParaRPr lang="en-US"/>
          </a:p>
        </p:txBody>
      </p:sp>
      <p:sp>
        <p:nvSpPr>
          <p:cNvPr id="141" name="Text 137"/>
          <p:cNvSpPr/>
          <p:nvPr/>
        </p:nvSpPr>
        <p:spPr>
          <a:xfrm>
            <a:off x="2114550" y="8251825"/>
            <a:ext cx="924917"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8.7%</a:t>
            </a:r>
            <a:endParaRPr lang="en-US" sz="1650" dirty="0"/>
          </a:p>
        </p:txBody>
      </p:sp>
      <p:sp>
        <p:nvSpPr>
          <p:cNvPr id="142" name="Shape 138"/>
          <p:cNvSpPr/>
          <p:nvPr/>
        </p:nvSpPr>
        <p:spPr>
          <a:xfrm>
            <a:off x="3077567" y="8147050"/>
            <a:ext cx="848916" cy="463550"/>
          </a:xfrm>
          <a:prstGeom prst="rect">
            <a:avLst/>
          </a:prstGeom>
          <a:solidFill>
            <a:srgbClr val="EDEFD3"/>
          </a:solidFill>
          <a:ln/>
        </p:spPr>
        <p:txBody>
          <a:bodyPr/>
          <a:lstStyle/>
          <a:p>
            <a:endParaRPr lang="en-US"/>
          </a:p>
        </p:txBody>
      </p:sp>
      <p:sp>
        <p:nvSpPr>
          <p:cNvPr id="143" name="Text 139"/>
          <p:cNvSpPr/>
          <p:nvPr/>
        </p:nvSpPr>
        <p:spPr>
          <a:xfrm>
            <a:off x="3039467" y="8251825"/>
            <a:ext cx="925116"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5.9%</a:t>
            </a:r>
            <a:endParaRPr lang="en-US" sz="1650" dirty="0"/>
          </a:p>
        </p:txBody>
      </p:sp>
      <p:sp>
        <p:nvSpPr>
          <p:cNvPr id="144" name="Shape 140"/>
          <p:cNvSpPr/>
          <p:nvPr/>
        </p:nvSpPr>
        <p:spPr>
          <a:xfrm>
            <a:off x="4002683" y="8147050"/>
            <a:ext cx="848717" cy="463550"/>
          </a:xfrm>
          <a:prstGeom prst="rect">
            <a:avLst/>
          </a:prstGeom>
          <a:solidFill>
            <a:srgbClr val="EDEFD3"/>
          </a:solidFill>
          <a:ln/>
        </p:spPr>
        <p:txBody>
          <a:bodyPr/>
          <a:lstStyle/>
          <a:p>
            <a:endParaRPr lang="en-US"/>
          </a:p>
        </p:txBody>
      </p:sp>
      <p:sp>
        <p:nvSpPr>
          <p:cNvPr id="145" name="Text 141"/>
          <p:cNvSpPr/>
          <p:nvPr/>
        </p:nvSpPr>
        <p:spPr>
          <a:xfrm>
            <a:off x="3964583" y="8251825"/>
            <a:ext cx="924917"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8.8%</a:t>
            </a:r>
            <a:endParaRPr lang="en-US" sz="1650" dirty="0"/>
          </a:p>
        </p:txBody>
      </p:sp>
      <p:sp>
        <p:nvSpPr>
          <p:cNvPr id="146" name="Shape 142"/>
          <p:cNvSpPr/>
          <p:nvPr/>
        </p:nvSpPr>
        <p:spPr>
          <a:xfrm>
            <a:off x="4927600" y="8147050"/>
            <a:ext cx="848916" cy="463550"/>
          </a:xfrm>
          <a:prstGeom prst="rect">
            <a:avLst/>
          </a:prstGeom>
          <a:solidFill>
            <a:srgbClr val="EDEFD3"/>
          </a:solidFill>
          <a:ln/>
        </p:spPr>
        <p:txBody>
          <a:bodyPr/>
          <a:lstStyle/>
          <a:p>
            <a:endParaRPr lang="en-US"/>
          </a:p>
        </p:txBody>
      </p:sp>
      <p:sp>
        <p:nvSpPr>
          <p:cNvPr id="147" name="Text 143"/>
          <p:cNvSpPr/>
          <p:nvPr/>
        </p:nvSpPr>
        <p:spPr>
          <a:xfrm>
            <a:off x="4889500" y="8251825"/>
            <a:ext cx="925116"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9.5%</a:t>
            </a:r>
            <a:endParaRPr lang="en-US" sz="1650" dirty="0"/>
          </a:p>
        </p:txBody>
      </p:sp>
      <p:sp>
        <p:nvSpPr>
          <p:cNvPr id="148" name="Shape 144"/>
          <p:cNvSpPr/>
          <p:nvPr/>
        </p:nvSpPr>
        <p:spPr>
          <a:xfrm>
            <a:off x="5852716" y="8147050"/>
            <a:ext cx="848717" cy="463550"/>
          </a:xfrm>
          <a:prstGeom prst="rect">
            <a:avLst/>
          </a:prstGeom>
          <a:solidFill>
            <a:srgbClr val="EDEFD3"/>
          </a:solidFill>
          <a:ln/>
        </p:spPr>
        <p:txBody>
          <a:bodyPr/>
          <a:lstStyle/>
          <a:p>
            <a:endParaRPr lang="en-US"/>
          </a:p>
        </p:txBody>
      </p:sp>
      <p:sp>
        <p:nvSpPr>
          <p:cNvPr id="149" name="Text 145"/>
          <p:cNvSpPr/>
          <p:nvPr/>
        </p:nvSpPr>
        <p:spPr>
          <a:xfrm>
            <a:off x="5814616" y="8251825"/>
            <a:ext cx="924917"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10.0%</a:t>
            </a:r>
            <a:endParaRPr lang="en-US" sz="1650" dirty="0"/>
          </a:p>
        </p:txBody>
      </p:sp>
      <p:sp>
        <p:nvSpPr>
          <p:cNvPr id="150" name="Shape 146"/>
          <p:cNvSpPr/>
          <p:nvPr/>
        </p:nvSpPr>
        <p:spPr>
          <a:xfrm>
            <a:off x="6777633" y="8147050"/>
            <a:ext cx="848916" cy="463550"/>
          </a:xfrm>
          <a:prstGeom prst="rect">
            <a:avLst/>
          </a:prstGeom>
          <a:solidFill>
            <a:srgbClr val="FAE2C2"/>
          </a:solidFill>
          <a:ln/>
        </p:spPr>
        <p:txBody>
          <a:bodyPr/>
          <a:lstStyle/>
          <a:p>
            <a:endParaRPr lang="en-US"/>
          </a:p>
        </p:txBody>
      </p:sp>
      <p:sp>
        <p:nvSpPr>
          <p:cNvPr id="151" name="Text 147"/>
          <p:cNvSpPr/>
          <p:nvPr/>
        </p:nvSpPr>
        <p:spPr>
          <a:xfrm>
            <a:off x="6739533" y="8251825"/>
            <a:ext cx="925116"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11.4%</a:t>
            </a:r>
            <a:endParaRPr lang="en-US" sz="1650" dirty="0"/>
          </a:p>
        </p:txBody>
      </p:sp>
      <p:sp>
        <p:nvSpPr>
          <p:cNvPr id="152" name="Text 148"/>
          <p:cNvSpPr/>
          <p:nvPr/>
        </p:nvSpPr>
        <p:spPr>
          <a:xfrm>
            <a:off x="7521773" y="8239125"/>
            <a:ext cx="1990725" cy="317500"/>
          </a:xfrm>
          <a:prstGeom prst="rect">
            <a:avLst/>
          </a:prstGeom>
          <a:noFill/>
          <a:ln/>
        </p:spPr>
        <p:txBody>
          <a:bodyPr wrap="square" lIns="25400" tIns="25400" rIns="25400" bIns="25400" rtlCol="0" anchor="t">
            <a:normAutofit/>
          </a:bodyPr>
          <a:lstStyle/>
          <a:p>
            <a:pPr marL="0" indent="0" algn="r">
              <a:buNone/>
            </a:pPr>
            <a:r>
              <a:rPr lang="en-US" sz="1650" b="1" dirty="0">
                <a:solidFill>
                  <a:srgbClr val="C00000"/>
                </a:solidFill>
                <a:latin typeface="Calibri" pitchFamily="34" charset="0"/>
                <a:ea typeface="Calibri" pitchFamily="34" charset="-122"/>
                <a:cs typeface="Calibri" pitchFamily="34" charset="-120"/>
              </a:rPr>
              <a:t>▲ +1.4pt</a:t>
            </a:r>
            <a:endParaRPr lang="en-US" sz="1650" dirty="0"/>
          </a:p>
        </p:txBody>
      </p:sp>
      <p:sp>
        <p:nvSpPr>
          <p:cNvPr id="153" name="Shape 149"/>
          <p:cNvSpPr/>
          <p:nvPr/>
        </p:nvSpPr>
        <p:spPr>
          <a:xfrm>
            <a:off x="9931598" y="1428750"/>
            <a:ext cx="7708702" cy="6829425"/>
          </a:xfrm>
          <a:prstGeom prst="rect">
            <a:avLst/>
          </a:prstGeom>
          <a:solidFill>
            <a:srgbClr val="F1F6F2"/>
          </a:solidFill>
          <a:ln/>
        </p:spPr>
        <p:txBody>
          <a:bodyPr/>
          <a:lstStyle/>
          <a:p>
            <a:endParaRPr lang="en-US"/>
          </a:p>
        </p:txBody>
      </p:sp>
      <p:sp>
        <p:nvSpPr>
          <p:cNvPr id="154" name="Text 150"/>
          <p:cNvSpPr/>
          <p:nvPr/>
        </p:nvSpPr>
        <p:spPr>
          <a:xfrm>
            <a:off x="10217348" y="1676400"/>
            <a:ext cx="7850922"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A1A1A"/>
                </a:solidFill>
                <a:latin typeface="Calibri" pitchFamily="34" charset="0"/>
                <a:ea typeface="Calibri" pitchFamily="34" charset="-122"/>
                <a:cs typeface="Calibri" pitchFamily="34" charset="-120"/>
              </a:rPr>
              <a:t>Data comments:</a:t>
            </a:r>
            <a:endParaRPr lang="en-US" sz="1950" dirty="0"/>
          </a:p>
        </p:txBody>
      </p:sp>
      <p:sp>
        <p:nvSpPr>
          <p:cNvPr id="155" name="Text 151"/>
          <p:cNvSpPr/>
          <p:nvPr/>
        </p:nvSpPr>
        <p:spPr>
          <a:xfrm>
            <a:off x="10217348" y="2114550"/>
            <a:ext cx="7351318" cy="728663"/>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 Overall EVCS failure rate is </a:t>
            </a:r>
            <a:r>
              <a:rPr lang="en-US" sz="1875" b="1" dirty="0">
                <a:solidFill>
                  <a:srgbClr val="1A1A1A"/>
                </a:solidFill>
                <a:latin typeface="Calibri" pitchFamily="34" charset="0"/>
                <a:ea typeface="Calibri" pitchFamily="34" charset="-122"/>
                <a:cs typeface="Calibri" pitchFamily="34" charset="-120"/>
              </a:rPr>
              <a:t>20.0% </a:t>
            </a:r>
            <a:r>
              <a:rPr lang="en-US" sz="1875" dirty="0">
                <a:solidFill>
                  <a:srgbClr val="1A1A1A"/>
                </a:solidFill>
                <a:latin typeface="Calibri" pitchFamily="34" charset="0"/>
                <a:ea typeface="Calibri" pitchFamily="34" charset="-122"/>
                <a:cs typeface="Calibri" pitchFamily="34" charset="-120"/>
              </a:rPr>
              <a:t>(5,080 of 25,354 chargers), improved from 22.0% in June.</a:t>
            </a:r>
            <a:endParaRPr lang="en-US" sz="1875" dirty="0"/>
          </a:p>
        </p:txBody>
      </p:sp>
      <p:sp>
        <p:nvSpPr>
          <p:cNvPr id="156" name="Text 152"/>
          <p:cNvSpPr/>
          <p:nvPr/>
        </p:nvSpPr>
        <p:spPr>
          <a:xfrm>
            <a:off x="10217348" y="2919413"/>
            <a:ext cx="7422952" cy="728663"/>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 </a:t>
            </a:r>
            <a:r>
              <a:rPr lang="en-US" sz="1875" b="1" dirty="0">
                <a:solidFill>
                  <a:srgbClr val="1A1A1A"/>
                </a:solidFill>
                <a:latin typeface="Calibri" pitchFamily="34" charset="0"/>
                <a:ea typeface="Calibri" pitchFamily="34" charset="-122"/>
                <a:cs typeface="Calibri" pitchFamily="34" charset="-120"/>
              </a:rPr>
              <a:t>Kern improved most </a:t>
            </a:r>
            <a:r>
              <a:rPr lang="en-US" sz="1875" dirty="0">
                <a:solidFill>
                  <a:srgbClr val="1A1A1A"/>
                </a:solidFill>
                <a:latin typeface="Calibri" pitchFamily="34" charset="0"/>
                <a:ea typeface="Calibri" pitchFamily="34" charset="-122"/>
                <a:cs typeface="Calibri" pitchFamily="34" charset="-120"/>
              </a:rPr>
              <a:t>— 31.9% from 41.8% in June - but is still the highest failure rate of all models.</a:t>
            </a:r>
            <a:endParaRPr lang="en-US" sz="1875" dirty="0"/>
          </a:p>
        </p:txBody>
      </p:sp>
      <p:sp>
        <p:nvSpPr>
          <p:cNvPr id="157" name="Text 153"/>
          <p:cNvSpPr/>
          <p:nvPr/>
        </p:nvSpPr>
        <p:spPr>
          <a:xfrm>
            <a:off x="10217348" y="3724275"/>
            <a:ext cx="7351318" cy="728663"/>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 </a:t>
            </a:r>
            <a:r>
              <a:rPr lang="en-US" sz="1875" b="1" dirty="0">
                <a:solidFill>
                  <a:srgbClr val="1A1A1A"/>
                </a:solidFill>
                <a:latin typeface="Calibri" pitchFamily="34" charset="0"/>
                <a:ea typeface="Calibri" pitchFamily="34" charset="-122"/>
                <a:cs typeface="Calibri" pitchFamily="34" charset="-120"/>
              </a:rPr>
              <a:t>Coremini 31.8% </a:t>
            </a:r>
            <a:r>
              <a:rPr lang="en-US" sz="1875" dirty="0">
                <a:solidFill>
                  <a:srgbClr val="1A1A1A"/>
                </a:solidFill>
                <a:latin typeface="Calibri" pitchFamily="34" charset="0"/>
                <a:ea typeface="Calibri" pitchFamily="34" charset="-122"/>
                <a:cs typeface="Calibri" pitchFamily="34" charset="-120"/>
              </a:rPr>
              <a:t>(from 39.4%) and </a:t>
            </a:r>
            <a:r>
              <a:rPr lang="en-US" sz="1875" b="1" dirty="0">
                <a:solidFill>
                  <a:srgbClr val="1A1A1A"/>
                </a:solidFill>
                <a:latin typeface="Calibri" pitchFamily="34" charset="0"/>
                <a:ea typeface="Calibri" pitchFamily="34" charset="-122"/>
                <a:cs typeface="Calibri" pitchFamily="34" charset="-120"/>
              </a:rPr>
              <a:t>Core 30.1% </a:t>
            </a:r>
            <a:r>
              <a:rPr lang="en-US" sz="1875" dirty="0">
                <a:solidFill>
                  <a:srgbClr val="1A1A1A"/>
                </a:solidFill>
                <a:latin typeface="Calibri" pitchFamily="34" charset="0"/>
                <a:ea typeface="Calibri" pitchFamily="34" charset="-122"/>
                <a:cs typeface="Calibri" pitchFamily="34" charset="-120"/>
              </a:rPr>
              <a:t>(from 31.8%); Core still has the most repeat failures (freq 2.21).</a:t>
            </a:r>
            <a:endParaRPr lang="en-US" sz="1875" dirty="0"/>
          </a:p>
        </p:txBody>
      </p:sp>
      <p:sp>
        <p:nvSpPr>
          <p:cNvPr id="158" name="Text 154"/>
          <p:cNvSpPr/>
          <p:nvPr/>
        </p:nvSpPr>
        <p:spPr>
          <a:xfrm>
            <a:off x="10217348" y="4529138"/>
            <a:ext cx="7850922" cy="383381"/>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 </a:t>
            </a:r>
            <a:r>
              <a:rPr lang="en-US" sz="1875" b="1" dirty="0">
                <a:solidFill>
                  <a:srgbClr val="1A1A1A"/>
                </a:solidFill>
                <a:latin typeface="Calibri" pitchFamily="34" charset="0"/>
                <a:ea typeface="Calibri" pitchFamily="34" charset="-122"/>
                <a:cs typeface="Calibri" pitchFamily="34" charset="-120"/>
              </a:rPr>
              <a:t>AC dropped to 10.6% </a:t>
            </a:r>
            <a:r>
              <a:rPr lang="en-US" sz="1875" dirty="0">
                <a:solidFill>
                  <a:srgbClr val="1A1A1A"/>
                </a:solidFill>
                <a:latin typeface="Calibri" pitchFamily="34" charset="0"/>
                <a:ea typeface="Calibri" pitchFamily="34" charset="-122"/>
                <a:cs typeface="Calibri" pitchFamily="34" charset="-120"/>
              </a:rPr>
              <a:t>from 14.8%.</a:t>
            </a:r>
            <a:endParaRPr lang="en-US" sz="1875" dirty="0"/>
          </a:p>
        </p:txBody>
      </p:sp>
      <p:sp>
        <p:nvSpPr>
          <p:cNvPr id="159" name="Text 155"/>
          <p:cNvSpPr/>
          <p:nvPr/>
        </p:nvSpPr>
        <p:spPr>
          <a:xfrm>
            <a:off x="10217348" y="4988719"/>
            <a:ext cx="7351318" cy="728663"/>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 </a:t>
            </a:r>
            <a:r>
              <a:rPr lang="en-US" sz="1875" b="1" dirty="0">
                <a:solidFill>
                  <a:srgbClr val="1A1A1A"/>
                </a:solidFill>
                <a:latin typeface="Calibri" pitchFamily="34" charset="0"/>
                <a:ea typeface="Calibri" pitchFamily="34" charset="-122"/>
                <a:cs typeface="Calibri" pitchFamily="34" charset="-120"/>
              </a:rPr>
              <a:t>Socket is the only model getting worse </a:t>
            </a:r>
            <a:r>
              <a:rPr lang="en-US" sz="1875" dirty="0">
                <a:solidFill>
                  <a:srgbClr val="1A1A1A"/>
                </a:solidFill>
                <a:latin typeface="Calibri" pitchFamily="34" charset="0"/>
                <a:ea typeface="Calibri" pitchFamily="34" charset="-122"/>
                <a:cs typeface="Calibri" pitchFamily="34" charset="-120"/>
              </a:rPr>
              <a:t>— 11.4% from 10.0% in June, rising every month since M3.</a:t>
            </a:r>
            <a:endParaRPr lang="en-US" sz="1875" dirty="0"/>
          </a:p>
        </p:txBody>
      </p:sp>
      <p:sp>
        <p:nvSpPr>
          <p:cNvPr id="160" name="Shape 156"/>
          <p:cNvSpPr/>
          <p:nvPr/>
        </p:nvSpPr>
        <p:spPr>
          <a:xfrm>
            <a:off x="9931598" y="8448675"/>
            <a:ext cx="7708702" cy="1419225"/>
          </a:xfrm>
          <a:prstGeom prst="rect">
            <a:avLst/>
          </a:prstGeom>
          <a:solidFill>
            <a:srgbClr val="E2EFDA"/>
          </a:solidFill>
          <a:ln/>
        </p:spPr>
        <p:txBody>
          <a:bodyPr/>
          <a:lstStyle/>
          <a:p>
            <a:endParaRPr lang="en-US"/>
          </a:p>
        </p:txBody>
      </p:sp>
      <p:sp>
        <p:nvSpPr>
          <p:cNvPr id="161" name="Text 157"/>
          <p:cNvSpPr/>
          <p:nvPr/>
        </p:nvSpPr>
        <p:spPr>
          <a:xfrm>
            <a:off x="10198298" y="8658225"/>
            <a:ext cx="7406563" cy="1038225"/>
          </a:xfrm>
          <a:prstGeom prst="rect">
            <a:avLst/>
          </a:prstGeom>
          <a:noFill/>
          <a:ln/>
        </p:spPr>
        <p:txBody>
          <a:bodyPr wrap="square" lIns="25400" tIns="25400" rIns="25400" bIns="25400" rtlCol="0" anchor="t">
            <a:normAutofit/>
          </a:bodyPr>
          <a:lstStyle/>
          <a:p>
            <a:pPr marL="0" indent="0" algn="l">
              <a:lnSpc>
                <a:spcPct val="114130"/>
              </a:lnSpc>
              <a:buNone/>
            </a:pPr>
            <a:r>
              <a:rPr lang="en-US" sz="1875" b="1" dirty="0">
                <a:solidFill>
                  <a:srgbClr val="1A1A1A"/>
                </a:solidFill>
                <a:latin typeface="Calibri" pitchFamily="34" charset="0"/>
                <a:ea typeface="Calibri" pitchFamily="34" charset="-122"/>
                <a:cs typeface="Calibri" pitchFamily="34" charset="-120"/>
              </a:rPr>
              <a:t>Action: </a:t>
            </a:r>
            <a:r>
              <a:rPr lang="en-US" sz="1875" dirty="0">
                <a:solidFill>
                  <a:srgbClr val="1A1A1A"/>
                </a:solidFill>
                <a:highlight>
                  <a:srgbClr val="E2EFDA"/>
                </a:highlight>
                <a:latin typeface="Calibri" pitchFamily="34" charset="0"/>
                <a:ea typeface="Calibri" pitchFamily="34" charset="-122"/>
                <a:cs typeface="Calibri" pitchFamily="34" charset="-120"/>
              </a:rPr>
              <a:t>bring Core, </a:t>
            </a:r>
            <a:r>
              <a:rPr lang="en-US" sz="1875" dirty="0" err="1">
                <a:solidFill>
                  <a:srgbClr val="1A1A1A"/>
                </a:solidFill>
                <a:highlight>
                  <a:srgbClr val="E2EFDA"/>
                </a:highlight>
                <a:latin typeface="Calibri" pitchFamily="34" charset="0"/>
                <a:ea typeface="Calibri" pitchFamily="34" charset="-122"/>
                <a:cs typeface="Calibri" pitchFamily="34" charset="-120"/>
              </a:rPr>
              <a:t>Coremini</a:t>
            </a:r>
            <a:r>
              <a:rPr lang="en-US" sz="1875" dirty="0">
                <a:solidFill>
                  <a:srgbClr val="1A1A1A"/>
                </a:solidFill>
                <a:highlight>
                  <a:srgbClr val="E2EFDA"/>
                </a:highlight>
                <a:latin typeface="Calibri" pitchFamily="34" charset="0"/>
                <a:ea typeface="Calibri" pitchFamily="34" charset="-122"/>
                <a:cs typeface="Calibri" pitchFamily="34" charset="-120"/>
              </a:rPr>
              <a:t>, Kern below 25% by M9, using the new FW batch (expected in early September) + the fan / filter rework as the two main measures.</a:t>
            </a:r>
            <a:endParaRPr lang="en-US" sz="18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114300" y="342900"/>
            <a:ext cx="571500" cy="571500"/>
          </a:xfrm>
          <a:prstGeom prst="rect">
            <a:avLst/>
          </a:prstGeom>
        </p:spPr>
      </p:pic>
      <p:pic>
        <p:nvPicPr>
          <p:cNvPr id="3" name="Image 1" descr="preencoded.png"/>
          <p:cNvPicPr>
            <a:picLocks noChangeAspect="1"/>
          </p:cNvPicPr>
          <p:nvPr/>
        </p:nvPicPr>
        <p:blipFill>
          <a:blip r:embed="rId4"/>
          <a:srcRect t="49" b="49"/>
          <a:stretch/>
        </p:blipFill>
        <p:spPr>
          <a:xfrm>
            <a:off x="14001750" y="114300"/>
            <a:ext cx="4114800" cy="914400"/>
          </a:xfrm>
          <a:prstGeom prst="rect">
            <a:avLst/>
          </a:prstGeom>
        </p:spPr>
      </p:pic>
      <p:sp>
        <p:nvSpPr>
          <p:cNvPr id="4" name="Text 0"/>
          <p:cNvSpPr/>
          <p:nvPr/>
        </p:nvSpPr>
        <p:spPr>
          <a:xfrm>
            <a:off x="876300" y="419100"/>
            <a:ext cx="5364699" cy="508000"/>
          </a:xfrm>
          <a:prstGeom prst="rect">
            <a:avLst/>
          </a:prstGeom>
          <a:noFill/>
          <a:ln/>
        </p:spPr>
        <p:txBody>
          <a:bodyPr wrap="square" lIns="25400" tIns="25400" rIns="25400" bIns="25400" rtlCol="0" anchor="t">
            <a:normAutofit/>
          </a:bodyPr>
          <a:lstStyle/>
          <a:p>
            <a:pPr marL="0" indent="0" algn="l">
              <a:buNone/>
            </a:pPr>
            <a:r>
              <a:rPr lang="en-US" sz="3000" b="1" dirty="0">
                <a:solidFill>
                  <a:srgbClr val="1A1A1A"/>
                </a:solidFill>
                <a:latin typeface="Calibri" pitchFamily="34" charset="0"/>
                <a:ea typeface="Calibri" pitchFamily="34" charset="-122"/>
                <a:cs typeface="Calibri" pitchFamily="34" charset="-120"/>
              </a:rPr>
              <a:t>1.2. Failure status (cont.): EVCS</a:t>
            </a:r>
            <a:endParaRPr lang="en-US" sz="3000" dirty="0"/>
          </a:p>
        </p:txBody>
      </p:sp>
      <p:sp>
        <p:nvSpPr>
          <p:cNvPr id="5" name="Shape 1"/>
          <p:cNvSpPr/>
          <p:nvPr/>
        </p:nvSpPr>
        <p:spPr>
          <a:xfrm>
            <a:off x="0" y="1152525"/>
            <a:ext cx="18288000" cy="19050"/>
          </a:xfrm>
          <a:prstGeom prst="rect">
            <a:avLst/>
          </a:prstGeom>
          <a:solidFill>
            <a:srgbClr val="A6A6A6"/>
          </a:solidFill>
          <a:ln/>
        </p:spPr>
        <p:txBody>
          <a:bodyPr/>
          <a:lstStyle/>
          <a:p>
            <a:endParaRPr lang="en-US"/>
          </a:p>
        </p:txBody>
      </p:sp>
      <p:sp>
        <p:nvSpPr>
          <p:cNvPr id="6" name="Text 2"/>
          <p:cNvSpPr/>
          <p:nvPr/>
        </p:nvSpPr>
        <p:spPr>
          <a:xfrm>
            <a:off x="647700" y="1428750"/>
            <a:ext cx="9549368"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2F5597"/>
                </a:solidFill>
                <a:latin typeface="Calibri" pitchFamily="34" charset="0"/>
                <a:ea typeface="Calibri" pitchFamily="34" charset="-122"/>
                <a:cs typeface="Calibri" pitchFamily="34" charset="-120"/>
              </a:rPr>
              <a:t>Position of each model — failure rate × repeat frequency (bubble = fleet size)</a:t>
            </a:r>
            <a:endParaRPr lang="en-US" sz="1875" dirty="0"/>
          </a:p>
        </p:txBody>
      </p:sp>
      <p:sp>
        <p:nvSpPr>
          <p:cNvPr id="7" name="Text 3"/>
          <p:cNvSpPr/>
          <p:nvPr/>
        </p:nvSpPr>
        <p:spPr>
          <a:xfrm>
            <a:off x="958850" y="1854200"/>
            <a:ext cx="317500"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595959"/>
                </a:solidFill>
                <a:latin typeface="Calibri" pitchFamily="34" charset="0"/>
                <a:ea typeface="Calibri" pitchFamily="34" charset="-122"/>
                <a:cs typeface="Calibri" pitchFamily="34" charset="-120"/>
              </a:rPr>
              <a:t>2.4</a:t>
            </a:r>
            <a:endParaRPr lang="en-US" sz="1500" dirty="0"/>
          </a:p>
        </p:txBody>
      </p:sp>
      <p:sp>
        <p:nvSpPr>
          <p:cNvPr id="8" name="Text 4"/>
          <p:cNvSpPr/>
          <p:nvPr/>
        </p:nvSpPr>
        <p:spPr>
          <a:xfrm rot="10800000">
            <a:off x="971550" y="4257675"/>
            <a:ext cx="304800" cy="1618456"/>
          </a:xfrm>
          <a:prstGeom prst="rect">
            <a:avLst/>
          </a:prstGeom>
          <a:noFill/>
          <a:ln/>
        </p:spPr>
        <p:txBody>
          <a:bodyPr vert="eaVert" wrap="square" lIns="25400" tIns="25400" rIns="25400" bIns="25400" rtlCol="0" anchor="t">
            <a:normAutofit fontScale="92500"/>
          </a:bodyPr>
          <a:lstStyle/>
          <a:p>
            <a:pPr marL="0" indent="0" algn="l">
              <a:buNone/>
            </a:pPr>
            <a:r>
              <a:rPr lang="en-US" sz="1500" dirty="0">
                <a:solidFill>
                  <a:srgbClr val="404040"/>
                </a:solidFill>
                <a:latin typeface="Calibri" pitchFamily="34" charset="0"/>
                <a:ea typeface="Calibri" pitchFamily="34" charset="-122"/>
                <a:cs typeface="Calibri" pitchFamily="34" charset="-120"/>
              </a:rPr>
              <a:t>Repeat frequency →</a:t>
            </a:r>
            <a:endParaRPr lang="en-US" sz="1500" dirty="0"/>
          </a:p>
        </p:txBody>
      </p:sp>
      <p:sp>
        <p:nvSpPr>
          <p:cNvPr id="9" name="Text 5"/>
          <p:cNvSpPr/>
          <p:nvPr/>
        </p:nvSpPr>
        <p:spPr>
          <a:xfrm>
            <a:off x="958850" y="8012906"/>
            <a:ext cx="317500"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595959"/>
                </a:solidFill>
                <a:latin typeface="Calibri" pitchFamily="34" charset="0"/>
                <a:ea typeface="Calibri" pitchFamily="34" charset="-122"/>
                <a:cs typeface="Calibri" pitchFamily="34" charset="-120"/>
              </a:rPr>
              <a:t>1.2</a:t>
            </a:r>
            <a:endParaRPr lang="en-US" sz="1500" dirty="0"/>
          </a:p>
        </p:txBody>
      </p:sp>
      <p:sp>
        <p:nvSpPr>
          <p:cNvPr id="10" name="Shape 6"/>
          <p:cNvSpPr/>
          <p:nvPr/>
        </p:nvSpPr>
        <p:spPr>
          <a:xfrm>
            <a:off x="1314450" y="1854200"/>
            <a:ext cx="8014494" cy="6387307"/>
          </a:xfrm>
          <a:prstGeom prst="rect">
            <a:avLst/>
          </a:prstGeom>
          <a:solidFill>
            <a:srgbClr val="FBFCFA"/>
          </a:solidFill>
          <a:ln w="12700">
            <a:solidFill>
              <a:srgbClr val="D9DED7"/>
            </a:solidFill>
            <a:prstDash val="solid"/>
          </a:ln>
        </p:spPr>
        <p:txBody>
          <a:bodyPr/>
          <a:lstStyle/>
          <a:p>
            <a:endParaRPr lang="en-US"/>
          </a:p>
        </p:txBody>
      </p:sp>
      <p:sp>
        <p:nvSpPr>
          <p:cNvPr id="11" name="Shape 7"/>
          <p:cNvSpPr/>
          <p:nvPr/>
        </p:nvSpPr>
        <p:spPr>
          <a:xfrm>
            <a:off x="4874221" y="1866900"/>
            <a:ext cx="12700" cy="6361906"/>
          </a:xfrm>
          <a:prstGeom prst="rect">
            <a:avLst/>
          </a:prstGeom>
          <a:solidFill>
            <a:srgbClr val="C9CFC4"/>
          </a:solidFill>
          <a:ln/>
        </p:spPr>
        <p:txBody>
          <a:bodyPr/>
          <a:lstStyle/>
          <a:p>
            <a:endParaRPr lang="en-US"/>
          </a:p>
        </p:txBody>
      </p:sp>
      <p:sp>
        <p:nvSpPr>
          <p:cNvPr id="12" name="Shape 8"/>
          <p:cNvSpPr/>
          <p:nvPr/>
        </p:nvSpPr>
        <p:spPr>
          <a:xfrm>
            <a:off x="1327150" y="5156002"/>
            <a:ext cx="7989094" cy="12700"/>
          </a:xfrm>
          <a:prstGeom prst="rect">
            <a:avLst/>
          </a:prstGeom>
          <a:solidFill>
            <a:srgbClr val="C9CFC4"/>
          </a:solidFill>
          <a:ln/>
        </p:spPr>
        <p:txBody>
          <a:bodyPr/>
          <a:lstStyle/>
          <a:p>
            <a:endParaRPr lang="en-US"/>
          </a:p>
        </p:txBody>
      </p:sp>
      <p:sp>
        <p:nvSpPr>
          <p:cNvPr id="13" name="Text 9"/>
          <p:cNvSpPr/>
          <p:nvPr/>
        </p:nvSpPr>
        <p:spPr>
          <a:xfrm>
            <a:off x="4954191" y="1943100"/>
            <a:ext cx="1585377" cy="266700"/>
          </a:xfrm>
          <a:prstGeom prst="rect">
            <a:avLst/>
          </a:prstGeom>
          <a:noFill/>
          <a:ln/>
        </p:spPr>
        <p:txBody>
          <a:bodyPr wrap="square" lIns="25400" tIns="25400" rIns="25400" bIns="25400" rtlCol="0" anchor="t">
            <a:normAutofit lnSpcReduction="10000"/>
          </a:bodyPr>
          <a:lstStyle/>
          <a:p>
            <a:pPr marL="0" indent="0" algn="l">
              <a:buNone/>
            </a:pPr>
            <a:r>
              <a:rPr lang="en-US" sz="1425" dirty="0">
                <a:solidFill>
                  <a:srgbClr val="8A8F86"/>
                </a:solidFill>
                <a:latin typeface="Calibri" pitchFamily="34" charset="0"/>
                <a:ea typeface="Calibri" pitchFamily="34" charset="-122"/>
                <a:cs typeface="Calibri" pitchFamily="34" charset="-120"/>
              </a:rPr>
              <a:t>fleet average 20.0%</a:t>
            </a:r>
            <a:endParaRPr lang="en-US" sz="1425" dirty="0"/>
          </a:p>
        </p:txBody>
      </p:sp>
      <p:sp>
        <p:nvSpPr>
          <p:cNvPr id="14" name="Text 10"/>
          <p:cNvSpPr/>
          <p:nvPr/>
        </p:nvSpPr>
        <p:spPr>
          <a:xfrm>
            <a:off x="7586266" y="4858822"/>
            <a:ext cx="1819156" cy="266700"/>
          </a:xfrm>
          <a:prstGeom prst="rect">
            <a:avLst/>
          </a:prstGeom>
          <a:noFill/>
          <a:ln/>
        </p:spPr>
        <p:txBody>
          <a:bodyPr wrap="square" lIns="25400" tIns="25400" rIns="25400" bIns="25400" rtlCol="0" anchor="t">
            <a:normAutofit lnSpcReduction="10000"/>
          </a:bodyPr>
          <a:lstStyle/>
          <a:p>
            <a:pPr marL="0" indent="0" algn="l">
              <a:buNone/>
            </a:pPr>
            <a:r>
              <a:rPr lang="en-US" sz="1425" dirty="0">
                <a:solidFill>
                  <a:srgbClr val="8A8F86"/>
                </a:solidFill>
                <a:latin typeface="Calibri" pitchFamily="34" charset="0"/>
                <a:ea typeface="Calibri" pitchFamily="34" charset="-122"/>
                <a:cs typeface="Calibri" pitchFamily="34" charset="-120"/>
              </a:rPr>
              <a:t>fleet average freq 1.78</a:t>
            </a:r>
            <a:endParaRPr lang="en-US" sz="1425" dirty="0"/>
          </a:p>
        </p:txBody>
      </p:sp>
      <p:sp>
        <p:nvSpPr>
          <p:cNvPr id="15" name="Shape 11"/>
          <p:cNvSpPr/>
          <p:nvPr/>
        </p:nvSpPr>
        <p:spPr>
          <a:xfrm>
            <a:off x="2833092" y="6945908"/>
            <a:ext cx="758825" cy="758825"/>
          </a:xfrm>
          <a:prstGeom prst="ellipse">
            <a:avLst/>
          </a:prstGeom>
          <a:solidFill>
            <a:srgbClr val="2F5597">
              <a:alpha val="13000"/>
            </a:srgbClr>
          </a:solidFill>
          <a:ln w="12700">
            <a:solidFill>
              <a:srgbClr val="2F5597"/>
            </a:solidFill>
            <a:prstDash val="solid"/>
          </a:ln>
        </p:spPr>
        <p:txBody>
          <a:bodyPr/>
          <a:lstStyle/>
          <a:p>
            <a:endParaRPr lang="en-US"/>
          </a:p>
        </p:txBody>
      </p:sp>
      <p:sp>
        <p:nvSpPr>
          <p:cNvPr id="16" name="Text 12"/>
          <p:cNvSpPr/>
          <p:nvPr/>
        </p:nvSpPr>
        <p:spPr>
          <a:xfrm>
            <a:off x="3051175" y="7077670"/>
            <a:ext cx="322461"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2F5597"/>
                </a:solidFill>
                <a:latin typeface="Calibri" pitchFamily="34" charset="0"/>
                <a:ea typeface="Calibri" pitchFamily="34" charset="-122"/>
                <a:cs typeface="Calibri" pitchFamily="34" charset="-120"/>
              </a:rPr>
              <a:t>AC</a:t>
            </a:r>
            <a:endParaRPr lang="en-US" sz="1725" dirty="0"/>
          </a:p>
        </p:txBody>
      </p:sp>
      <p:sp>
        <p:nvSpPr>
          <p:cNvPr id="17" name="Text 13"/>
          <p:cNvSpPr/>
          <p:nvPr/>
        </p:nvSpPr>
        <p:spPr>
          <a:xfrm>
            <a:off x="2552979" y="7322542"/>
            <a:ext cx="1364694" cy="266700"/>
          </a:xfrm>
          <a:prstGeom prst="rect">
            <a:avLst/>
          </a:prstGeom>
          <a:noFill/>
          <a:ln/>
        </p:spPr>
        <p:txBody>
          <a:bodyPr wrap="none" lIns="25400" tIns="25400" rIns="25400" bIns="25400" rtlCol="0" anchor="t">
            <a:normAutofit lnSpcReduction="10000"/>
          </a:bodyPr>
          <a:lstStyle/>
          <a:p>
            <a:pPr marL="0" indent="0" algn="ctr">
              <a:buNone/>
            </a:pPr>
            <a:r>
              <a:rPr lang="en-US" sz="1425" dirty="0">
                <a:solidFill>
                  <a:srgbClr val="404040"/>
                </a:solidFill>
                <a:latin typeface="Calibri" pitchFamily="34" charset="0"/>
                <a:ea typeface="Calibri" pitchFamily="34" charset="-122"/>
                <a:cs typeface="Calibri" pitchFamily="34" charset="-120"/>
              </a:rPr>
              <a:t>10.6% · freq 1.37</a:t>
            </a:r>
            <a:endParaRPr lang="en-US" sz="1425" dirty="0"/>
          </a:p>
        </p:txBody>
      </p:sp>
      <p:sp>
        <p:nvSpPr>
          <p:cNvPr id="18" name="Shape 14"/>
          <p:cNvSpPr/>
          <p:nvPr/>
        </p:nvSpPr>
        <p:spPr>
          <a:xfrm>
            <a:off x="6368455" y="2568773"/>
            <a:ext cx="606425" cy="606425"/>
          </a:xfrm>
          <a:prstGeom prst="ellipse">
            <a:avLst/>
          </a:prstGeom>
          <a:solidFill>
            <a:srgbClr val="C0504D">
              <a:alpha val="13000"/>
            </a:srgbClr>
          </a:solidFill>
          <a:ln w="12700">
            <a:solidFill>
              <a:srgbClr val="C0504D"/>
            </a:solidFill>
            <a:prstDash val="solid"/>
          </a:ln>
        </p:spPr>
        <p:txBody>
          <a:bodyPr/>
          <a:lstStyle/>
          <a:p>
            <a:endParaRPr lang="en-US"/>
          </a:p>
        </p:txBody>
      </p:sp>
      <p:sp>
        <p:nvSpPr>
          <p:cNvPr id="19" name="Text 15"/>
          <p:cNvSpPr/>
          <p:nvPr/>
        </p:nvSpPr>
        <p:spPr>
          <a:xfrm>
            <a:off x="6423819" y="2624336"/>
            <a:ext cx="495697"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C0504D"/>
                </a:solidFill>
                <a:latin typeface="Calibri" pitchFamily="34" charset="0"/>
                <a:ea typeface="Calibri" pitchFamily="34" charset="-122"/>
                <a:cs typeface="Calibri" pitchFamily="34" charset="-120"/>
              </a:rPr>
              <a:t>Core</a:t>
            </a:r>
            <a:endParaRPr lang="en-US" sz="1725" dirty="0"/>
          </a:p>
        </p:txBody>
      </p:sp>
      <p:sp>
        <p:nvSpPr>
          <p:cNvPr id="20" name="Text 16"/>
          <p:cNvSpPr/>
          <p:nvPr/>
        </p:nvSpPr>
        <p:spPr>
          <a:xfrm>
            <a:off x="5989320" y="2891036"/>
            <a:ext cx="1364694" cy="266700"/>
          </a:xfrm>
          <a:prstGeom prst="rect">
            <a:avLst/>
          </a:prstGeom>
          <a:noFill/>
          <a:ln/>
        </p:spPr>
        <p:txBody>
          <a:bodyPr wrap="none" lIns="25400" tIns="25400" rIns="25400" bIns="25400" rtlCol="0" anchor="t">
            <a:normAutofit lnSpcReduction="10000"/>
          </a:bodyPr>
          <a:lstStyle/>
          <a:p>
            <a:pPr marL="0" indent="0" algn="ctr">
              <a:buNone/>
            </a:pPr>
            <a:r>
              <a:rPr lang="en-US" sz="1425" dirty="0">
                <a:solidFill>
                  <a:srgbClr val="404040"/>
                </a:solidFill>
                <a:latin typeface="Calibri" pitchFamily="34" charset="0"/>
                <a:ea typeface="Calibri" pitchFamily="34" charset="-122"/>
                <a:cs typeface="Calibri" pitchFamily="34" charset="-120"/>
              </a:rPr>
              <a:t>30.1% · freq 2.21</a:t>
            </a:r>
            <a:endParaRPr lang="en-US" sz="1425" dirty="0"/>
          </a:p>
        </p:txBody>
      </p:sp>
      <p:sp>
        <p:nvSpPr>
          <p:cNvPr id="21" name="Shape 17"/>
          <p:cNvSpPr/>
          <p:nvPr/>
        </p:nvSpPr>
        <p:spPr>
          <a:xfrm>
            <a:off x="6648252" y="3289300"/>
            <a:ext cx="654050" cy="654050"/>
          </a:xfrm>
          <a:prstGeom prst="ellipse">
            <a:avLst/>
          </a:prstGeom>
          <a:solidFill>
            <a:srgbClr val="E8A33D">
              <a:alpha val="13000"/>
            </a:srgbClr>
          </a:solidFill>
          <a:ln w="12700">
            <a:solidFill>
              <a:srgbClr val="E8A33D"/>
            </a:solidFill>
            <a:prstDash val="solid"/>
          </a:ln>
        </p:spPr>
        <p:txBody>
          <a:bodyPr/>
          <a:lstStyle/>
          <a:p>
            <a:endParaRPr lang="en-US"/>
          </a:p>
        </p:txBody>
      </p:sp>
      <p:sp>
        <p:nvSpPr>
          <p:cNvPr id="22" name="Text 18"/>
          <p:cNvSpPr/>
          <p:nvPr/>
        </p:nvSpPr>
        <p:spPr>
          <a:xfrm>
            <a:off x="6525816" y="3368675"/>
            <a:ext cx="899120"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E8A33D"/>
                </a:solidFill>
                <a:latin typeface="Calibri" pitchFamily="34" charset="0"/>
                <a:ea typeface="Calibri" pitchFamily="34" charset="-122"/>
                <a:cs typeface="Calibri" pitchFamily="34" charset="-120"/>
              </a:rPr>
              <a:t>Coremini</a:t>
            </a:r>
            <a:endParaRPr lang="en-US" sz="1725" dirty="0"/>
          </a:p>
        </p:txBody>
      </p:sp>
      <p:sp>
        <p:nvSpPr>
          <p:cNvPr id="23" name="Text 19"/>
          <p:cNvSpPr/>
          <p:nvPr/>
        </p:nvSpPr>
        <p:spPr>
          <a:xfrm>
            <a:off x="6292929" y="3635375"/>
            <a:ext cx="1364694" cy="266700"/>
          </a:xfrm>
          <a:prstGeom prst="rect">
            <a:avLst/>
          </a:prstGeom>
          <a:noFill/>
          <a:ln/>
        </p:spPr>
        <p:txBody>
          <a:bodyPr wrap="none" lIns="25400" tIns="25400" rIns="25400" bIns="25400" rtlCol="0" anchor="t">
            <a:normAutofit lnSpcReduction="10000"/>
          </a:bodyPr>
          <a:lstStyle/>
          <a:p>
            <a:pPr marL="0" indent="0" algn="ctr">
              <a:buNone/>
            </a:pPr>
            <a:r>
              <a:rPr lang="en-US" sz="1425" dirty="0">
                <a:solidFill>
                  <a:srgbClr val="404040"/>
                </a:solidFill>
                <a:latin typeface="Calibri" pitchFamily="34" charset="0"/>
                <a:ea typeface="Calibri" pitchFamily="34" charset="-122"/>
                <a:cs typeface="Calibri" pitchFamily="34" charset="-120"/>
              </a:rPr>
              <a:t>31.8% · freq 2.07</a:t>
            </a:r>
            <a:endParaRPr lang="en-US" sz="1425" dirty="0"/>
          </a:p>
        </p:txBody>
      </p:sp>
      <p:sp>
        <p:nvSpPr>
          <p:cNvPr id="24" name="Shape 20"/>
          <p:cNvSpPr/>
          <p:nvPr/>
        </p:nvSpPr>
        <p:spPr>
          <a:xfrm>
            <a:off x="6678613" y="5956499"/>
            <a:ext cx="625475" cy="625475"/>
          </a:xfrm>
          <a:prstGeom prst="ellipse">
            <a:avLst/>
          </a:prstGeom>
          <a:solidFill>
            <a:srgbClr val="7F5FA0">
              <a:alpha val="13000"/>
            </a:srgbClr>
          </a:solidFill>
          <a:ln w="12700">
            <a:solidFill>
              <a:srgbClr val="7F5FA0"/>
            </a:solidFill>
            <a:prstDash val="solid"/>
          </a:ln>
        </p:spPr>
        <p:txBody>
          <a:bodyPr/>
          <a:lstStyle/>
          <a:p>
            <a:endParaRPr lang="en-US"/>
          </a:p>
        </p:txBody>
      </p:sp>
      <p:sp>
        <p:nvSpPr>
          <p:cNvPr id="25" name="Text 21"/>
          <p:cNvSpPr/>
          <p:nvPr/>
        </p:nvSpPr>
        <p:spPr>
          <a:xfrm>
            <a:off x="6742311" y="6021586"/>
            <a:ext cx="497880"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7F5FA0"/>
                </a:solidFill>
                <a:latin typeface="Calibri" pitchFamily="34" charset="0"/>
                <a:ea typeface="Calibri" pitchFamily="34" charset="-122"/>
                <a:cs typeface="Calibri" pitchFamily="34" charset="-120"/>
              </a:rPr>
              <a:t>Kern</a:t>
            </a:r>
            <a:endParaRPr lang="en-US" sz="1725" dirty="0"/>
          </a:p>
        </p:txBody>
      </p:sp>
      <p:sp>
        <p:nvSpPr>
          <p:cNvPr id="26" name="Text 22"/>
          <p:cNvSpPr/>
          <p:nvPr/>
        </p:nvSpPr>
        <p:spPr>
          <a:xfrm>
            <a:off x="6309003" y="6288286"/>
            <a:ext cx="1364694" cy="266700"/>
          </a:xfrm>
          <a:prstGeom prst="rect">
            <a:avLst/>
          </a:prstGeom>
          <a:noFill/>
          <a:ln/>
        </p:spPr>
        <p:txBody>
          <a:bodyPr wrap="none" lIns="25400" tIns="25400" rIns="25400" bIns="25400" rtlCol="0" anchor="t">
            <a:normAutofit lnSpcReduction="10000"/>
          </a:bodyPr>
          <a:lstStyle/>
          <a:p>
            <a:pPr marL="0" indent="0" algn="ctr">
              <a:buNone/>
            </a:pPr>
            <a:r>
              <a:rPr lang="en-US" sz="1425" dirty="0">
                <a:solidFill>
                  <a:srgbClr val="404040"/>
                </a:solidFill>
                <a:latin typeface="Calibri" pitchFamily="34" charset="0"/>
                <a:ea typeface="Calibri" pitchFamily="34" charset="-122"/>
                <a:cs typeface="Calibri" pitchFamily="34" charset="-120"/>
              </a:rPr>
              <a:t>31.9% · freq 1.57</a:t>
            </a:r>
            <a:endParaRPr lang="en-US" sz="1425" dirty="0"/>
          </a:p>
        </p:txBody>
      </p:sp>
      <p:sp>
        <p:nvSpPr>
          <p:cNvPr id="27" name="Shape 23"/>
          <p:cNvSpPr/>
          <p:nvPr/>
        </p:nvSpPr>
        <p:spPr>
          <a:xfrm>
            <a:off x="2992636" y="6492478"/>
            <a:ext cx="711200" cy="711200"/>
          </a:xfrm>
          <a:prstGeom prst="ellipse">
            <a:avLst/>
          </a:prstGeom>
          <a:solidFill>
            <a:srgbClr val="619B32">
              <a:alpha val="13000"/>
            </a:srgbClr>
          </a:solidFill>
          <a:ln w="12700">
            <a:solidFill>
              <a:srgbClr val="619B32"/>
            </a:solidFill>
            <a:prstDash val="solid"/>
          </a:ln>
        </p:spPr>
        <p:txBody>
          <a:bodyPr/>
          <a:lstStyle/>
          <a:p>
            <a:endParaRPr lang="en-US"/>
          </a:p>
        </p:txBody>
      </p:sp>
      <p:sp>
        <p:nvSpPr>
          <p:cNvPr id="28" name="Text 24"/>
          <p:cNvSpPr/>
          <p:nvPr/>
        </p:nvSpPr>
        <p:spPr>
          <a:xfrm>
            <a:off x="3011686" y="6600429"/>
            <a:ext cx="673100"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619B32"/>
                </a:solidFill>
                <a:latin typeface="Calibri" pitchFamily="34" charset="0"/>
                <a:ea typeface="Calibri" pitchFamily="34" charset="-122"/>
                <a:cs typeface="Calibri" pitchFamily="34" charset="-120"/>
              </a:rPr>
              <a:t>Socket</a:t>
            </a:r>
            <a:endParaRPr lang="en-US" sz="1725" dirty="0"/>
          </a:p>
        </p:txBody>
      </p:sp>
      <p:sp>
        <p:nvSpPr>
          <p:cNvPr id="29" name="Text 25"/>
          <p:cNvSpPr/>
          <p:nvPr/>
        </p:nvSpPr>
        <p:spPr>
          <a:xfrm>
            <a:off x="2769792" y="6269236"/>
            <a:ext cx="1364694" cy="266700"/>
          </a:xfrm>
          <a:prstGeom prst="rect">
            <a:avLst/>
          </a:prstGeom>
          <a:noFill/>
          <a:ln/>
        </p:spPr>
        <p:txBody>
          <a:bodyPr wrap="none" lIns="25400" tIns="25400" rIns="25400" bIns="25400" rtlCol="0" anchor="t">
            <a:normAutofit lnSpcReduction="10000"/>
          </a:bodyPr>
          <a:lstStyle/>
          <a:p>
            <a:pPr marL="0" indent="0" algn="ctr">
              <a:buNone/>
            </a:pPr>
            <a:r>
              <a:rPr lang="en-US" sz="1425" dirty="0">
                <a:solidFill>
                  <a:srgbClr val="404040"/>
                </a:solidFill>
                <a:latin typeface="Calibri" pitchFamily="34" charset="0"/>
                <a:ea typeface="Calibri" pitchFamily="34" charset="-122"/>
                <a:cs typeface="Calibri" pitchFamily="34" charset="-120"/>
              </a:rPr>
              <a:t>11.4% · freq 1.46</a:t>
            </a:r>
            <a:endParaRPr lang="en-US" sz="1425" dirty="0"/>
          </a:p>
        </p:txBody>
      </p:sp>
      <p:sp>
        <p:nvSpPr>
          <p:cNvPr id="30" name="Text 26"/>
          <p:cNvSpPr/>
          <p:nvPr/>
        </p:nvSpPr>
        <p:spPr>
          <a:xfrm>
            <a:off x="1314450" y="8317706"/>
            <a:ext cx="308967"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595959"/>
                </a:solidFill>
                <a:latin typeface="Calibri" pitchFamily="34" charset="0"/>
                <a:ea typeface="Calibri" pitchFamily="34" charset="-122"/>
                <a:cs typeface="Calibri" pitchFamily="34" charset="-120"/>
              </a:rPr>
              <a:t>0%</a:t>
            </a:r>
            <a:endParaRPr lang="en-US" sz="1500" dirty="0"/>
          </a:p>
        </p:txBody>
      </p:sp>
      <p:sp>
        <p:nvSpPr>
          <p:cNvPr id="31" name="Text 27"/>
          <p:cNvSpPr/>
          <p:nvPr/>
        </p:nvSpPr>
        <p:spPr>
          <a:xfrm>
            <a:off x="4729956" y="8317706"/>
            <a:ext cx="1163241"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404040"/>
                </a:solidFill>
                <a:latin typeface="Calibri" pitchFamily="34" charset="0"/>
                <a:ea typeface="Calibri" pitchFamily="34" charset="-122"/>
                <a:cs typeface="Calibri" pitchFamily="34" charset="-120"/>
              </a:rPr>
              <a:t>Failure rate →</a:t>
            </a:r>
            <a:endParaRPr lang="en-US" sz="1500" dirty="0"/>
          </a:p>
        </p:txBody>
      </p:sp>
      <p:sp>
        <p:nvSpPr>
          <p:cNvPr id="32" name="Text 28"/>
          <p:cNvSpPr/>
          <p:nvPr/>
        </p:nvSpPr>
        <p:spPr>
          <a:xfrm>
            <a:off x="8999538" y="8317706"/>
            <a:ext cx="405606"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595959"/>
                </a:solidFill>
                <a:latin typeface="Calibri" pitchFamily="34" charset="0"/>
                <a:ea typeface="Calibri" pitchFamily="34" charset="-122"/>
                <a:cs typeface="Calibri" pitchFamily="34" charset="-120"/>
              </a:rPr>
              <a:t>45%</a:t>
            </a:r>
            <a:endParaRPr lang="en-US" sz="1500" dirty="0"/>
          </a:p>
        </p:txBody>
      </p:sp>
      <p:sp>
        <p:nvSpPr>
          <p:cNvPr id="33" name="Text 29"/>
          <p:cNvSpPr/>
          <p:nvPr/>
        </p:nvSpPr>
        <p:spPr>
          <a:xfrm>
            <a:off x="9655692" y="6269236"/>
            <a:ext cx="8286320" cy="997744"/>
          </a:xfrm>
          <a:prstGeom prst="rect">
            <a:avLst/>
          </a:prstGeom>
          <a:noFill/>
          <a:ln/>
        </p:spPr>
        <p:txBody>
          <a:bodyPr wrap="square" lIns="25400" tIns="25400" rIns="25400" bIns="25400" rtlCol="0" anchor="t">
            <a:normAutofit/>
          </a:bodyPr>
          <a:lstStyle/>
          <a:p>
            <a:pPr marL="0" indent="0" algn="l">
              <a:lnSpc>
                <a:spcPct val="114545"/>
              </a:lnSpc>
              <a:buNone/>
            </a:pPr>
            <a:r>
              <a:rPr lang="en-US" sz="1800" b="1" dirty="0">
                <a:solidFill>
                  <a:srgbClr val="1A1A1A"/>
                </a:solidFill>
                <a:latin typeface="Calibri" pitchFamily="34" charset="0"/>
                <a:ea typeface="Calibri" pitchFamily="34" charset="-122"/>
                <a:cs typeface="Calibri" pitchFamily="34" charset="-120"/>
              </a:rPr>
              <a:t>Top-right is worst: </a:t>
            </a:r>
            <a:r>
              <a:rPr lang="en-US" sz="1800" dirty="0">
                <a:solidFill>
                  <a:srgbClr val="1A1A1A"/>
                </a:solidFill>
                <a:latin typeface="Calibri" pitchFamily="34" charset="0"/>
                <a:ea typeface="Calibri" pitchFamily="34" charset="-122"/>
                <a:cs typeface="Calibri" pitchFamily="34" charset="-120"/>
              </a:rPr>
              <a:t>Core and Coremini fail often </a:t>
            </a:r>
            <a:r>
              <a:rPr lang="en-US" sz="1800" i="1" dirty="0">
                <a:solidFill>
                  <a:srgbClr val="1A1A1A"/>
                </a:solidFill>
                <a:latin typeface="Calibri" pitchFamily="34" charset="0"/>
                <a:ea typeface="Calibri" pitchFamily="34" charset="-122"/>
                <a:cs typeface="Calibri" pitchFamily="34" charset="-120"/>
              </a:rPr>
              <a:t>and </a:t>
            </a:r>
            <a:r>
              <a:rPr lang="en-US" sz="1800" dirty="0">
                <a:solidFill>
                  <a:srgbClr val="1A1A1A"/>
                </a:solidFill>
                <a:latin typeface="Calibri" pitchFamily="34" charset="0"/>
                <a:ea typeface="Calibri" pitchFamily="34" charset="-122"/>
                <a:cs typeface="Calibri" pitchFamily="34" charset="-120"/>
              </a:rPr>
              <a:t>keep coming back — this is a design or repair-quality problem. Kern fails as often but rarely comes back (freq 1.57), which suggests single component failures. AC and Socket are the more reliable half of the fleet.</a:t>
            </a:r>
            <a:endParaRPr lang="en-US" sz="1800" dirty="0"/>
          </a:p>
        </p:txBody>
      </p:sp>
      <p:sp>
        <p:nvSpPr>
          <p:cNvPr id="34" name="Text 30"/>
          <p:cNvSpPr/>
          <p:nvPr/>
        </p:nvSpPr>
        <p:spPr>
          <a:xfrm>
            <a:off x="9748044" y="1861239"/>
            <a:ext cx="8681482"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2F5597"/>
                </a:solidFill>
                <a:latin typeface="Calibri" pitchFamily="34" charset="0"/>
                <a:ea typeface="Calibri" pitchFamily="34" charset="-122"/>
                <a:cs typeface="Calibri" pitchFamily="34" charset="-120"/>
              </a:rPr>
              <a:t>Failure tickets in the month, by model</a:t>
            </a:r>
            <a:endParaRPr lang="en-US" sz="1875" dirty="0"/>
          </a:p>
        </p:txBody>
      </p:sp>
      <p:sp>
        <p:nvSpPr>
          <p:cNvPr id="35" name="Text 31"/>
          <p:cNvSpPr/>
          <p:nvPr/>
        </p:nvSpPr>
        <p:spPr>
          <a:xfrm>
            <a:off x="9748044" y="2431152"/>
            <a:ext cx="1362075" cy="3175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A1A1A"/>
                </a:solidFill>
                <a:latin typeface="Calibri" pitchFamily="34" charset="0"/>
                <a:ea typeface="Calibri" pitchFamily="34" charset="-122"/>
                <a:cs typeface="Calibri" pitchFamily="34" charset="-120"/>
              </a:rPr>
              <a:t>AC</a:t>
            </a:r>
            <a:endParaRPr lang="en-US" sz="1800" dirty="0"/>
          </a:p>
        </p:txBody>
      </p:sp>
      <p:sp>
        <p:nvSpPr>
          <p:cNvPr id="36" name="Text 32"/>
          <p:cNvSpPr/>
          <p:nvPr/>
        </p:nvSpPr>
        <p:spPr>
          <a:xfrm>
            <a:off x="11119645" y="2305739"/>
            <a:ext cx="2778939" cy="29210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404040"/>
                </a:solidFill>
                <a:latin typeface="Calibri" pitchFamily="34" charset="0"/>
                <a:ea typeface="Calibri" pitchFamily="34" charset="-122"/>
                <a:cs typeface="Calibri" pitchFamily="34" charset="-120"/>
              </a:rPr>
              <a:t>1,154 tickets · 842 failed units</a:t>
            </a:r>
            <a:endParaRPr lang="en-US" sz="1650" dirty="0"/>
          </a:p>
        </p:txBody>
      </p:sp>
      <p:sp>
        <p:nvSpPr>
          <p:cNvPr id="37" name="Text 33"/>
          <p:cNvSpPr/>
          <p:nvPr/>
        </p:nvSpPr>
        <p:spPr>
          <a:xfrm>
            <a:off x="16183570" y="2305739"/>
            <a:ext cx="1602403" cy="29210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404040"/>
                </a:solidFill>
                <a:latin typeface="Calibri" pitchFamily="34" charset="0"/>
                <a:ea typeface="Calibri" pitchFamily="34" charset="-122"/>
                <a:cs typeface="Calibri" pitchFamily="34" charset="-120"/>
              </a:rPr>
              <a:t>10.6% · freq 1.37</a:t>
            </a:r>
            <a:endParaRPr lang="en-US" sz="1650" dirty="0"/>
          </a:p>
        </p:txBody>
      </p:sp>
      <p:sp>
        <p:nvSpPr>
          <p:cNvPr id="38" name="Shape 34"/>
          <p:cNvSpPr/>
          <p:nvPr/>
        </p:nvSpPr>
        <p:spPr>
          <a:xfrm>
            <a:off x="11119645" y="2607364"/>
            <a:ext cx="6520657" cy="228600"/>
          </a:xfrm>
          <a:prstGeom prst="rect">
            <a:avLst/>
          </a:prstGeom>
          <a:solidFill>
            <a:srgbClr val="EDEFEA"/>
          </a:solidFill>
          <a:ln/>
        </p:spPr>
        <p:txBody>
          <a:bodyPr/>
          <a:lstStyle/>
          <a:p>
            <a:endParaRPr lang="en-US"/>
          </a:p>
        </p:txBody>
      </p:sp>
      <p:sp>
        <p:nvSpPr>
          <p:cNvPr id="39" name="Shape 35"/>
          <p:cNvSpPr/>
          <p:nvPr/>
        </p:nvSpPr>
        <p:spPr>
          <a:xfrm>
            <a:off x="11119645" y="2607364"/>
            <a:ext cx="1538684" cy="228600"/>
          </a:xfrm>
          <a:prstGeom prst="rect">
            <a:avLst/>
          </a:prstGeom>
          <a:solidFill>
            <a:srgbClr val="2F5597"/>
          </a:solidFill>
          <a:ln/>
        </p:spPr>
        <p:txBody>
          <a:bodyPr/>
          <a:lstStyle/>
          <a:p>
            <a:endParaRPr lang="en-US"/>
          </a:p>
        </p:txBody>
      </p:sp>
      <p:sp>
        <p:nvSpPr>
          <p:cNvPr id="40" name="Text 36"/>
          <p:cNvSpPr/>
          <p:nvPr/>
        </p:nvSpPr>
        <p:spPr>
          <a:xfrm>
            <a:off x="9748044" y="3094727"/>
            <a:ext cx="1362075" cy="3175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A1A1A"/>
                </a:solidFill>
                <a:latin typeface="Calibri" pitchFamily="34" charset="0"/>
                <a:ea typeface="Calibri" pitchFamily="34" charset="-122"/>
                <a:cs typeface="Calibri" pitchFamily="34" charset="-120"/>
              </a:rPr>
              <a:t>Core</a:t>
            </a:r>
            <a:endParaRPr lang="en-US" sz="1800" dirty="0"/>
          </a:p>
        </p:txBody>
      </p:sp>
      <p:sp>
        <p:nvSpPr>
          <p:cNvPr id="41" name="Text 37"/>
          <p:cNvSpPr/>
          <p:nvPr/>
        </p:nvSpPr>
        <p:spPr>
          <a:xfrm>
            <a:off x="11119645" y="2969314"/>
            <a:ext cx="2778939" cy="29210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404040"/>
                </a:solidFill>
                <a:latin typeface="Calibri" pitchFamily="34" charset="0"/>
                <a:ea typeface="Calibri" pitchFamily="34" charset="-122"/>
                <a:cs typeface="Calibri" pitchFamily="34" charset="-120"/>
              </a:rPr>
              <a:t>2,112 tickets · 957 failed units</a:t>
            </a:r>
            <a:endParaRPr lang="en-US" sz="1650" dirty="0"/>
          </a:p>
        </p:txBody>
      </p:sp>
      <p:sp>
        <p:nvSpPr>
          <p:cNvPr id="42" name="Text 38"/>
          <p:cNvSpPr/>
          <p:nvPr/>
        </p:nvSpPr>
        <p:spPr>
          <a:xfrm>
            <a:off x="16183570" y="2969314"/>
            <a:ext cx="1602403" cy="29210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404040"/>
                </a:solidFill>
                <a:latin typeface="Calibri" pitchFamily="34" charset="0"/>
                <a:ea typeface="Calibri" pitchFamily="34" charset="-122"/>
                <a:cs typeface="Calibri" pitchFamily="34" charset="-120"/>
              </a:rPr>
              <a:t>30.1% · freq 2.21</a:t>
            </a:r>
            <a:endParaRPr lang="en-US" sz="1650" dirty="0"/>
          </a:p>
        </p:txBody>
      </p:sp>
      <p:sp>
        <p:nvSpPr>
          <p:cNvPr id="43" name="Shape 39"/>
          <p:cNvSpPr/>
          <p:nvPr/>
        </p:nvSpPr>
        <p:spPr>
          <a:xfrm>
            <a:off x="11119645" y="3270939"/>
            <a:ext cx="6520657" cy="228600"/>
          </a:xfrm>
          <a:prstGeom prst="rect">
            <a:avLst/>
          </a:prstGeom>
          <a:solidFill>
            <a:srgbClr val="EDEFEA"/>
          </a:solidFill>
          <a:ln/>
        </p:spPr>
        <p:txBody>
          <a:bodyPr/>
          <a:lstStyle/>
          <a:p>
            <a:endParaRPr lang="en-US"/>
          </a:p>
        </p:txBody>
      </p:sp>
      <p:sp>
        <p:nvSpPr>
          <p:cNvPr id="44" name="Shape 40"/>
          <p:cNvSpPr/>
          <p:nvPr/>
        </p:nvSpPr>
        <p:spPr>
          <a:xfrm>
            <a:off x="11119645" y="3270939"/>
            <a:ext cx="4362252" cy="228600"/>
          </a:xfrm>
          <a:prstGeom prst="rect">
            <a:avLst/>
          </a:prstGeom>
          <a:solidFill>
            <a:srgbClr val="C0504D"/>
          </a:solidFill>
          <a:ln/>
        </p:spPr>
        <p:txBody>
          <a:bodyPr/>
          <a:lstStyle/>
          <a:p>
            <a:endParaRPr lang="en-US"/>
          </a:p>
        </p:txBody>
      </p:sp>
      <p:sp>
        <p:nvSpPr>
          <p:cNvPr id="45" name="Text 41"/>
          <p:cNvSpPr/>
          <p:nvPr/>
        </p:nvSpPr>
        <p:spPr>
          <a:xfrm>
            <a:off x="9748044" y="3758302"/>
            <a:ext cx="1362075" cy="3175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A1A1A"/>
                </a:solidFill>
                <a:latin typeface="Calibri" pitchFamily="34" charset="0"/>
                <a:ea typeface="Calibri" pitchFamily="34" charset="-122"/>
                <a:cs typeface="Calibri" pitchFamily="34" charset="-120"/>
              </a:rPr>
              <a:t>Coremini</a:t>
            </a:r>
            <a:endParaRPr lang="en-US" sz="1800" dirty="0"/>
          </a:p>
        </p:txBody>
      </p:sp>
      <p:sp>
        <p:nvSpPr>
          <p:cNvPr id="46" name="Text 42"/>
          <p:cNvSpPr/>
          <p:nvPr/>
        </p:nvSpPr>
        <p:spPr>
          <a:xfrm>
            <a:off x="11119645" y="3632889"/>
            <a:ext cx="2953345" cy="29210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404040"/>
                </a:solidFill>
                <a:latin typeface="Calibri" pitchFamily="34" charset="0"/>
                <a:ea typeface="Calibri" pitchFamily="34" charset="-122"/>
                <a:cs typeface="Calibri" pitchFamily="34" charset="-120"/>
              </a:rPr>
              <a:t>2,906 tickets · 1,405 failed units</a:t>
            </a:r>
            <a:endParaRPr lang="en-US" sz="1650" dirty="0"/>
          </a:p>
        </p:txBody>
      </p:sp>
      <p:sp>
        <p:nvSpPr>
          <p:cNvPr id="47" name="Text 43"/>
          <p:cNvSpPr/>
          <p:nvPr/>
        </p:nvSpPr>
        <p:spPr>
          <a:xfrm>
            <a:off x="16183570" y="3632889"/>
            <a:ext cx="1602403" cy="29210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404040"/>
                </a:solidFill>
                <a:latin typeface="Calibri" pitchFamily="34" charset="0"/>
                <a:ea typeface="Calibri" pitchFamily="34" charset="-122"/>
                <a:cs typeface="Calibri" pitchFamily="34" charset="-120"/>
              </a:rPr>
              <a:t>31.8% · freq 2.07</a:t>
            </a:r>
            <a:endParaRPr lang="en-US" sz="1650" dirty="0"/>
          </a:p>
        </p:txBody>
      </p:sp>
      <p:sp>
        <p:nvSpPr>
          <p:cNvPr id="48" name="Shape 44"/>
          <p:cNvSpPr/>
          <p:nvPr/>
        </p:nvSpPr>
        <p:spPr>
          <a:xfrm>
            <a:off x="11119645" y="3934514"/>
            <a:ext cx="6520657" cy="228600"/>
          </a:xfrm>
          <a:prstGeom prst="rect">
            <a:avLst/>
          </a:prstGeom>
          <a:solidFill>
            <a:srgbClr val="EDEFEA"/>
          </a:solidFill>
          <a:ln/>
        </p:spPr>
        <p:txBody>
          <a:bodyPr/>
          <a:lstStyle/>
          <a:p>
            <a:endParaRPr lang="en-US"/>
          </a:p>
        </p:txBody>
      </p:sp>
      <p:sp>
        <p:nvSpPr>
          <p:cNvPr id="49" name="Shape 45"/>
          <p:cNvSpPr/>
          <p:nvPr/>
        </p:nvSpPr>
        <p:spPr>
          <a:xfrm>
            <a:off x="11119645" y="3934514"/>
            <a:ext cx="4610100" cy="228600"/>
          </a:xfrm>
          <a:prstGeom prst="rect">
            <a:avLst/>
          </a:prstGeom>
          <a:solidFill>
            <a:srgbClr val="E8A33D"/>
          </a:solidFill>
          <a:ln/>
        </p:spPr>
        <p:txBody>
          <a:bodyPr/>
          <a:lstStyle/>
          <a:p>
            <a:endParaRPr lang="en-US"/>
          </a:p>
        </p:txBody>
      </p:sp>
      <p:sp>
        <p:nvSpPr>
          <p:cNvPr id="50" name="Text 46"/>
          <p:cNvSpPr/>
          <p:nvPr/>
        </p:nvSpPr>
        <p:spPr>
          <a:xfrm>
            <a:off x="9748044" y="4421877"/>
            <a:ext cx="1362075" cy="3175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A1A1A"/>
                </a:solidFill>
                <a:latin typeface="Calibri" pitchFamily="34" charset="0"/>
                <a:ea typeface="Calibri" pitchFamily="34" charset="-122"/>
                <a:cs typeface="Calibri" pitchFamily="34" charset="-120"/>
              </a:rPr>
              <a:t>Kern</a:t>
            </a:r>
            <a:endParaRPr lang="en-US" sz="1800" dirty="0"/>
          </a:p>
        </p:txBody>
      </p:sp>
      <p:sp>
        <p:nvSpPr>
          <p:cNvPr id="51" name="Text 47"/>
          <p:cNvSpPr/>
          <p:nvPr/>
        </p:nvSpPr>
        <p:spPr>
          <a:xfrm>
            <a:off x="11119645" y="4296464"/>
            <a:ext cx="2953345" cy="29210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404040"/>
                </a:solidFill>
                <a:latin typeface="Calibri" pitchFamily="34" charset="0"/>
                <a:ea typeface="Calibri" pitchFamily="34" charset="-122"/>
                <a:cs typeface="Calibri" pitchFamily="34" charset="-120"/>
              </a:rPr>
              <a:t>1,853 tickets · 1,181 failed units</a:t>
            </a:r>
            <a:endParaRPr lang="en-US" sz="1650" dirty="0"/>
          </a:p>
        </p:txBody>
      </p:sp>
      <p:sp>
        <p:nvSpPr>
          <p:cNvPr id="52" name="Text 48"/>
          <p:cNvSpPr/>
          <p:nvPr/>
        </p:nvSpPr>
        <p:spPr>
          <a:xfrm>
            <a:off x="16183570" y="4296464"/>
            <a:ext cx="1602403" cy="29210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404040"/>
                </a:solidFill>
                <a:latin typeface="Calibri" pitchFamily="34" charset="0"/>
                <a:ea typeface="Calibri" pitchFamily="34" charset="-122"/>
                <a:cs typeface="Calibri" pitchFamily="34" charset="-120"/>
              </a:rPr>
              <a:t>31.9% · freq 1.57</a:t>
            </a:r>
            <a:endParaRPr lang="en-US" sz="1650" dirty="0"/>
          </a:p>
        </p:txBody>
      </p:sp>
      <p:sp>
        <p:nvSpPr>
          <p:cNvPr id="53" name="Shape 49"/>
          <p:cNvSpPr/>
          <p:nvPr/>
        </p:nvSpPr>
        <p:spPr>
          <a:xfrm>
            <a:off x="11119645" y="4598089"/>
            <a:ext cx="6520657" cy="228600"/>
          </a:xfrm>
          <a:prstGeom prst="rect">
            <a:avLst/>
          </a:prstGeom>
          <a:solidFill>
            <a:srgbClr val="EDEFEA"/>
          </a:solidFill>
          <a:ln/>
        </p:spPr>
        <p:txBody>
          <a:bodyPr/>
          <a:lstStyle/>
          <a:p>
            <a:endParaRPr lang="en-US"/>
          </a:p>
        </p:txBody>
      </p:sp>
      <p:sp>
        <p:nvSpPr>
          <p:cNvPr id="54" name="Shape 50"/>
          <p:cNvSpPr/>
          <p:nvPr/>
        </p:nvSpPr>
        <p:spPr>
          <a:xfrm>
            <a:off x="11119645" y="4598089"/>
            <a:ext cx="4622999" cy="228600"/>
          </a:xfrm>
          <a:prstGeom prst="rect">
            <a:avLst/>
          </a:prstGeom>
          <a:solidFill>
            <a:srgbClr val="7F5FA0"/>
          </a:solidFill>
          <a:ln/>
        </p:spPr>
        <p:txBody>
          <a:bodyPr/>
          <a:lstStyle/>
          <a:p>
            <a:endParaRPr lang="en-US"/>
          </a:p>
        </p:txBody>
      </p:sp>
      <p:sp>
        <p:nvSpPr>
          <p:cNvPr id="55" name="Text 51"/>
          <p:cNvSpPr/>
          <p:nvPr/>
        </p:nvSpPr>
        <p:spPr>
          <a:xfrm>
            <a:off x="9748044" y="5085452"/>
            <a:ext cx="1362075" cy="3175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A1A1A"/>
                </a:solidFill>
                <a:latin typeface="Calibri" pitchFamily="34" charset="0"/>
                <a:ea typeface="Calibri" pitchFamily="34" charset="-122"/>
                <a:cs typeface="Calibri" pitchFamily="34" charset="-120"/>
              </a:rPr>
              <a:t>Socket</a:t>
            </a:r>
            <a:endParaRPr lang="en-US" sz="1800" dirty="0"/>
          </a:p>
        </p:txBody>
      </p:sp>
      <p:sp>
        <p:nvSpPr>
          <p:cNvPr id="56" name="Text 52"/>
          <p:cNvSpPr/>
          <p:nvPr/>
        </p:nvSpPr>
        <p:spPr>
          <a:xfrm>
            <a:off x="11119645" y="4960039"/>
            <a:ext cx="2778939" cy="29210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404040"/>
                </a:solidFill>
                <a:latin typeface="Calibri" pitchFamily="34" charset="0"/>
                <a:ea typeface="Calibri" pitchFamily="34" charset="-122"/>
                <a:cs typeface="Calibri" pitchFamily="34" charset="-120"/>
              </a:rPr>
              <a:t>1,013 tickets · 695 failed units</a:t>
            </a:r>
            <a:endParaRPr lang="en-US" sz="1650" dirty="0"/>
          </a:p>
        </p:txBody>
      </p:sp>
      <p:sp>
        <p:nvSpPr>
          <p:cNvPr id="57" name="Text 53"/>
          <p:cNvSpPr/>
          <p:nvPr/>
        </p:nvSpPr>
        <p:spPr>
          <a:xfrm>
            <a:off x="16183570" y="4960039"/>
            <a:ext cx="1602403" cy="29210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404040"/>
                </a:solidFill>
                <a:latin typeface="Calibri" pitchFamily="34" charset="0"/>
                <a:ea typeface="Calibri" pitchFamily="34" charset="-122"/>
                <a:cs typeface="Calibri" pitchFamily="34" charset="-120"/>
              </a:rPr>
              <a:t>11.4% · freq 1.46</a:t>
            </a:r>
            <a:endParaRPr lang="en-US" sz="1650" dirty="0"/>
          </a:p>
        </p:txBody>
      </p:sp>
      <p:sp>
        <p:nvSpPr>
          <p:cNvPr id="58" name="Shape 54"/>
          <p:cNvSpPr/>
          <p:nvPr/>
        </p:nvSpPr>
        <p:spPr>
          <a:xfrm>
            <a:off x="11119645" y="5261664"/>
            <a:ext cx="6520657" cy="228600"/>
          </a:xfrm>
          <a:prstGeom prst="rect">
            <a:avLst/>
          </a:prstGeom>
          <a:solidFill>
            <a:srgbClr val="EDEFEA"/>
          </a:solidFill>
          <a:ln/>
        </p:spPr>
        <p:txBody>
          <a:bodyPr/>
          <a:lstStyle/>
          <a:p>
            <a:endParaRPr lang="en-US"/>
          </a:p>
        </p:txBody>
      </p:sp>
      <p:sp>
        <p:nvSpPr>
          <p:cNvPr id="59" name="Shape 55"/>
          <p:cNvSpPr/>
          <p:nvPr/>
        </p:nvSpPr>
        <p:spPr>
          <a:xfrm>
            <a:off x="11119645" y="5261664"/>
            <a:ext cx="1649611" cy="228600"/>
          </a:xfrm>
          <a:prstGeom prst="rect">
            <a:avLst/>
          </a:prstGeom>
          <a:solidFill>
            <a:srgbClr val="619B32"/>
          </a:solidFill>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114300" y="342900"/>
            <a:ext cx="571500" cy="571500"/>
          </a:xfrm>
          <a:prstGeom prst="rect">
            <a:avLst/>
          </a:prstGeom>
        </p:spPr>
      </p:pic>
      <p:pic>
        <p:nvPicPr>
          <p:cNvPr id="3" name="Image 1" descr="preencoded.png"/>
          <p:cNvPicPr>
            <a:picLocks noChangeAspect="1"/>
          </p:cNvPicPr>
          <p:nvPr/>
        </p:nvPicPr>
        <p:blipFill>
          <a:blip r:embed="rId4"/>
          <a:srcRect t="49" b="49"/>
          <a:stretch/>
        </p:blipFill>
        <p:spPr>
          <a:xfrm>
            <a:off x="14001750" y="114300"/>
            <a:ext cx="4114800" cy="914400"/>
          </a:xfrm>
          <a:prstGeom prst="rect">
            <a:avLst/>
          </a:prstGeom>
        </p:spPr>
      </p:pic>
      <p:sp>
        <p:nvSpPr>
          <p:cNvPr id="4" name="Text 0"/>
          <p:cNvSpPr/>
          <p:nvPr/>
        </p:nvSpPr>
        <p:spPr>
          <a:xfrm>
            <a:off x="876300" y="419100"/>
            <a:ext cx="3897630" cy="508000"/>
          </a:xfrm>
          <a:prstGeom prst="rect">
            <a:avLst/>
          </a:prstGeom>
          <a:noFill/>
          <a:ln/>
        </p:spPr>
        <p:txBody>
          <a:bodyPr wrap="square" lIns="25400" tIns="25400" rIns="25400" bIns="25400" rtlCol="0" anchor="t">
            <a:normAutofit/>
          </a:bodyPr>
          <a:lstStyle/>
          <a:p>
            <a:pPr marL="0" indent="0" algn="l">
              <a:buNone/>
            </a:pPr>
            <a:r>
              <a:rPr lang="en-US" sz="3000" b="1" dirty="0">
                <a:solidFill>
                  <a:srgbClr val="1A1A1A"/>
                </a:solidFill>
                <a:latin typeface="Calibri" pitchFamily="34" charset="0"/>
                <a:ea typeface="Calibri" pitchFamily="34" charset="-122"/>
                <a:cs typeface="Calibri" pitchFamily="34" charset="-120"/>
              </a:rPr>
              <a:t>1.2. Failure status: BSS</a:t>
            </a:r>
            <a:endParaRPr lang="en-US" sz="3000" dirty="0"/>
          </a:p>
        </p:txBody>
      </p:sp>
      <p:sp>
        <p:nvSpPr>
          <p:cNvPr id="5" name="Shape 1"/>
          <p:cNvSpPr/>
          <p:nvPr/>
        </p:nvSpPr>
        <p:spPr>
          <a:xfrm>
            <a:off x="0" y="1152525"/>
            <a:ext cx="18288000" cy="19050"/>
          </a:xfrm>
          <a:prstGeom prst="rect">
            <a:avLst/>
          </a:prstGeom>
          <a:solidFill>
            <a:srgbClr val="A6A6A6"/>
          </a:solidFill>
          <a:ln/>
        </p:spPr>
        <p:txBody>
          <a:bodyPr/>
          <a:lstStyle/>
          <a:p>
            <a:endParaRPr lang="en-US"/>
          </a:p>
        </p:txBody>
      </p:sp>
      <p:sp>
        <p:nvSpPr>
          <p:cNvPr id="6" name="Shape 2"/>
          <p:cNvSpPr/>
          <p:nvPr/>
        </p:nvSpPr>
        <p:spPr>
          <a:xfrm>
            <a:off x="647700" y="1428750"/>
            <a:ext cx="8864798" cy="723900"/>
          </a:xfrm>
          <a:prstGeom prst="rect">
            <a:avLst/>
          </a:prstGeom>
          <a:solidFill>
            <a:srgbClr val="619B32"/>
          </a:solidFill>
          <a:ln/>
        </p:spPr>
        <p:txBody>
          <a:bodyPr/>
          <a:lstStyle/>
          <a:p>
            <a:endParaRPr lang="en-US"/>
          </a:p>
        </p:txBody>
      </p:sp>
      <p:sp>
        <p:nvSpPr>
          <p:cNvPr id="7" name="Text 3"/>
          <p:cNvSpPr/>
          <p:nvPr/>
        </p:nvSpPr>
        <p:spPr>
          <a:xfrm>
            <a:off x="762000" y="1524000"/>
            <a:ext cx="754658" cy="571500"/>
          </a:xfrm>
          <a:prstGeom prst="rect">
            <a:avLst/>
          </a:prstGeom>
          <a:noFill/>
          <a:ln/>
        </p:spPr>
        <p:txBody>
          <a:bodyPr wrap="square" lIns="25400" tIns="25400" rIns="25400" bIns="25400" rtlCol="0" anchor="ctr">
            <a:normAutofit/>
          </a:bodyPr>
          <a:lstStyle/>
          <a:p>
            <a:pPr marL="0" indent="0" algn="l">
              <a:buNone/>
            </a:pPr>
            <a:r>
              <a:rPr lang="en-US" sz="1725" b="1" dirty="0">
                <a:solidFill>
                  <a:srgbClr val="FFFFFF"/>
                </a:solidFill>
                <a:latin typeface="Calibri" pitchFamily="34" charset="0"/>
                <a:ea typeface="Calibri" pitchFamily="34" charset="-122"/>
                <a:cs typeface="Calibri" pitchFamily="34" charset="-120"/>
              </a:rPr>
              <a:t>Models</a:t>
            </a:r>
            <a:endParaRPr lang="en-US" sz="1725" dirty="0"/>
          </a:p>
        </p:txBody>
      </p:sp>
      <p:sp>
        <p:nvSpPr>
          <p:cNvPr id="8" name="Text 4"/>
          <p:cNvSpPr/>
          <p:nvPr/>
        </p:nvSpPr>
        <p:spPr>
          <a:xfrm>
            <a:off x="1592858" y="1524000"/>
            <a:ext cx="1656159" cy="571500"/>
          </a:xfrm>
          <a:prstGeom prst="rect">
            <a:avLst/>
          </a:prstGeom>
          <a:noFill/>
          <a:ln/>
        </p:spPr>
        <p:txBody>
          <a:bodyPr wrap="square" lIns="25400" tIns="25400" rIns="25400" bIns="25400" rtlCol="0" anchor="ctr">
            <a:normAutofit lnSpcReduction="10000"/>
          </a:bodyPr>
          <a:lstStyle/>
          <a:p>
            <a:pPr marL="0" indent="0" algn="r">
              <a:buNone/>
            </a:pPr>
            <a:r>
              <a:rPr lang="en-US" sz="1725" b="1" dirty="0">
                <a:solidFill>
                  <a:srgbClr val="FFFFFF"/>
                </a:solidFill>
                <a:latin typeface="Calibri" pitchFamily="34" charset="0"/>
                <a:ea typeface="Calibri" pitchFamily="34" charset="-122"/>
                <a:cs typeface="Calibri" pitchFamily="34" charset="-120"/>
              </a:rPr>
              <a:t>BSS q'ty on service</a:t>
            </a:r>
            <a:endParaRPr lang="en-US" sz="1725" dirty="0"/>
          </a:p>
        </p:txBody>
      </p:sp>
      <p:sp>
        <p:nvSpPr>
          <p:cNvPr id="9" name="Text 5"/>
          <p:cNvSpPr/>
          <p:nvPr/>
        </p:nvSpPr>
        <p:spPr>
          <a:xfrm>
            <a:off x="3401417" y="1524000"/>
            <a:ext cx="1357511" cy="571500"/>
          </a:xfrm>
          <a:prstGeom prst="rect">
            <a:avLst/>
          </a:prstGeom>
          <a:noFill/>
          <a:ln/>
        </p:spPr>
        <p:txBody>
          <a:bodyPr wrap="square" lIns="25400" tIns="25400" rIns="25400" bIns="25400" rtlCol="0" anchor="ctr">
            <a:normAutofit lnSpcReduction="10000"/>
          </a:bodyPr>
          <a:lstStyle/>
          <a:p>
            <a:pPr marL="0" indent="0" algn="r">
              <a:buNone/>
            </a:pPr>
            <a:r>
              <a:rPr lang="en-US" sz="1725" b="1" dirty="0">
                <a:solidFill>
                  <a:srgbClr val="FFFFFF"/>
                </a:solidFill>
                <a:latin typeface="Calibri" pitchFamily="34" charset="0"/>
                <a:ea typeface="Calibri" pitchFamily="34" charset="-122"/>
                <a:cs typeface="Calibri" pitchFamily="34" charset="-120"/>
              </a:rPr>
              <a:t>Failed cabinets</a:t>
            </a:r>
            <a:endParaRPr lang="en-US" sz="1725" dirty="0"/>
          </a:p>
        </p:txBody>
      </p:sp>
      <p:sp>
        <p:nvSpPr>
          <p:cNvPr id="10" name="Text 6"/>
          <p:cNvSpPr/>
          <p:nvPr/>
        </p:nvSpPr>
        <p:spPr>
          <a:xfrm>
            <a:off x="4987528" y="1524000"/>
            <a:ext cx="1770658" cy="571500"/>
          </a:xfrm>
          <a:prstGeom prst="rect">
            <a:avLst/>
          </a:prstGeom>
          <a:noFill/>
          <a:ln/>
        </p:spPr>
        <p:txBody>
          <a:bodyPr wrap="square" lIns="25400" tIns="25400" rIns="25400" bIns="25400" rtlCol="0" anchor="ctr">
            <a:normAutofit/>
          </a:bodyPr>
          <a:lstStyle/>
          <a:p>
            <a:pPr marL="0" indent="0" algn="l">
              <a:buNone/>
            </a:pPr>
            <a:r>
              <a:rPr lang="en-US" sz="1725" b="1" dirty="0">
                <a:solidFill>
                  <a:srgbClr val="FFFFFF"/>
                </a:solidFill>
                <a:latin typeface="Calibri" pitchFamily="34" charset="0"/>
                <a:ea typeface="Calibri" pitchFamily="34" charset="-122"/>
                <a:cs typeface="Calibri" pitchFamily="34" charset="-120"/>
              </a:rPr>
              <a:t>Fail. rate</a:t>
            </a:r>
            <a:endParaRPr lang="en-US" sz="1725" dirty="0"/>
          </a:p>
        </p:txBody>
      </p:sp>
      <p:sp>
        <p:nvSpPr>
          <p:cNvPr id="11" name="Text 7"/>
          <p:cNvSpPr/>
          <p:nvPr/>
        </p:nvSpPr>
        <p:spPr>
          <a:xfrm>
            <a:off x="6834386" y="1524000"/>
            <a:ext cx="1181100" cy="571500"/>
          </a:xfrm>
          <a:prstGeom prst="rect">
            <a:avLst/>
          </a:prstGeom>
          <a:noFill/>
          <a:ln/>
        </p:spPr>
        <p:txBody>
          <a:bodyPr wrap="square" lIns="25400" tIns="25400" rIns="25400" bIns="25400" rtlCol="0" anchor="ctr">
            <a:normAutofit lnSpcReduction="10000"/>
          </a:bodyPr>
          <a:lstStyle/>
          <a:p>
            <a:pPr marL="0" indent="0" algn="r">
              <a:buNone/>
            </a:pPr>
            <a:r>
              <a:rPr lang="en-US" sz="1725" b="1" dirty="0">
                <a:solidFill>
                  <a:srgbClr val="FFFFFF"/>
                </a:solidFill>
                <a:latin typeface="Calibri" pitchFamily="34" charset="0"/>
                <a:ea typeface="Calibri" pitchFamily="34" charset="-122"/>
                <a:cs typeface="Calibri" pitchFamily="34" charset="-120"/>
              </a:rPr>
              <a:t>Failure ticket</a:t>
            </a:r>
            <a:endParaRPr lang="en-US" sz="1725" dirty="0"/>
          </a:p>
        </p:txBody>
      </p:sp>
      <p:sp>
        <p:nvSpPr>
          <p:cNvPr id="12" name="Text 8"/>
          <p:cNvSpPr/>
          <p:nvPr/>
        </p:nvSpPr>
        <p:spPr>
          <a:xfrm>
            <a:off x="8244086" y="1524000"/>
            <a:ext cx="1230313" cy="571500"/>
          </a:xfrm>
          <a:prstGeom prst="rect">
            <a:avLst/>
          </a:prstGeom>
          <a:noFill/>
          <a:ln/>
        </p:spPr>
        <p:txBody>
          <a:bodyPr wrap="square" lIns="25400" tIns="25400" rIns="25400" bIns="25400" rtlCol="0" anchor="ctr">
            <a:normAutofit/>
          </a:bodyPr>
          <a:lstStyle/>
          <a:p>
            <a:pPr marL="0" indent="0" algn="l">
              <a:buNone/>
            </a:pPr>
            <a:r>
              <a:rPr lang="en-US" sz="1725" b="1" dirty="0">
                <a:solidFill>
                  <a:srgbClr val="FFFFFF"/>
                </a:solidFill>
                <a:latin typeface="Calibri" pitchFamily="34" charset="0"/>
                <a:ea typeface="Calibri" pitchFamily="34" charset="-122"/>
                <a:cs typeface="Calibri" pitchFamily="34" charset="-120"/>
              </a:rPr>
              <a:t>Freq.</a:t>
            </a:r>
            <a:endParaRPr lang="en-US" sz="1725" dirty="0"/>
          </a:p>
        </p:txBody>
      </p:sp>
      <p:sp>
        <p:nvSpPr>
          <p:cNvPr id="13" name="Shape 9"/>
          <p:cNvSpPr/>
          <p:nvPr/>
        </p:nvSpPr>
        <p:spPr>
          <a:xfrm>
            <a:off x="647700" y="2603500"/>
            <a:ext cx="8864798" cy="12700"/>
          </a:xfrm>
          <a:prstGeom prst="rect">
            <a:avLst/>
          </a:prstGeom>
          <a:solidFill>
            <a:srgbClr val="D9DED7"/>
          </a:solidFill>
          <a:ln/>
        </p:spPr>
        <p:txBody>
          <a:bodyPr/>
          <a:lstStyle/>
          <a:p>
            <a:endParaRPr lang="en-US"/>
          </a:p>
        </p:txBody>
      </p:sp>
      <p:sp>
        <p:nvSpPr>
          <p:cNvPr id="14" name="Text 10"/>
          <p:cNvSpPr/>
          <p:nvPr/>
        </p:nvSpPr>
        <p:spPr>
          <a:xfrm>
            <a:off x="762000" y="2247900"/>
            <a:ext cx="754658" cy="311150"/>
          </a:xfrm>
          <a:prstGeom prst="rect">
            <a:avLst/>
          </a:prstGeom>
          <a:noFill/>
          <a:ln/>
        </p:spPr>
        <p:txBody>
          <a:bodyPr wrap="square" lIns="25400" tIns="25400" rIns="25400" bIns="25400" rtlCol="0" anchor="ctr">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BSS-06</a:t>
            </a:r>
            <a:endParaRPr lang="en-US" sz="1725" dirty="0"/>
          </a:p>
        </p:txBody>
      </p:sp>
      <p:sp>
        <p:nvSpPr>
          <p:cNvPr id="15" name="Text 11"/>
          <p:cNvSpPr/>
          <p:nvPr/>
        </p:nvSpPr>
        <p:spPr>
          <a:xfrm>
            <a:off x="1592858" y="2247900"/>
            <a:ext cx="1656159" cy="311150"/>
          </a:xfrm>
          <a:prstGeom prst="rect">
            <a:avLst/>
          </a:prstGeom>
          <a:noFill/>
          <a:ln/>
        </p:spPr>
        <p:txBody>
          <a:bodyPr wrap="square" lIns="25400" tIns="25400" rIns="25400" bIns="25400" rtlCol="0" anchor="ctr">
            <a:normAutofit lnSpcReduction="10000"/>
          </a:bodyPr>
          <a:lstStyle/>
          <a:p>
            <a:pPr marL="0" indent="0" algn="r">
              <a:buNone/>
            </a:pPr>
            <a:r>
              <a:rPr lang="en-US" sz="1725" dirty="0">
                <a:solidFill>
                  <a:srgbClr val="1A1A1A"/>
                </a:solidFill>
                <a:latin typeface="Calibri" pitchFamily="34" charset="0"/>
                <a:ea typeface="Calibri" pitchFamily="34" charset="-122"/>
                <a:cs typeface="Calibri" pitchFamily="34" charset="-120"/>
              </a:rPr>
              <a:t>17,916</a:t>
            </a:r>
            <a:endParaRPr lang="en-US" sz="1725" dirty="0"/>
          </a:p>
        </p:txBody>
      </p:sp>
      <p:sp>
        <p:nvSpPr>
          <p:cNvPr id="16" name="Text 12"/>
          <p:cNvSpPr/>
          <p:nvPr/>
        </p:nvSpPr>
        <p:spPr>
          <a:xfrm>
            <a:off x="3401417" y="2247900"/>
            <a:ext cx="1357511" cy="311150"/>
          </a:xfrm>
          <a:prstGeom prst="rect">
            <a:avLst/>
          </a:prstGeom>
          <a:noFill/>
          <a:ln/>
        </p:spPr>
        <p:txBody>
          <a:bodyPr wrap="square" lIns="25400" tIns="25400" rIns="25400" bIns="25400" rtlCol="0" anchor="ctr">
            <a:normAutofit lnSpcReduction="10000"/>
          </a:bodyPr>
          <a:lstStyle/>
          <a:p>
            <a:pPr marL="0" indent="0" algn="r">
              <a:buNone/>
            </a:pPr>
            <a:r>
              <a:rPr lang="en-US" sz="1725" dirty="0">
                <a:solidFill>
                  <a:srgbClr val="1A1A1A"/>
                </a:solidFill>
                <a:latin typeface="Calibri" pitchFamily="34" charset="0"/>
                <a:ea typeface="Calibri" pitchFamily="34" charset="-122"/>
                <a:cs typeface="Calibri" pitchFamily="34" charset="-120"/>
              </a:rPr>
              <a:t>6,922</a:t>
            </a:r>
            <a:endParaRPr lang="en-US" sz="1725" dirty="0"/>
          </a:p>
        </p:txBody>
      </p:sp>
      <p:sp>
        <p:nvSpPr>
          <p:cNvPr id="17" name="Shape 13"/>
          <p:cNvSpPr/>
          <p:nvPr/>
        </p:nvSpPr>
        <p:spPr>
          <a:xfrm>
            <a:off x="4987528" y="2314575"/>
            <a:ext cx="1047750" cy="133350"/>
          </a:xfrm>
          <a:prstGeom prst="rect">
            <a:avLst/>
          </a:prstGeom>
          <a:solidFill>
            <a:srgbClr val="EDEFEA"/>
          </a:solidFill>
          <a:ln/>
        </p:spPr>
        <p:txBody>
          <a:bodyPr/>
          <a:lstStyle/>
          <a:p>
            <a:endParaRPr lang="en-US"/>
          </a:p>
        </p:txBody>
      </p:sp>
      <p:sp>
        <p:nvSpPr>
          <p:cNvPr id="18" name="Shape 14"/>
          <p:cNvSpPr/>
          <p:nvPr/>
        </p:nvSpPr>
        <p:spPr>
          <a:xfrm>
            <a:off x="4987528" y="2314575"/>
            <a:ext cx="898922" cy="133350"/>
          </a:xfrm>
          <a:prstGeom prst="rect">
            <a:avLst/>
          </a:prstGeom>
          <a:solidFill>
            <a:srgbClr val="C0504D"/>
          </a:solidFill>
          <a:ln/>
        </p:spPr>
        <p:txBody>
          <a:bodyPr/>
          <a:lstStyle/>
          <a:p>
            <a:endParaRPr lang="en-US"/>
          </a:p>
        </p:txBody>
      </p:sp>
      <p:sp>
        <p:nvSpPr>
          <p:cNvPr id="19" name="Text 15"/>
          <p:cNvSpPr/>
          <p:nvPr/>
        </p:nvSpPr>
        <p:spPr>
          <a:xfrm>
            <a:off x="6130528" y="2247900"/>
            <a:ext cx="627658"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38.6%</a:t>
            </a:r>
            <a:endParaRPr lang="en-US" sz="1725" dirty="0"/>
          </a:p>
        </p:txBody>
      </p:sp>
      <p:sp>
        <p:nvSpPr>
          <p:cNvPr id="20" name="Text 16"/>
          <p:cNvSpPr/>
          <p:nvPr/>
        </p:nvSpPr>
        <p:spPr>
          <a:xfrm>
            <a:off x="6834386" y="2247900"/>
            <a:ext cx="1181100" cy="311150"/>
          </a:xfrm>
          <a:prstGeom prst="rect">
            <a:avLst/>
          </a:prstGeom>
          <a:noFill/>
          <a:ln/>
        </p:spPr>
        <p:txBody>
          <a:bodyPr wrap="square" lIns="25400" tIns="25400" rIns="25400" bIns="25400" rtlCol="0" anchor="ctr">
            <a:normAutofit lnSpcReduction="10000"/>
          </a:bodyPr>
          <a:lstStyle/>
          <a:p>
            <a:pPr marL="0" indent="0" algn="r">
              <a:buNone/>
            </a:pPr>
            <a:r>
              <a:rPr lang="en-US" sz="1725" dirty="0">
                <a:solidFill>
                  <a:srgbClr val="1A1A1A"/>
                </a:solidFill>
                <a:latin typeface="Calibri" pitchFamily="34" charset="0"/>
                <a:ea typeface="Calibri" pitchFamily="34" charset="-122"/>
                <a:cs typeface="Calibri" pitchFamily="34" charset="-120"/>
              </a:rPr>
              <a:t>11,246</a:t>
            </a:r>
            <a:endParaRPr lang="en-US" sz="1725" dirty="0"/>
          </a:p>
        </p:txBody>
      </p:sp>
      <p:sp>
        <p:nvSpPr>
          <p:cNvPr id="21" name="Shape 17"/>
          <p:cNvSpPr/>
          <p:nvPr/>
        </p:nvSpPr>
        <p:spPr>
          <a:xfrm>
            <a:off x="8244086" y="2314575"/>
            <a:ext cx="666750" cy="133350"/>
          </a:xfrm>
          <a:prstGeom prst="rect">
            <a:avLst/>
          </a:prstGeom>
          <a:solidFill>
            <a:srgbClr val="EDEFEA"/>
          </a:solidFill>
          <a:ln/>
        </p:spPr>
        <p:txBody>
          <a:bodyPr/>
          <a:lstStyle/>
          <a:p>
            <a:endParaRPr lang="en-US"/>
          </a:p>
        </p:txBody>
      </p:sp>
      <p:sp>
        <p:nvSpPr>
          <p:cNvPr id="22" name="Shape 18"/>
          <p:cNvSpPr/>
          <p:nvPr/>
        </p:nvSpPr>
        <p:spPr>
          <a:xfrm>
            <a:off x="8244086" y="2314575"/>
            <a:ext cx="431998" cy="133350"/>
          </a:xfrm>
          <a:prstGeom prst="rect">
            <a:avLst/>
          </a:prstGeom>
          <a:solidFill>
            <a:srgbClr val="7F7F7F"/>
          </a:solidFill>
          <a:ln/>
        </p:spPr>
        <p:txBody>
          <a:bodyPr/>
          <a:lstStyle/>
          <a:p>
            <a:endParaRPr lang="en-US"/>
          </a:p>
        </p:txBody>
      </p:sp>
      <p:sp>
        <p:nvSpPr>
          <p:cNvPr id="23" name="Text 19"/>
          <p:cNvSpPr/>
          <p:nvPr/>
        </p:nvSpPr>
        <p:spPr>
          <a:xfrm>
            <a:off x="9006086" y="2247900"/>
            <a:ext cx="467916"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1.62</a:t>
            </a:r>
            <a:endParaRPr lang="en-US" sz="1725" dirty="0"/>
          </a:p>
        </p:txBody>
      </p:sp>
      <p:sp>
        <p:nvSpPr>
          <p:cNvPr id="24" name="Shape 20"/>
          <p:cNvSpPr/>
          <p:nvPr/>
        </p:nvSpPr>
        <p:spPr>
          <a:xfrm>
            <a:off x="647700" y="3073400"/>
            <a:ext cx="8864798" cy="12700"/>
          </a:xfrm>
          <a:prstGeom prst="rect">
            <a:avLst/>
          </a:prstGeom>
          <a:solidFill>
            <a:srgbClr val="D9DED7"/>
          </a:solidFill>
          <a:ln/>
        </p:spPr>
        <p:txBody>
          <a:bodyPr/>
          <a:lstStyle/>
          <a:p>
            <a:endParaRPr lang="en-US"/>
          </a:p>
        </p:txBody>
      </p:sp>
      <p:sp>
        <p:nvSpPr>
          <p:cNvPr id="25" name="Text 21"/>
          <p:cNvSpPr/>
          <p:nvPr/>
        </p:nvSpPr>
        <p:spPr>
          <a:xfrm>
            <a:off x="762000" y="2711450"/>
            <a:ext cx="754658" cy="317500"/>
          </a:xfrm>
          <a:prstGeom prst="rect">
            <a:avLst/>
          </a:prstGeom>
          <a:noFill/>
          <a:ln/>
        </p:spPr>
        <p:txBody>
          <a:bodyPr wrap="square" lIns="25400" tIns="25400" rIns="25400" bIns="25400" rtlCol="0" anchor="ctr">
            <a:normAutofit/>
          </a:bodyPr>
          <a:lstStyle/>
          <a:p>
            <a:pPr marL="0" indent="0" algn="l">
              <a:buNone/>
            </a:pPr>
            <a:r>
              <a:rPr lang="en-US" sz="1725" b="1" dirty="0">
                <a:solidFill>
                  <a:srgbClr val="1A1A1A"/>
                </a:solidFill>
                <a:latin typeface="Calibri" pitchFamily="34" charset="0"/>
                <a:ea typeface="Calibri" pitchFamily="34" charset="-122"/>
                <a:cs typeface="Calibri" pitchFamily="34" charset="-120"/>
              </a:rPr>
              <a:t>BSS-12</a:t>
            </a:r>
            <a:endParaRPr lang="en-US" sz="1725" dirty="0"/>
          </a:p>
        </p:txBody>
      </p:sp>
      <p:sp>
        <p:nvSpPr>
          <p:cNvPr id="26" name="Text 22"/>
          <p:cNvSpPr/>
          <p:nvPr/>
        </p:nvSpPr>
        <p:spPr>
          <a:xfrm>
            <a:off x="1592858" y="2711450"/>
            <a:ext cx="1656159"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7,514</a:t>
            </a:r>
            <a:endParaRPr lang="en-US" sz="1725" dirty="0"/>
          </a:p>
        </p:txBody>
      </p:sp>
      <p:sp>
        <p:nvSpPr>
          <p:cNvPr id="27" name="Text 23"/>
          <p:cNvSpPr/>
          <p:nvPr/>
        </p:nvSpPr>
        <p:spPr>
          <a:xfrm>
            <a:off x="3401417" y="2711450"/>
            <a:ext cx="1357511"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1,243</a:t>
            </a:r>
            <a:endParaRPr lang="en-US" sz="1725" dirty="0"/>
          </a:p>
        </p:txBody>
      </p:sp>
      <p:sp>
        <p:nvSpPr>
          <p:cNvPr id="28" name="Shape 24"/>
          <p:cNvSpPr/>
          <p:nvPr/>
        </p:nvSpPr>
        <p:spPr>
          <a:xfrm>
            <a:off x="4987528" y="2784475"/>
            <a:ext cx="1047750" cy="133350"/>
          </a:xfrm>
          <a:prstGeom prst="rect">
            <a:avLst/>
          </a:prstGeom>
          <a:solidFill>
            <a:srgbClr val="EDEFEA"/>
          </a:solidFill>
          <a:ln/>
        </p:spPr>
        <p:txBody>
          <a:bodyPr/>
          <a:lstStyle/>
          <a:p>
            <a:endParaRPr lang="en-US"/>
          </a:p>
        </p:txBody>
      </p:sp>
      <p:sp>
        <p:nvSpPr>
          <p:cNvPr id="29" name="Shape 25"/>
          <p:cNvSpPr/>
          <p:nvPr/>
        </p:nvSpPr>
        <p:spPr>
          <a:xfrm>
            <a:off x="4987528" y="2784475"/>
            <a:ext cx="384373" cy="133350"/>
          </a:xfrm>
          <a:prstGeom prst="rect">
            <a:avLst/>
          </a:prstGeom>
          <a:solidFill>
            <a:srgbClr val="E8A33D"/>
          </a:solidFill>
          <a:ln/>
        </p:spPr>
        <p:txBody>
          <a:bodyPr/>
          <a:lstStyle/>
          <a:p>
            <a:endParaRPr lang="en-US"/>
          </a:p>
        </p:txBody>
      </p:sp>
      <p:sp>
        <p:nvSpPr>
          <p:cNvPr id="30" name="Text 26"/>
          <p:cNvSpPr/>
          <p:nvPr/>
        </p:nvSpPr>
        <p:spPr>
          <a:xfrm>
            <a:off x="6130528" y="2717800"/>
            <a:ext cx="627658"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16.5%</a:t>
            </a:r>
            <a:endParaRPr lang="en-US" sz="1725" dirty="0"/>
          </a:p>
        </p:txBody>
      </p:sp>
      <p:sp>
        <p:nvSpPr>
          <p:cNvPr id="31" name="Text 27"/>
          <p:cNvSpPr/>
          <p:nvPr/>
        </p:nvSpPr>
        <p:spPr>
          <a:xfrm>
            <a:off x="6834386" y="2711450"/>
            <a:ext cx="1181100" cy="317500"/>
          </a:xfrm>
          <a:prstGeom prst="rect">
            <a:avLst/>
          </a:prstGeom>
          <a:noFill/>
          <a:ln/>
        </p:spPr>
        <p:txBody>
          <a:bodyPr wrap="square" lIns="25400" tIns="25400" rIns="25400" bIns="25400" rtlCol="0" anchor="ctr">
            <a:normAutofit/>
          </a:bodyPr>
          <a:lstStyle/>
          <a:p>
            <a:pPr marL="0" indent="0" algn="r">
              <a:buNone/>
            </a:pPr>
            <a:r>
              <a:rPr lang="en-US" sz="1725" dirty="0">
                <a:solidFill>
                  <a:srgbClr val="1A1A1A"/>
                </a:solidFill>
                <a:latin typeface="Calibri" pitchFamily="34" charset="0"/>
                <a:ea typeface="Calibri" pitchFamily="34" charset="-122"/>
                <a:cs typeface="Calibri" pitchFamily="34" charset="-120"/>
              </a:rPr>
              <a:t>1,665</a:t>
            </a:r>
            <a:endParaRPr lang="en-US" sz="1725" dirty="0"/>
          </a:p>
        </p:txBody>
      </p:sp>
      <p:sp>
        <p:nvSpPr>
          <p:cNvPr id="32" name="Shape 28"/>
          <p:cNvSpPr/>
          <p:nvPr/>
        </p:nvSpPr>
        <p:spPr>
          <a:xfrm>
            <a:off x="8244086" y="2784475"/>
            <a:ext cx="666750" cy="133350"/>
          </a:xfrm>
          <a:prstGeom prst="rect">
            <a:avLst/>
          </a:prstGeom>
          <a:solidFill>
            <a:srgbClr val="EDEFEA"/>
          </a:solidFill>
          <a:ln/>
        </p:spPr>
        <p:txBody>
          <a:bodyPr/>
          <a:lstStyle/>
          <a:p>
            <a:endParaRPr lang="en-US"/>
          </a:p>
        </p:txBody>
      </p:sp>
      <p:sp>
        <p:nvSpPr>
          <p:cNvPr id="33" name="Shape 29"/>
          <p:cNvSpPr/>
          <p:nvPr/>
        </p:nvSpPr>
        <p:spPr>
          <a:xfrm>
            <a:off x="8244086" y="2784475"/>
            <a:ext cx="357188" cy="133350"/>
          </a:xfrm>
          <a:prstGeom prst="rect">
            <a:avLst/>
          </a:prstGeom>
          <a:solidFill>
            <a:srgbClr val="7F7F7F"/>
          </a:solidFill>
          <a:ln/>
        </p:spPr>
        <p:txBody>
          <a:bodyPr/>
          <a:lstStyle/>
          <a:p>
            <a:endParaRPr lang="en-US"/>
          </a:p>
        </p:txBody>
      </p:sp>
      <p:sp>
        <p:nvSpPr>
          <p:cNvPr id="34" name="Text 30"/>
          <p:cNvSpPr/>
          <p:nvPr/>
        </p:nvSpPr>
        <p:spPr>
          <a:xfrm>
            <a:off x="9006086" y="2717800"/>
            <a:ext cx="467916"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1.34</a:t>
            </a:r>
            <a:endParaRPr lang="en-US" sz="1725" dirty="0"/>
          </a:p>
        </p:txBody>
      </p:sp>
      <p:sp>
        <p:nvSpPr>
          <p:cNvPr id="35" name="Shape 31"/>
          <p:cNvSpPr/>
          <p:nvPr/>
        </p:nvSpPr>
        <p:spPr>
          <a:xfrm>
            <a:off x="647700" y="3086100"/>
            <a:ext cx="8864798" cy="463550"/>
          </a:xfrm>
          <a:prstGeom prst="rect">
            <a:avLst/>
          </a:prstGeom>
          <a:solidFill>
            <a:srgbClr val="E2EFDA"/>
          </a:solidFill>
          <a:ln/>
        </p:spPr>
        <p:txBody>
          <a:bodyPr/>
          <a:lstStyle/>
          <a:p>
            <a:endParaRPr lang="en-US"/>
          </a:p>
        </p:txBody>
      </p:sp>
      <p:sp>
        <p:nvSpPr>
          <p:cNvPr id="36" name="Text 32"/>
          <p:cNvSpPr/>
          <p:nvPr/>
        </p:nvSpPr>
        <p:spPr>
          <a:xfrm>
            <a:off x="762000" y="3181350"/>
            <a:ext cx="754658" cy="311150"/>
          </a:xfrm>
          <a:prstGeom prst="rect">
            <a:avLst/>
          </a:prstGeom>
          <a:noFill/>
          <a:ln/>
        </p:spPr>
        <p:txBody>
          <a:bodyPr wrap="square" lIns="25400" tIns="25400" rIns="25400" bIns="25400" rtlCol="0" anchor="ctr">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Total</a:t>
            </a:r>
            <a:endParaRPr lang="en-US" sz="1725" dirty="0"/>
          </a:p>
        </p:txBody>
      </p:sp>
      <p:sp>
        <p:nvSpPr>
          <p:cNvPr id="37" name="Text 33"/>
          <p:cNvSpPr/>
          <p:nvPr/>
        </p:nvSpPr>
        <p:spPr>
          <a:xfrm>
            <a:off x="1592858" y="3181350"/>
            <a:ext cx="1656159" cy="311150"/>
          </a:xfrm>
          <a:prstGeom prst="rect">
            <a:avLst/>
          </a:prstGeom>
          <a:noFill/>
          <a:ln/>
        </p:spPr>
        <p:txBody>
          <a:bodyPr wrap="square" lIns="25400" tIns="25400" rIns="25400" bIns="25400" rtlCol="0" anchor="ctr">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25,430</a:t>
            </a:r>
            <a:endParaRPr lang="en-US" sz="1725" dirty="0"/>
          </a:p>
        </p:txBody>
      </p:sp>
      <p:sp>
        <p:nvSpPr>
          <p:cNvPr id="38" name="Text 34"/>
          <p:cNvSpPr/>
          <p:nvPr/>
        </p:nvSpPr>
        <p:spPr>
          <a:xfrm>
            <a:off x="3401417" y="3181350"/>
            <a:ext cx="1357511" cy="311150"/>
          </a:xfrm>
          <a:prstGeom prst="rect">
            <a:avLst/>
          </a:prstGeom>
          <a:noFill/>
          <a:ln/>
        </p:spPr>
        <p:txBody>
          <a:bodyPr wrap="square" lIns="25400" tIns="25400" rIns="25400" bIns="25400" rtlCol="0" anchor="ctr">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8,165</a:t>
            </a:r>
            <a:endParaRPr lang="en-US" sz="1725" dirty="0"/>
          </a:p>
        </p:txBody>
      </p:sp>
      <p:sp>
        <p:nvSpPr>
          <p:cNvPr id="39" name="Text 35"/>
          <p:cNvSpPr/>
          <p:nvPr/>
        </p:nvSpPr>
        <p:spPr>
          <a:xfrm>
            <a:off x="4987528" y="3181350"/>
            <a:ext cx="1770658" cy="311150"/>
          </a:xfrm>
          <a:prstGeom prst="rect">
            <a:avLst/>
          </a:prstGeom>
          <a:noFill/>
          <a:ln/>
        </p:spPr>
        <p:txBody>
          <a:bodyPr wrap="square" lIns="25400" tIns="25400" rIns="25400" bIns="25400" rtlCol="0" anchor="ctr">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32.1%</a:t>
            </a:r>
            <a:endParaRPr lang="en-US" sz="1725" dirty="0"/>
          </a:p>
        </p:txBody>
      </p:sp>
      <p:sp>
        <p:nvSpPr>
          <p:cNvPr id="40" name="Text 36"/>
          <p:cNvSpPr/>
          <p:nvPr/>
        </p:nvSpPr>
        <p:spPr>
          <a:xfrm>
            <a:off x="6834386" y="3181350"/>
            <a:ext cx="1181100" cy="311150"/>
          </a:xfrm>
          <a:prstGeom prst="rect">
            <a:avLst/>
          </a:prstGeom>
          <a:noFill/>
          <a:ln/>
        </p:spPr>
        <p:txBody>
          <a:bodyPr wrap="square" lIns="25400" tIns="25400" rIns="25400" bIns="25400" rtlCol="0" anchor="ctr">
            <a:normAutofit lnSpcReduction="10000"/>
          </a:bodyPr>
          <a:lstStyle/>
          <a:p>
            <a:pPr marL="0" indent="0" algn="r">
              <a:buNone/>
            </a:pPr>
            <a:r>
              <a:rPr lang="en-US" sz="1725" b="1" dirty="0">
                <a:solidFill>
                  <a:srgbClr val="1A1A1A"/>
                </a:solidFill>
                <a:latin typeface="Calibri" pitchFamily="34" charset="0"/>
                <a:ea typeface="Calibri" pitchFamily="34" charset="-122"/>
                <a:cs typeface="Calibri" pitchFamily="34" charset="-120"/>
              </a:rPr>
              <a:t>12,911</a:t>
            </a:r>
            <a:endParaRPr lang="en-US" sz="1725" dirty="0"/>
          </a:p>
        </p:txBody>
      </p:sp>
      <p:sp>
        <p:nvSpPr>
          <p:cNvPr id="41" name="Text 37"/>
          <p:cNvSpPr/>
          <p:nvPr/>
        </p:nvSpPr>
        <p:spPr>
          <a:xfrm>
            <a:off x="8244086" y="3181350"/>
            <a:ext cx="1230313" cy="311150"/>
          </a:xfrm>
          <a:prstGeom prst="rect">
            <a:avLst/>
          </a:prstGeom>
          <a:noFill/>
          <a:ln/>
        </p:spPr>
        <p:txBody>
          <a:bodyPr wrap="square" lIns="25400" tIns="25400" rIns="25400" bIns="25400" rtlCol="0" anchor="ctr">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1.58</a:t>
            </a:r>
            <a:endParaRPr lang="en-US" sz="1725" dirty="0"/>
          </a:p>
        </p:txBody>
      </p:sp>
      <p:sp>
        <p:nvSpPr>
          <p:cNvPr id="42" name="Text 38"/>
          <p:cNvSpPr/>
          <p:nvPr/>
        </p:nvSpPr>
        <p:spPr>
          <a:xfrm>
            <a:off x="647700" y="3778250"/>
            <a:ext cx="9751278"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2F5597"/>
                </a:solidFill>
                <a:latin typeface="Calibri" pitchFamily="34" charset="0"/>
                <a:ea typeface="Calibri" pitchFamily="34" charset="-122"/>
                <a:cs typeface="Calibri" pitchFamily="34" charset="-120"/>
              </a:rPr>
              <a:t>Failure rate by model — M2 → M7</a:t>
            </a:r>
            <a:endParaRPr lang="en-US" sz="1875" dirty="0"/>
          </a:p>
        </p:txBody>
      </p:sp>
      <p:sp>
        <p:nvSpPr>
          <p:cNvPr id="43" name="Text 39"/>
          <p:cNvSpPr/>
          <p:nvPr/>
        </p:nvSpPr>
        <p:spPr>
          <a:xfrm>
            <a:off x="2114550" y="4260850"/>
            <a:ext cx="924917"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M2</a:t>
            </a:r>
            <a:endParaRPr lang="en-US" sz="1575" dirty="0"/>
          </a:p>
        </p:txBody>
      </p:sp>
      <p:sp>
        <p:nvSpPr>
          <p:cNvPr id="44" name="Text 40"/>
          <p:cNvSpPr/>
          <p:nvPr/>
        </p:nvSpPr>
        <p:spPr>
          <a:xfrm>
            <a:off x="3039467" y="4260850"/>
            <a:ext cx="925116"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M3</a:t>
            </a:r>
            <a:endParaRPr lang="en-US" sz="1575" dirty="0"/>
          </a:p>
        </p:txBody>
      </p:sp>
      <p:sp>
        <p:nvSpPr>
          <p:cNvPr id="45" name="Text 41"/>
          <p:cNvSpPr/>
          <p:nvPr/>
        </p:nvSpPr>
        <p:spPr>
          <a:xfrm>
            <a:off x="3964583" y="4260850"/>
            <a:ext cx="924917"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M4</a:t>
            </a:r>
            <a:endParaRPr lang="en-US" sz="1575" dirty="0"/>
          </a:p>
        </p:txBody>
      </p:sp>
      <p:sp>
        <p:nvSpPr>
          <p:cNvPr id="46" name="Text 42"/>
          <p:cNvSpPr/>
          <p:nvPr/>
        </p:nvSpPr>
        <p:spPr>
          <a:xfrm>
            <a:off x="4889500" y="4260850"/>
            <a:ext cx="925116"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M5</a:t>
            </a:r>
            <a:endParaRPr lang="en-US" sz="1575" dirty="0"/>
          </a:p>
        </p:txBody>
      </p:sp>
      <p:sp>
        <p:nvSpPr>
          <p:cNvPr id="47" name="Text 43"/>
          <p:cNvSpPr/>
          <p:nvPr/>
        </p:nvSpPr>
        <p:spPr>
          <a:xfrm>
            <a:off x="5814616" y="4260850"/>
            <a:ext cx="924917"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M6</a:t>
            </a:r>
            <a:endParaRPr lang="en-US" sz="1575" dirty="0"/>
          </a:p>
        </p:txBody>
      </p:sp>
      <p:sp>
        <p:nvSpPr>
          <p:cNvPr id="48" name="Text 44"/>
          <p:cNvSpPr/>
          <p:nvPr/>
        </p:nvSpPr>
        <p:spPr>
          <a:xfrm>
            <a:off x="6739533" y="4260850"/>
            <a:ext cx="925116"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M7</a:t>
            </a:r>
            <a:endParaRPr lang="en-US" sz="1575" dirty="0"/>
          </a:p>
        </p:txBody>
      </p:sp>
      <p:sp>
        <p:nvSpPr>
          <p:cNvPr id="49" name="Text 45"/>
          <p:cNvSpPr/>
          <p:nvPr/>
        </p:nvSpPr>
        <p:spPr>
          <a:xfrm>
            <a:off x="7521773" y="4260850"/>
            <a:ext cx="199072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595959"/>
                </a:solidFill>
                <a:latin typeface="Calibri" pitchFamily="34" charset="0"/>
                <a:ea typeface="Calibri" pitchFamily="34" charset="-122"/>
                <a:cs typeface="Calibri" pitchFamily="34" charset="-120"/>
              </a:rPr>
              <a:t>vs M6</a:t>
            </a:r>
            <a:endParaRPr lang="en-US" sz="1575" dirty="0"/>
          </a:p>
        </p:txBody>
      </p:sp>
      <p:sp>
        <p:nvSpPr>
          <p:cNvPr id="50" name="Text 46"/>
          <p:cNvSpPr/>
          <p:nvPr/>
        </p:nvSpPr>
        <p:spPr>
          <a:xfrm>
            <a:off x="647700" y="4686300"/>
            <a:ext cx="1571625"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BSS-06</a:t>
            </a:r>
            <a:endParaRPr lang="en-US" sz="1725" dirty="0"/>
          </a:p>
        </p:txBody>
      </p:sp>
      <p:sp>
        <p:nvSpPr>
          <p:cNvPr id="51" name="Shape 47"/>
          <p:cNvSpPr/>
          <p:nvPr/>
        </p:nvSpPr>
        <p:spPr>
          <a:xfrm>
            <a:off x="2152650" y="4578350"/>
            <a:ext cx="848717" cy="482600"/>
          </a:xfrm>
          <a:prstGeom prst="rect">
            <a:avLst/>
          </a:prstGeom>
          <a:solidFill>
            <a:srgbClr val="DCEBD0"/>
          </a:solidFill>
          <a:ln/>
        </p:spPr>
        <p:txBody>
          <a:bodyPr/>
          <a:lstStyle/>
          <a:p>
            <a:endParaRPr lang="en-US"/>
          </a:p>
        </p:txBody>
      </p:sp>
      <p:sp>
        <p:nvSpPr>
          <p:cNvPr id="52" name="Text 48"/>
          <p:cNvSpPr/>
          <p:nvPr/>
        </p:nvSpPr>
        <p:spPr>
          <a:xfrm>
            <a:off x="2114550" y="4692650"/>
            <a:ext cx="924917"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0.0%</a:t>
            </a:r>
            <a:endParaRPr lang="en-US" sz="1650" dirty="0"/>
          </a:p>
        </p:txBody>
      </p:sp>
      <p:sp>
        <p:nvSpPr>
          <p:cNvPr id="53" name="Shape 49"/>
          <p:cNvSpPr/>
          <p:nvPr/>
        </p:nvSpPr>
        <p:spPr>
          <a:xfrm>
            <a:off x="3077567" y="4578350"/>
            <a:ext cx="848916" cy="482600"/>
          </a:xfrm>
          <a:prstGeom prst="rect">
            <a:avLst/>
          </a:prstGeom>
          <a:solidFill>
            <a:srgbClr val="DCEBD0"/>
          </a:solidFill>
          <a:ln/>
        </p:spPr>
        <p:txBody>
          <a:bodyPr/>
          <a:lstStyle/>
          <a:p>
            <a:endParaRPr lang="en-US"/>
          </a:p>
        </p:txBody>
      </p:sp>
      <p:sp>
        <p:nvSpPr>
          <p:cNvPr id="54" name="Text 50"/>
          <p:cNvSpPr/>
          <p:nvPr/>
        </p:nvSpPr>
        <p:spPr>
          <a:xfrm>
            <a:off x="3039467" y="4692650"/>
            <a:ext cx="925116"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0.5%</a:t>
            </a:r>
            <a:endParaRPr lang="en-US" sz="1650" dirty="0"/>
          </a:p>
        </p:txBody>
      </p:sp>
      <p:sp>
        <p:nvSpPr>
          <p:cNvPr id="55" name="Shape 51"/>
          <p:cNvSpPr/>
          <p:nvPr/>
        </p:nvSpPr>
        <p:spPr>
          <a:xfrm>
            <a:off x="4002683" y="4578350"/>
            <a:ext cx="848717" cy="482600"/>
          </a:xfrm>
          <a:prstGeom prst="rect">
            <a:avLst/>
          </a:prstGeom>
          <a:solidFill>
            <a:srgbClr val="DCEBD0"/>
          </a:solidFill>
          <a:ln/>
        </p:spPr>
        <p:txBody>
          <a:bodyPr/>
          <a:lstStyle/>
          <a:p>
            <a:endParaRPr lang="en-US"/>
          </a:p>
        </p:txBody>
      </p:sp>
      <p:sp>
        <p:nvSpPr>
          <p:cNvPr id="56" name="Text 52"/>
          <p:cNvSpPr/>
          <p:nvPr/>
        </p:nvSpPr>
        <p:spPr>
          <a:xfrm>
            <a:off x="3964583" y="4692650"/>
            <a:ext cx="924917"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3.6%</a:t>
            </a:r>
            <a:endParaRPr lang="en-US" sz="1650" dirty="0"/>
          </a:p>
        </p:txBody>
      </p:sp>
      <p:sp>
        <p:nvSpPr>
          <p:cNvPr id="57" name="Shape 53"/>
          <p:cNvSpPr/>
          <p:nvPr/>
        </p:nvSpPr>
        <p:spPr>
          <a:xfrm>
            <a:off x="4927600" y="4578350"/>
            <a:ext cx="848916" cy="482600"/>
          </a:xfrm>
          <a:prstGeom prst="rect">
            <a:avLst/>
          </a:prstGeom>
          <a:solidFill>
            <a:srgbClr val="EDEFD3"/>
          </a:solidFill>
          <a:ln/>
        </p:spPr>
        <p:txBody>
          <a:bodyPr/>
          <a:lstStyle/>
          <a:p>
            <a:endParaRPr lang="en-US"/>
          </a:p>
        </p:txBody>
      </p:sp>
      <p:sp>
        <p:nvSpPr>
          <p:cNvPr id="58" name="Text 54"/>
          <p:cNvSpPr/>
          <p:nvPr/>
        </p:nvSpPr>
        <p:spPr>
          <a:xfrm>
            <a:off x="4889500" y="4692650"/>
            <a:ext cx="925116"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7.3%</a:t>
            </a:r>
            <a:endParaRPr lang="en-US" sz="1650" dirty="0"/>
          </a:p>
        </p:txBody>
      </p:sp>
      <p:sp>
        <p:nvSpPr>
          <p:cNvPr id="59" name="Shape 55"/>
          <p:cNvSpPr/>
          <p:nvPr/>
        </p:nvSpPr>
        <p:spPr>
          <a:xfrm>
            <a:off x="5852716" y="4578350"/>
            <a:ext cx="848717" cy="482600"/>
          </a:xfrm>
          <a:prstGeom prst="rect">
            <a:avLst/>
          </a:prstGeom>
          <a:solidFill>
            <a:srgbClr val="FAE2C2"/>
          </a:solidFill>
          <a:ln/>
        </p:spPr>
        <p:txBody>
          <a:bodyPr/>
          <a:lstStyle/>
          <a:p>
            <a:endParaRPr lang="en-US"/>
          </a:p>
        </p:txBody>
      </p:sp>
      <p:sp>
        <p:nvSpPr>
          <p:cNvPr id="60" name="Text 56"/>
          <p:cNvSpPr/>
          <p:nvPr/>
        </p:nvSpPr>
        <p:spPr>
          <a:xfrm>
            <a:off x="5814616" y="4692650"/>
            <a:ext cx="924917"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11.9%</a:t>
            </a:r>
            <a:endParaRPr lang="en-US" sz="1650" dirty="0"/>
          </a:p>
        </p:txBody>
      </p:sp>
      <p:sp>
        <p:nvSpPr>
          <p:cNvPr id="61" name="Shape 57"/>
          <p:cNvSpPr/>
          <p:nvPr/>
        </p:nvSpPr>
        <p:spPr>
          <a:xfrm>
            <a:off x="6777633" y="4578350"/>
            <a:ext cx="848916" cy="482600"/>
          </a:xfrm>
          <a:prstGeom prst="rect">
            <a:avLst/>
          </a:prstGeom>
          <a:solidFill>
            <a:srgbClr val="F3C7BB"/>
          </a:solidFill>
          <a:ln/>
        </p:spPr>
        <p:txBody>
          <a:bodyPr/>
          <a:lstStyle/>
          <a:p>
            <a:endParaRPr lang="en-US"/>
          </a:p>
        </p:txBody>
      </p:sp>
      <p:sp>
        <p:nvSpPr>
          <p:cNvPr id="62" name="Text 58"/>
          <p:cNvSpPr/>
          <p:nvPr/>
        </p:nvSpPr>
        <p:spPr>
          <a:xfrm>
            <a:off x="6739533" y="4692650"/>
            <a:ext cx="925116"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38.6%</a:t>
            </a:r>
            <a:endParaRPr lang="en-US" sz="1650" dirty="0"/>
          </a:p>
        </p:txBody>
      </p:sp>
      <p:sp>
        <p:nvSpPr>
          <p:cNvPr id="63" name="Text 59"/>
          <p:cNvSpPr/>
          <p:nvPr/>
        </p:nvSpPr>
        <p:spPr>
          <a:xfrm>
            <a:off x="7521773" y="4679950"/>
            <a:ext cx="1990725" cy="317500"/>
          </a:xfrm>
          <a:prstGeom prst="rect">
            <a:avLst/>
          </a:prstGeom>
          <a:noFill/>
          <a:ln/>
        </p:spPr>
        <p:txBody>
          <a:bodyPr wrap="square" lIns="25400" tIns="25400" rIns="25400" bIns="25400" rtlCol="0" anchor="t">
            <a:normAutofit/>
          </a:bodyPr>
          <a:lstStyle/>
          <a:p>
            <a:pPr marL="0" indent="0" algn="r">
              <a:buNone/>
            </a:pPr>
            <a:r>
              <a:rPr lang="en-US" sz="1650" b="1" dirty="0">
                <a:solidFill>
                  <a:srgbClr val="C00000"/>
                </a:solidFill>
                <a:latin typeface="Calibri" pitchFamily="34" charset="0"/>
                <a:ea typeface="Calibri" pitchFamily="34" charset="-122"/>
                <a:cs typeface="Calibri" pitchFamily="34" charset="-120"/>
              </a:rPr>
              <a:t>▲ +26.7pt</a:t>
            </a:r>
            <a:endParaRPr lang="en-US" sz="1650" dirty="0"/>
          </a:p>
        </p:txBody>
      </p:sp>
      <p:sp>
        <p:nvSpPr>
          <p:cNvPr id="64" name="Text 60"/>
          <p:cNvSpPr/>
          <p:nvPr/>
        </p:nvSpPr>
        <p:spPr>
          <a:xfrm>
            <a:off x="647700" y="5245100"/>
            <a:ext cx="1571625"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BSS-12</a:t>
            </a:r>
            <a:endParaRPr lang="en-US" sz="1725" dirty="0"/>
          </a:p>
        </p:txBody>
      </p:sp>
      <p:sp>
        <p:nvSpPr>
          <p:cNvPr id="65" name="Shape 61"/>
          <p:cNvSpPr/>
          <p:nvPr/>
        </p:nvSpPr>
        <p:spPr>
          <a:xfrm>
            <a:off x="2152650" y="5137150"/>
            <a:ext cx="848717" cy="482600"/>
          </a:xfrm>
          <a:prstGeom prst="rect">
            <a:avLst/>
          </a:prstGeom>
          <a:solidFill>
            <a:srgbClr val="DCEBD0"/>
          </a:solidFill>
          <a:ln/>
        </p:spPr>
        <p:txBody>
          <a:bodyPr/>
          <a:lstStyle/>
          <a:p>
            <a:endParaRPr lang="en-US"/>
          </a:p>
        </p:txBody>
      </p:sp>
      <p:sp>
        <p:nvSpPr>
          <p:cNvPr id="66" name="Text 62"/>
          <p:cNvSpPr/>
          <p:nvPr/>
        </p:nvSpPr>
        <p:spPr>
          <a:xfrm>
            <a:off x="2114550" y="5251450"/>
            <a:ext cx="924917"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0.0%</a:t>
            </a:r>
            <a:endParaRPr lang="en-US" sz="1650" dirty="0"/>
          </a:p>
        </p:txBody>
      </p:sp>
      <p:sp>
        <p:nvSpPr>
          <p:cNvPr id="67" name="Shape 63"/>
          <p:cNvSpPr/>
          <p:nvPr/>
        </p:nvSpPr>
        <p:spPr>
          <a:xfrm>
            <a:off x="3077567" y="5137150"/>
            <a:ext cx="848916" cy="482600"/>
          </a:xfrm>
          <a:prstGeom prst="rect">
            <a:avLst/>
          </a:prstGeom>
          <a:solidFill>
            <a:srgbClr val="DCEBD0"/>
          </a:solidFill>
          <a:ln/>
        </p:spPr>
        <p:txBody>
          <a:bodyPr/>
          <a:lstStyle/>
          <a:p>
            <a:endParaRPr lang="en-US"/>
          </a:p>
        </p:txBody>
      </p:sp>
      <p:sp>
        <p:nvSpPr>
          <p:cNvPr id="68" name="Text 64"/>
          <p:cNvSpPr/>
          <p:nvPr/>
        </p:nvSpPr>
        <p:spPr>
          <a:xfrm>
            <a:off x="3039467" y="5251450"/>
            <a:ext cx="925116"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0.0%</a:t>
            </a:r>
            <a:endParaRPr lang="en-US" sz="1650" dirty="0"/>
          </a:p>
        </p:txBody>
      </p:sp>
      <p:sp>
        <p:nvSpPr>
          <p:cNvPr id="69" name="Shape 65"/>
          <p:cNvSpPr/>
          <p:nvPr/>
        </p:nvSpPr>
        <p:spPr>
          <a:xfrm>
            <a:off x="4002683" y="5137150"/>
            <a:ext cx="848717" cy="482600"/>
          </a:xfrm>
          <a:prstGeom prst="rect">
            <a:avLst/>
          </a:prstGeom>
          <a:solidFill>
            <a:srgbClr val="DCEBD0"/>
          </a:solidFill>
          <a:ln/>
        </p:spPr>
        <p:txBody>
          <a:bodyPr/>
          <a:lstStyle/>
          <a:p>
            <a:endParaRPr lang="en-US"/>
          </a:p>
        </p:txBody>
      </p:sp>
      <p:sp>
        <p:nvSpPr>
          <p:cNvPr id="70" name="Text 66"/>
          <p:cNvSpPr/>
          <p:nvPr/>
        </p:nvSpPr>
        <p:spPr>
          <a:xfrm>
            <a:off x="3964583" y="5251450"/>
            <a:ext cx="924917"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0.0%</a:t>
            </a:r>
            <a:endParaRPr lang="en-US" sz="1650" dirty="0"/>
          </a:p>
        </p:txBody>
      </p:sp>
      <p:sp>
        <p:nvSpPr>
          <p:cNvPr id="71" name="Shape 67"/>
          <p:cNvSpPr/>
          <p:nvPr/>
        </p:nvSpPr>
        <p:spPr>
          <a:xfrm>
            <a:off x="4927600" y="5137150"/>
            <a:ext cx="848916" cy="482600"/>
          </a:xfrm>
          <a:prstGeom prst="rect">
            <a:avLst/>
          </a:prstGeom>
          <a:solidFill>
            <a:srgbClr val="DCEBD0"/>
          </a:solidFill>
          <a:ln/>
        </p:spPr>
        <p:txBody>
          <a:bodyPr/>
          <a:lstStyle/>
          <a:p>
            <a:endParaRPr lang="en-US"/>
          </a:p>
        </p:txBody>
      </p:sp>
      <p:sp>
        <p:nvSpPr>
          <p:cNvPr id="72" name="Text 68"/>
          <p:cNvSpPr/>
          <p:nvPr/>
        </p:nvSpPr>
        <p:spPr>
          <a:xfrm>
            <a:off x="4889500" y="5251450"/>
            <a:ext cx="925116"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0.1%</a:t>
            </a:r>
            <a:endParaRPr lang="en-US" sz="1650" dirty="0"/>
          </a:p>
        </p:txBody>
      </p:sp>
      <p:sp>
        <p:nvSpPr>
          <p:cNvPr id="73" name="Shape 69"/>
          <p:cNvSpPr/>
          <p:nvPr/>
        </p:nvSpPr>
        <p:spPr>
          <a:xfrm>
            <a:off x="5852716" y="5137150"/>
            <a:ext cx="848717" cy="482600"/>
          </a:xfrm>
          <a:prstGeom prst="rect">
            <a:avLst/>
          </a:prstGeom>
          <a:solidFill>
            <a:srgbClr val="DCEBD0"/>
          </a:solidFill>
          <a:ln/>
        </p:spPr>
        <p:txBody>
          <a:bodyPr/>
          <a:lstStyle/>
          <a:p>
            <a:endParaRPr lang="en-US"/>
          </a:p>
        </p:txBody>
      </p:sp>
      <p:sp>
        <p:nvSpPr>
          <p:cNvPr id="74" name="Text 70"/>
          <p:cNvSpPr/>
          <p:nvPr/>
        </p:nvSpPr>
        <p:spPr>
          <a:xfrm>
            <a:off x="5814616" y="5251450"/>
            <a:ext cx="924917"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0.6%</a:t>
            </a:r>
            <a:endParaRPr lang="en-US" sz="1650" dirty="0"/>
          </a:p>
        </p:txBody>
      </p:sp>
      <p:sp>
        <p:nvSpPr>
          <p:cNvPr id="75" name="Shape 71"/>
          <p:cNvSpPr/>
          <p:nvPr/>
        </p:nvSpPr>
        <p:spPr>
          <a:xfrm>
            <a:off x="6777633" y="5137150"/>
            <a:ext cx="848916" cy="482600"/>
          </a:xfrm>
          <a:prstGeom prst="rect">
            <a:avLst/>
          </a:prstGeom>
          <a:solidFill>
            <a:srgbClr val="FAE2C2"/>
          </a:solidFill>
          <a:ln/>
        </p:spPr>
        <p:txBody>
          <a:bodyPr/>
          <a:lstStyle/>
          <a:p>
            <a:endParaRPr lang="en-US"/>
          </a:p>
        </p:txBody>
      </p:sp>
      <p:sp>
        <p:nvSpPr>
          <p:cNvPr id="76" name="Text 72"/>
          <p:cNvSpPr/>
          <p:nvPr/>
        </p:nvSpPr>
        <p:spPr>
          <a:xfrm>
            <a:off x="6739533" y="5251450"/>
            <a:ext cx="925116"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16.5%</a:t>
            </a:r>
            <a:endParaRPr lang="en-US" sz="1650" dirty="0"/>
          </a:p>
        </p:txBody>
      </p:sp>
      <p:sp>
        <p:nvSpPr>
          <p:cNvPr id="77" name="Text 73"/>
          <p:cNvSpPr/>
          <p:nvPr/>
        </p:nvSpPr>
        <p:spPr>
          <a:xfrm>
            <a:off x="7521773" y="5238750"/>
            <a:ext cx="1990725" cy="317500"/>
          </a:xfrm>
          <a:prstGeom prst="rect">
            <a:avLst/>
          </a:prstGeom>
          <a:noFill/>
          <a:ln/>
        </p:spPr>
        <p:txBody>
          <a:bodyPr wrap="square" lIns="25400" tIns="25400" rIns="25400" bIns="25400" rtlCol="0" anchor="t">
            <a:normAutofit/>
          </a:bodyPr>
          <a:lstStyle/>
          <a:p>
            <a:pPr marL="0" indent="0" algn="r">
              <a:buNone/>
            </a:pPr>
            <a:r>
              <a:rPr lang="en-US" sz="1650" b="1" dirty="0">
                <a:solidFill>
                  <a:srgbClr val="C00000"/>
                </a:solidFill>
                <a:latin typeface="Calibri" pitchFamily="34" charset="0"/>
                <a:ea typeface="Calibri" pitchFamily="34" charset="-122"/>
                <a:cs typeface="Calibri" pitchFamily="34" charset="-120"/>
              </a:rPr>
              <a:t>▲ +15.9pt</a:t>
            </a:r>
            <a:endParaRPr lang="en-US" sz="1650" dirty="0"/>
          </a:p>
        </p:txBody>
      </p:sp>
      <p:sp>
        <p:nvSpPr>
          <p:cNvPr id="78" name="Shape 74"/>
          <p:cNvSpPr/>
          <p:nvPr/>
        </p:nvSpPr>
        <p:spPr>
          <a:xfrm>
            <a:off x="647700" y="5810250"/>
            <a:ext cx="8864798" cy="1340644"/>
          </a:xfrm>
          <a:prstGeom prst="rect">
            <a:avLst/>
          </a:prstGeom>
          <a:solidFill>
            <a:srgbClr val="FAE2C2"/>
          </a:solidFill>
          <a:ln/>
        </p:spPr>
        <p:txBody>
          <a:bodyPr/>
          <a:lstStyle/>
          <a:p>
            <a:endParaRPr lang="en-US"/>
          </a:p>
        </p:txBody>
      </p:sp>
      <p:sp>
        <p:nvSpPr>
          <p:cNvPr id="79" name="Text 75"/>
          <p:cNvSpPr/>
          <p:nvPr/>
        </p:nvSpPr>
        <p:spPr>
          <a:xfrm>
            <a:off x="895350" y="6000750"/>
            <a:ext cx="8635442" cy="997744"/>
          </a:xfrm>
          <a:prstGeom prst="rect">
            <a:avLst/>
          </a:prstGeom>
          <a:noFill/>
          <a:ln/>
        </p:spPr>
        <p:txBody>
          <a:bodyPr wrap="square" lIns="25400" tIns="25400" rIns="25400" bIns="25400" rtlCol="0" anchor="t">
            <a:normAutofit/>
          </a:bodyPr>
          <a:lstStyle/>
          <a:p>
            <a:pPr marL="0" indent="0" algn="l">
              <a:lnSpc>
                <a:spcPct val="114545"/>
              </a:lnSpc>
              <a:buNone/>
            </a:pPr>
            <a:r>
              <a:rPr lang="en-US" sz="1800" b="1" dirty="0">
                <a:solidFill>
                  <a:srgbClr val="5A3C0A"/>
                </a:solidFill>
                <a:latin typeface="Calibri" pitchFamily="34" charset="0"/>
                <a:ea typeface="Calibri" pitchFamily="34" charset="-122"/>
                <a:cs typeface="Calibri" pitchFamily="34" charset="-120"/>
              </a:rPr>
              <a:t>Important note: </a:t>
            </a:r>
            <a:r>
              <a:rPr lang="en-US" sz="1800" dirty="0">
                <a:solidFill>
                  <a:srgbClr val="5A3C0A"/>
                </a:solidFill>
                <a:highlight>
                  <a:srgbClr val="FAE2C2"/>
                </a:highlight>
                <a:latin typeface="Calibri" pitchFamily="34" charset="0"/>
                <a:ea typeface="Calibri" pitchFamily="34" charset="-122"/>
                <a:cs typeface="Calibri" pitchFamily="34" charset="-120"/>
              </a:rPr>
              <a:t>part of the jump comes from a change in how we measure — automatic incident-ticket dispatch </a:t>
            </a:r>
            <a:r>
              <a:rPr lang="en-US" sz="1800" b="1" dirty="0">
                <a:solidFill>
                  <a:srgbClr val="5A3C0A"/>
                </a:solidFill>
                <a:highlight>
                  <a:srgbClr val="FAE2C2"/>
                </a:highlight>
                <a:latin typeface="Calibri" pitchFamily="34" charset="0"/>
                <a:ea typeface="Calibri" pitchFamily="34" charset="-122"/>
                <a:cs typeface="Calibri" pitchFamily="34" charset="-120"/>
              </a:rPr>
              <a:t>from VOMS</a:t>
            </a:r>
            <a:r>
              <a:rPr lang="en-US" sz="1800" dirty="0">
                <a:solidFill>
                  <a:srgbClr val="5A3C0A"/>
                </a:solidFill>
                <a:highlight>
                  <a:srgbClr val="FAE2C2"/>
                </a:highlight>
                <a:latin typeface="Calibri" pitchFamily="34" charset="0"/>
                <a:ea typeface="Calibri" pitchFamily="34" charset="-122"/>
                <a:cs typeface="Calibri" pitchFamily="34" charset="-120"/>
              </a:rPr>
              <a:t> for BSS went live in the period, so faults that never became tickets before are now all recorded. July is the first month with complete BSS data.</a:t>
            </a:r>
            <a:endParaRPr lang="en-US" sz="1800" dirty="0"/>
          </a:p>
        </p:txBody>
      </p:sp>
      <p:sp>
        <p:nvSpPr>
          <p:cNvPr id="80" name="Shape 76"/>
          <p:cNvSpPr/>
          <p:nvPr/>
        </p:nvSpPr>
        <p:spPr>
          <a:xfrm>
            <a:off x="9931598" y="1428750"/>
            <a:ext cx="7708702" cy="6829425"/>
          </a:xfrm>
          <a:prstGeom prst="rect">
            <a:avLst/>
          </a:prstGeom>
          <a:solidFill>
            <a:srgbClr val="F1F6F2"/>
          </a:solidFill>
          <a:ln/>
        </p:spPr>
        <p:txBody>
          <a:bodyPr/>
          <a:lstStyle/>
          <a:p>
            <a:endParaRPr lang="en-US"/>
          </a:p>
        </p:txBody>
      </p:sp>
      <p:sp>
        <p:nvSpPr>
          <p:cNvPr id="81" name="Text 77"/>
          <p:cNvSpPr/>
          <p:nvPr/>
        </p:nvSpPr>
        <p:spPr>
          <a:xfrm>
            <a:off x="10217348" y="1676400"/>
            <a:ext cx="7850922"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A1A1A"/>
                </a:solidFill>
                <a:latin typeface="Calibri" pitchFamily="34" charset="0"/>
                <a:ea typeface="Calibri" pitchFamily="34" charset="-122"/>
                <a:cs typeface="Calibri" pitchFamily="34" charset="-120"/>
              </a:rPr>
              <a:t>Data comments:</a:t>
            </a:r>
            <a:endParaRPr lang="en-US" sz="1950" dirty="0"/>
          </a:p>
        </p:txBody>
      </p:sp>
      <p:sp>
        <p:nvSpPr>
          <p:cNvPr id="82" name="Text 78"/>
          <p:cNvSpPr/>
          <p:nvPr/>
        </p:nvSpPr>
        <p:spPr>
          <a:xfrm>
            <a:off x="10217348" y="2114550"/>
            <a:ext cx="7850922" cy="383381"/>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 Overall BSS failure rate is </a:t>
            </a:r>
            <a:r>
              <a:rPr lang="en-US" sz="1875" b="1" dirty="0">
                <a:solidFill>
                  <a:srgbClr val="1A1A1A"/>
                </a:solidFill>
                <a:latin typeface="Calibri" pitchFamily="34" charset="0"/>
                <a:ea typeface="Calibri" pitchFamily="34" charset="-122"/>
                <a:cs typeface="Calibri" pitchFamily="34" charset="-120"/>
              </a:rPr>
              <a:t>32.1% </a:t>
            </a:r>
            <a:r>
              <a:rPr lang="en-US" sz="1875" dirty="0">
                <a:solidFill>
                  <a:srgbClr val="1A1A1A"/>
                </a:solidFill>
                <a:latin typeface="Calibri" pitchFamily="34" charset="0"/>
                <a:ea typeface="Calibri" pitchFamily="34" charset="-122"/>
                <a:cs typeface="Calibri" pitchFamily="34" charset="-120"/>
              </a:rPr>
              <a:t>(8,165 of 25,430 cabinets).</a:t>
            </a:r>
            <a:endParaRPr lang="en-US" sz="1875" dirty="0"/>
          </a:p>
        </p:txBody>
      </p:sp>
      <p:sp>
        <p:nvSpPr>
          <p:cNvPr id="83" name="Text 79"/>
          <p:cNvSpPr/>
          <p:nvPr/>
        </p:nvSpPr>
        <p:spPr>
          <a:xfrm>
            <a:off x="10217348" y="2574131"/>
            <a:ext cx="7351318" cy="728663"/>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 </a:t>
            </a:r>
            <a:r>
              <a:rPr lang="en-US" sz="1875" b="1" dirty="0">
                <a:solidFill>
                  <a:srgbClr val="1A1A1A"/>
                </a:solidFill>
                <a:latin typeface="Calibri" pitchFamily="34" charset="0"/>
                <a:ea typeface="Calibri" pitchFamily="34" charset="-122"/>
                <a:cs typeface="Calibri" pitchFamily="34" charset="-120"/>
              </a:rPr>
              <a:t>Almost all failures come from BSS-06 </a:t>
            </a:r>
            <a:r>
              <a:rPr lang="en-US" sz="1875" dirty="0">
                <a:solidFill>
                  <a:srgbClr val="1A1A1A"/>
                </a:solidFill>
                <a:latin typeface="Calibri" pitchFamily="34" charset="0"/>
                <a:ea typeface="Calibri" pitchFamily="34" charset="-122"/>
                <a:cs typeface="Calibri" pitchFamily="34" charset="-120"/>
              </a:rPr>
              <a:t>— 6,922 of 8,165 failed cabinets, 11,246 tickets, 38.6% failure rate (11.9% in M6).</a:t>
            </a:r>
            <a:endParaRPr lang="en-US" sz="1875" dirty="0"/>
          </a:p>
        </p:txBody>
      </p:sp>
      <p:sp>
        <p:nvSpPr>
          <p:cNvPr id="84" name="Text 80"/>
          <p:cNvSpPr/>
          <p:nvPr/>
        </p:nvSpPr>
        <p:spPr>
          <a:xfrm>
            <a:off x="10217348" y="3378994"/>
            <a:ext cx="7351318" cy="728663"/>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 </a:t>
            </a:r>
            <a:r>
              <a:rPr lang="en-US" sz="1875" b="1" dirty="0">
                <a:solidFill>
                  <a:srgbClr val="1A1A1A"/>
                </a:solidFill>
                <a:latin typeface="Calibri" pitchFamily="34" charset="0"/>
                <a:ea typeface="Calibri" pitchFamily="34" charset="-122"/>
                <a:cs typeface="Calibri" pitchFamily="34" charset="-120"/>
              </a:rPr>
              <a:t>BSS-12 is now visible too </a:t>
            </a:r>
            <a:r>
              <a:rPr lang="en-US" sz="1875" dirty="0">
                <a:solidFill>
                  <a:srgbClr val="1A1A1A"/>
                </a:solidFill>
                <a:latin typeface="Calibri" pitchFamily="34" charset="0"/>
                <a:ea typeface="Calibri" pitchFamily="34" charset="-122"/>
                <a:cs typeface="Calibri" pitchFamily="34" charset="-120"/>
              </a:rPr>
              <a:t>— 16.5</a:t>
            </a:r>
            <a:r>
              <a:rPr lang="en-US" sz="1875">
                <a:solidFill>
                  <a:srgbClr val="1A1A1A"/>
                </a:solidFill>
                <a:latin typeface="Calibri" pitchFamily="34" charset="0"/>
                <a:ea typeface="Calibri" pitchFamily="34" charset="-122"/>
                <a:cs typeface="Calibri" pitchFamily="34" charset="-120"/>
              </a:rPr>
              <a:t>% (</a:t>
            </a:r>
            <a:r>
              <a:rPr lang="en-US" sz="1875" dirty="0">
                <a:solidFill>
                  <a:srgbClr val="1A1A1A"/>
                </a:solidFill>
                <a:latin typeface="Calibri" pitchFamily="34" charset="0"/>
                <a:ea typeface="Calibri" pitchFamily="34" charset="-122"/>
                <a:cs typeface="Calibri" pitchFamily="34" charset="-120"/>
              </a:rPr>
              <a:t>1,243 cabinets). It has been in service only a short time, so keep tracking it.</a:t>
            </a:r>
            <a:endParaRPr lang="en-US" sz="1875" dirty="0"/>
          </a:p>
        </p:txBody>
      </p:sp>
      <p:sp>
        <p:nvSpPr>
          <p:cNvPr id="85" name="Text 81"/>
          <p:cNvSpPr/>
          <p:nvPr/>
        </p:nvSpPr>
        <p:spPr>
          <a:xfrm>
            <a:off x="10217348" y="4183856"/>
            <a:ext cx="7351318" cy="728663"/>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 </a:t>
            </a:r>
            <a:r>
              <a:rPr lang="en-US" sz="1875" b="1" dirty="0">
                <a:solidFill>
                  <a:srgbClr val="1A1A1A"/>
                </a:solidFill>
                <a:latin typeface="Calibri" pitchFamily="34" charset="0"/>
                <a:ea typeface="Calibri" pitchFamily="34" charset="-122"/>
                <a:cs typeface="Calibri" pitchFamily="34" charset="-120"/>
              </a:rPr>
              <a:t>Repeat frequency rose to 1.58 </a:t>
            </a:r>
            <a:r>
              <a:rPr lang="en-US" sz="1875" dirty="0">
                <a:solidFill>
                  <a:srgbClr val="1A1A1A"/>
                </a:solidFill>
                <a:latin typeface="Calibri" pitchFamily="34" charset="0"/>
                <a:ea typeface="Calibri" pitchFamily="34" charset="-122"/>
                <a:cs typeface="Calibri" pitchFamily="34" charset="-120"/>
              </a:rPr>
              <a:t>(1.28 in June) — repair quality is getting worse, not only the number of faults.</a:t>
            </a:r>
            <a:endParaRPr lang="en-US" sz="1875" dirty="0"/>
          </a:p>
        </p:txBody>
      </p:sp>
      <p:sp>
        <p:nvSpPr>
          <p:cNvPr id="86" name="Text 82"/>
          <p:cNvSpPr/>
          <p:nvPr/>
        </p:nvSpPr>
        <p:spPr>
          <a:xfrm>
            <a:off x="10217348" y="4988719"/>
            <a:ext cx="7351318" cy="728663"/>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 Fault mix is mechanical: locks, sensors(A0112, B6029 / C6029) — see 1.3 and 1.4.</a:t>
            </a:r>
            <a:endParaRPr lang="en-US" sz="1875" dirty="0"/>
          </a:p>
        </p:txBody>
      </p:sp>
      <p:sp>
        <p:nvSpPr>
          <p:cNvPr id="87" name="Shape 83"/>
          <p:cNvSpPr/>
          <p:nvPr/>
        </p:nvSpPr>
        <p:spPr>
          <a:xfrm>
            <a:off x="9931598" y="8448675"/>
            <a:ext cx="7708702" cy="1419225"/>
          </a:xfrm>
          <a:prstGeom prst="rect">
            <a:avLst/>
          </a:prstGeom>
          <a:solidFill>
            <a:srgbClr val="E2EFDA"/>
          </a:solidFill>
          <a:ln/>
        </p:spPr>
        <p:txBody>
          <a:bodyPr/>
          <a:lstStyle/>
          <a:p>
            <a:endParaRPr lang="en-US"/>
          </a:p>
        </p:txBody>
      </p:sp>
      <p:sp>
        <p:nvSpPr>
          <p:cNvPr id="88" name="Text 84"/>
          <p:cNvSpPr/>
          <p:nvPr/>
        </p:nvSpPr>
        <p:spPr>
          <a:xfrm>
            <a:off x="10198298" y="8658225"/>
            <a:ext cx="7406563" cy="1038225"/>
          </a:xfrm>
          <a:prstGeom prst="rect">
            <a:avLst/>
          </a:prstGeom>
          <a:noFill/>
          <a:ln/>
        </p:spPr>
        <p:txBody>
          <a:bodyPr wrap="square" lIns="25400" tIns="25400" rIns="25400" bIns="25400" rtlCol="0" anchor="t">
            <a:normAutofit/>
          </a:bodyPr>
          <a:lstStyle/>
          <a:p>
            <a:pPr marL="0" indent="0" algn="l">
              <a:lnSpc>
                <a:spcPct val="114130"/>
              </a:lnSpc>
              <a:buNone/>
            </a:pPr>
            <a:r>
              <a:rPr lang="en-US" sz="1875" b="1" dirty="0">
                <a:solidFill>
                  <a:srgbClr val="1A1A1A"/>
                </a:solidFill>
                <a:latin typeface="Calibri" pitchFamily="34" charset="0"/>
                <a:ea typeface="Calibri" pitchFamily="34" charset="-122"/>
                <a:cs typeface="Calibri" pitchFamily="34" charset="-120"/>
              </a:rPr>
              <a:t>Action: </a:t>
            </a:r>
            <a:r>
              <a:rPr lang="en-US" sz="1875" dirty="0">
                <a:solidFill>
                  <a:srgbClr val="1A1A1A"/>
                </a:solidFill>
                <a:highlight>
                  <a:srgbClr val="E2EFDA"/>
                </a:highlight>
                <a:latin typeface="Calibri" pitchFamily="34" charset="0"/>
                <a:ea typeface="Calibri" pitchFamily="34" charset="-122"/>
                <a:cs typeface="Calibri" pitchFamily="34" charset="-120"/>
              </a:rPr>
              <a:t>fix July as the BSS baseline and set the August target on repeat frequency (≤1.35) — that shows repair quality on its own, apart from the extra new tickets.</a:t>
            </a:r>
            <a:endParaRPr lang="en-US" sz="18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114300" y="342900"/>
            <a:ext cx="571500" cy="571500"/>
          </a:xfrm>
          <a:prstGeom prst="rect">
            <a:avLst/>
          </a:prstGeom>
        </p:spPr>
      </p:pic>
      <p:pic>
        <p:nvPicPr>
          <p:cNvPr id="3" name="Image 1" descr="preencoded.png"/>
          <p:cNvPicPr>
            <a:picLocks noChangeAspect="1"/>
          </p:cNvPicPr>
          <p:nvPr/>
        </p:nvPicPr>
        <p:blipFill>
          <a:blip r:embed="rId4"/>
          <a:srcRect t="49" b="49"/>
          <a:stretch/>
        </p:blipFill>
        <p:spPr>
          <a:xfrm>
            <a:off x="14001750" y="114300"/>
            <a:ext cx="4114800" cy="914400"/>
          </a:xfrm>
          <a:prstGeom prst="rect">
            <a:avLst/>
          </a:prstGeom>
        </p:spPr>
      </p:pic>
      <p:sp>
        <p:nvSpPr>
          <p:cNvPr id="4" name="Text 0"/>
          <p:cNvSpPr/>
          <p:nvPr/>
        </p:nvSpPr>
        <p:spPr>
          <a:xfrm>
            <a:off x="876300" y="419100"/>
            <a:ext cx="5130483" cy="508000"/>
          </a:xfrm>
          <a:prstGeom prst="rect">
            <a:avLst/>
          </a:prstGeom>
          <a:noFill/>
          <a:ln/>
        </p:spPr>
        <p:txBody>
          <a:bodyPr wrap="square" lIns="25400" tIns="25400" rIns="25400" bIns="25400" rtlCol="0" anchor="t">
            <a:normAutofit/>
          </a:bodyPr>
          <a:lstStyle/>
          <a:p>
            <a:pPr marL="0" indent="0" algn="l">
              <a:buNone/>
            </a:pPr>
            <a:r>
              <a:rPr lang="en-US" sz="3000" b="1" dirty="0">
                <a:solidFill>
                  <a:srgbClr val="1A1A1A"/>
                </a:solidFill>
                <a:latin typeface="Calibri" pitchFamily="34" charset="0"/>
                <a:ea typeface="Calibri" pitchFamily="34" charset="-122"/>
                <a:cs typeface="Calibri" pitchFamily="34" charset="-120"/>
              </a:rPr>
              <a:t>1.2. Failure status (cont.): BSS</a:t>
            </a:r>
            <a:endParaRPr lang="en-US" sz="3000" dirty="0"/>
          </a:p>
        </p:txBody>
      </p:sp>
      <p:sp>
        <p:nvSpPr>
          <p:cNvPr id="5" name="Shape 1"/>
          <p:cNvSpPr/>
          <p:nvPr/>
        </p:nvSpPr>
        <p:spPr>
          <a:xfrm>
            <a:off x="0" y="1152525"/>
            <a:ext cx="18288000" cy="19050"/>
          </a:xfrm>
          <a:prstGeom prst="rect">
            <a:avLst/>
          </a:prstGeom>
          <a:solidFill>
            <a:srgbClr val="A6A6A6"/>
          </a:solidFill>
          <a:ln/>
        </p:spPr>
        <p:txBody>
          <a:bodyPr/>
          <a:lstStyle/>
          <a:p>
            <a:endParaRPr lang="en-US"/>
          </a:p>
        </p:txBody>
      </p:sp>
      <p:sp>
        <p:nvSpPr>
          <p:cNvPr id="6" name="Text 2"/>
          <p:cNvSpPr/>
          <p:nvPr/>
        </p:nvSpPr>
        <p:spPr>
          <a:xfrm>
            <a:off x="647700" y="1428750"/>
            <a:ext cx="9549368"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2F5597"/>
                </a:solidFill>
                <a:latin typeface="Calibri" pitchFamily="34" charset="0"/>
                <a:ea typeface="Calibri" pitchFamily="34" charset="-122"/>
                <a:cs typeface="Calibri" pitchFamily="34" charset="-120"/>
              </a:rPr>
              <a:t>Position of each model — failure rate × repeat frequency (bubble = fleet size)</a:t>
            </a:r>
            <a:endParaRPr lang="en-US" sz="1875" dirty="0"/>
          </a:p>
        </p:txBody>
      </p:sp>
      <p:sp>
        <p:nvSpPr>
          <p:cNvPr id="7" name="Text 3"/>
          <p:cNvSpPr/>
          <p:nvPr/>
        </p:nvSpPr>
        <p:spPr>
          <a:xfrm>
            <a:off x="958850" y="1854200"/>
            <a:ext cx="317500"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595959"/>
                </a:solidFill>
                <a:latin typeface="Calibri" pitchFamily="34" charset="0"/>
                <a:ea typeface="Calibri" pitchFamily="34" charset="-122"/>
                <a:cs typeface="Calibri" pitchFamily="34" charset="-120"/>
              </a:rPr>
              <a:t>2.4</a:t>
            </a:r>
            <a:endParaRPr lang="en-US" sz="1500" dirty="0"/>
          </a:p>
        </p:txBody>
      </p:sp>
      <p:sp>
        <p:nvSpPr>
          <p:cNvPr id="8" name="Text 4"/>
          <p:cNvSpPr/>
          <p:nvPr/>
        </p:nvSpPr>
        <p:spPr>
          <a:xfrm rot="10800000">
            <a:off x="971550" y="4257675"/>
            <a:ext cx="304800" cy="1618456"/>
          </a:xfrm>
          <a:prstGeom prst="rect">
            <a:avLst/>
          </a:prstGeom>
          <a:noFill/>
          <a:ln/>
        </p:spPr>
        <p:txBody>
          <a:bodyPr vert="eaVert" wrap="square" lIns="25400" tIns="25400" rIns="25400" bIns="25400" rtlCol="0" anchor="t">
            <a:normAutofit fontScale="92500"/>
          </a:bodyPr>
          <a:lstStyle/>
          <a:p>
            <a:pPr marL="0" indent="0" algn="l">
              <a:buNone/>
            </a:pPr>
            <a:r>
              <a:rPr lang="en-US" sz="1500" dirty="0">
                <a:solidFill>
                  <a:srgbClr val="404040"/>
                </a:solidFill>
                <a:latin typeface="Calibri" pitchFamily="34" charset="0"/>
                <a:ea typeface="Calibri" pitchFamily="34" charset="-122"/>
                <a:cs typeface="Calibri" pitchFamily="34" charset="-120"/>
              </a:rPr>
              <a:t>Repeat frequency →</a:t>
            </a:r>
            <a:endParaRPr lang="en-US" sz="1500" dirty="0"/>
          </a:p>
        </p:txBody>
      </p:sp>
      <p:sp>
        <p:nvSpPr>
          <p:cNvPr id="9" name="Text 5"/>
          <p:cNvSpPr/>
          <p:nvPr/>
        </p:nvSpPr>
        <p:spPr>
          <a:xfrm>
            <a:off x="958850" y="8012906"/>
            <a:ext cx="317500"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595959"/>
                </a:solidFill>
                <a:latin typeface="Calibri" pitchFamily="34" charset="0"/>
                <a:ea typeface="Calibri" pitchFamily="34" charset="-122"/>
                <a:cs typeface="Calibri" pitchFamily="34" charset="-120"/>
              </a:rPr>
              <a:t>1.2</a:t>
            </a:r>
            <a:endParaRPr lang="en-US" sz="1500" dirty="0"/>
          </a:p>
        </p:txBody>
      </p:sp>
      <p:sp>
        <p:nvSpPr>
          <p:cNvPr id="10" name="Shape 6"/>
          <p:cNvSpPr/>
          <p:nvPr/>
        </p:nvSpPr>
        <p:spPr>
          <a:xfrm>
            <a:off x="1314450" y="1854200"/>
            <a:ext cx="8014494" cy="6387307"/>
          </a:xfrm>
          <a:prstGeom prst="rect">
            <a:avLst/>
          </a:prstGeom>
          <a:solidFill>
            <a:srgbClr val="FBFCFA"/>
          </a:solidFill>
          <a:ln w="12700">
            <a:solidFill>
              <a:srgbClr val="D9DED7"/>
            </a:solidFill>
            <a:prstDash val="solid"/>
          </a:ln>
        </p:spPr>
        <p:txBody>
          <a:bodyPr/>
          <a:lstStyle/>
          <a:p>
            <a:endParaRPr lang="en-US"/>
          </a:p>
        </p:txBody>
      </p:sp>
      <p:sp>
        <p:nvSpPr>
          <p:cNvPr id="11" name="Shape 7"/>
          <p:cNvSpPr/>
          <p:nvPr/>
        </p:nvSpPr>
        <p:spPr>
          <a:xfrm>
            <a:off x="7023299" y="1866900"/>
            <a:ext cx="12700" cy="6361906"/>
          </a:xfrm>
          <a:prstGeom prst="rect">
            <a:avLst/>
          </a:prstGeom>
          <a:solidFill>
            <a:srgbClr val="C9CFC4"/>
          </a:solidFill>
          <a:ln/>
        </p:spPr>
        <p:txBody>
          <a:bodyPr/>
          <a:lstStyle/>
          <a:p>
            <a:endParaRPr lang="en-US"/>
          </a:p>
        </p:txBody>
      </p:sp>
      <p:sp>
        <p:nvSpPr>
          <p:cNvPr id="12" name="Shape 8"/>
          <p:cNvSpPr/>
          <p:nvPr/>
        </p:nvSpPr>
        <p:spPr>
          <a:xfrm>
            <a:off x="1327150" y="6211888"/>
            <a:ext cx="7989094" cy="12700"/>
          </a:xfrm>
          <a:prstGeom prst="rect">
            <a:avLst/>
          </a:prstGeom>
          <a:solidFill>
            <a:srgbClr val="C9CFC4"/>
          </a:solidFill>
          <a:ln/>
        </p:spPr>
        <p:txBody>
          <a:bodyPr/>
          <a:lstStyle/>
          <a:p>
            <a:endParaRPr lang="en-US"/>
          </a:p>
        </p:txBody>
      </p:sp>
      <p:sp>
        <p:nvSpPr>
          <p:cNvPr id="13" name="Text 9"/>
          <p:cNvSpPr/>
          <p:nvPr/>
        </p:nvSpPr>
        <p:spPr>
          <a:xfrm>
            <a:off x="5502275" y="1943100"/>
            <a:ext cx="1585377" cy="266700"/>
          </a:xfrm>
          <a:prstGeom prst="rect">
            <a:avLst/>
          </a:prstGeom>
          <a:noFill/>
          <a:ln/>
        </p:spPr>
        <p:txBody>
          <a:bodyPr wrap="square" lIns="25400" tIns="25400" rIns="25400" bIns="25400" rtlCol="0" anchor="t">
            <a:normAutofit lnSpcReduction="10000"/>
          </a:bodyPr>
          <a:lstStyle/>
          <a:p>
            <a:pPr marL="0" indent="0" algn="l">
              <a:buNone/>
            </a:pPr>
            <a:r>
              <a:rPr lang="en-US" sz="1425" dirty="0">
                <a:solidFill>
                  <a:srgbClr val="8A8F86"/>
                </a:solidFill>
                <a:latin typeface="Calibri" pitchFamily="34" charset="0"/>
                <a:ea typeface="Calibri" pitchFamily="34" charset="-122"/>
                <a:cs typeface="Calibri" pitchFamily="34" charset="-120"/>
              </a:rPr>
              <a:t>fleet average 32.1%</a:t>
            </a:r>
            <a:endParaRPr lang="en-US" sz="1425" dirty="0"/>
          </a:p>
        </p:txBody>
      </p:sp>
      <p:sp>
        <p:nvSpPr>
          <p:cNvPr id="14" name="Text 10"/>
          <p:cNvSpPr/>
          <p:nvPr/>
        </p:nvSpPr>
        <p:spPr>
          <a:xfrm>
            <a:off x="4792103" y="5902127"/>
            <a:ext cx="1819156" cy="266700"/>
          </a:xfrm>
          <a:prstGeom prst="rect">
            <a:avLst/>
          </a:prstGeom>
          <a:noFill/>
          <a:ln/>
        </p:spPr>
        <p:txBody>
          <a:bodyPr wrap="square" lIns="25400" tIns="25400" rIns="25400" bIns="25400" rtlCol="0" anchor="t">
            <a:normAutofit lnSpcReduction="10000"/>
          </a:bodyPr>
          <a:lstStyle/>
          <a:p>
            <a:pPr marL="0" indent="0" algn="l">
              <a:buNone/>
            </a:pPr>
            <a:r>
              <a:rPr lang="en-US" sz="1425" dirty="0">
                <a:solidFill>
                  <a:srgbClr val="8A8F86"/>
                </a:solidFill>
                <a:latin typeface="Calibri" pitchFamily="34" charset="0"/>
                <a:ea typeface="Calibri" pitchFamily="34" charset="-122"/>
                <a:cs typeface="Calibri" pitchFamily="34" charset="-120"/>
              </a:rPr>
              <a:t>fleet average freq 1.58</a:t>
            </a:r>
            <a:endParaRPr lang="en-US" sz="1425" dirty="0"/>
          </a:p>
        </p:txBody>
      </p:sp>
      <p:sp>
        <p:nvSpPr>
          <p:cNvPr id="15" name="Shape 11"/>
          <p:cNvSpPr/>
          <p:nvPr/>
        </p:nvSpPr>
        <p:spPr>
          <a:xfrm>
            <a:off x="7692827" y="5513189"/>
            <a:ext cx="977900" cy="977900"/>
          </a:xfrm>
          <a:prstGeom prst="ellipse">
            <a:avLst/>
          </a:prstGeom>
          <a:solidFill>
            <a:srgbClr val="C0504D">
              <a:alpha val="13000"/>
            </a:srgbClr>
          </a:solidFill>
          <a:ln w="12700">
            <a:solidFill>
              <a:srgbClr val="C0504D"/>
            </a:solidFill>
            <a:prstDash val="solid"/>
          </a:ln>
        </p:spPr>
        <p:txBody>
          <a:bodyPr/>
          <a:lstStyle/>
          <a:p>
            <a:endParaRPr lang="en-US"/>
          </a:p>
        </p:txBody>
      </p:sp>
      <p:sp>
        <p:nvSpPr>
          <p:cNvPr id="16" name="Text 12"/>
          <p:cNvSpPr/>
          <p:nvPr/>
        </p:nvSpPr>
        <p:spPr>
          <a:xfrm>
            <a:off x="7834511" y="5754489"/>
            <a:ext cx="694531"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C0504D"/>
                </a:solidFill>
                <a:latin typeface="Calibri" pitchFamily="34" charset="0"/>
                <a:ea typeface="Calibri" pitchFamily="34" charset="-122"/>
                <a:cs typeface="Calibri" pitchFamily="34" charset="-120"/>
              </a:rPr>
              <a:t>BSS-06</a:t>
            </a:r>
            <a:endParaRPr lang="en-US" sz="1725" dirty="0"/>
          </a:p>
        </p:txBody>
      </p:sp>
      <p:sp>
        <p:nvSpPr>
          <p:cNvPr id="17" name="Text 13"/>
          <p:cNvSpPr/>
          <p:nvPr/>
        </p:nvSpPr>
        <p:spPr>
          <a:xfrm>
            <a:off x="7546276" y="5209071"/>
            <a:ext cx="1364694" cy="266700"/>
          </a:xfrm>
          <a:prstGeom prst="rect">
            <a:avLst/>
          </a:prstGeom>
          <a:noFill/>
          <a:ln/>
        </p:spPr>
        <p:txBody>
          <a:bodyPr wrap="none" lIns="25400" tIns="25400" rIns="25400" bIns="25400" rtlCol="0" anchor="t">
            <a:normAutofit lnSpcReduction="10000"/>
          </a:bodyPr>
          <a:lstStyle/>
          <a:p>
            <a:pPr marL="0" indent="0" algn="ctr">
              <a:buNone/>
            </a:pPr>
            <a:r>
              <a:rPr lang="en-US" sz="1425" dirty="0">
                <a:solidFill>
                  <a:srgbClr val="404040"/>
                </a:solidFill>
                <a:latin typeface="Calibri" pitchFamily="34" charset="0"/>
                <a:ea typeface="Calibri" pitchFamily="34" charset="-122"/>
                <a:cs typeface="Calibri" pitchFamily="34" charset="-120"/>
              </a:rPr>
              <a:t>38.6% · freq 1.62</a:t>
            </a:r>
            <a:endParaRPr lang="en-US" sz="1425" dirty="0"/>
          </a:p>
        </p:txBody>
      </p:sp>
      <p:sp>
        <p:nvSpPr>
          <p:cNvPr id="18" name="Shape 14"/>
          <p:cNvSpPr/>
          <p:nvPr/>
        </p:nvSpPr>
        <p:spPr>
          <a:xfrm>
            <a:off x="3884414" y="7109619"/>
            <a:ext cx="749300" cy="749300"/>
          </a:xfrm>
          <a:prstGeom prst="ellipse">
            <a:avLst/>
          </a:prstGeom>
          <a:solidFill>
            <a:srgbClr val="E8A33D">
              <a:alpha val="13000"/>
            </a:srgbClr>
          </a:solidFill>
          <a:ln w="12700">
            <a:solidFill>
              <a:srgbClr val="E8A33D"/>
            </a:solidFill>
            <a:prstDash val="solid"/>
          </a:ln>
        </p:spPr>
        <p:txBody>
          <a:bodyPr/>
          <a:lstStyle/>
          <a:p>
            <a:endParaRPr lang="en-US"/>
          </a:p>
        </p:txBody>
      </p:sp>
      <p:sp>
        <p:nvSpPr>
          <p:cNvPr id="19" name="Text 15"/>
          <p:cNvSpPr/>
          <p:nvPr/>
        </p:nvSpPr>
        <p:spPr>
          <a:xfrm>
            <a:off x="3911798" y="7236619"/>
            <a:ext cx="694531"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E8A33D"/>
                </a:solidFill>
                <a:latin typeface="Calibri" pitchFamily="34" charset="0"/>
                <a:ea typeface="Calibri" pitchFamily="34" charset="-122"/>
                <a:cs typeface="Calibri" pitchFamily="34" charset="-120"/>
              </a:rPr>
              <a:t>BSS-12</a:t>
            </a:r>
            <a:endParaRPr lang="en-US" sz="1725" dirty="0"/>
          </a:p>
        </p:txBody>
      </p:sp>
      <p:sp>
        <p:nvSpPr>
          <p:cNvPr id="20" name="Text 16"/>
          <p:cNvSpPr/>
          <p:nvPr/>
        </p:nvSpPr>
        <p:spPr>
          <a:xfrm>
            <a:off x="3578389" y="6767514"/>
            <a:ext cx="1364694" cy="266700"/>
          </a:xfrm>
          <a:prstGeom prst="rect">
            <a:avLst/>
          </a:prstGeom>
          <a:noFill/>
          <a:ln/>
        </p:spPr>
        <p:txBody>
          <a:bodyPr wrap="none" lIns="25400" tIns="25400" rIns="25400" bIns="25400" rtlCol="0" anchor="t">
            <a:normAutofit lnSpcReduction="10000"/>
          </a:bodyPr>
          <a:lstStyle/>
          <a:p>
            <a:pPr marL="0" indent="0" algn="ctr">
              <a:buNone/>
            </a:pPr>
            <a:r>
              <a:rPr lang="en-US" sz="1425" dirty="0">
                <a:solidFill>
                  <a:srgbClr val="404040"/>
                </a:solidFill>
                <a:latin typeface="Calibri" pitchFamily="34" charset="0"/>
                <a:ea typeface="Calibri" pitchFamily="34" charset="-122"/>
                <a:cs typeface="Calibri" pitchFamily="34" charset="-120"/>
              </a:rPr>
              <a:t>16.5% · freq 1.34</a:t>
            </a:r>
            <a:endParaRPr lang="en-US" sz="1425" dirty="0"/>
          </a:p>
        </p:txBody>
      </p:sp>
      <p:sp>
        <p:nvSpPr>
          <p:cNvPr id="21" name="Text 17"/>
          <p:cNvSpPr/>
          <p:nvPr/>
        </p:nvSpPr>
        <p:spPr>
          <a:xfrm>
            <a:off x="1314450" y="8317706"/>
            <a:ext cx="308967"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595959"/>
                </a:solidFill>
                <a:latin typeface="Calibri" pitchFamily="34" charset="0"/>
                <a:ea typeface="Calibri" pitchFamily="34" charset="-122"/>
                <a:cs typeface="Calibri" pitchFamily="34" charset="-120"/>
              </a:rPr>
              <a:t>0%</a:t>
            </a:r>
            <a:endParaRPr lang="en-US" sz="1500" dirty="0"/>
          </a:p>
        </p:txBody>
      </p:sp>
      <p:sp>
        <p:nvSpPr>
          <p:cNvPr id="22" name="Text 18"/>
          <p:cNvSpPr/>
          <p:nvPr/>
        </p:nvSpPr>
        <p:spPr>
          <a:xfrm>
            <a:off x="4729956" y="8317706"/>
            <a:ext cx="1163241"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404040"/>
                </a:solidFill>
                <a:latin typeface="Calibri" pitchFamily="34" charset="0"/>
                <a:ea typeface="Calibri" pitchFamily="34" charset="-122"/>
                <a:cs typeface="Calibri" pitchFamily="34" charset="-120"/>
              </a:rPr>
              <a:t>Failure rate →</a:t>
            </a:r>
            <a:endParaRPr lang="en-US" sz="1500" dirty="0"/>
          </a:p>
        </p:txBody>
      </p:sp>
      <p:sp>
        <p:nvSpPr>
          <p:cNvPr id="23" name="Text 19"/>
          <p:cNvSpPr/>
          <p:nvPr/>
        </p:nvSpPr>
        <p:spPr>
          <a:xfrm>
            <a:off x="8999538" y="8317706"/>
            <a:ext cx="405606"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595959"/>
                </a:solidFill>
                <a:latin typeface="Calibri" pitchFamily="34" charset="0"/>
                <a:ea typeface="Calibri" pitchFamily="34" charset="-122"/>
                <a:cs typeface="Calibri" pitchFamily="34" charset="-120"/>
              </a:rPr>
              <a:t>45%</a:t>
            </a:r>
            <a:endParaRPr lang="en-US" sz="1500" dirty="0"/>
          </a:p>
        </p:txBody>
      </p:sp>
      <p:sp>
        <p:nvSpPr>
          <p:cNvPr id="24" name="Text 20"/>
          <p:cNvSpPr/>
          <p:nvPr/>
        </p:nvSpPr>
        <p:spPr>
          <a:xfrm>
            <a:off x="647700" y="8908256"/>
            <a:ext cx="8941681" cy="997744"/>
          </a:xfrm>
          <a:prstGeom prst="rect">
            <a:avLst/>
          </a:prstGeom>
          <a:noFill/>
          <a:ln/>
        </p:spPr>
        <p:txBody>
          <a:bodyPr wrap="square" lIns="25400" tIns="25400" rIns="25400" bIns="25400" rtlCol="0" anchor="t">
            <a:normAutofit/>
          </a:bodyPr>
          <a:lstStyle/>
          <a:p>
            <a:pPr marL="0" indent="0" algn="l">
              <a:lnSpc>
                <a:spcPct val="114545"/>
              </a:lnSpc>
              <a:buNone/>
            </a:pPr>
            <a:r>
              <a:rPr lang="en-US" sz="1800" dirty="0">
                <a:solidFill>
                  <a:srgbClr val="1A1A1A"/>
                </a:solidFill>
                <a:latin typeface="Calibri" pitchFamily="34" charset="0"/>
                <a:ea typeface="Calibri" pitchFamily="34" charset="-122"/>
                <a:cs typeface="Calibri" pitchFamily="34" charset="-120"/>
              </a:rPr>
              <a:t>BSS-06 sits far to the right with the higher repeat rate: 17,916 cabinets in service, generating 11,246 tickets. BSS-12 is at a third of that rate and comes back less often — the newer generation is holding up better so far.</a:t>
            </a:r>
            <a:endParaRPr lang="en-US" sz="1800" dirty="0"/>
          </a:p>
        </p:txBody>
      </p:sp>
      <p:sp>
        <p:nvSpPr>
          <p:cNvPr id="25" name="Text 21"/>
          <p:cNvSpPr/>
          <p:nvPr/>
        </p:nvSpPr>
        <p:spPr>
          <a:xfrm>
            <a:off x="9748044" y="1428750"/>
            <a:ext cx="8681482"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2F5597"/>
                </a:solidFill>
                <a:latin typeface="Calibri" pitchFamily="34" charset="0"/>
                <a:ea typeface="Calibri" pitchFamily="34" charset="-122"/>
                <a:cs typeface="Calibri" pitchFamily="34" charset="-120"/>
              </a:rPr>
              <a:t>Failure tickets in the month, by model</a:t>
            </a:r>
            <a:endParaRPr lang="en-US" sz="1875" dirty="0"/>
          </a:p>
        </p:txBody>
      </p:sp>
      <p:sp>
        <p:nvSpPr>
          <p:cNvPr id="26" name="Text 22"/>
          <p:cNvSpPr/>
          <p:nvPr/>
        </p:nvSpPr>
        <p:spPr>
          <a:xfrm>
            <a:off x="9748044" y="2011363"/>
            <a:ext cx="1571625"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A1A1A"/>
                </a:solidFill>
                <a:latin typeface="Calibri" pitchFamily="34" charset="0"/>
                <a:ea typeface="Calibri" pitchFamily="34" charset="-122"/>
                <a:cs typeface="Calibri" pitchFamily="34" charset="-120"/>
              </a:rPr>
              <a:t>BSS-06</a:t>
            </a:r>
            <a:endParaRPr lang="en-US" sz="1875" dirty="0"/>
          </a:p>
        </p:txBody>
      </p:sp>
      <p:sp>
        <p:nvSpPr>
          <p:cNvPr id="27" name="Text 23"/>
          <p:cNvSpPr/>
          <p:nvPr/>
        </p:nvSpPr>
        <p:spPr>
          <a:xfrm>
            <a:off x="11310145" y="1873250"/>
            <a:ext cx="3389471" cy="29210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404040"/>
                </a:solidFill>
                <a:latin typeface="Calibri" pitchFamily="34" charset="0"/>
                <a:ea typeface="Calibri" pitchFamily="34" charset="-122"/>
                <a:cs typeface="Calibri" pitchFamily="34" charset="-120"/>
              </a:rPr>
              <a:t>11,246 tickets · 6,922 failed cabinets</a:t>
            </a:r>
            <a:endParaRPr lang="en-US" sz="1650" dirty="0"/>
          </a:p>
        </p:txBody>
      </p:sp>
      <p:sp>
        <p:nvSpPr>
          <p:cNvPr id="28" name="Text 24"/>
          <p:cNvSpPr/>
          <p:nvPr/>
        </p:nvSpPr>
        <p:spPr>
          <a:xfrm>
            <a:off x="16183570" y="1873250"/>
            <a:ext cx="1602403" cy="29210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404040"/>
                </a:solidFill>
                <a:latin typeface="Calibri" pitchFamily="34" charset="0"/>
                <a:ea typeface="Calibri" pitchFamily="34" charset="-122"/>
                <a:cs typeface="Calibri" pitchFamily="34" charset="-120"/>
              </a:rPr>
              <a:t>38.6% · freq 1.62</a:t>
            </a:r>
            <a:endParaRPr lang="en-US" sz="1650" dirty="0"/>
          </a:p>
        </p:txBody>
      </p:sp>
      <p:sp>
        <p:nvSpPr>
          <p:cNvPr id="29" name="Shape 25"/>
          <p:cNvSpPr/>
          <p:nvPr/>
        </p:nvSpPr>
        <p:spPr>
          <a:xfrm>
            <a:off x="11310145" y="2174875"/>
            <a:ext cx="6330157" cy="266700"/>
          </a:xfrm>
          <a:prstGeom prst="rect">
            <a:avLst/>
          </a:prstGeom>
          <a:solidFill>
            <a:srgbClr val="EDEFEA"/>
          </a:solidFill>
          <a:ln/>
        </p:spPr>
        <p:txBody>
          <a:bodyPr/>
          <a:lstStyle/>
          <a:p>
            <a:endParaRPr lang="en-US"/>
          </a:p>
        </p:txBody>
      </p:sp>
      <p:sp>
        <p:nvSpPr>
          <p:cNvPr id="30" name="Shape 26"/>
          <p:cNvSpPr/>
          <p:nvPr/>
        </p:nvSpPr>
        <p:spPr>
          <a:xfrm>
            <a:off x="11310145" y="2174875"/>
            <a:ext cx="5431235" cy="266700"/>
          </a:xfrm>
          <a:prstGeom prst="rect">
            <a:avLst/>
          </a:prstGeom>
          <a:solidFill>
            <a:srgbClr val="C0504D"/>
          </a:solidFill>
          <a:ln/>
        </p:spPr>
        <p:txBody>
          <a:bodyPr/>
          <a:lstStyle/>
          <a:p>
            <a:endParaRPr lang="en-US"/>
          </a:p>
        </p:txBody>
      </p:sp>
      <p:sp>
        <p:nvSpPr>
          <p:cNvPr id="31" name="Text 27"/>
          <p:cNvSpPr/>
          <p:nvPr/>
        </p:nvSpPr>
        <p:spPr>
          <a:xfrm>
            <a:off x="9748044" y="2732088"/>
            <a:ext cx="1571625"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A1A1A"/>
                </a:solidFill>
                <a:latin typeface="Calibri" pitchFamily="34" charset="0"/>
                <a:ea typeface="Calibri" pitchFamily="34" charset="-122"/>
                <a:cs typeface="Calibri" pitchFamily="34" charset="-120"/>
              </a:rPr>
              <a:t>BSS-12</a:t>
            </a:r>
            <a:endParaRPr lang="en-US" sz="1875" dirty="0"/>
          </a:p>
        </p:txBody>
      </p:sp>
      <p:sp>
        <p:nvSpPr>
          <p:cNvPr id="32" name="Text 28"/>
          <p:cNvSpPr/>
          <p:nvPr/>
        </p:nvSpPr>
        <p:spPr>
          <a:xfrm>
            <a:off x="11310145" y="2593975"/>
            <a:ext cx="3272691" cy="29210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404040"/>
                </a:solidFill>
                <a:latin typeface="Calibri" pitchFamily="34" charset="0"/>
                <a:ea typeface="Calibri" pitchFamily="34" charset="-122"/>
                <a:cs typeface="Calibri" pitchFamily="34" charset="-120"/>
              </a:rPr>
              <a:t>1,665 tickets · 1,243 failed cabinets</a:t>
            </a:r>
            <a:endParaRPr lang="en-US" sz="1650" dirty="0"/>
          </a:p>
        </p:txBody>
      </p:sp>
      <p:sp>
        <p:nvSpPr>
          <p:cNvPr id="33" name="Text 29"/>
          <p:cNvSpPr/>
          <p:nvPr/>
        </p:nvSpPr>
        <p:spPr>
          <a:xfrm>
            <a:off x="16183570" y="2593975"/>
            <a:ext cx="1602403" cy="29210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404040"/>
                </a:solidFill>
                <a:latin typeface="Calibri" pitchFamily="34" charset="0"/>
                <a:ea typeface="Calibri" pitchFamily="34" charset="-122"/>
                <a:cs typeface="Calibri" pitchFamily="34" charset="-120"/>
              </a:rPr>
              <a:t>16.5% · freq 1.34</a:t>
            </a:r>
            <a:endParaRPr lang="en-US" sz="1650" dirty="0"/>
          </a:p>
        </p:txBody>
      </p:sp>
      <p:sp>
        <p:nvSpPr>
          <p:cNvPr id="34" name="Shape 30"/>
          <p:cNvSpPr/>
          <p:nvPr/>
        </p:nvSpPr>
        <p:spPr>
          <a:xfrm>
            <a:off x="11310145" y="2895600"/>
            <a:ext cx="6330157" cy="266700"/>
          </a:xfrm>
          <a:prstGeom prst="rect">
            <a:avLst/>
          </a:prstGeom>
          <a:solidFill>
            <a:srgbClr val="EDEFEA"/>
          </a:solidFill>
          <a:ln/>
        </p:spPr>
        <p:txBody>
          <a:bodyPr/>
          <a:lstStyle/>
          <a:p>
            <a:endParaRPr lang="en-US"/>
          </a:p>
        </p:txBody>
      </p:sp>
      <p:sp>
        <p:nvSpPr>
          <p:cNvPr id="35" name="Shape 31"/>
          <p:cNvSpPr/>
          <p:nvPr/>
        </p:nvSpPr>
        <p:spPr>
          <a:xfrm>
            <a:off x="11310145" y="2895600"/>
            <a:ext cx="2323108" cy="266700"/>
          </a:xfrm>
          <a:prstGeom prst="rect">
            <a:avLst/>
          </a:prstGeom>
          <a:solidFill>
            <a:srgbClr val="E8A33D"/>
          </a:solidFill>
          <a:ln/>
        </p:spPr>
        <p:txBody>
          <a:bodyPr/>
          <a:lstStyle/>
          <a:p>
            <a:endParaRPr lang="en-US"/>
          </a:p>
        </p:txBody>
      </p:sp>
      <p:sp>
        <p:nvSpPr>
          <p:cNvPr id="36" name="Shape 32"/>
          <p:cNvSpPr/>
          <p:nvPr/>
        </p:nvSpPr>
        <p:spPr>
          <a:xfrm>
            <a:off x="9748044" y="3371850"/>
            <a:ext cx="7892257" cy="1312863"/>
          </a:xfrm>
          <a:prstGeom prst="rect">
            <a:avLst/>
          </a:prstGeom>
          <a:solidFill>
            <a:srgbClr val="F1F6F2"/>
          </a:solidFill>
          <a:ln/>
        </p:spPr>
        <p:txBody>
          <a:bodyPr/>
          <a:lstStyle/>
          <a:p>
            <a:endParaRPr lang="en-US"/>
          </a:p>
        </p:txBody>
      </p:sp>
      <p:sp>
        <p:nvSpPr>
          <p:cNvPr id="37" name="Text 33"/>
          <p:cNvSpPr/>
          <p:nvPr/>
        </p:nvSpPr>
        <p:spPr>
          <a:xfrm>
            <a:off x="10014745" y="3600450"/>
            <a:ext cx="8094742"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A1A1A"/>
                </a:solidFill>
                <a:latin typeface="Calibri" pitchFamily="34" charset="0"/>
                <a:ea typeface="Calibri" pitchFamily="34" charset="-122"/>
                <a:cs typeface="Calibri" pitchFamily="34" charset="-120"/>
              </a:rPr>
              <a:t>What to fix first</a:t>
            </a:r>
            <a:endParaRPr lang="en-US" sz="1875" dirty="0"/>
          </a:p>
        </p:txBody>
      </p:sp>
      <p:sp>
        <p:nvSpPr>
          <p:cNvPr id="38" name="Text 34"/>
          <p:cNvSpPr/>
          <p:nvPr/>
        </p:nvSpPr>
        <p:spPr>
          <a:xfrm>
            <a:off x="10014745" y="4006850"/>
            <a:ext cx="7579622" cy="677863"/>
          </a:xfrm>
          <a:prstGeom prst="rect">
            <a:avLst/>
          </a:prstGeom>
          <a:noFill/>
          <a:ln/>
        </p:spPr>
        <p:txBody>
          <a:bodyPr wrap="square" lIns="25400" tIns="25400" rIns="25400" bIns="25400" rtlCol="0" anchor="t">
            <a:normAutofit/>
          </a:bodyPr>
          <a:lstStyle/>
          <a:p>
            <a:pPr marL="0" indent="0" algn="l">
              <a:lnSpc>
                <a:spcPct val="114545"/>
              </a:lnSpc>
              <a:buNone/>
            </a:pPr>
            <a:r>
              <a:rPr lang="en-US" sz="1800" dirty="0">
                <a:solidFill>
                  <a:srgbClr val="1A1A1A"/>
                </a:solidFill>
                <a:latin typeface="Calibri" pitchFamily="34" charset="0"/>
                <a:ea typeface="Calibri" pitchFamily="34" charset="-122"/>
                <a:cs typeface="Calibri" pitchFamily="34" charset="-120"/>
              </a:rPr>
              <a:t>· </a:t>
            </a:r>
            <a:r>
              <a:rPr lang="en-US" sz="1800" b="1" dirty="0">
                <a:solidFill>
                  <a:srgbClr val="1A1A1A"/>
                </a:solidFill>
                <a:latin typeface="Calibri" pitchFamily="34" charset="0"/>
                <a:ea typeface="Calibri" pitchFamily="34" charset="-122"/>
                <a:cs typeface="Calibri" pitchFamily="34" charset="-120"/>
              </a:rPr>
              <a:t>Locks &amp; sensors on BSS-06 </a:t>
            </a:r>
            <a:r>
              <a:rPr lang="en-US" sz="1800" dirty="0">
                <a:solidFill>
                  <a:srgbClr val="1A1A1A"/>
                </a:solidFill>
                <a:latin typeface="Calibri" pitchFamily="34" charset="0"/>
                <a:ea typeface="Calibri" pitchFamily="34" charset="-122"/>
                <a:cs typeface="Calibri" pitchFamily="34" charset="-120"/>
              </a:rPr>
              <a:t>— highest volume and the same fault codes month after month.</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114300" y="342900"/>
            <a:ext cx="571500" cy="571500"/>
          </a:xfrm>
          <a:prstGeom prst="rect">
            <a:avLst/>
          </a:prstGeom>
        </p:spPr>
      </p:pic>
      <p:pic>
        <p:nvPicPr>
          <p:cNvPr id="3" name="Image 1" descr="preencoded.png"/>
          <p:cNvPicPr>
            <a:picLocks noChangeAspect="1"/>
          </p:cNvPicPr>
          <p:nvPr/>
        </p:nvPicPr>
        <p:blipFill>
          <a:blip r:embed="rId4"/>
          <a:srcRect t="49" b="49"/>
          <a:stretch/>
        </p:blipFill>
        <p:spPr>
          <a:xfrm>
            <a:off x="14001750" y="114300"/>
            <a:ext cx="4114800" cy="914400"/>
          </a:xfrm>
          <a:prstGeom prst="rect">
            <a:avLst/>
          </a:prstGeom>
        </p:spPr>
      </p:pic>
      <p:sp>
        <p:nvSpPr>
          <p:cNvPr id="4" name="Text 0"/>
          <p:cNvSpPr/>
          <p:nvPr/>
        </p:nvSpPr>
        <p:spPr>
          <a:xfrm>
            <a:off x="876300" y="419100"/>
            <a:ext cx="7413268" cy="508000"/>
          </a:xfrm>
          <a:prstGeom prst="rect">
            <a:avLst/>
          </a:prstGeom>
          <a:noFill/>
          <a:ln/>
        </p:spPr>
        <p:txBody>
          <a:bodyPr wrap="square" lIns="25400" tIns="25400" rIns="25400" bIns="25400" rtlCol="0" anchor="t">
            <a:normAutofit/>
          </a:bodyPr>
          <a:lstStyle/>
          <a:p>
            <a:pPr marL="0" indent="0" algn="l">
              <a:buNone/>
            </a:pPr>
            <a:r>
              <a:rPr lang="en-US" sz="3000" b="1" dirty="0">
                <a:solidFill>
                  <a:srgbClr val="1A1A1A"/>
                </a:solidFill>
                <a:latin typeface="Calibri" pitchFamily="34" charset="0"/>
                <a:ea typeface="Calibri" pitchFamily="34" charset="-122"/>
                <a:cs typeface="Calibri" pitchFamily="34" charset="-120"/>
              </a:rPr>
              <a:t>1.3. Top alarms for each product line: EVCS</a:t>
            </a:r>
            <a:endParaRPr lang="en-US" sz="3000" dirty="0"/>
          </a:p>
        </p:txBody>
      </p:sp>
      <p:sp>
        <p:nvSpPr>
          <p:cNvPr id="5" name="Shape 1"/>
          <p:cNvSpPr/>
          <p:nvPr/>
        </p:nvSpPr>
        <p:spPr>
          <a:xfrm>
            <a:off x="0" y="1152525"/>
            <a:ext cx="18288000" cy="19050"/>
          </a:xfrm>
          <a:prstGeom prst="rect">
            <a:avLst/>
          </a:prstGeom>
          <a:solidFill>
            <a:srgbClr val="A6A6A6"/>
          </a:solidFill>
          <a:ln/>
        </p:spPr>
        <p:txBody>
          <a:bodyPr/>
          <a:lstStyle/>
          <a:p>
            <a:endParaRPr lang="en-US"/>
          </a:p>
        </p:txBody>
      </p:sp>
      <p:sp>
        <p:nvSpPr>
          <p:cNvPr id="6" name="Shape 2"/>
          <p:cNvSpPr/>
          <p:nvPr/>
        </p:nvSpPr>
        <p:spPr>
          <a:xfrm>
            <a:off x="647700" y="1515249"/>
            <a:ext cx="7279085" cy="2343150"/>
          </a:xfrm>
          <a:prstGeom prst="rect">
            <a:avLst/>
          </a:prstGeom>
          <a:ln w="12700">
            <a:solidFill>
              <a:srgbClr val="D9DED7"/>
            </a:solidFill>
            <a:prstDash val="solid"/>
          </a:ln>
        </p:spPr>
        <p:txBody>
          <a:bodyPr/>
          <a:lstStyle/>
          <a:p>
            <a:endParaRPr lang="en-US"/>
          </a:p>
        </p:txBody>
      </p:sp>
      <p:sp>
        <p:nvSpPr>
          <p:cNvPr id="7" name="Shape 3"/>
          <p:cNvSpPr/>
          <p:nvPr/>
        </p:nvSpPr>
        <p:spPr>
          <a:xfrm>
            <a:off x="660400" y="1527949"/>
            <a:ext cx="7253685" cy="438150"/>
          </a:xfrm>
          <a:prstGeom prst="rect">
            <a:avLst/>
          </a:prstGeom>
          <a:solidFill>
            <a:srgbClr val="619B32"/>
          </a:solidFill>
          <a:ln/>
        </p:spPr>
        <p:txBody>
          <a:bodyPr/>
          <a:lstStyle/>
          <a:p>
            <a:endParaRPr lang="en-US"/>
          </a:p>
        </p:txBody>
      </p:sp>
      <p:sp>
        <p:nvSpPr>
          <p:cNvPr id="8" name="Text 4"/>
          <p:cNvSpPr/>
          <p:nvPr/>
        </p:nvSpPr>
        <p:spPr>
          <a:xfrm>
            <a:off x="812800" y="1613674"/>
            <a:ext cx="1655227"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FFFFFF"/>
                </a:solidFill>
                <a:latin typeface="Calibri" pitchFamily="34" charset="0"/>
                <a:ea typeface="Calibri" pitchFamily="34" charset="-122"/>
                <a:cs typeface="Calibri" pitchFamily="34" charset="-120"/>
              </a:rPr>
              <a:t>AC: Top 5 alarms</a:t>
            </a:r>
            <a:endParaRPr lang="en-US" sz="1725" dirty="0"/>
          </a:p>
        </p:txBody>
      </p:sp>
      <p:sp>
        <p:nvSpPr>
          <p:cNvPr id="9" name="Text 5"/>
          <p:cNvSpPr/>
          <p:nvPr/>
        </p:nvSpPr>
        <p:spPr>
          <a:xfrm>
            <a:off x="6620272" y="1613674"/>
            <a:ext cx="1217613"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FFFFFF"/>
                </a:solidFill>
                <a:latin typeface="Calibri" pitchFamily="34" charset="0"/>
                <a:ea typeface="Calibri" pitchFamily="34" charset="-122"/>
                <a:cs typeface="Calibri" pitchFamily="34" charset="-120"/>
              </a:rPr>
              <a:t>1,486 tickets</a:t>
            </a:r>
            <a:endParaRPr lang="en-US" sz="1725" dirty="0"/>
          </a:p>
        </p:txBody>
      </p:sp>
      <p:sp>
        <p:nvSpPr>
          <p:cNvPr id="10" name="Text 6"/>
          <p:cNvSpPr/>
          <p:nvPr/>
        </p:nvSpPr>
        <p:spPr>
          <a:xfrm>
            <a:off x="812800" y="2099449"/>
            <a:ext cx="2200275" cy="29210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1A1A1A"/>
                </a:solidFill>
                <a:latin typeface="Calibri" pitchFamily="34" charset="0"/>
                <a:ea typeface="Calibri" pitchFamily="34" charset="-122"/>
                <a:cs typeface="Calibri" pitchFamily="34" charset="-120"/>
              </a:rPr>
              <a:t>A0101</a:t>
            </a:r>
            <a:endParaRPr lang="en-US" sz="1650" dirty="0"/>
          </a:p>
        </p:txBody>
      </p:sp>
      <p:sp>
        <p:nvSpPr>
          <p:cNvPr id="11" name="Shape 7"/>
          <p:cNvSpPr/>
          <p:nvPr/>
        </p:nvSpPr>
        <p:spPr>
          <a:xfrm>
            <a:off x="2927350" y="2140724"/>
            <a:ext cx="3386535" cy="171450"/>
          </a:xfrm>
          <a:prstGeom prst="rect">
            <a:avLst/>
          </a:prstGeom>
          <a:solidFill>
            <a:srgbClr val="EDEFEA"/>
          </a:solidFill>
          <a:ln/>
        </p:spPr>
        <p:txBody>
          <a:bodyPr/>
          <a:lstStyle/>
          <a:p>
            <a:endParaRPr lang="en-US"/>
          </a:p>
        </p:txBody>
      </p:sp>
      <p:sp>
        <p:nvSpPr>
          <p:cNvPr id="12" name="Shape 8"/>
          <p:cNvSpPr/>
          <p:nvPr/>
        </p:nvSpPr>
        <p:spPr>
          <a:xfrm>
            <a:off x="2927350" y="2140724"/>
            <a:ext cx="3386535" cy="171450"/>
          </a:xfrm>
          <a:prstGeom prst="rect">
            <a:avLst/>
          </a:prstGeom>
          <a:solidFill>
            <a:srgbClr val="2F5597"/>
          </a:solidFill>
          <a:ln/>
        </p:spPr>
        <p:txBody>
          <a:bodyPr/>
          <a:lstStyle/>
          <a:p>
            <a:endParaRPr lang="en-US"/>
          </a:p>
        </p:txBody>
      </p:sp>
      <p:sp>
        <p:nvSpPr>
          <p:cNvPr id="13" name="Text 9"/>
          <p:cNvSpPr/>
          <p:nvPr/>
        </p:nvSpPr>
        <p:spPr>
          <a:xfrm>
            <a:off x="6294834" y="2099449"/>
            <a:ext cx="1466850"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363 · 45.1%</a:t>
            </a:r>
            <a:endParaRPr lang="en-US" sz="1650" dirty="0"/>
          </a:p>
        </p:txBody>
      </p:sp>
      <p:sp>
        <p:nvSpPr>
          <p:cNvPr id="14" name="Text 10"/>
          <p:cNvSpPr/>
          <p:nvPr/>
        </p:nvSpPr>
        <p:spPr>
          <a:xfrm>
            <a:off x="812800" y="2439174"/>
            <a:ext cx="2200275" cy="29210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1A1A1A"/>
                </a:solidFill>
                <a:latin typeface="Calibri" pitchFamily="34" charset="0"/>
                <a:ea typeface="Calibri" pitchFamily="34" charset="-122"/>
                <a:cs typeface="Calibri" pitchFamily="34" charset="-120"/>
              </a:rPr>
              <a:t>B0207</a:t>
            </a:r>
            <a:endParaRPr lang="en-US" sz="1650" dirty="0"/>
          </a:p>
        </p:txBody>
      </p:sp>
      <p:sp>
        <p:nvSpPr>
          <p:cNvPr id="15" name="Shape 11"/>
          <p:cNvSpPr/>
          <p:nvPr/>
        </p:nvSpPr>
        <p:spPr>
          <a:xfrm>
            <a:off x="2927350" y="2480449"/>
            <a:ext cx="3386535" cy="171450"/>
          </a:xfrm>
          <a:prstGeom prst="rect">
            <a:avLst/>
          </a:prstGeom>
          <a:solidFill>
            <a:srgbClr val="EDEFEA"/>
          </a:solidFill>
          <a:ln/>
        </p:spPr>
        <p:txBody>
          <a:bodyPr/>
          <a:lstStyle/>
          <a:p>
            <a:endParaRPr lang="en-US"/>
          </a:p>
        </p:txBody>
      </p:sp>
      <p:sp>
        <p:nvSpPr>
          <p:cNvPr id="16" name="Shape 12"/>
          <p:cNvSpPr/>
          <p:nvPr/>
        </p:nvSpPr>
        <p:spPr>
          <a:xfrm>
            <a:off x="2927350" y="2480449"/>
            <a:ext cx="1388467" cy="171450"/>
          </a:xfrm>
          <a:prstGeom prst="rect">
            <a:avLst/>
          </a:prstGeom>
          <a:solidFill>
            <a:srgbClr val="6C8CC0"/>
          </a:solidFill>
          <a:ln/>
        </p:spPr>
        <p:txBody>
          <a:bodyPr/>
          <a:lstStyle/>
          <a:p>
            <a:endParaRPr lang="en-US"/>
          </a:p>
        </p:txBody>
      </p:sp>
      <p:sp>
        <p:nvSpPr>
          <p:cNvPr id="17" name="Text 13"/>
          <p:cNvSpPr/>
          <p:nvPr/>
        </p:nvSpPr>
        <p:spPr>
          <a:xfrm>
            <a:off x="6294834" y="2439174"/>
            <a:ext cx="1466850"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149 · 18.5%</a:t>
            </a:r>
            <a:endParaRPr lang="en-US" sz="1650" dirty="0"/>
          </a:p>
        </p:txBody>
      </p:sp>
      <p:sp>
        <p:nvSpPr>
          <p:cNvPr id="18" name="Text 14"/>
          <p:cNvSpPr/>
          <p:nvPr/>
        </p:nvSpPr>
        <p:spPr>
          <a:xfrm>
            <a:off x="812800" y="2778899"/>
            <a:ext cx="2200275" cy="29210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1A1A1A"/>
                </a:solidFill>
                <a:latin typeface="Calibri" pitchFamily="34" charset="0"/>
                <a:ea typeface="Calibri" pitchFamily="34" charset="-122"/>
                <a:cs typeface="Calibri" pitchFamily="34" charset="-120"/>
              </a:rPr>
              <a:t>CONNECTION_LOST</a:t>
            </a:r>
            <a:endParaRPr lang="en-US" sz="1650" dirty="0"/>
          </a:p>
        </p:txBody>
      </p:sp>
      <p:sp>
        <p:nvSpPr>
          <p:cNvPr id="19" name="Shape 15"/>
          <p:cNvSpPr/>
          <p:nvPr/>
        </p:nvSpPr>
        <p:spPr>
          <a:xfrm>
            <a:off x="2927350" y="2820174"/>
            <a:ext cx="3386535" cy="171450"/>
          </a:xfrm>
          <a:prstGeom prst="rect">
            <a:avLst/>
          </a:prstGeom>
          <a:solidFill>
            <a:srgbClr val="EDEFEA"/>
          </a:solidFill>
          <a:ln/>
        </p:spPr>
        <p:txBody>
          <a:bodyPr/>
          <a:lstStyle/>
          <a:p>
            <a:endParaRPr lang="en-US"/>
          </a:p>
        </p:txBody>
      </p:sp>
      <p:sp>
        <p:nvSpPr>
          <p:cNvPr id="20" name="Shape 16"/>
          <p:cNvSpPr/>
          <p:nvPr/>
        </p:nvSpPr>
        <p:spPr>
          <a:xfrm>
            <a:off x="2927350" y="2820174"/>
            <a:ext cx="778867" cy="171450"/>
          </a:xfrm>
          <a:prstGeom prst="rect">
            <a:avLst/>
          </a:prstGeom>
          <a:solidFill>
            <a:srgbClr val="6C8CC0"/>
          </a:solidFill>
          <a:ln/>
        </p:spPr>
        <p:txBody>
          <a:bodyPr/>
          <a:lstStyle/>
          <a:p>
            <a:endParaRPr lang="en-US"/>
          </a:p>
        </p:txBody>
      </p:sp>
      <p:sp>
        <p:nvSpPr>
          <p:cNvPr id="21" name="Text 17"/>
          <p:cNvSpPr/>
          <p:nvPr/>
        </p:nvSpPr>
        <p:spPr>
          <a:xfrm>
            <a:off x="6294834" y="2778899"/>
            <a:ext cx="1466850"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83 · 10.3%</a:t>
            </a:r>
            <a:endParaRPr lang="en-US" sz="1650" dirty="0"/>
          </a:p>
        </p:txBody>
      </p:sp>
      <p:sp>
        <p:nvSpPr>
          <p:cNvPr id="22" name="Text 18"/>
          <p:cNvSpPr/>
          <p:nvPr/>
        </p:nvSpPr>
        <p:spPr>
          <a:xfrm>
            <a:off x="812800" y="3118624"/>
            <a:ext cx="2200275" cy="29210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1A1A1A"/>
                </a:solidFill>
                <a:latin typeface="Calibri" pitchFamily="34" charset="0"/>
                <a:ea typeface="Calibri" pitchFamily="34" charset="-122"/>
                <a:cs typeface="Calibri" pitchFamily="34" charset="-120"/>
              </a:rPr>
              <a:t>A2007</a:t>
            </a:r>
            <a:endParaRPr lang="en-US" sz="1650" dirty="0"/>
          </a:p>
        </p:txBody>
      </p:sp>
      <p:sp>
        <p:nvSpPr>
          <p:cNvPr id="23" name="Shape 19"/>
          <p:cNvSpPr/>
          <p:nvPr/>
        </p:nvSpPr>
        <p:spPr>
          <a:xfrm>
            <a:off x="2927350" y="3159899"/>
            <a:ext cx="3386535" cy="171450"/>
          </a:xfrm>
          <a:prstGeom prst="rect">
            <a:avLst/>
          </a:prstGeom>
          <a:solidFill>
            <a:srgbClr val="EDEFEA"/>
          </a:solidFill>
          <a:ln/>
        </p:spPr>
        <p:txBody>
          <a:bodyPr/>
          <a:lstStyle/>
          <a:p>
            <a:endParaRPr lang="en-US"/>
          </a:p>
        </p:txBody>
      </p:sp>
      <p:sp>
        <p:nvSpPr>
          <p:cNvPr id="24" name="Shape 20"/>
          <p:cNvSpPr/>
          <p:nvPr/>
        </p:nvSpPr>
        <p:spPr>
          <a:xfrm>
            <a:off x="2927350" y="3159899"/>
            <a:ext cx="677267" cy="171450"/>
          </a:xfrm>
          <a:prstGeom prst="rect">
            <a:avLst/>
          </a:prstGeom>
          <a:solidFill>
            <a:srgbClr val="A8BCDC"/>
          </a:solidFill>
          <a:ln/>
        </p:spPr>
        <p:txBody>
          <a:bodyPr/>
          <a:lstStyle/>
          <a:p>
            <a:endParaRPr lang="en-US"/>
          </a:p>
        </p:txBody>
      </p:sp>
      <p:sp>
        <p:nvSpPr>
          <p:cNvPr id="25" name="Text 21"/>
          <p:cNvSpPr/>
          <p:nvPr/>
        </p:nvSpPr>
        <p:spPr>
          <a:xfrm>
            <a:off x="6294834" y="3118624"/>
            <a:ext cx="1466850"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71 · 8.8%</a:t>
            </a:r>
            <a:endParaRPr lang="en-US" sz="1650" dirty="0"/>
          </a:p>
        </p:txBody>
      </p:sp>
      <p:sp>
        <p:nvSpPr>
          <p:cNvPr id="26" name="Text 22"/>
          <p:cNvSpPr/>
          <p:nvPr/>
        </p:nvSpPr>
        <p:spPr>
          <a:xfrm>
            <a:off x="812800" y="3458349"/>
            <a:ext cx="2200275" cy="29210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1A1A1A"/>
                </a:solidFill>
                <a:latin typeface="Calibri" pitchFamily="34" charset="0"/>
                <a:ea typeface="Calibri" pitchFamily="34" charset="-122"/>
                <a:cs typeface="Calibri" pitchFamily="34" charset="-120"/>
              </a:rPr>
              <a:t>A0113</a:t>
            </a:r>
            <a:endParaRPr lang="en-US" sz="1650" dirty="0"/>
          </a:p>
        </p:txBody>
      </p:sp>
      <p:sp>
        <p:nvSpPr>
          <p:cNvPr id="27" name="Shape 23"/>
          <p:cNvSpPr/>
          <p:nvPr/>
        </p:nvSpPr>
        <p:spPr>
          <a:xfrm>
            <a:off x="2927350" y="3499624"/>
            <a:ext cx="3386535" cy="171450"/>
          </a:xfrm>
          <a:prstGeom prst="rect">
            <a:avLst/>
          </a:prstGeom>
          <a:solidFill>
            <a:srgbClr val="EDEFEA"/>
          </a:solidFill>
          <a:ln/>
        </p:spPr>
        <p:txBody>
          <a:bodyPr/>
          <a:lstStyle/>
          <a:p>
            <a:endParaRPr lang="en-US"/>
          </a:p>
        </p:txBody>
      </p:sp>
      <p:sp>
        <p:nvSpPr>
          <p:cNvPr id="28" name="Shape 24"/>
          <p:cNvSpPr/>
          <p:nvPr/>
        </p:nvSpPr>
        <p:spPr>
          <a:xfrm>
            <a:off x="2927350" y="3499624"/>
            <a:ext cx="406202" cy="171450"/>
          </a:xfrm>
          <a:prstGeom prst="rect">
            <a:avLst/>
          </a:prstGeom>
          <a:solidFill>
            <a:srgbClr val="A8BCDC"/>
          </a:solidFill>
          <a:ln/>
        </p:spPr>
        <p:txBody>
          <a:bodyPr/>
          <a:lstStyle/>
          <a:p>
            <a:endParaRPr lang="en-US"/>
          </a:p>
        </p:txBody>
      </p:sp>
      <p:sp>
        <p:nvSpPr>
          <p:cNvPr id="29" name="Text 25"/>
          <p:cNvSpPr/>
          <p:nvPr/>
        </p:nvSpPr>
        <p:spPr>
          <a:xfrm>
            <a:off x="6294834" y="3458349"/>
            <a:ext cx="1466850"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44 · 5.5%</a:t>
            </a:r>
            <a:endParaRPr lang="en-US" sz="1650" dirty="0"/>
          </a:p>
        </p:txBody>
      </p:sp>
      <p:sp>
        <p:nvSpPr>
          <p:cNvPr id="30" name="Shape 26"/>
          <p:cNvSpPr/>
          <p:nvPr/>
        </p:nvSpPr>
        <p:spPr>
          <a:xfrm>
            <a:off x="647700" y="4536478"/>
            <a:ext cx="7279085" cy="2343150"/>
          </a:xfrm>
          <a:prstGeom prst="rect">
            <a:avLst/>
          </a:prstGeom>
          <a:ln w="12700">
            <a:solidFill>
              <a:srgbClr val="D9DED7"/>
            </a:solidFill>
            <a:prstDash val="solid"/>
          </a:ln>
        </p:spPr>
        <p:txBody>
          <a:bodyPr/>
          <a:lstStyle/>
          <a:p>
            <a:endParaRPr lang="en-US"/>
          </a:p>
        </p:txBody>
      </p:sp>
      <p:sp>
        <p:nvSpPr>
          <p:cNvPr id="31" name="Shape 27"/>
          <p:cNvSpPr/>
          <p:nvPr/>
        </p:nvSpPr>
        <p:spPr>
          <a:xfrm>
            <a:off x="660400" y="4549178"/>
            <a:ext cx="7253685" cy="438150"/>
          </a:xfrm>
          <a:prstGeom prst="rect">
            <a:avLst/>
          </a:prstGeom>
          <a:solidFill>
            <a:srgbClr val="619B32"/>
          </a:solidFill>
          <a:ln/>
        </p:spPr>
        <p:txBody>
          <a:bodyPr/>
          <a:lstStyle/>
          <a:p>
            <a:endParaRPr lang="en-US"/>
          </a:p>
        </p:txBody>
      </p:sp>
      <p:sp>
        <p:nvSpPr>
          <p:cNvPr id="32" name="Text 28"/>
          <p:cNvSpPr/>
          <p:nvPr/>
        </p:nvSpPr>
        <p:spPr>
          <a:xfrm>
            <a:off x="812800" y="4634903"/>
            <a:ext cx="3029744"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FFFFFF"/>
                </a:solidFill>
                <a:latin typeface="Calibri" pitchFamily="34" charset="0"/>
                <a:ea typeface="Calibri" pitchFamily="34" charset="-122"/>
                <a:cs typeface="Calibri" pitchFamily="34" charset="-120"/>
              </a:rPr>
              <a:t>Core &amp; Coremini: Top 5 alarms</a:t>
            </a:r>
            <a:endParaRPr lang="en-US" sz="1725" dirty="0"/>
          </a:p>
        </p:txBody>
      </p:sp>
      <p:sp>
        <p:nvSpPr>
          <p:cNvPr id="33" name="Text 29"/>
          <p:cNvSpPr/>
          <p:nvPr/>
        </p:nvSpPr>
        <p:spPr>
          <a:xfrm>
            <a:off x="6620272" y="4634903"/>
            <a:ext cx="1217613"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FFFFFF"/>
                </a:solidFill>
                <a:latin typeface="Calibri" pitchFamily="34" charset="0"/>
                <a:ea typeface="Calibri" pitchFamily="34" charset="-122"/>
                <a:cs typeface="Calibri" pitchFamily="34" charset="-120"/>
              </a:rPr>
              <a:t>6,213 tickets</a:t>
            </a:r>
            <a:endParaRPr lang="en-US" sz="1725" dirty="0"/>
          </a:p>
        </p:txBody>
      </p:sp>
      <p:sp>
        <p:nvSpPr>
          <p:cNvPr id="34" name="Text 30"/>
          <p:cNvSpPr/>
          <p:nvPr/>
        </p:nvSpPr>
        <p:spPr>
          <a:xfrm>
            <a:off x="812800" y="5120678"/>
            <a:ext cx="2200275" cy="29210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1A1A1A"/>
                </a:solidFill>
                <a:latin typeface="Calibri" pitchFamily="34" charset="0"/>
                <a:ea typeface="Calibri" pitchFamily="34" charset="-122"/>
                <a:cs typeface="Calibri" pitchFamily="34" charset="-120"/>
              </a:rPr>
              <a:t>C2405</a:t>
            </a:r>
            <a:endParaRPr lang="en-US" sz="1650" dirty="0"/>
          </a:p>
        </p:txBody>
      </p:sp>
      <p:sp>
        <p:nvSpPr>
          <p:cNvPr id="35" name="Shape 31"/>
          <p:cNvSpPr/>
          <p:nvPr/>
        </p:nvSpPr>
        <p:spPr>
          <a:xfrm>
            <a:off x="2927350" y="5161953"/>
            <a:ext cx="3386535" cy="171450"/>
          </a:xfrm>
          <a:prstGeom prst="rect">
            <a:avLst/>
          </a:prstGeom>
          <a:solidFill>
            <a:srgbClr val="EDEFEA"/>
          </a:solidFill>
          <a:ln/>
        </p:spPr>
        <p:txBody>
          <a:bodyPr/>
          <a:lstStyle/>
          <a:p>
            <a:endParaRPr lang="en-US"/>
          </a:p>
        </p:txBody>
      </p:sp>
      <p:sp>
        <p:nvSpPr>
          <p:cNvPr id="36" name="Shape 32"/>
          <p:cNvSpPr/>
          <p:nvPr/>
        </p:nvSpPr>
        <p:spPr>
          <a:xfrm>
            <a:off x="2927350" y="5161953"/>
            <a:ext cx="3386535" cy="171450"/>
          </a:xfrm>
          <a:prstGeom prst="rect">
            <a:avLst/>
          </a:prstGeom>
          <a:solidFill>
            <a:srgbClr val="C0504D"/>
          </a:solidFill>
          <a:ln/>
        </p:spPr>
        <p:txBody>
          <a:bodyPr/>
          <a:lstStyle/>
          <a:p>
            <a:endParaRPr lang="en-US"/>
          </a:p>
        </p:txBody>
      </p:sp>
      <p:sp>
        <p:nvSpPr>
          <p:cNvPr id="37" name="Text 33"/>
          <p:cNvSpPr/>
          <p:nvPr/>
        </p:nvSpPr>
        <p:spPr>
          <a:xfrm>
            <a:off x="6294834" y="5120678"/>
            <a:ext cx="1466850"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883 · 15.7%</a:t>
            </a:r>
            <a:endParaRPr lang="en-US" sz="1650" dirty="0"/>
          </a:p>
        </p:txBody>
      </p:sp>
      <p:sp>
        <p:nvSpPr>
          <p:cNvPr id="38" name="Text 34"/>
          <p:cNvSpPr/>
          <p:nvPr/>
        </p:nvSpPr>
        <p:spPr>
          <a:xfrm>
            <a:off x="812800" y="5460403"/>
            <a:ext cx="2200275" cy="29210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1A1A1A"/>
                </a:solidFill>
                <a:latin typeface="Calibri" pitchFamily="34" charset="0"/>
                <a:ea typeface="Calibri" pitchFamily="34" charset="-122"/>
                <a:cs typeface="Calibri" pitchFamily="34" charset="-120"/>
              </a:rPr>
              <a:t>C0116</a:t>
            </a:r>
            <a:endParaRPr lang="en-US" sz="1650" dirty="0"/>
          </a:p>
        </p:txBody>
      </p:sp>
      <p:sp>
        <p:nvSpPr>
          <p:cNvPr id="39" name="Shape 35"/>
          <p:cNvSpPr/>
          <p:nvPr/>
        </p:nvSpPr>
        <p:spPr>
          <a:xfrm>
            <a:off x="2927350" y="5501678"/>
            <a:ext cx="3386535" cy="171450"/>
          </a:xfrm>
          <a:prstGeom prst="rect">
            <a:avLst/>
          </a:prstGeom>
          <a:solidFill>
            <a:srgbClr val="EDEFEA"/>
          </a:solidFill>
          <a:ln/>
        </p:spPr>
        <p:txBody>
          <a:bodyPr/>
          <a:lstStyle/>
          <a:p>
            <a:endParaRPr lang="en-US"/>
          </a:p>
        </p:txBody>
      </p:sp>
      <p:sp>
        <p:nvSpPr>
          <p:cNvPr id="40" name="Shape 36"/>
          <p:cNvSpPr/>
          <p:nvPr/>
        </p:nvSpPr>
        <p:spPr>
          <a:xfrm>
            <a:off x="2927350" y="5501678"/>
            <a:ext cx="2336602" cy="171450"/>
          </a:xfrm>
          <a:prstGeom prst="rect">
            <a:avLst/>
          </a:prstGeom>
          <a:solidFill>
            <a:srgbClr val="CF7874"/>
          </a:solidFill>
          <a:ln/>
        </p:spPr>
        <p:txBody>
          <a:bodyPr/>
          <a:lstStyle/>
          <a:p>
            <a:endParaRPr lang="en-US"/>
          </a:p>
        </p:txBody>
      </p:sp>
      <p:sp>
        <p:nvSpPr>
          <p:cNvPr id="41" name="Text 37"/>
          <p:cNvSpPr/>
          <p:nvPr/>
        </p:nvSpPr>
        <p:spPr>
          <a:xfrm>
            <a:off x="6294834" y="5460403"/>
            <a:ext cx="1466850"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608 · 10.8%</a:t>
            </a:r>
            <a:endParaRPr lang="en-US" sz="1650" dirty="0"/>
          </a:p>
        </p:txBody>
      </p:sp>
      <p:sp>
        <p:nvSpPr>
          <p:cNvPr id="42" name="Text 38"/>
          <p:cNvSpPr/>
          <p:nvPr/>
        </p:nvSpPr>
        <p:spPr>
          <a:xfrm>
            <a:off x="812800" y="5800128"/>
            <a:ext cx="2200275" cy="29210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1A1A1A"/>
                </a:solidFill>
                <a:latin typeface="Calibri" pitchFamily="34" charset="0"/>
                <a:ea typeface="Calibri" pitchFamily="34" charset="-122"/>
                <a:cs typeface="Calibri" pitchFamily="34" charset="-120"/>
              </a:rPr>
              <a:t>C2006</a:t>
            </a:r>
            <a:endParaRPr lang="en-US" sz="1650" dirty="0"/>
          </a:p>
        </p:txBody>
      </p:sp>
      <p:sp>
        <p:nvSpPr>
          <p:cNvPr id="43" name="Shape 39"/>
          <p:cNvSpPr/>
          <p:nvPr/>
        </p:nvSpPr>
        <p:spPr>
          <a:xfrm>
            <a:off x="2927350" y="5841403"/>
            <a:ext cx="3386535" cy="171450"/>
          </a:xfrm>
          <a:prstGeom prst="rect">
            <a:avLst/>
          </a:prstGeom>
          <a:solidFill>
            <a:srgbClr val="EDEFEA"/>
          </a:solidFill>
          <a:ln/>
        </p:spPr>
        <p:txBody>
          <a:bodyPr/>
          <a:lstStyle/>
          <a:p>
            <a:endParaRPr lang="en-US"/>
          </a:p>
        </p:txBody>
      </p:sp>
      <p:sp>
        <p:nvSpPr>
          <p:cNvPr id="44" name="Shape 40"/>
          <p:cNvSpPr/>
          <p:nvPr/>
        </p:nvSpPr>
        <p:spPr>
          <a:xfrm>
            <a:off x="2927350" y="5841403"/>
            <a:ext cx="2268934" cy="171450"/>
          </a:xfrm>
          <a:prstGeom prst="rect">
            <a:avLst/>
          </a:prstGeom>
          <a:solidFill>
            <a:srgbClr val="CF7874"/>
          </a:solidFill>
          <a:ln/>
        </p:spPr>
        <p:txBody>
          <a:bodyPr/>
          <a:lstStyle/>
          <a:p>
            <a:endParaRPr lang="en-US"/>
          </a:p>
        </p:txBody>
      </p:sp>
      <p:sp>
        <p:nvSpPr>
          <p:cNvPr id="45" name="Text 41"/>
          <p:cNvSpPr/>
          <p:nvPr/>
        </p:nvSpPr>
        <p:spPr>
          <a:xfrm>
            <a:off x="6294834" y="5800128"/>
            <a:ext cx="1466850"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593 · 10.5%</a:t>
            </a:r>
            <a:endParaRPr lang="en-US" sz="1650" dirty="0"/>
          </a:p>
        </p:txBody>
      </p:sp>
      <p:sp>
        <p:nvSpPr>
          <p:cNvPr id="46" name="Text 42"/>
          <p:cNvSpPr/>
          <p:nvPr/>
        </p:nvSpPr>
        <p:spPr>
          <a:xfrm>
            <a:off x="812800" y="6139853"/>
            <a:ext cx="2200275" cy="29210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1A1A1A"/>
                </a:solidFill>
                <a:latin typeface="Calibri" pitchFamily="34" charset="0"/>
                <a:ea typeface="Calibri" pitchFamily="34" charset="-122"/>
                <a:cs typeface="Calibri" pitchFamily="34" charset="-120"/>
              </a:rPr>
              <a:t>D1403</a:t>
            </a:r>
            <a:endParaRPr lang="en-US" sz="1650" dirty="0"/>
          </a:p>
        </p:txBody>
      </p:sp>
      <p:sp>
        <p:nvSpPr>
          <p:cNvPr id="47" name="Shape 43"/>
          <p:cNvSpPr/>
          <p:nvPr/>
        </p:nvSpPr>
        <p:spPr>
          <a:xfrm>
            <a:off x="2927350" y="6181128"/>
            <a:ext cx="3386535" cy="171450"/>
          </a:xfrm>
          <a:prstGeom prst="rect">
            <a:avLst/>
          </a:prstGeom>
          <a:solidFill>
            <a:srgbClr val="EDEFEA"/>
          </a:solidFill>
          <a:ln/>
        </p:spPr>
        <p:txBody>
          <a:bodyPr/>
          <a:lstStyle/>
          <a:p>
            <a:endParaRPr lang="en-US"/>
          </a:p>
        </p:txBody>
      </p:sp>
      <p:sp>
        <p:nvSpPr>
          <p:cNvPr id="48" name="Shape 44"/>
          <p:cNvSpPr/>
          <p:nvPr/>
        </p:nvSpPr>
        <p:spPr>
          <a:xfrm>
            <a:off x="2927350" y="6181128"/>
            <a:ext cx="2065734" cy="171450"/>
          </a:xfrm>
          <a:prstGeom prst="rect">
            <a:avLst/>
          </a:prstGeom>
          <a:solidFill>
            <a:srgbClr val="E0AAA8"/>
          </a:solidFill>
          <a:ln/>
        </p:spPr>
        <p:txBody>
          <a:bodyPr/>
          <a:lstStyle/>
          <a:p>
            <a:endParaRPr lang="en-US"/>
          </a:p>
        </p:txBody>
      </p:sp>
      <p:sp>
        <p:nvSpPr>
          <p:cNvPr id="49" name="Text 45"/>
          <p:cNvSpPr/>
          <p:nvPr/>
        </p:nvSpPr>
        <p:spPr>
          <a:xfrm>
            <a:off x="6294834" y="6139853"/>
            <a:ext cx="1466850"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541 · 9.6%</a:t>
            </a:r>
            <a:endParaRPr lang="en-US" sz="1650" dirty="0"/>
          </a:p>
        </p:txBody>
      </p:sp>
      <p:sp>
        <p:nvSpPr>
          <p:cNvPr id="50" name="Text 46"/>
          <p:cNvSpPr/>
          <p:nvPr/>
        </p:nvSpPr>
        <p:spPr>
          <a:xfrm>
            <a:off x="812800" y="6479578"/>
            <a:ext cx="2200275" cy="29210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1A1A1A"/>
                </a:solidFill>
                <a:latin typeface="Calibri" pitchFamily="34" charset="0"/>
                <a:ea typeface="Calibri" pitchFamily="34" charset="-122"/>
                <a:cs typeface="Calibri" pitchFamily="34" charset="-120"/>
              </a:rPr>
              <a:t>A0112</a:t>
            </a:r>
            <a:endParaRPr lang="en-US" sz="1650" dirty="0"/>
          </a:p>
        </p:txBody>
      </p:sp>
      <p:sp>
        <p:nvSpPr>
          <p:cNvPr id="51" name="Shape 47"/>
          <p:cNvSpPr/>
          <p:nvPr/>
        </p:nvSpPr>
        <p:spPr>
          <a:xfrm>
            <a:off x="2927350" y="6520853"/>
            <a:ext cx="3386535" cy="171450"/>
          </a:xfrm>
          <a:prstGeom prst="rect">
            <a:avLst/>
          </a:prstGeom>
          <a:solidFill>
            <a:srgbClr val="EDEFEA"/>
          </a:solidFill>
          <a:ln/>
        </p:spPr>
        <p:txBody>
          <a:bodyPr/>
          <a:lstStyle/>
          <a:p>
            <a:endParaRPr lang="en-US"/>
          </a:p>
        </p:txBody>
      </p:sp>
      <p:sp>
        <p:nvSpPr>
          <p:cNvPr id="52" name="Shape 48"/>
          <p:cNvSpPr/>
          <p:nvPr/>
        </p:nvSpPr>
        <p:spPr>
          <a:xfrm>
            <a:off x="2927350" y="6520853"/>
            <a:ext cx="1625402" cy="171450"/>
          </a:xfrm>
          <a:prstGeom prst="rect">
            <a:avLst/>
          </a:prstGeom>
          <a:solidFill>
            <a:srgbClr val="E0AAA8"/>
          </a:solidFill>
          <a:ln/>
        </p:spPr>
        <p:txBody>
          <a:bodyPr/>
          <a:lstStyle/>
          <a:p>
            <a:endParaRPr lang="en-US"/>
          </a:p>
        </p:txBody>
      </p:sp>
      <p:sp>
        <p:nvSpPr>
          <p:cNvPr id="53" name="Text 49"/>
          <p:cNvSpPr/>
          <p:nvPr/>
        </p:nvSpPr>
        <p:spPr>
          <a:xfrm>
            <a:off x="6294834" y="6479578"/>
            <a:ext cx="1466850"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425 · 7.5%</a:t>
            </a:r>
            <a:endParaRPr lang="en-US" sz="1650" dirty="0"/>
          </a:p>
        </p:txBody>
      </p:sp>
      <p:sp>
        <p:nvSpPr>
          <p:cNvPr id="54" name="Shape 50"/>
          <p:cNvSpPr/>
          <p:nvPr/>
        </p:nvSpPr>
        <p:spPr>
          <a:xfrm>
            <a:off x="647700" y="7557703"/>
            <a:ext cx="7279085" cy="2343150"/>
          </a:xfrm>
          <a:prstGeom prst="rect">
            <a:avLst/>
          </a:prstGeom>
          <a:ln w="12700">
            <a:solidFill>
              <a:srgbClr val="D9DED7"/>
            </a:solidFill>
            <a:prstDash val="solid"/>
          </a:ln>
        </p:spPr>
        <p:txBody>
          <a:bodyPr/>
          <a:lstStyle/>
          <a:p>
            <a:endParaRPr lang="en-US"/>
          </a:p>
        </p:txBody>
      </p:sp>
      <p:sp>
        <p:nvSpPr>
          <p:cNvPr id="55" name="Shape 51"/>
          <p:cNvSpPr/>
          <p:nvPr/>
        </p:nvSpPr>
        <p:spPr>
          <a:xfrm>
            <a:off x="660400" y="7570403"/>
            <a:ext cx="7253685" cy="438150"/>
          </a:xfrm>
          <a:prstGeom prst="rect">
            <a:avLst/>
          </a:prstGeom>
          <a:solidFill>
            <a:srgbClr val="619B32"/>
          </a:solidFill>
          <a:ln/>
        </p:spPr>
        <p:txBody>
          <a:bodyPr/>
          <a:lstStyle/>
          <a:p>
            <a:endParaRPr lang="en-US"/>
          </a:p>
        </p:txBody>
      </p:sp>
      <p:sp>
        <p:nvSpPr>
          <p:cNvPr id="56" name="Text 52"/>
          <p:cNvSpPr/>
          <p:nvPr/>
        </p:nvSpPr>
        <p:spPr>
          <a:xfrm>
            <a:off x="812800" y="7656128"/>
            <a:ext cx="1848187"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FFFFFF"/>
                </a:solidFill>
                <a:latin typeface="Calibri" pitchFamily="34" charset="0"/>
                <a:ea typeface="Calibri" pitchFamily="34" charset="-122"/>
                <a:cs typeface="Calibri" pitchFamily="34" charset="-120"/>
              </a:rPr>
              <a:t>Kern: Top 5 alarms</a:t>
            </a:r>
            <a:endParaRPr lang="en-US" sz="1725" dirty="0"/>
          </a:p>
        </p:txBody>
      </p:sp>
      <p:sp>
        <p:nvSpPr>
          <p:cNvPr id="57" name="Text 53"/>
          <p:cNvSpPr/>
          <p:nvPr/>
        </p:nvSpPr>
        <p:spPr>
          <a:xfrm>
            <a:off x="6620272" y="7656128"/>
            <a:ext cx="1217613"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FFFFFF"/>
                </a:solidFill>
                <a:latin typeface="Calibri" pitchFamily="34" charset="0"/>
                <a:ea typeface="Calibri" pitchFamily="34" charset="-122"/>
                <a:cs typeface="Calibri" pitchFamily="34" charset="-120"/>
              </a:rPr>
              <a:t>2,365 tickets</a:t>
            </a:r>
            <a:endParaRPr lang="en-US" sz="1725" dirty="0"/>
          </a:p>
        </p:txBody>
      </p:sp>
      <p:sp>
        <p:nvSpPr>
          <p:cNvPr id="58" name="Text 54"/>
          <p:cNvSpPr/>
          <p:nvPr/>
        </p:nvSpPr>
        <p:spPr>
          <a:xfrm>
            <a:off x="812800" y="8141903"/>
            <a:ext cx="2200275" cy="29210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1A1A1A"/>
                </a:solidFill>
                <a:latin typeface="Calibri" pitchFamily="34" charset="0"/>
                <a:ea typeface="Calibri" pitchFamily="34" charset="-122"/>
                <a:cs typeface="Calibri" pitchFamily="34" charset="-120"/>
              </a:rPr>
              <a:t>C2405</a:t>
            </a:r>
            <a:endParaRPr lang="en-US" sz="1650" dirty="0"/>
          </a:p>
        </p:txBody>
      </p:sp>
      <p:sp>
        <p:nvSpPr>
          <p:cNvPr id="59" name="Shape 55"/>
          <p:cNvSpPr/>
          <p:nvPr/>
        </p:nvSpPr>
        <p:spPr>
          <a:xfrm>
            <a:off x="2927350" y="8183178"/>
            <a:ext cx="3386535" cy="171450"/>
          </a:xfrm>
          <a:prstGeom prst="rect">
            <a:avLst/>
          </a:prstGeom>
          <a:solidFill>
            <a:srgbClr val="EDEFEA"/>
          </a:solidFill>
          <a:ln/>
        </p:spPr>
        <p:txBody>
          <a:bodyPr/>
          <a:lstStyle/>
          <a:p>
            <a:endParaRPr lang="en-US"/>
          </a:p>
        </p:txBody>
      </p:sp>
      <p:sp>
        <p:nvSpPr>
          <p:cNvPr id="60" name="Shape 56"/>
          <p:cNvSpPr/>
          <p:nvPr/>
        </p:nvSpPr>
        <p:spPr>
          <a:xfrm>
            <a:off x="2927350" y="8183178"/>
            <a:ext cx="3386535" cy="171450"/>
          </a:xfrm>
          <a:prstGeom prst="rect">
            <a:avLst/>
          </a:prstGeom>
          <a:solidFill>
            <a:srgbClr val="7F5FA0"/>
          </a:solidFill>
          <a:ln/>
        </p:spPr>
        <p:txBody>
          <a:bodyPr/>
          <a:lstStyle/>
          <a:p>
            <a:endParaRPr lang="en-US"/>
          </a:p>
        </p:txBody>
      </p:sp>
      <p:sp>
        <p:nvSpPr>
          <p:cNvPr id="61" name="Text 57"/>
          <p:cNvSpPr/>
          <p:nvPr/>
        </p:nvSpPr>
        <p:spPr>
          <a:xfrm>
            <a:off x="6294834" y="8141903"/>
            <a:ext cx="1466850"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426 · 20.3%</a:t>
            </a:r>
            <a:endParaRPr lang="en-US" sz="1650" dirty="0"/>
          </a:p>
        </p:txBody>
      </p:sp>
      <p:sp>
        <p:nvSpPr>
          <p:cNvPr id="62" name="Text 58"/>
          <p:cNvSpPr/>
          <p:nvPr/>
        </p:nvSpPr>
        <p:spPr>
          <a:xfrm>
            <a:off x="812800" y="8481628"/>
            <a:ext cx="2200275" cy="29210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1A1A1A"/>
                </a:solidFill>
                <a:latin typeface="Calibri" pitchFamily="34" charset="0"/>
                <a:ea typeface="Calibri" pitchFamily="34" charset="-122"/>
                <a:cs typeface="Calibri" pitchFamily="34" charset="-120"/>
              </a:rPr>
              <a:t>A0112</a:t>
            </a:r>
            <a:endParaRPr lang="en-US" sz="1650" dirty="0"/>
          </a:p>
        </p:txBody>
      </p:sp>
      <p:sp>
        <p:nvSpPr>
          <p:cNvPr id="63" name="Shape 59"/>
          <p:cNvSpPr/>
          <p:nvPr/>
        </p:nvSpPr>
        <p:spPr>
          <a:xfrm>
            <a:off x="2927350" y="8522903"/>
            <a:ext cx="3386535" cy="171450"/>
          </a:xfrm>
          <a:prstGeom prst="rect">
            <a:avLst/>
          </a:prstGeom>
          <a:solidFill>
            <a:srgbClr val="EDEFEA"/>
          </a:solidFill>
          <a:ln/>
        </p:spPr>
        <p:txBody>
          <a:bodyPr/>
          <a:lstStyle/>
          <a:p>
            <a:endParaRPr lang="en-US"/>
          </a:p>
        </p:txBody>
      </p:sp>
      <p:sp>
        <p:nvSpPr>
          <p:cNvPr id="64" name="Shape 60"/>
          <p:cNvSpPr/>
          <p:nvPr/>
        </p:nvSpPr>
        <p:spPr>
          <a:xfrm>
            <a:off x="2927350" y="8522903"/>
            <a:ext cx="2641402" cy="171450"/>
          </a:xfrm>
          <a:prstGeom prst="rect">
            <a:avLst/>
          </a:prstGeom>
          <a:solidFill>
            <a:srgbClr val="9C82B7"/>
          </a:solidFill>
          <a:ln/>
        </p:spPr>
        <p:txBody>
          <a:bodyPr/>
          <a:lstStyle/>
          <a:p>
            <a:endParaRPr lang="en-US"/>
          </a:p>
        </p:txBody>
      </p:sp>
      <p:sp>
        <p:nvSpPr>
          <p:cNvPr id="65" name="Text 61"/>
          <p:cNvSpPr/>
          <p:nvPr/>
        </p:nvSpPr>
        <p:spPr>
          <a:xfrm>
            <a:off x="6294834" y="8481628"/>
            <a:ext cx="1466850"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331 · 15.8%</a:t>
            </a:r>
            <a:endParaRPr lang="en-US" sz="1650" dirty="0"/>
          </a:p>
        </p:txBody>
      </p:sp>
      <p:sp>
        <p:nvSpPr>
          <p:cNvPr id="66" name="Text 62"/>
          <p:cNvSpPr/>
          <p:nvPr/>
        </p:nvSpPr>
        <p:spPr>
          <a:xfrm>
            <a:off x="812800" y="8821353"/>
            <a:ext cx="2200275" cy="29210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1A1A1A"/>
                </a:solidFill>
                <a:latin typeface="Calibri" pitchFamily="34" charset="0"/>
                <a:ea typeface="Calibri" pitchFamily="34" charset="-122"/>
                <a:cs typeface="Calibri" pitchFamily="34" charset="-120"/>
              </a:rPr>
              <a:t>A0401</a:t>
            </a:r>
            <a:endParaRPr lang="en-US" sz="1650" dirty="0"/>
          </a:p>
        </p:txBody>
      </p:sp>
      <p:sp>
        <p:nvSpPr>
          <p:cNvPr id="67" name="Shape 63"/>
          <p:cNvSpPr/>
          <p:nvPr/>
        </p:nvSpPr>
        <p:spPr>
          <a:xfrm>
            <a:off x="2927350" y="8862628"/>
            <a:ext cx="3386535" cy="171450"/>
          </a:xfrm>
          <a:prstGeom prst="rect">
            <a:avLst/>
          </a:prstGeom>
          <a:solidFill>
            <a:srgbClr val="EDEFEA"/>
          </a:solidFill>
          <a:ln/>
        </p:spPr>
        <p:txBody>
          <a:bodyPr/>
          <a:lstStyle/>
          <a:p>
            <a:endParaRPr lang="en-US"/>
          </a:p>
        </p:txBody>
      </p:sp>
      <p:sp>
        <p:nvSpPr>
          <p:cNvPr id="68" name="Shape 64"/>
          <p:cNvSpPr/>
          <p:nvPr/>
        </p:nvSpPr>
        <p:spPr>
          <a:xfrm>
            <a:off x="2927350" y="8862628"/>
            <a:ext cx="2404269" cy="171450"/>
          </a:xfrm>
          <a:prstGeom prst="rect">
            <a:avLst/>
          </a:prstGeom>
          <a:solidFill>
            <a:srgbClr val="9C82B7"/>
          </a:solidFill>
          <a:ln/>
        </p:spPr>
        <p:txBody>
          <a:bodyPr/>
          <a:lstStyle/>
          <a:p>
            <a:endParaRPr lang="en-US"/>
          </a:p>
        </p:txBody>
      </p:sp>
      <p:sp>
        <p:nvSpPr>
          <p:cNvPr id="69" name="Text 65"/>
          <p:cNvSpPr/>
          <p:nvPr/>
        </p:nvSpPr>
        <p:spPr>
          <a:xfrm>
            <a:off x="6294834" y="8821353"/>
            <a:ext cx="1466850"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301 · 14.3%</a:t>
            </a:r>
            <a:endParaRPr lang="en-US" sz="1650" dirty="0"/>
          </a:p>
        </p:txBody>
      </p:sp>
      <p:sp>
        <p:nvSpPr>
          <p:cNvPr id="70" name="Text 66"/>
          <p:cNvSpPr/>
          <p:nvPr/>
        </p:nvSpPr>
        <p:spPr>
          <a:xfrm>
            <a:off x="812800" y="9161078"/>
            <a:ext cx="2200275" cy="29210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1A1A1A"/>
                </a:solidFill>
                <a:latin typeface="Calibri" pitchFamily="34" charset="0"/>
                <a:ea typeface="Calibri" pitchFamily="34" charset="-122"/>
                <a:cs typeface="Calibri" pitchFamily="34" charset="-120"/>
              </a:rPr>
              <a:t>A0101</a:t>
            </a:r>
            <a:endParaRPr lang="en-US" sz="1650" dirty="0"/>
          </a:p>
        </p:txBody>
      </p:sp>
      <p:sp>
        <p:nvSpPr>
          <p:cNvPr id="71" name="Shape 67"/>
          <p:cNvSpPr/>
          <p:nvPr/>
        </p:nvSpPr>
        <p:spPr>
          <a:xfrm>
            <a:off x="2927350" y="9202353"/>
            <a:ext cx="3386535" cy="171450"/>
          </a:xfrm>
          <a:prstGeom prst="rect">
            <a:avLst/>
          </a:prstGeom>
          <a:solidFill>
            <a:srgbClr val="EDEFEA"/>
          </a:solidFill>
          <a:ln/>
        </p:spPr>
        <p:txBody>
          <a:bodyPr/>
          <a:lstStyle/>
          <a:p>
            <a:endParaRPr lang="en-US"/>
          </a:p>
        </p:txBody>
      </p:sp>
      <p:sp>
        <p:nvSpPr>
          <p:cNvPr id="72" name="Shape 68"/>
          <p:cNvSpPr/>
          <p:nvPr/>
        </p:nvSpPr>
        <p:spPr>
          <a:xfrm>
            <a:off x="2927350" y="9202353"/>
            <a:ext cx="1286867" cy="171450"/>
          </a:xfrm>
          <a:prstGeom prst="rect">
            <a:avLst/>
          </a:prstGeom>
          <a:solidFill>
            <a:srgbClr val="C2B2D2"/>
          </a:solidFill>
          <a:ln/>
        </p:spPr>
        <p:txBody>
          <a:bodyPr/>
          <a:lstStyle/>
          <a:p>
            <a:endParaRPr lang="en-US"/>
          </a:p>
        </p:txBody>
      </p:sp>
      <p:sp>
        <p:nvSpPr>
          <p:cNvPr id="73" name="Text 69"/>
          <p:cNvSpPr/>
          <p:nvPr/>
        </p:nvSpPr>
        <p:spPr>
          <a:xfrm>
            <a:off x="6294834" y="9161078"/>
            <a:ext cx="1466850"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160 · 7.6%</a:t>
            </a:r>
            <a:endParaRPr lang="en-US" sz="1650" dirty="0"/>
          </a:p>
        </p:txBody>
      </p:sp>
      <p:sp>
        <p:nvSpPr>
          <p:cNvPr id="74" name="Text 70"/>
          <p:cNvSpPr/>
          <p:nvPr/>
        </p:nvSpPr>
        <p:spPr>
          <a:xfrm>
            <a:off x="812800" y="9500803"/>
            <a:ext cx="2200275" cy="29210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1A1A1A"/>
                </a:solidFill>
                <a:latin typeface="Calibri" pitchFamily="34" charset="0"/>
                <a:ea typeface="Calibri" pitchFamily="34" charset="-122"/>
                <a:cs typeface="Calibri" pitchFamily="34" charset="-120"/>
              </a:rPr>
              <a:t>CONNECTION_LOST</a:t>
            </a:r>
            <a:endParaRPr lang="en-US" sz="1650" dirty="0"/>
          </a:p>
        </p:txBody>
      </p:sp>
      <p:sp>
        <p:nvSpPr>
          <p:cNvPr id="75" name="Shape 71"/>
          <p:cNvSpPr/>
          <p:nvPr/>
        </p:nvSpPr>
        <p:spPr>
          <a:xfrm>
            <a:off x="2927350" y="9542078"/>
            <a:ext cx="3386535" cy="171450"/>
          </a:xfrm>
          <a:prstGeom prst="rect">
            <a:avLst/>
          </a:prstGeom>
          <a:solidFill>
            <a:srgbClr val="EDEFEA"/>
          </a:solidFill>
          <a:ln/>
        </p:spPr>
        <p:txBody>
          <a:bodyPr/>
          <a:lstStyle/>
          <a:p>
            <a:endParaRPr lang="en-US"/>
          </a:p>
        </p:txBody>
      </p:sp>
      <p:sp>
        <p:nvSpPr>
          <p:cNvPr id="76" name="Shape 72"/>
          <p:cNvSpPr/>
          <p:nvPr/>
        </p:nvSpPr>
        <p:spPr>
          <a:xfrm>
            <a:off x="2927350" y="9542078"/>
            <a:ext cx="1049734" cy="171450"/>
          </a:xfrm>
          <a:prstGeom prst="rect">
            <a:avLst/>
          </a:prstGeom>
          <a:solidFill>
            <a:srgbClr val="C2B2D2"/>
          </a:solidFill>
          <a:ln/>
        </p:spPr>
        <p:txBody>
          <a:bodyPr/>
          <a:lstStyle/>
          <a:p>
            <a:endParaRPr lang="en-US"/>
          </a:p>
        </p:txBody>
      </p:sp>
      <p:sp>
        <p:nvSpPr>
          <p:cNvPr id="77" name="Text 73"/>
          <p:cNvSpPr/>
          <p:nvPr/>
        </p:nvSpPr>
        <p:spPr>
          <a:xfrm>
            <a:off x="6294834" y="9500803"/>
            <a:ext cx="1466850"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130 · 6.2%</a:t>
            </a:r>
            <a:endParaRPr lang="en-US" sz="1650" dirty="0"/>
          </a:p>
        </p:txBody>
      </p:sp>
      <p:sp>
        <p:nvSpPr>
          <p:cNvPr id="114" name="Shape 99">
            <a:extLst>
              <a:ext uri="{FF2B5EF4-FFF2-40B4-BE49-F238E27FC236}">
                <a16:creationId xmlns:a16="http://schemas.microsoft.com/office/drawing/2014/main" id="{4FF91AD7-11A1-EACC-7B97-DAC220E53164}"/>
              </a:ext>
            </a:extLst>
          </p:cNvPr>
          <p:cNvSpPr/>
          <p:nvPr/>
        </p:nvSpPr>
        <p:spPr>
          <a:xfrm>
            <a:off x="7950200" y="1511300"/>
            <a:ext cx="4826000" cy="2347099"/>
          </a:xfrm>
          <a:prstGeom prst="rect">
            <a:avLst/>
          </a:prstGeom>
          <a:solidFill>
            <a:srgbClr val="F1F6F2"/>
          </a:solidFill>
          <a:ln>
            <a:noFill/>
          </a:ln>
        </p:spPr>
        <p:txBody>
          <a:bodyPr lIns="209550">
            <a:noAutofit/>
          </a:bodyPr>
          <a:lstStyle/>
          <a:p>
            <a:pPr marL="0" indent="0" algn="l">
              <a:buNone/>
            </a:pPr>
            <a:r>
              <a:rPr lang="en-US" sz="1800" b="1" dirty="0">
                <a:solidFill>
                  <a:srgbClr val="1A1A1A"/>
                </a:solidFill>
                <a:latin typeface="Calibri" pitchFamily="34" charset="0"/>
                <a:ea typeface="Calibri" pitchFamily="34" charset="-122"/>
                <a:cs typeface="Calibri" pitchFamily="34" charset="-120"/>
              </a:rPr>
              <a:t>AC — A0101 (High Temperature)</a:t>
            </a:r>
            <a:endParaRPr lang="en-US" sz="1800" dirty="0"/>
          </a:p>
          <a:p>
            <a:pPr marL="0" indent="0" algn="l">
              <a:lnSpc>
                <a:spcPct val="111375"/>
              </a:lnSpc>
              <a:buNone/>
            </a:pPr>
            <a:r>
              <a:rPr lang="en-US" sz="1650" b="1" dirty="0">
                <a:solidFill>
                  <a:srgbClr val="1A1A1A"/>
                </a:solidFill>
                <a:latin typeface="Calibri" pitchFamily="34" charset="0"/>
                <a:ea typeface="Calibri" pitchFamily="34" charset="-122"/>
                <a:cs typeface="Calibri" pitchFamily="34" charset="-120"/>
              </a:rPr>
              <a:t>RCA: </a:t>
            </a:r>
            <a:r>
              <a:rPr lang="en-US" sz="1650" dirty="0">
                <a:solidFill>
                  <a:srgbClr val="1A1A1A"/>
                </a:solidFill>
                <a:latin typeface="Calibri" pitchFamily="34" charset="0"/>
                <a:ea typeface="Calibri" pitchFamily="34" charset="-122"/>
                <a:cs typeface="Calibri" pitchFamily="34" charset="-120"/>
              </a:rPr>
              <a:t>The charger is inside a box or cabinet, or in direct sunlight. The FW temperature limit is set too low.</a:t>
            </a:r>
            <a:endParaRPr lang="en-US" sz="1650" dirty="0"/>
          </a:p>
          <a:p>
            <a:pPr marL="0" indent="0" algn="l">
              <a:lnSpc>
                <a:spcPct val="111375"/>
              </a:lnSpc>
              <a:buNone/>
            </a:pPr>
            <a:r>
              <a:rPr lang="en-US" sz="1650" b="1" dirty="0">
                <a:solidFill>
                  <a:srgbClr val="1A1A1A"/>
                </a:solidFill>
                <a:latin typeface="Calibri" pitchFamily="34" charset="0"/>
                <a:ea typeface="Calibri" pitchFamily="34" charset="-122"/>
                <a:cs typeface="Calibri" pitchFamily="34" charset="-120"/>
              </a:rPr>
              <a:t>Solution: </a:t>
            </a:r>
            <a:r>
              <a:rPr lang="en-US" sz="1650" dirty="0">
                <a:solidFill>
                  <a:srgbClr val="1A1A1A"/>
                </a:solidFill>
                <a:latin typeface="Calibri" pitchFamily="34" charset="0"/>
                <a:ea typeface="Calibri" pitchFamily="34" charset="-122"/>
                <a:cs typeface="Calibri" pitchFamily="34" charset="-120"/>
              </a:rPr>
              <a:t>Ask the customer to remove the box or cabinet, move the charger into shade, or install a roof cover. The FW will adjust the temperature limit — in internal testing now, to be sent to VGreen on 6 Aug 2026.</a:t>
            </a:r>
            <a:endParaRPr lang="en-US" sz="1650" dirty="0"/>
          </a:p>
        </p:txBody>
      </p:sp>
      <p:sp>
        <p:nvSpPr>
          <p:cNvPr id="134" name="Shape 74">
            <a:extLst>
              <a:ext uri="{FF2B5EF4-FFF2-40B4-BE49-F238E27FC236}">
                <a16:creationId xmlns:a16="http://schemas.microsoft.com/office/drawing/2014/main" id="{B14A3DBC-4A08-70A0-4EE9-8C9A596FF727}"/>
              </a:ext>
            </a:extLst>
          </p:cNvPr>
          <p:cNvSpPr/>
          <p:nvPr/>
        </p:nvSpPr>
        <p:spPr>
          <a:xfrm>
            <a:off x="13131800" y="4536474"/>
            <a:ext cx="4826000" cy="2343150"/>
          </a:xfrm>
          <a:prstGeom prst="rect">
            <a:avLst/>
          </a:prstGeom>
          <a:solidFill>
            <a:srgbClr val="F1F6F2"/>
          </a:solidFill>
          <a:ln>
            <a:noFill/>
          </a:ln>
        </p:spPr>
        <p:txBody>
          <a:bodyPr lIns="209550">
            <a:noAutofit/>
          </a:bodyPr>
          <a:lstStyle/>
          <a:p>
            <a:pPr marL="0" indent="0" algn="l">
              <a:buNone/>
            </a:pPr>
            <a:r>
              <a:rPr lang="en-US" sz="1800" b="1" dirty="0">
                <a:solidFill>
                  <a:srgbClr val="1A1A1A"/>
                </a:solidFill>
                <a:latin typeface="Calibri" pitchFamily="34" charset="0"/>
                <a:ea typeface="Calibri" pitchFamily="34" charset="-122"/>
                <a:cs typeface="Calibri" pitchFamily="34" charset="-120"/>
              </a:rPr>
              <a:t>Core / Coremini — C0116 (Fan Failed)</a:t>
            </a:r>
            <a:endParaRPr lang="en-US" sz="1800" dirty="0"/>
          </a:p>
          <a:p>
            <a:pPr marL="0" indent="0" algn="l">
              <a:lnSpc>
                <a:spcPct val="111375"/>
              </a:lnSpc>
              <a:buNone/>
            </a:pPr>
            <a:r>
              <a:rPr lang="en-US" sz="1650" b="1" dirty="0">
                <a:solidFill>
                  <a:srgbClr val="1A1A1A"/>
                </a:solidFill>
                <a:latin typeface="Calibri" pitchFamily="34" charset="0"/>
                <a:ea typeface="Calibri" pitchFamily="34" charset="-122"/>
                <a:cs typeface="Calibri" pitchFamily="34" charset="-120"/>
              </a:rPr>
              <a:t>RCA: </a:t>
            </a:r>
            <a:r>
              <a:rPr lang="en-US" sz="1650" dirty="0">
                <a:solidFill>
                  <a:srgbClr val="1A1A1A"/>
                </a:solidFill>
                <a:latin typeface="Calibri" pitchFamily="34" charset="0"/>
                <a:ea typeface="Calibri" pitchFamily="34" charset="-122"/>
                <a:cs typeface="Calibri" pitchFamily="34" charset="-120"/>
              </a:rPr>
              <a:t>The fan or the 24V power supply is broken. Dirty filters are blocking the airflow.</a:t>
            </a:r>
            <a:endParaRPr lang="en-US" sz="1650" dirty="0"/>
          </a:p>
          <a:p>
            <a:pPr marL="0" indent="0" algn="l">
              <a:lnSpc>
                <a:spcPct val="111375"/>
              </a:lnSpc>
              <a:buNone/>
            </a:pPr>
            <a:r>
              <a:rPr lang="en-US" sz="1650" b="1" dirty="0">
                <a:solidFill>
                  <a:srgbClr val="1A1A1A"/>
                </a:solidFill>
                <a:latin typeface="Calibri" pitchFamily="34" charset="0"/>
                <a:ea typeface="Calibri" pitchFamily="34" charset="-122"/>
                <a:cs typeface="Calibri" pitchFamily="34" charset="-120"/>
              </a:rPr>
              <a:t>Solution: </a:t>
            </a:r>
            <a:r>
              <a:rPr lang="en-US" sz="1650" dirty="0">
                <a:solidFill>
                  <a:srgbClr val="1A1A1A"/>
                </a:solidFill>
                <a:latin typeface="Calibri" pitchFamily="34" charset="0"/>
                <a:ea typeface="Calibri" pitchFamily="34" charset="-122"/>
                <a:cs typeface="Calibri" pitchFamily="34" charset="-120"/>
              </a:rPr>
              <a:t>Replace the broken fan or the 24V power supply. Clean the filters, and check that the fans spin correctly.</a:t>
            </a:r>
            <a:endParaRPr lang="en-US" sz="1650" dirty="0"/>
          </a:p>
        </p:txBody>
      </p:sp>
      <p:sp>
        <p:nvSpPr>
          <p:cNvPr id="154" name="TextBox 153">
            <a:extLst>
              <a:ext uri="{FF2B5EF4-FFF2-40B4-BE49-F238E27FC236}">
                <a16:creationId xmlns:a16="http://schemas.microsoft.com/office/drawing/2014/main" id="{3C8E0073-3D72-AD9E-0517-6E16B29BF8AD}"/>
              </a:ext>
            </a:extLst>
          </p:cNvPr>
          <p:cNvSpPr txBox="1"/>
          <p:nvPr/>
        </p:nvSpPr>
        <p:spPr>
          <a:xfrm>
            <a:off x="13131800" y="1511300"/>
            <a:ext cx="4826000" cy="2347099"/>
          </a:xfrm>
          <a:prstGeom prst="rect">
            <a:avLst/>
          </a:prstGeom>
          <a:solidFill>
            <a:srgbClr val="F1F6F2"/>
          </a:solidFill>
          <a:ln>
            <a:noFill/>
          </a:ln>
        </p:spPr>
        <p:txBody>
          <a:bodyPr wrap="square" lIns="203200">
            <a:noAutofit/>
          </a:bodyPr>
          <a:lstStyle/>
          <a:p>
            <a:pPr marL="0" indent="0" algn="l">
              <a:buNone/>
            </a:pPr>
            <a:r>
              <a:rPr lang="en-US" sz="1800" b="1" dirty="0">
                <a:solidFill>
                  <a:srgbClr val="1A1A1A"/>
                </a:solidFill>
                <a:latin typeface="Calibri" pitchFamily="34" charset="0"/>
                <a:ea typeface="Calibri" pitchFamily="34" charset="-122"/>
                <a:cs typeface="Calibri" pitchFamily="34" charset="-120"/>
              </a:rPr>
              <a:t>AC - B0207 (DataMismatch)</a:t>
            </a:r>
            <a:endParaRPr lang="en-US" sz="1800" dirty="0"/>
          </a:p>
          <a:p>
            <a:pPr marL="0" indent="0" algn="l">
              <a:lnSpc>
                <a:spcPct val="111375"/>
              </a:lnSpc>
              <a:buNone/>
            </a:pPr>
            <a:r>
              <a:rPr lang="en-US" sz="1650" b="1" dirty="0">
                <a:solidFill>
                  <a:srgbClr val="1A1A1A"/>
                </a:solidFill>
                <a:latin typeface="Calibri" pitchFamily="34" charset="0"/>
                <a:ea typeface="Calibri" pitchFamily="34" charset="-122"/>
                <a:cs typeface="Calibri" pitchFamily="34" charset="-120"/>
              </a:rPr>
              <a:t>RCA: </a:t>
            </a:r>
            <a:r>
              <a:rPr lang="en-US" sz="1650" dirty="0">
                <a:solidFill>
                  <a:srgbClr val="1A1A1A"/>
                </a:solidFill>
                <a:latin typeface="Calibri" pitchFamily="34" charset="0"/>
                <a:ea typeface="Calibri" pitchFamily="34" charset="-122"/>
                <a:cs typeface="Calibri" pitchFamily="34" charset="-120"/>
              </a:rPr>
              <a:t>FW bug: the charger sends the StartTransaction message many times, so its data no longer matches the server.</a:t>
            </a:r>
            <a:endParaRPr lang="en-US" sz="1650" dirty="0"/>
          </a:p>
          <a:p>
            <a:pPr marL="0" indent="0" algn="l">
              <a:lnSpc>
                <a:spcPct val="111375"/>
              </a:lnSpc>
              <a:buNone/>
            </a:pPr>
            <a:r>
              <a:rPr lang="en-US" sz="1650" b="1" dirty="0">
                <a:solidFill>
                  <a:srgbClr val="1A1A1A"/>
                </a:solidFill>
                <a:latin typeface="Calibri" pitchFamily="34" charset="0"/>
                <a:ea typeface="Calibri" pitchFamily="34" charset="-122"/>
                <a:cs typeface="Calibri" pitchFamily="34" charset="-120"/>
              </a:rPr>
              <a:t>Solution: </a:t>
            </a:r>
            <a:r>
              <a:rPr lang="en-US" sz="1650" dirty="0">
                <a:solidFill>
                  <a:srgbClr val="1A1A1A"/>
                </a:solidFill>
                <a:latin typeface="Calibri" pitchFamily="34" charset="0"/>
                <a:ea typeface="Calibri" pitchFamily="34" charset="-122"/>
                <a:cs typeface="Calibri" pitchFamily="34" charset="-120"/>
              </a:rPr>
              <a:t>Short term: run the "reset" command to restart the board and stop it re-sending old messages. Long term: fixed in the next FW release — in internal testing now, to be sent to VG on 6 Aug 2026.</a:t>
            </a:r>
            <a:endParaRPr lang="en-US" sz="1650" dirty="0"/>
          </a:p>
        </p:txBody>
      </p:sp>
      <p:sp>
        <p:nvSpPr>
          <p:cNvPr id="156" name="TextBox 155">
            <a:extLst>
              <a:ext uri="{FF2B5EF4-FFF2-40B4-BE49-F238E27FC236}">
                <a16:creationId xmlns:a16="http://schemas.microsoft.com/office/drawing/2014/main" id="{13620337-1031-2835-7FCE-2BFA82D9DCE9}"/>
              </a:ext>
            </a:extLst>
          </p:cNvPr>
          <p:cNvSpPr txBox="1"/>
          <p:nvPr/>
        </p:nvSpPr>
        <p:spPr>
          <a:xfrm>
            <a:off x="7950200" y="7570402"/>
            <a:ext cx="4826000" cy="2335597"/>
          </a:xfrm>
          <a:prstGeom prst="rect">
            <a:avLst/>
          </a:prstGeom>
          <a:solidFill>
            <a:srgbClr val="F1F6F2"/>
          </a:solidFill>
          <a:ln>
            <a:noFill/>
          </a:ln>
        </p:spPr>
        <p:txBody>
          <a:bodyPr wrap="square" lIns="203200">
            <a:noAutofit/>
          </a:bodyPr>
          <a:lstStyle/>
          <a:p>
            <a:pPr marL="0" indent="0" algn="l">
              <a:buNone/>
            </a:pPr>
            <a:r>
              <a:rPr lang="en-US" sz="1800" b="1" dirty="0">
                <a:solidFill>
                  <a:srgbClr val="1A1A1A"/>
                </a:solidFill>
                <a:latin typeface="Calibri" pitchFamily="34" charset="0"/>
                <a:ea typeface="Calibri" pitchFamily="34" charset="-122"/>
                <a:cs typeface="Calibri" pitchFamily="34" charset="-120"/>
              </a:rPr>
              <a:t>Kern - C2405 (Link communication line error)</a:t>
            </a:r>
            <a:endParaRPr lang="en-US" sz="1800" dirty="0"/>
          </a:p>
          <a:p>
            <a:pPr marL="0" indent="0" algn="l">
              <a:lnSpc>
                <a:spcPct val="111375"/>
              </a:lnSpc>
              <a:buNone/>
            </a:pPr>
            <a:r>
              <a:rPr lang="en-US" sz="1650" b="1" dirty="0">
                <a:solidFill>
                  <a:srgbClr val="1A1A1A"/>
                </a:solidFill>
                <a:latin typeface="Calibri" pitchFamily="34" charset="0"/>
                <a:ea typeface="Calibri" pitchFamily="34" charset="-122"/>
                <a:cs typeface="Calibri" pitchFamily="34" charset="-120"/>
              </a:rPr>
              <a:t>RCA: </a:t>
            </a:r>
            <a:r>
              <a:rPr lang="en-US" sz="1650" dirty="0">
                <a:solidFill>
                  <a:srgbClr val="1A1A1A"/>
                </a:solidFill>
                <a:latin typeface="Calibri" pitchFamily="34" charset="0"/>
                <a:ea typeface="Calibri" pitchFamily="34" charset="-122"/>
                <a:cs typeface="Calibri" pitchFamily="34" charset="-120"/>
              </a:rPr>
              <a:t>Poor network connection (loose or unshielded cables). A fault on a nearby charger breaks the group link. Power cut, or Emergency Stop pressed.</a:t>
            </a:r>
            <a:endParaRPr lang="en-US" sz="1650" dirty="0"/>
          </a:p>
          <a:p>
            <a:pPr marL="0" indent="0" algn="l">
              <a:lnSpc>
                <a:spcPct val="111375"/>
              </a:lnSpc>
              <a:buNone/>
            </a:pPr>
            <a:r>
              <a:rPr lang="en-US" sz="1650" b="1" dirty="0">
                <a:solidFill>
                  <a:srgbClr val="1A1A1A"/>
                </a:solidFill>
                <a:latin typeface="Calibri" pitchFamily="34" charset="0"/>
                <a:ea typeface="Calibri" pitchFamily="34" charset="-122"/>
                <a:cs typeface="Calibri" pitchFamily="34" charset="-120"/>
              </a:rPr>
              <a:t>Long-term solution: </a:t>
            </a:r>
            <a:r>
              <a:rPr lang="en-US" sz="1650" dirty="0">
                <a:solidFill>
                  <a:srgbClr val="1A1A1A"/>
                </a:solidFill>
                <a:latin typeface="Calibri" pitchFamily="34" charset="0"/>
                <a:ea typeface="Calibri" pitchFamily="34" charset="-122"/>
                <a:cs typeface="Calibri" pitchFamily="34" charset="-120"/>
              </a:rPr>
              <a:t>Replace unshielded wires with shielded cables. Repair the faulty chargers nearby to restore the group link. Tell site owners not to cut the power by hand.</a:t>
            </a:r>
            <a:endParaRPr lang="en-US" sz="1650" dirty="0"/>
          </a:p>
        </p:txBody>
      </p:sp>
      <p:sp>
        <p:nvSpPr>
          <p:cNvPr id="158" name="TextBox 157">
            <a:extLst>
              <a:ext uri="{FF2B5EF4-FFF2-40B4-BE49-F238E27FC236}">
                <a16:creationId xmlns:a16="http://schemas.microsoft.com/office/drawing/2014/main" id="{1FB49A41-E6A0-6AFF-CA39-42A4F7A2347D}"/>
              </a:ext>
            </a:extLst>
          </p:cNvPr>
          <p:cNvSpPr txBox="1"/>
          <p:nvPr/>
        </p:nvSpPr>
        <p:spPr>
          <a:xfrm>
            <a:off x="7950200" y="4549178"/>
            <a:ext cx="4826000" cy="2330450"/>
          </a:xfrm>
          <a:prstGeom prst="rect">
            <a:avLst/>
          </a:prstGeom>
          <a:solidFill>
            <a:srgbClr val="F1F6F2"/>
          </a:solidFill>
          <a:ln>
            <a:noFill/>
          </a:ln>
        </p:spPr>
        <p:txBody>
          <a:bodyPr wrap="square" lIns="203200">
            <a:noAutofit/>
          </a:bodyPr>
          <a:lstStyle/>
          <a:p>
            <a:pPr marL="0" indent="0" algn="l">
              <a:buNone/>
            </a:pPr>
            <a:r>
              <a:rPr lang="en-US" sz="1800" b="1" dirty="0">
                <a:solidFill>
                  <a:srgbClr val="1A1A1A"/>
                </a:solidFill>
                <a:latin typeface="Calibri" pitchFamily="34" charset="0"/>
                <a:ea typeface="Calibri" pitchFamily="34" charset="-122"/>
                <a:cs typeface="Calibri" pitchFamily="34" charset="-120"/>
              </a:rPr>
              <a:t>Core/Coremini - C2405 (Link Comm Error)</a:t>
            </a:r>
            <a:endParaRPr lang="en-US" sz="1800" dirty="0"/>
          </a:p>
          <a:p>
            <a:pPr marL="0" indent="0" algn="l">
              <a:lnSpc>
                <a:spcPct val="111375"/>
              </a:lnSpc>
              <a:buNone/>
            </a:pPr>
            <a:r>
              <a:rPr lang="en-US" sz="1650" b="1" dirty="0">
                <a:solidFill>
                  <a:srgbClr val="1A1A1A"/>
                </a:solidFill>
                <a:latin typeface="Calibri" pitchFamily="34" charset="0"/>
                <a:ea typeface="Calibri" pitchFamily="34" charset="-122"/>
                <a:cs typeface="Calibri" pitchFamily="34" charset="-120"/>
              </a:rPr>
              <a:t>RCA: </a:t>
            </a:r>
            <a:r>
              <a:rPr lang="en-US" sz="1650" dirty="0">
                <a:solidFill>
                  <a:srgbClr val="1A1A1A"/>
                </a:solidFill>
                <a:latin typeface="Calibri" pitchFamily="34" charset="0"/>
                <a:ea typeface="Calibri" pitchFamily="34" charset="-122"/>
                <a:cs typeface="Calibri" pitchFamily="34" charset="-120"/>
              </a:rPr>
              <a:t>False alarms, and no automatic reconnection. One offline charger breaks the whole group. Power cut, or E-Stop pressed.</a:t>
            </a:r>
            <a:endParaRPr lang="en-US" sz="1650" dirty="0"/>
          </a:p>
          <a:p>
            <a:pPr marL="0" indent="0" algn="l">
              <a:lnSpc>
                <a:spcPct val="111375"/>
              </a:lnSpc>
              <a:buNone/>
            </a:pPr>
            <a:r>
              <a:rPr lang="en-US" sz="1650" b="1" dirty="0">
                <a:solidFill>
                  <a:srgbClr val="1A1A1A"/>
                </a:solidFill>
                <a:latin typeface="Calibri" pitchFamily="34" charset="0"/>
                <a:ea typeface="Calibri" pitchFamily="34" charset="-122"/>
                <a:cs typeface="Calibri" pitchFamily="34" charset="-120"/>
              </a:rPr>
              <a:t>Solution: </a:t>
            </a:r>
            <a:r>
              <a:rPr lang="en-US" sz="1650" dirty="0">
                <a:solidFill>
                  <a:srgbClr val="1A1A1A"/>
                </a:solidFill>
                <a:latin typeface="Calibri" pitchFamily="34" charset="0"/>
                <a:ea typeface="Calibri" pitchFamily="34" charset="-122"/>
                <a:cs typeface="Calibri" pitchFamily="34" charset="-120"/>
              </a:rPr>
              <a:t>FW 260421CCDCxxCore will fix these bugs (TQA 20/7-20/8/2026; pilot running since 9 July 2026).</a:t>
            </a:r>
            <a:endParaRPr lang="en-US" sz="1650" dirty="0"/>
          </a:p>
        </p:txBody>
      </p:sp>
      <p:sp>
        <p:nvSpPr>
          <p:cNvPr id="160" name="TextBox 159">
            <a:extLst>
              <a:ext uri="{FF2B5EF4-FFF2-40B4-BE49-F238E27FC236}">
                <a16:creationId xmlns:a16="http://schemas.microsoft.com/office/drawing/2014/main" id="{0D154A21-16EB-C1AF-280F-B7FEC7B1EE02}"/>
              </a:ext>
            </a:extLst>
          </p:cNvPr>
          <p:cNvSpPr txBox="1"/>
          <p:nvPr/>
        </p:nvSpPr>
        <p:spPr>
          <a:xfrm>
            <a:off x="13131800" y="7570402"/>
            <a:ext cx="4826000" cy="2335597"/>
          </a:xfrm>
          <a:prstGeom prst="rect">
            <a:avLst/>
          </a:prstGeom>
          <a:solidFill>
            <a:srgbClr val="F1F6F2"/>
          </a:solidFill>
          <a:ln>
            <a:noFill/>
          </a:ln>
        </p:spPr>
        <p:txBody>
          <a:bodyPr wrap="square" lIns="203200">
            <a:noAutofit/>
          </a:bodyPr>
          <a:lstStyle/>
          <a:p>
            <a:pPr marL="0" indent="0" algn="l">
              <a:buNone/>
            </a:pPr>
            <a:r>
              <a:rPr lang="en-US" sz="1800" b="1" dirty="0">
                <a:solidFill>
                  <a:srgbClr val="1A1A1A"/>
                </a:solidFill>
                <a:latin typeface="Calibri" pitchFamily="34" charset="0"/>
                <a:ea typeface="Calibri" pitchFamily="34" charset="-122"/>
                <a:cs typeface="Calibri" pitchFamily="34" charset="-120"/>
              </a:rPr>
              <a:t>Kern – A0112 (DoorAccessDetected)</a:t>
            </a:r>
            <a:endParaRPr lang="en-US" sz="1800" dirty="0"/>
          </a:p>
          <a:p>
            <a:pPr marL="0" indent="0" algn="l">
              <a:lnSpc>
                <a:spcPct val="111375"/>
              </a:lnSpc>
              <a:buNone/>
            </a:pPr>
            <a:r>
              <a:rPr lang="en-US" sz="1650" b="1" dirty="0">
                <a:solidFill>
                  <a:srgbClr val="1A1A1A"/>
                </a:solidFill>
                <a:latin typeface="Calibri" pitchFamily="34" charset="0"/>
                <a:ea typeface="Calibri" pitchFamily="34" charset="-122"/>
                <a:cs typeface="Calibri" pitchFamily="34" charset="-120"/>
              </a:rPr>
              <a:t>RCA: </a:t>
            </a:r>
            <a:r>
              <a:rPr lang="en-US" sz="1650" dirty="0">
                <a:solidFill>
                  <a:srgbClr val="1A1A1A"/>
                </a:solidFill>
                <a:latin typeface="Calibri" pitchFamily="34" charset="0"/>
                <a:ea typeface="Calibri" pitchFamily="34" charset="-122"/>
                <a:cs typeface="Calibri" pitchFamily="34" charset="-120"/>
              </a:rPr>
              <a:t>Hardware: the door sensor or the latch is broken or loose. Software: false or duplicate alarms; waiting for the FW fix.</a:t>
            </a:r>
            <a:endParaRPr lang="en-US" sz="1650" dirty="0"/>
          </a:p>
          <a:p>
            <a:pPr marL="0" indent="0" algn="l">
              <a:lnSpc>
                <a:spcPct val="111375"/>
              </a:lnSpc>
              <a:buNone/>
            </a:pPr>
            <a:r>
              <a:rPr lang="en-US" sz="1650" b="1" dirty="0">
                <a:solidFill>
                  <a:srgbClr val="1A1A1A"/>
                </a:solidFill>
                <a:latin typeface="Calibri" pitchFamily="34" charset="0"/>
                <a:ea typeface="Calibri" pitchFamily="34" charset="-122"/>
                <a:cs typeface="Calibri" pitchFamily="34" charset="-120"/>
              </a:rPr>
              <a:t>Solution: </a:t>
            </a:r>
            <a:r>
              <a:rPr lang="en-US" sz="1650" dirty="0">
                <a:solidFill>
                  <a:srgbClr val="1A1A1A"/>
                </a:solidFill>
                <a:latin typeface="Calibri" pitchFamily="34" charset="0"/>
                <a:ea typeface="Calibri" pitchFamily="34" charset="-122"/>
                <a:cs typeface="Calibri" pitchFamily="34" charset="-120"/>
              </a:rPr>
              <a:t>Replace the broken sensor or the lock mechanism. FW 260421CCDCxxKern will fix this (TQA date not set yet — waiting for VF; pilot running since 9 July 2026).</a:t>
            </a:r>
            <a:endParaRPr lang="en-US" sz="1650" dirty="0"/>
          </a:p>
        </p:txBody>
      </p:sp>
      <p:sp>
        <p:nvSpPr>
          <p:cNvPr id="501" name="AccentBar501"/>
          <p:cNvSpPr/>
          <p:nvPr/>
        </p:nvSpPr>
        <p:spPr>
          <a:xfrm>
            <a:off x="7950200" y="1511300"/>
            <a:ext cx="45719" cy="2343150"/>
          </a:xfrm>
          <a:prstGeom prst="rect">
            <a:avLst/>
          </a:prstGeom>
          <a:solidFill>
            <a:srgbClr val="2F5597"/>
          </a:solidFill>
          <a:ln>
            <a:noFill/>
          </a:ln>
        </p:spPr>
        <p:txBody>
          <a:bodyPr/>
          <a:lstStyle/>
          <a:p>
            <a:endParaRPr/>
          </a:p>
        </p:txBody>
      </p:sp>
      <p:sp>
        <p:nvSpPr>
          <p:cNvPr id="502" name="AccentBar502"/>
          <p:cNvSpPr/>
          <p:nvPr/>
        </p:nvSpPr>
        <p:spPr>
          <a:xfrm>
            <a:off x="13131800" y="4536474"/>
            <a:ext cx="50800" cy="2343154"/>
          </a:xfrm>
          <a:prstGeom prst="rect">
            <a:avLst/>
          </a:prstGeom>
          <a:solidFill>
            <a:srgbClr val="C0504D"/>
          </a:solidFill>
          <a:ln>
            <a:noFill/>
          </a:ln>
        </p:spPr>
        <p:txBody>
          <a:bodyPr/>
          <a:lstStyle/>
          <a:p>
            <a:endParaRPr/>
          </a:p>
        </p:txBody>
      </p:sp>
      <p:sp>
        <p:nvSpPr>
          <p:cNvPr id="503" name="AccentBar503"/>
          <p:cNvSpPr/>
          <p:nvPr/>
        </p:nvSpPr>
        <p:spPr>
          <a:xfrm>
            <a:off x="13131800" y="1511300"/>
            <a:ext cx="50800" cy="2347099"/>
          </a:xfrm>
          <a:prstGeom prst="rect">
            <a:avLst/>
          </a:prstGeom>
          <a:solidFill>
            <a:srgbClr val="2F5597"/>
          </a:solidFill>
          <a:ln>
            <a:noFill/>
          </a:ln>
        </p:spPr>
        <p:txBody>
          <a:bodyPr/>
          <a:lstStyle/>
          <a:p>
            <a:endParaRPr/>
          </a:p>
        </p:txBody>
      </p:sp>
      <p:sp>
        <p:nvSpPr>
          <p:cNvPr id="504" name="AccentBar504"/>
          <p:cNvSpPr/>
          <p:nvPr/>
        </p:nvSpPr>
        <p:spPr>
          <a:xfrm>
            <a:off x="7950200" y="4536474"/>
            <a:ext cx="45719" cy="2343154"/>
          </a:xfrm>
          <a:prstGeom prst="rect">
            <a:avLst/>
          </a:prstGeom>
          <a:solidFill>
            <a:srgbClr val="C0504D"/>
          </a:solidFill>
          <a:ln>
            <a:noFill/>
          </a:ln>
        </p:spPr>
        <p:txBody>
          <a:bodyPr/>
          <a:lstStyle/>
          <a:p>
            <a:endParaRPr/>
          </a:p>
        </p:txBody>
      </p:sp>
      <p:sp>
        <p:nvSpPr>
          <p:cNvPr id="505" name="AccentBar505"/>
          <p:cNvSpPr/>
          <p:nvPr/>
        </p:nvSpPr>
        <p:spPr>
          <a:xfrm>
            <a:off x="7950200" y="7557702"/>
            <a:ext cx="50800" cy="2348297"/>
          </a:xfrm>
          <a:prstGeom prst="rect">
            <a:avLst/>
          </a:prstGeom>
          <a:solidFill>
            <a:srgbClr val="7F5FA0"/>
          </a:solidFill>
          <a:ln>
            <a:noFill/>
          </a:ln>
        </p:spPr>
        <p:txBody>
          <a:bodyPr/>
          <a:lstStyle/>
          <a:p>
            <a:endParaRPr/>
          </a:p>
        </p:txBody>
      </p:sp>
      <p:sp>
        <p:nvSpPr>
          <p:cNvPr id="506" name="AccentBar506"/>
          <p:cNvSpPr/>
          <p:nvPr/>
        </p:nvSpPr>
        <p:spPr>
          <a:xfrm>
            <a:off x="13131800" y="7570402"/>
            <a:ext cx="50800" cy="2335598"/>
          </a:xfrm>
          <a:prstGeom prst="rect">
            <a:avLst/>
          </a:prstGeom>
          <a:solidFill>
            <a:srgbClr val="7F5FA0"/>
          </a:solidFill>
          <a:ln>
            <a:noFill/>
          </a:ln>
        </p:spPr>
        <p:txBody>
          <a:bodyPr/>
          <a:lstStyle/>
          <a:p>
            <a:endParaRPr/>
          </a:p>
        </p:txBody>
      </p:sp>
    </p:spTree>
    <p:extLst>
      <p:ext uri="{BB962C8B-B14F-4D97-AF65-F5344CB8AC3E}">
        <p14:creationId xmlns:p14="http://schemas.microsoft.com/office/powerpoint/2010/main" val="3637757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114300" y="342900"/>
            <a:ext cx="571500" cy="571500"/>
          </a:xfrm>
          <a:prstGeom prst="rect">
            <a:avLst/>
          </a:prstGeom>
        </p:spPr>
      </p:pic>
      <p:pic>
        <p:nvPicPr>
          <p:cNvPr id="3" name="Image 1" descr="preencoded.png"/>
          <p:cNvPicPr>
            <a:picLocks noChangeAspect="1"/>
          </p:cNvPicPr>
          <p:nvPr/>
        </p:nvPicPr>
        <p:blipFill>
          <a:blip r:embed="rId4"/>
          <a:srcRect t="49" b="49"/>
          <a:stretch/>
        </p:blipFill>
        <p:spPr>
          <a:xfrm>
            <a:off x="14001750" y="114300"/>
            <a:ext cx="4114800" cy="914400"/>
          </a:xfrm>
          <a:prstGeom prst="rect">
            <a:avLst/>
          </a:prstGeom>
        </p:spPr>
      </p:pic>
      <p:sp>
        <p:nvSpPr>
          <p:cNvPr id="4" name="Text 0"/>
          <p:cNvSpPr/>
          <p:nvPr/>
        </p:nvSpPr>
        <p:spPr>
          <a:xfrm>
            <a:off x="876300" y="419100"/>
            <a:ext cx="7179052" cy="508000"/>
          </a:xfrm>
          <a:prstGeom prst="rect">
            <a:avLst/>
          </a:prstGeom>
          <a:noFill/>
          <a:ln/>
        </p:spPr>
        <p:txBody>
          <a:bodyPr wrap="square" lIns="25400" tIns="25400" rIns="25400" bIns="25400" rtlCol="0" anchor="t">
            <a:normAutofit/>
          </a:bodyPr>
          <a:lstStyle/>
          <a:p>
            <a:pPr marL="0" indent="0" algn="l">
              <a:buNone/>
            </a:pPr>
            <a:r>
              <a:rPr lang="en-US" sz="3000" b="1" dirty="0">
                <a:solidFill>
                  <a:srgbClr val="1A1A1A"/>
                </a:solidFill>
                <a:latin typeface="Calibri" pitchFamily="34" charset="0"/>
                <a:ea typeface="Calibri" pitchFamily="34" charset="-122"/>
                <a:cs typeface="Calibri" pitchFamily="34" charset="-120"/>
              </a:rPr>
              <a:t>1.3. Top alarms for each product line: BSS</a:t>
            </a:r>
            <a:endParaRPr lang="en-US" sz="3000" dirty="0"/>
          </a:p>
        </p:txBody>
      </p:sp>
      <p:sp>
        <p:nvSpPr>
          <p:cNvPr id="5" name="Shape 1"/>
          <p:cNvSpPr/>
          <p:nvPr/>
        </p:nvSpPr>
        <p:spPr>
          <a:xfrm>
            <a:off x="0" y="1152525"/>
            <a:ext cx="18288000" cy="19050"/>
          </a:xfrm>
          <a:prstGeom prst="rect">
            <a:avLst/>
          </a:prstGeom>
          <a:solidFill>
            <a:srgbClr val="A6A6A6"/>
          </a:solidFill>
          <a:ln/>
        </p:spPr>
        <p:txBody>
          <a:bodyPr/>
          <a:lstStyle/>
          <a:p>
            <a:endParaRPr lang="en-US"/>
          </a:p>
        </p:txBody>
      </p:sp>
      <p:sp>
        <p:nvSpPr>
          <p:cNvPr id="6" name="Text 2"/>
          <p:cNvSpPr/>
          <p:nvPr/>
        </p:nvSpPr>
        <p:spPr>
          <a:xfrm>
            <a:off x="4469507" y="2108372"/>
            <a:ext cx="9348986"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2F5597"/>
                </a:solidFill>
                <a:latin typeface="Calibri" pitchFamily="34" charset="0"/>
                <a:ea typeface="Calibri" pitchFamily="34" charset="-122"/>
                <a:cs typeface="Calibri" pitchFamily="34" charset="-120"/>
              </a:rPr>
              <a:t>BSS: Top 10 alarms — 15,897 tickets</a:t>
            </a:r>
            <a:endParaRPr lang="en-US" sz="1875" dirty="0"/>
          </a:p>
        </p:txBody>
      </p:sp>
      <p:sp>
        <p:nvSpPr>
          <p:cNvPr id="7" name="Text 3"/>
          <p:cNvSpPr/>
          <p:nvPr/>
        </p:nvSpPr>
        <p:spPr>
          <a:xfrm>
            <a:off x="4469507" y="2552872"/>
            <a:ext cx="12192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A0112</a:t>
            </a:r>
            <a:endParaRPr lang="en-US" sz="1725" dirty="0"/>
          </a:p>
        </p:txBody>
      </p:sp>
      <p:sp>
        <p:nvSpPr>
          <p:cNvPr id="8" name="Shape 4"/>
          <p:cNvSpPr/>
          <p:nvPr/>
        </p:nvSpPr>
        <p:spPr>
          <a:xfrm>
            <a:off x="5745857" y="2562397"/>
            <a:ext cx="5470128" cy="247650"/>
          </a:xfrm>
          <a:prstGeom prst="rect">
            <a:avLst/>
          </a:prstGeom>
          <a:solidFill>
            <a:srgbClr val="EDEFEA"/>
          </a:solidFill>
          <a:ln/>
        </p:spPr>
        <p:txBody>
          <a:bodyPr/>
          <a:lstStyle/>
          <a:p>
            <a:endParaRPr lang="en-US"/>
          </a:p>
        </p:txBody>
      </p:sp>
      <p:sp>
        <p:nvSpPr>
          <p:cNvPr id="9" name="Shape 5"/>
          <p:cNvSpPr/>
          <p:nvPr/>
        </p:nvSpPr>
        <p:spPr>
          <a:xfrm>
            <a:off x="5745857" y="2562397"/>
            <a:ext cx="5470128" cy="247650"/>
          </a:xfrm>
          <a:prstGeom prst="rect">
            <a:avLst/>
          </a:prstGeom>
          <a:solidFill>
            <a:srgbClr val="C0504D"/>
          </a:solidFill>
          <a:ln/>
        </p:spPr>
        <p:txBody>
          <a:bodyPr/>
          <a:lstStyle/>
          <a:p>
            <a:endParaRPr lang="en-US"/>
          </a:p>
        </p:txBody>
      </p:sp>
      <p:sp>
        <p:nvSpPr>
          <p:cNvPr id="10" name="Text 6"/>
          <p:cNvSpPr/>
          <p:nvPr/>
        </p:nvSpPr>
        <p:spPr>
          <a:xfrm>
            <a:off x="11187410" y="2552872"/>
            <a:ext cx="1781175" cy="304800"/>
          </a:xfrm>
          <a:prstGeom prst="rect">
            <a:avLst/>
          </a:prstGeom>
          <a:noFill/>
          <a:ln/>
        </p:spPr>
        <p:txBody>
          <a:bodyPr wrap="square" lIns="25400" tIns="25400" rIns="25400" bIns="25400" rtlCol="0" anchor="t">
            <a:normAutofit lnSpcReduction="10000"/>
          </a:bodyPr>
          <a:lstStyle/>
          <a:p>
            <a:pPr marL="0" indent="0" algn="r">
              <a:buNone/>
            </a:pPr>
            <a:r>
              <a:rPr lang="en-US" sz="1725" dirty="0">
                <a:solidFill>
                  <a:srgbClr val="1A1A1A"/>
                </a:solidFill>
                <a:latin typeface="Calibri" pitchFamily="34" charset="0"/>
                <a:ea typeface="Calibri" pitchFamily="34" charset="-122"/>
                <a:cs typeface="Calibri" pitchFamily="34" charset="-120"/>
              </a:rPr>
              <a:t>3,649 · 23.0%</a:t>
            </a:r>
            <a:endParaRPr lang="en-US" sz="1725" dirty="0"/>
          </a:p>
        </p:txBody>
      </p:sp>
      <p:sp>
        <p:nvSpPr>
          <p:cNvPr id="11" name="Text 7"/>
          <p:cNvSpPr/>
          <p:nvPr/>
        </p:nvSpPr>
        <p:spPr>
          <a:xfrm>
            <a:off x="4469507" y="2943397"/>
            <a:ext cx="12192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B6029</a:t>
            </a:r>
            <a:endParaRPr lang="en-US" sz="1725" dirty="0"/>
          </a:p>
        </p:txBody>
      </p:sp>
      <p:sp>
        <p:nvSpPr>
          <p:cNvPr id="12" name="Shape 8"/>
          <p:cNvSpPr/>
          <p:nvPr/>
        </p:nvSpPr>
        <p:spPr>
          <a:xfrm>
            <a:off x="5745857" y="2952922"/>
            <a:ext cx="5470128" cy="247650"/>
          </a:xfrm>
          <a:prstGeom prst="rect">
            <a:avLst/>
          </a:prstGeom>
          <a:solidFill>
            <a:srgbClr val="EDEFEA"/>
          </a:solidFill>
          <a:ln/>
        </p:spPr>
        <p:txBody>
          <a:bodyPr/>
          <a:lstStyle/>
          <a:p>
            <a:endParaRPr lang="en-US"/>
          </a:p>
        </p:txBody>
      </p:sp>
      <p:sp>
        <p:nvSpPr>
          <p:cNvPr id="13" name="Shape 9"/>
          <p:cNvSpPr/>
          <p:nvPr/>
        </p:nvSpPr>
        <p:spPr>
          <a:xfrm>
            <a:off x="5745857" y="2952922"/>
            <a:ext cx="4266605" cy="247650"/>
          </a:xfrm>
          <a:prstGeom prst="rect">
            <a:avLst/>
          </a:prstGeom>
          <a:solidFill>
            <a:srgbClr val="C0504D"/>
          </a:solidFill>
          <a:ln/>
        </p:spPr>
        <p:txBody>
          <a:bodyPr/>
          <a:lstStyle/>
          <a:p>
            <a:endParaRPr lang="en-US"/>
          </a:p>
        </p:txBody>
      </p:sp>
      <p:sp>
        <p:nvSpPr>
          <p:cNvPr id="14" name="Text 10"/>
          <p:cNvSpPr/>
          <p:nvPr/>
        </p:nvSpPr>
        <p:spPr>
          <a:xfrm>
            <a:off x="11187410" y="2943397"/>
            <a:ext cx="1781175" cy="304800"/>
          </a:xfrm>
          <a:prstGeom prst="rect">
            <a:avLst/>
          </a:prstGeom>
          <a:noFill/>
          <a:ln/>
        </p:spPr>
        <p:txBody>
          <a:bodyPr wrap="square" lIns="25400" tIns="25400" rIns="25400" bIns="25400" rtlCol="0" anchor="t">
            <a:normAutofit lnSpcReduction="10000"/>
          </a:bodyPr>
          <a:lstStyle/>
          <a:p>
            <a:pPr marL="0" indent="0" algn="r">
              <a:buNone/>
            </a:pPr>
            <a:r>
              <a:rPr lang="en-US" sz="1725" dirty="0">
                <a:solidFill>
                  <a:srgbClr val="1A1A1A"/>
                </a:solidFill>
                <a:latin typeface="Calibri" pitchFamily="34" charset="0"/>
                <a:ea typeface="Calibri" pitchFamily="34" charset="-122"/>
                <a:cs typeface="Calibri" pitchFamily="34" charset="-120"/>
              </a:rPr>
              <a:t>2,840 · 17.9%</a:t>
            </a:r>
            <a:endParaRPr lang="en-US" sz="1725" dirty="0"/>
          </a:p>
        </p:txBody>
      </p:sp>
      <p:sp>
        <p:nvSpPr>
          <p:cNvPr id="15" name="Text 11"/>
          <p:cNvSpPr/>
          <p:nvPr/>
        </p:nvSpPr>
        <p:spPr>
          <a:xfrm>
            <a:off x="4469507" y="3333922"/>
            <a:ext cx="12192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C6029</a:t>
            </a:r>
            <a:endParaRPr lang="en-US" sz="1725" dirty="0"/>
          </a:p>
        </p:txBody>
      </p:sp>
      <p:sp>
        <p:nvSpPr>
          <p:cNvPr id="16" name="Shape 12"/>
          <p:cNvSpPr/>
          <p:nvPr/>
        </p:nvSpPr>
        <p:spPr>
          <a:xfrm>
            <a:off x="5745857" y="3343447"/>
            <a:ext cx="5470128" cy="247650"/>
          </a:xfrm>
          <a:prstGeom prst="rect">
            <a:avLst/>
          </a:prstGeom>
          <a:solidFill>
            <a:srgbClr val="EDEFEA"/>
          </a:solidFill>
          <a:ln/>
        </p:spPr>
        <p:txBody>
          <a:bodyPr/>
          <a:lstStyle/>
          <a:p>
            <a:endParaRPr lang="en-US"/>
          </a:p>
        </p:txBody>
      </p:sp>
      <p:sp>
        <p:nvSpPr>
          <p:cNvPr id="17" name="Shape 13"/>
          <p:cNvSpPr/>
          <p:nvPr/>
        </p:nvSpPr>
        <p:spPr>
          <a:xfrm>
            <a:off x="5745857" y="3343447"/>
            <a:ext cx="3172619" cy="247650"/>
          </a:xfrm>
          <a:prstGeom prst="rect">
            <a:avLst/>
          </a:prstGeom>
          <a:solidFill>
            <a:srgbClr val="CF7874"/>
          </a:solidFill>
          <a:ln/>
        </p:spPr>
        <p:txBody>
          <a:bodyPr/>
          <a:lstStyle/>
          <a:p>
            <a:endParaRPr lang="en-US"/>
          </a:p>
        </p:txBody>
      </p:sp>
      <p:sp>
        <p:nvSpPr>
          <p:cNvPr id="18" name="Text 14"/>
          <p:cNvSpPr/>
          <p:nvPr/>
        </p:nvSpPr>
        <p:spPr>
          <a:xfrm>
            <a:off x="11187410" y="3333922"/>
            <a:ext cx="1781175" cy="304800"/>
          </a:xfrm>
          <a:prstGeom prst="rect">
            <a:avLst/>
          </a:prstGeom>
          <a:noFill/>
          <a:ln/>
        </p:spPr>
        <p:txBody>
          <a:bodyPr wrap="square" lIns="25400" tIns="25400" rIns="25400" bIns="25400" rtlCol="0" anchor="t">
            <a:normAutofit lnSpcReduction="10000"/>
          </a:bodyPr>
          <a:lstStyle/>
          <a:p>
            <a:pPr marL="0" indent="0" algn="r">
              <a:buNone/>
            </a:pPr>
            <a:r>
              <a:rPr lang="en-US" sz="1725" dirty="0">
                <a:solidFill>
                  <a:srgbClr val="1A1A1A"/>
                </a:solidFill>
                <a:latin typeface="Calibri" pitchFamily="34" charset="0"/>
                <a:ea typeface="Calibri" pitchFamily="34" charset="-122"/>
                <a:cs typeface="Calibri" pitchFamily="34" charset="-120"/>
              </a:rPr>
              <a:t>2,123 · 13.4%</a:t>
            </a:r>
            <a:endParaRPr lang="en-US" sz="1725" dirty="0"/>
          </a:p>
        </p:txBody>
      </p:sp>
      <p:sp>
        <p:nvSpPr>
          <p:cNvPr id="19" name="Text 15"/>
          <p:cNvSpPr/>
          <p:nvPr/>
        </p:nvSpPr>
        <p:spPr>
          <a:xfrm>
            <a:off x="4469507" y="3724447"/>
            <a:ext cx="12192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C6030</a:t>
            </a:r>
            <a:endParaRPr lang="en-US" sz="1725" dirty="0"/>
          </a:p>
        </p:txBody>
      </p:sp>
      <p:sp>
        <p:nvSpPr>
          <p:cNvPr id="20" name="Shape 16"/>
          <p:cNvSpPr/>
          <p:nvPr/>
        </p:nvSpPr>
        <p:spPr>
          <a:xfrm>
            <a:off x="5745857" y="3733972"/>
            <a:ext cx="5470128" cy="247650"/>
          </a:xfrm>
          <a:prstGeom prst="rect">
            <a:avLst/>
          </a:prstGeom>
          <a:solidFill>
            <a:srgbClr val="EDEFEA"/>
          </a:solidFill>
          <a:ln/>
        </p:spPr>
        <p:txBody>
          <a:bodyPr/>
          <a:lstStyle/>
          <a:p>
            <a:endParaRPr lang="en-US"/>
          </a:p>
        </p:txBody>
      </p:sp>
      <p:sp>
        <p:nvSpPr>
          <p:cNvPr id="21" name="Shape 17"/>
          <p:cNvSpPr/>
          <p:nvPr/>
        </p:nvSpPr>
        <p:spPr>
          <a:xfrm>
            <a:off x="5745857" y="3733972"/>
            <a:ext cx="2516188" cy="247650"/>
          </a:xfrm>
          <a:prstGeom prst="rect">
            <a:avLst/>
          </a:prstGeom>
          <a:solidFill>
            <a:srgbClr val="CF7874"/>
          </a:solidFill>
          <a:ln/>
        </p:spPr>
        <p:txBody>
          <a:bodyPr/>
          <a:lstStyle/>
          <a:p>
            <a:endParaRPr lang="en-US"/>
          </a:p>
        </p:txBody>
      </p:sp>
      <p:sp>
        <p:nvSpPr>
          <p:cNvPr id="22" name="Text 18"/>
          <p:cNvSpPr/>
          <p:nvPr/>
        </p:nvSpPr>
        <p:spPr>
          <a:xfrm>
            <a:off x="11187410" y="3724447"/>
            <a:ext cx="1781175" cy="304800"/>
          </a:xfrm>
          <a:prstGeom prst="rect">
            <a:avLst/>
          </a:prstGeom>
          <a:noFill/>
          <a:ln/>
        </p:spPr>
        <p:txBody>
          <a:bodyPr wrap="square" lIns="25400" tIns="25400" rIns="25400" bIns="25400" rtlCol="0" anchor="t">
            <a:normAutofit lnSpcReduction="10000"/>
          </a:bodyPr>
          <a:lstStyle/>
          <a:p>
            <a:pPr marL="0" indent="0" algn="r">
              <a:buNone/>
            </a:pPr>
            <a:r>
              <a:rPr lang="en-US" sz="1725" dirty="0">
                <a:solidFill>
                  <a:srgbClr val="1A1A1A"/>
                </a:solidFill>
                <a:latin typeface="Calibri" pitchFamily="34" charset="0"/>
                <a:ea typeface="Calibri" pitchFamily="34" charset="-122"/>
                <a:cs typeface="Calibri" pitchFamily="34" charset="-120"/>
              </a:rPr>
              <a:t>1,687 · 10.6%</a:t>
            </a:r>
            <a:endParaRPr lang="en-US" sz="1725" dirty="0"/>
          </a:p>
        </p:txBody>
      </p:sp>
      <p:sp>
        <p:nvSpPr>
          <p:cNvPr id="23" name="Text 19"/>
          <p:cNvSpPr/>
          <p:nvPr/>
        </p:nvSpPr>
        <p:spPr>
          <a:xfrm>
            <a:off x="4469507" y="4114972"/>
            <a:ext cx="1219200"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B6022</a:t>
            </a:r>
            <a:endParaRPr lang="en-US" sz="1725" dirty="0"/>
          </a:p>
        </p:txBody>
      </p:sp>
      <p:sp>
        <p:nvSpPr>
          <p:cNvPr id="24" name="Shape 20"/>
          <p:cNvSpPr/>
          <p:nvPr/>
        </p:nvSpPr>
        <p:spPr>
          <a:xfrm>
            <a:off x="5745857" y="4124497"/>
            <a:ext cx="5470128" cy="247650"/>
          </a:xfrm>
          <a:prstGeom prst="rect">
            <a:avLst/>
          </a:prstGeom>
          <a:solidFill>
            <a:srgbClr val="EDEFEA"/>
          </a:solidFill>
          <a:ln/>
        </p:spPr>
        <p:txBody>
          <a:bodyPr/>
          <a:lstStyle/>
          <a:p>
            <a:endParaRPr lang="en-US"/>
          </a:p>
        </p:txBody>
      </p:sp>
      <p:sp>
        <p:nvSpPr>
          <p:cNvPr id="25" name="Shape 21"/>
          <p:cNvSpPr/>
          <p:nvPr/>
        </p:nvSpPr>
        <p:spPr>
          <a:xfrm>
            <a:off x="5745857" y="4124497"/>
            <a:ext cx="1859756" cy="247650"/>
          </a:xfrm>
          <a:prstGeom prst="rect">
            <a:avLst/>
          </a:prstGeom>
          <a:solidFill>
            <a:srgbClr val="E0AAA8"/>
          </a:solidFill>
          <a:ln/>
        </p:spPr>
        <p:txBody>
          <a:bodyPr/>
          <a:lstStyle/>
          <a:p>
            <a:endParaRPr lang="en-US"/>
          </a:p>
        </p:txBody>
      </p:sp>
      <p:sp>
        <p:nvSpPr>
          <p:cNvPr id="26" name="Text 22"/>
          <p:cNvSpPr/>
          <p:nvPr/>
        </p:nvSpPr>
        <p:spPr>
          <a:xfrm>
            <a:off x="11187410" y="4114972"/>
            <a:ext cx="1781175" cy="304800"/>
          </a:xfrm>
          <a:prstGeom prst="rect">
            <a:avLst/>
          </a:prstGeom>
          <a:noFill/>
          <a:ln/>
        </p:spPr>
        <p:txBody>
          <a:bodyPr wrap="square" lIns="25400" tIns="25400" rIns="25400" bIns="25400" rtlCol="0" anchor="t">
            <a:normAutofit lnSpcReduction="10000"/>
          </a:bodyPr>
          <a:lstStyle/>
          <a:p>
            <a:pPr marL="0" indent="0" algn="r">
              <a:buNone/>
            </a:pPr>
            <a:r>
              <a:rPr lang="en-US" sz="1725" dirty="0">
                <a:solidFill>
                  <a:srgbClr val="1A1A1A"/>
                </a:solidFill>
                <a:latin typeface="Calibri" pitchFamily="34" charset="0"/>
                <a:ea typeface="Calibri" pitchFamily="34" charset="-122"/>
                <a:cs typeface="Calibri" pitchFamily="34" charset="-120"/>
              </a:rPr>
              <a:t>1,234 · 7.8%</a:t>
            </a:r>
            <a:endParaRPr lang="en-US" sz="1725" dirty="0"/>
          </a:p>
        </p:txBody>
      </p:sp>
      <p:sp>
        <p:nvSpPr>
          <p:cNvPr id="31" name="Text 27"/>
          <p:cNvSpPr/>
          <p:nvPr/>
        </p:nvSpPr>
        <p:spPr>
          <a:xfrm>
            <a:off x="4469507" y="4457872"/>
            <a:ext cx="1219200"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A0605</a:t>
            </a:r>
            <a:endParaRPr lang="en-US" sz="1725" dirty="0"/>
          </a:p>
        </p:txBody>
      </p:sp>
      <p:sp>
        <p:nvSpPr>
          <p:cNvPr id="32" name="Shape 28"/>
          <p:cNvSpPr/>
          <p:nvPr/>
        </p:nvSpPr>
        <p:spPr>
          <a:xfrm>
            <a:off x="5745857" y="4467397"/>
            <a:ext cx="5470128" cy="247650"/>
          </a:xfrm>
          <a:prstGeom prst="rect">
            <a:avLst/>
          </a:prstGeom>
          <a:solidFill>
            <a:srgbClr val="EDEFEA"/>
          </a:solidFill>
          <a:ln/>
        </p:spPr>
        <p:txBody>
          <a:bodyPr/>
          <a:lstStyle/>
          <a:p>
            <a:endParaRPr lang="en-US"/>
          </a:p>
        </p:txBody>
      </p:sp>
      <p:sp>
        <p:nvSpPr>
          <p:cNvPr id="33" name="Shape 29"/>
          <p:cNvSpPr/>
          <p:nvPr/>
        </p:nvSpPr>
        <p:spPr>
          <a:xfrm>
            <a:off x="5745857" y="4467397"/>
            <a:ext cx="820341" cy="247650"/>
          </a:xfrm>
          <a:prstGeom prst="rect">
            <a:avLst/>
          </a:prstGeom>
          <a:solidFill>
            <a:srgbClr val="D9CFC9"/>
          </a:solidFill>
          <a:ln/>
        </p:spPr>
        <p:txBody>
          <a:bodyPr/>
          <a:lstStyle/>
          <a:p>
            <a:endParaRPr lang="en-US"/>
          </a:p>
        </p:txBody>
      </p:sp>
      <p:sp>
        <p:nvSpPr>
          <p:cNvPr id="34" name="Text 30"/>
          <p:cNvSpPr/>
          <p:nvPr/>
        </p:nvSpPr>
        <p:spPr>
          <a:xfrm>
            <a:off x="11187410" y="4457872"/>
            <a:ext cx="1781175" cy="304800"/>
          </a:xfrm>
          <a:prstGeom prst="rect">
            <a:avLst/>
          </a:prstGeom>
          <a:noFill/>
          <a:ln/>
        </p:spPr>
        <p:txBody>
          <a:bodyPr wrap="square" lIns="25400" tIns="25400" rIns="25400" bIns="25400" rtlCol="0" anchor="t">
            <a:normAutofit lnSpcReduction="10000"/>
          </a:bodyPr>
          <a:lstStyle/>
          <a:p>
            <a:pPr marL="0" indent="0" algn="r">
              <a:buNone/>
            </a:pPr>
            <a:r>
              <a:rPr lang="en-US" sz="1725" dirty="0">
                <a:solidFill>
                  <a:srgbClr val="1A1A1A"/>
                </a:solidFill>
                <a:latin typeface="Calibri" pitchFamily="34" charset="0"/>
                <a:ea typeface="Calibri" pitchFamily="34" charset="-122"/>
                <a:cs typeface="Calibri" pitchFamily="34" charset="-120"/>
              </a:rPr>
              <a:t>554 · 3.5%</a:t>
            </a:r>
            <a:endParaRPr lang="en-US" sz="1725" dirty="0"/>
          </a:p>
        </p:txBody>
      </p:sp>
      <p:sp>
        <p:nvSpPr>
          <p:cNvPr id="35" name="Text 31"/>
          <p:cNvSpPr/>
          <p:nvPr/>
        </p:nvSpPr>
        <p:spPr>
          <a:xfrm>
            <a:off x="4469507" y="4848397"/>
            <a:ext cx="1219200"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B6000</a:t>
            </a:r>
            <a:endParaRPr lang="en-US" sz="1725" dirty="0"/>
          </a:p>
        </p:txBody>
      </p:sp>
      <p:sp>
        <p:nvSpPr>
          <p:cNvPr id="36" name="Shape 32"/>
          <p:cNvSpPr/>
          <p:nvPr/>
        </p:nvSpPr>
        <p:spPr>
          <a:xfrm>
            <a:off x="5745857" y="4857922"/>
            <a:ext cx="5470128" cy="247650"/>
          </a:xfrm>
          <a:prstGeom prst="rect">
            <a:avLst/>
          </a:prstGeom>
          <a:solidFill>
            <a:srgbClr val="EDEFEA"/>
          </a:solidFill>
          <a:ln/>
        </p:spPr>
        <p:txBody>
          <a:bodyPr/>
          <a:lstStyle/>
          <a:p>
            <a:endParaRPr lang="en-US"/>
          </a:p>
        </p:txBody>
      </p:sp>
      <p:sp>
        <p:nvSpPr>
          <p:cNvPr id="37" name="Shape 33"/>
          <p:cNvSpPr/>
          <p:nvPr/>
        </p:nvSpPr>
        <p:spPr>
          <a:xfrm>
            <a:off x="5745857" y="4857922"/>
            <a:ext cx="765770" cy="247650"/>
          </a:xfrm>
          <a:prstGeom prst="rect">
            <a:avLst/>
          </a:prstGeom>
          <a:solidFill>
            <a:srgbClr val="D9CFC9"/>
          </a:solidFill>
          <a:ln/>
        </p:spPr>
        <p:txBody>
          <a:bodyPr/>
          <a:lstStyle/>
          <a:p>
            <a:endParaRPr lang="en-US"/>
          </a:p>
        </p:txBody>
      </p:sp>
      <p:sp>
        <p:nvSpPr>
          <p:cNvPr id="38" name="Text 34"/>
          <p:cNvSpPr/>
          <p:nvPr/>
        </p:nvSpPr>
        <p:spPr>
          <a:xfrm>
            <a:off x="11187410" y="4848397"/>
            <a:ext cx="1781175" cy="304800"/>
          </a:xfrm>
          <a:prstGeom prst="rect">
            <a:avLst/>
          </a:prstGeom>
          <a:noFill/>
          <a:ln/>
        </p:spPr>
        <p:txBody>
          <a:bodyPr wrap="square" lIns="25400" tIns="25400" rIns="25400" bIns="25400" rtlCol="0" anchor="t">
            <a:normAutofit lnSpcReduction="10000"/>
          </a:bodyPr>
          <a:lstStyle/>
          <a:p>
            <a:pPr marL="0" indent="0" algn="r">
              <a:buNone/>
            </a:pPr>
            <a:r>
              <a:rPr lang="en-US" sz="1725" dirty="0">
                <a:solidFill>
                  <a:srgbClr val="1A1A1A"/>
                </a:solidFill>
                <a:latin typeface="Calibri" pitchFamily="34" charset="0"/>
                <a:ea typeface="Calibri" pitchFamily="34" charset="-122"/>
                <a:cs typeface="Calibri" pitchFamily="34" charset="-120"/>
              </a:rPr>
              <a:t>496 · 3.1%</a:t>
            </a:r>
            <a:endParaRPr lang="en-US" sz="1725" dirty="0"/>
          </a:p>
        </p:txBody>
      </p:sp>
      <p:sp>
        <p:nvSpPr>
          <p:cNvPr id="39" name="Text 35"/>
          <p:cNvSpPr/>
          <p:nvPr/>
        </p:nvSpPr>
        <p:spPr>
          <a:xfrm>
            <a:off x="4469507" y="5238922"/>
            <a:ext cx="1219200"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B6021</a:t>
            </a:r>
            <a:endParaRPr lang="en-US" sz="1725" dirty="0"/>
          </a:p>
        </p:txBody>
      </p:sp>
      <p:sp>
        <p:nvSpPr>
          <p:cNvPr id="40" name="Shape 36"/>
          <p:cNvSpPr/>
          <p:nvPr/>
        </p:nvSpPr>
        <p:spPr>
          <a:xfrm>
            <a:off x="5745857" y="5248447"/>
            <a:ext cx="5470128" cy="247650"/>
          </a:xfrm>
          <a:prstGeom prst="rect">
            <a:avLst/>
          </a:prstGeom>
          <a:solidFill>
            <a:srgbClr val="EDEFEA"/>
          </a:solidFill>
          <a:ln/>
        </p:spPr>
        <p:txBody>
          <a:bodyPr/>
          <a:lstStyle/>
          <a:p>
            <a:endParaRPr lang="en-US"/>
          </a:p>
        </p:txBody>
      </p:sp>
      <p:sp>
        <p:nvSpPr>
          <p:cNvPr id="41" name="Shape 37"/>
          <p:cNvSpPr/>
          <p:nvPr/>
        </p:nvSpPr>
        <p:spPr>
          <a:xfrm>
            <a:off x="5745857" y="5248447"/>
            <a:ext cx="546894" cy="247650"/>
          </a:xfrm>
          <a:prstGeom prst="rect">
            <a:avLst/>
          </a:prstGeom>
          <a:solidFill>
            <a:srgbClr val="D9CFC9"/>
          </a:solidFill>
          <a:ln/>
        </p:spPr>
        <p:txBody>
          <a:bodyPr/>
          <a:lstStyle/>
          <a:p>
            <a:endParaRPr lang="en-US"/>
          </a:p>
        </p:txBody>
      </p:sp>
      <p:sp>
        <p:nvSpPr>
          <p:cNvPr id="42" name="Text 38"/>
          <p:cNvSpPr/>
          <p:nvPr/>
        </p:nvSpPr>
        <p:spPr>
          <a:xfrm>
            <a:off x="11187410" y="5238922"/>
            <a:ext cx="1781175" cy="304800"/>
          </a:xfrm>
          <a:prstGeom prst="rect">
            <a:avLst/>
          </a:prstGeom>
          <a:noFill/>
          <a:ln/>
        </p:spPr>
        <p:txBody>
          <a:bodyPr wrap="square" lIns="25400" tIns="25400" rIns="25400" bIns="25400" rtlCol="0" anchor="t">
            <a:normAutofit lnSpcReduction="10000"/>
          </a:bodyPr>
          <a:lstStyle/>
          <a:p>
            <a:pPr marL="0" indent="0" algn="r">
              <a:buNone/>
            </a:pPr>
            <a:r>
              <a:rPr lang="en-US" sz="1725" dirty="0">
                <a:solidFill>
                  <a:srgbClr val="1A1A1A"/>
                </a:solidFill>
                <a:latin typeface="Calibri" pitchFamily="34" charset="0"/>
                <a:ea typeface="Calibri" pitchFamily="34" charset="-122"/>
                <a:cs typeface="Calibri" pitchFamily="34" charset="-120"/>
              </a:rPr>
              <a:t>373 · 2.3%</a:t>
            </a:r>
            <a:endParaRPr lang="en-US" sz="1725" dirty="0"/>
          </a:p>
        </p:txBody>
      </p:sp>
      <p:sp>
        <p:nvSpPr>
          <p:cNvPr id="43" name="Text 39"/>
          <p:cNvSpPr/>
          <p:nvPr/>
        </p:nvSpPr>
        <p:spPr>
          <a:xfrm>
            <a:off x="4469507" y="5629447"/>
            <a:ext cx="1219200" cy="3048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1A1A1A"/>
                </a:solidFill>
                <a:latin typeface="Calibri" pitchFamily="34" charset="0"/>
                <a:ea typeface="Calibri" pitchFamily="34" charset="-122"/>
                <a:cs typeface="Calibri" pitchFamily="34" charset="-120"/>
              </a:rPr>
              <a:t>B6003</a:t>
            </a:r>
            <a:endParaRPr lang="en-US" sz="1725" dirty="0"/>
          </a:p>
        </p:txBody>
      </p:sp>
      <p:sp>
        <p:nvSpPr>
          <p:cNvPr id="44" name="Shape 40"/>
          <p:cNvSpPr/>
          <p:nvPr/>
        </p:nvSpPr>
        <p:spPr>
          <a:xfrm>
            <a:off x="5745857" y="5638972"/>
            <a:ext cx="5470128" cy="247650"/>
          </a:xfrm>
          <a:prstGeom prst="rect">
            <a:avLst/>
          </a:prstGeom>
          <a:solidFill>
            <a:srgbClr val="EDEFEA"/>
          </a:solidFill>
          <a:ln/>
        </p:spPr>
        <p:txBody>
          <a:bodyPr/>
          <a:lstStyle/>
          <a:p>
            <a:endParaRPr lang="en-US"/>
          </a:p>
        </p:txBody>
      </p:sp>
      <p:sp>
        <p:nvSpPr>
          <p:cNvPr id="45" name="Shape 41"/>
          <p:cNvSpPr/>
          <p:nvPr/>
        </p:nvSpPr>
        <p:spPr>
          <a:xfrm>
            <a:off x="5745857" y="5638972"/>
            <a:ext cx="492125" cy="247650"/>
          </a:xfrm>
          <a:prstGeom prst="rect">
            <a:avLst/>
          </a:prstGeom>
          <a:solidFill>
            <a:srgbClr val="D9CFC9"/>
          </a:solidFill>
          <a:ln/>
        </p:spPr>
        <p:txBody>
          <a:bodyPr/>
          <a:lstStyle/>
          <a:p>
            <a:endParaRPr lang="en-US"/>
          </a:p>
        </p:txBody>
      </p:sp>
      <p:sp>
        <p:nvSpPr>
          <p:cNvPr id="46" name="Text 42"/>
          <p:cNvSpPr/>
          <p:nvPr/>
        </p:nvSpPr>
        <p:spPr>
          <a:xfrm>
            <a:off x="11187410" y="5629447"/>
            <a:ext cx="1781175" cy="304800"/>
          </a:xfrm>
          <a:prstGeom prst="rect">
            <a:avLst/>
          </a:prstGeom>
          <a:noFill/>
          <a:ln/>
        </p:spPr>
        <p:txBody>
          <a:bodyPr wrap="square" lIns="25400" tIns="25400" rIns="25400" bIns="25400" rtlCol="0" anchor="t">
            <a:normAutofit lnSpcReduction="10000"/>
          </a:bodyPr>
          <a:lstStyle/>
          <a:p>
            <a:pPr marL="0" indent="0" algn="r">
              <a:buNone/>
            </a:pPr>
            <a:r>
              <a:rPr lang="en-US" sz="1725" dirty="0">
                <a:solidFill>
                  <a:srgbClr val="1A1A1A"/>
                </a:solidFill>
                <a:latin typeface="Calibri" pitchFamily="34" charset="0"/>
                <a:ea typeface="Calibri" pitchFamily="34" charset="-122"/>
                <a:cs typeface="Calibri" pitchFamily="34" charset="-120"/>
              </a:rPr>
              <a:t>320 · 2.0%</a:t>
            </a:r>
            <a:endParaRPr lang="en-US" sz="1725" dirty="0"/>
          </a:p>
        </p:txBody>
      </p:sp>
      <p:sp>
        <p:nvSpPr>
          <p:cNvPr id="47" name="Shape 43"/>
          <p:cNvSpPr/>
          <p:nvPr/>
        </p:nvSpPr>
        <p:spPr>
          <a:xfrm>
            <a:off x="4469507" y="6543847"/>
            <a:ext cx="8499078" cy="1905000"/>
          </a:xfrm>
          <a:prstGeom prst="rect">
            <a:avLst/>
          </a:prstGeom>
          <a:solidFill>
            <a:srgbClr val="E2EFDA"/>
          </a:solidFill>
          <a:ln/>
        </p:spPr>
        <p:txBody>
          <a:bodyPr/>
          <a:lstStyle/>
          <a:p>
            <a:endParaRPr lang="en-US"/>
          </a:p>
        </p:txBody>
      </p:sp>
      <p:sp>
        <p:nvSpPr>
          <p:cNvPr id="48" name="Text 44"/>
          <p:cNvSpPr/>
          <p:nvPr/>
        </p:nvSpPr>
        <p:spPr>
          <a:xfrm>
            <a:off x="4717157" y="6734347"/>
            <a:ext cx="8258751" cy="1714500"/>
          </a:xfrm>
          <a:prstGeom prst="rect">
            <a:avLst/>
          </a:prstGeom>
          <a:noFill/>
          <a:ln/>
        </p:spPr>
        <p:txBody>
          <a:bodyPr wrap="square" lIns="25400" tIns="25400" rIns="25400" bIns="25400" rtlCol="0" anchor="t">
            <a:noAutofit/>
          </a:bodyPr>
          <a:lstStyle/>
          <a:p>
            <a:pPr marL="0" indent="0" algn="l">
              <a:lnSpc>
                <a:spcPct val="114545"/>
              </a:lnSpc>
              <a:buNone/>
            </a:pPr>
            <a:r>
              <a:rPr lang="en-US" b="1" dirty="0">
                <a:solidFill>
                  <a:srgbClr val="1A1A1A"/>
                </a:solidFill>
                <a:latin typeface="Calibri" pitchFamily="34" charset="0"/>
                <a:ea typeface="Calibri" pitchFamily="34" charset="-122"/>
                <a:cs typeface="Calibri" pitchFamily="34" charset="-120"/>
              </a:rPr>
              <a:t>Concentration: </a:t>
            </a:r>
            <a:r>
              <a:rPr lang="en-US" dirty="0">
                <a:solidFill>
                  <a:srgbClr val="1A1A1A"/>
                </a:solidFill>
                <a:highlight>
                  <a:srgbClr val="E2EFDA"/>
                </a:highlight>
                <a:latin typeface="Calibri" pitchFamily="34" charset="0"/>
                <a:ea typeface="Calibri" pitchFamily="34" charset="-122"/>
                <a:cs typeface="Calibri" pitchFamily="34" charset="-120"/>
              </a:rPr>
              <a:t>the door / lock / sensor group (A0112, B6029, C6029, C6030, B6022) accounts for </a:t>
            </a:r>
            <a:r>
              <a:rPr lang="en-US" b="1" dirty="0">
                <a:solidFill>
                  <a:srgbClr val="1A1A1A"/>
                </a:solidFill>
                <a:latin typeface="Calibri" pitchFamily="34" charset="0"/>
                <a:ea typeface="Calibri" pitchFamily="34" charset="-122"/>
                <a:cs typeface="Calibri" pitchFamily="34" charset="-120"/>
              </a:rPr>
              <a:t>11,533 tickets — 72.7% </a:t>
            </a:r>
            <a:r>
              <a:rPr lang="en-US" dirty="0">
                <a:solidFill>
                  <a:srgbClr val="1A1A1A"/>
                </a:solidFill>
                <a:highlight>
                  <a:srgbClr val="E2EFDA"/>
                </a:highlight>
                <a:latin typeface="Calibri" pitchFamily="34" charset="0"/>
                <a:ea typeface="Calibri" pitchFamily="34" charset="-122"/>
                <a:cs typeface="Calibri" pitchFamily="34" charset="-120"/>
              </a:rPr>
              <a:t>of the top 10. One mechanical redesign programme would cover almost three quarters of all BSS alarms.</a:t>
            </a:r>
          </a:p>
          <a:p>
            <a:pPr marL="0" indent="0" algn="l">
              <a:lnSpc>
                <a:spcPct val="114545"/>
              </a:lnSpc>
              <a:buNone/>
            </a:pPr>
            <a:r>
              <a:rPr lang="en-US" b="1" dirty="0">
                <a:highlight>
                  <a:srgbClr val="E2EFDA"/>
                </a:highlight>
                <a:latin typeface="Calibri" pitchFamily="34" charset="0"/>
                <a:ea typeface="Calibri" pitchFamily="34" charset="-122"/>
                <a:cs typeface="Calibri" pitchFamily="34" charset="-120"/>
              </a:rPr>
              <a:t>Detailed RCA and Solution: </a:t>
            </a:r>
            <a:r>
              <a:rPr lang="en-US" dirty="0">
                <a:highlight>
                  <a:srgbClr val="E2EFDA"/>
                </a:highlight>
                <a:latin typeface="Calibri" pitchFamily="34" charset="0"/>
                <a:ea typeface="Calibri" pitchFamily="34" charset="-122"/>
                <a:cs typeface="Calibri" pitchFamily="34" charset="-120"/>
              </a:rPr>
              <a:t>Refer to Part 2 of this report.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114300" y="342900"/>
            <a:ext cx="571500" cy="571500"/>
          </a:xfrm>
          <a:prstGeom prst="rect">
            <a:avLst/>
          </a:prstGeom>
        </p:spPr>
      </p:pic>
      <p:pic>
        <p:nvPicPr>
          <p:cNvPr id="3" name="Image 1" descr="preencoded.png"/>
          <p:cNvPicPr>
            <a:picLocks noChangeAspect="1"/>
          </p:cNvPicPr>
          <p:nvPr/>
        </p:nvPicPr>
        <p:blipFill>
          <a:blip r:embed="rId4"/>
          <a:srcRect t="49" b="49"/>
          <a:stretch/>
        </p:blipFill>
        <p:spPr>
          <a:xfrm>
            <a:off x="14001750" y="114300"/>
            <a:ext cx="4114800" cy="914400"/>
          </a:xfrm>
          <a:prstGeom prst="rect">
            <a:avLst/>
          </a:prstGeom>
        </p:spPr>
      </p:pic>
      <p:sp>
        <p:nvSpPr>
          <p:cNvPr id="4" name="Text 0"/>
          <p:cNvSpPr/>
          <p:nvPr/>
        </p:nvSpPr>
        <p:spPr>
          <a:xfrm>
            <a:off x="876300" y="419100"/>
            <a:ext cx="7751167" cy="508000"/>
          </a:xfrm>
          <a:prstGeom prst="rect">
            <a:avLst/>
          </a:prstGeom>
          <a:noFill/>
          <a:ln/>
        </p:spPr>
        <p:txBody>
          <a:bodyPr wrap="square" lIns="25400" tIns="25400" rIns="25400" bIns="25400" rtlCol="0" anchor="t">
            <a:normAutofit/>
          </a:bodyPr>
          <a:lstStyle/>
          <a:p>
            <a:pPr marL="0" indent="0" algn="l">
              <a:buNone/>
            </a:pPr>
            <a:r>
              <a:rPr lang="en-US" sz="3000" b="1" dirty="0">
                <a:solidFill>
                  <a:srgbClr val="1A1A1A"/>
                </a:solidFill>
                <a:latin typeface="Calibri" pitchFamily="34" charset="0"/>
                <a:ea typeface="Calibri" pitchFamily="34" charset="-122"/>
                <a:cs typeface="Calibri" pitchFamily="34" charset="-120"/>
              </a:rPr>
              <a:t>1.4. Top spare parts used in the month: EVCS</a:t>
            </a:r>
            <a:endParaRPr lang="en-US" sz="3000" dirty="0"/>
          </a:p>
        </p:txBody>
      </p:sp>
      <p:sp>
        <p:nvSpPr>
          <p:cNvPr id="5" name="Shape 1"/>
          <p:cNvSpPr/>
          <p:nvPr/>
        </p:nvSpPr>
        <p:spPr>
          <a:xfrm>
            <a:off x="0" y="1152525"/>
            <a:ext cx="18288000" cy="19050"/>
          </a:xfrm>
          <a:prstGeom prst="rect">
            <a:avLst/>
          </a:prstGeom>
          <a:solidFill>
            <a:srgbClr val="A6A6A6"/>
          </a:solidFill>
          <a:ln/>
        </p:spPr>
        <p:txBody>
          <a:bodyPr/>
          <a:lstStyle/>
          <a:p>
            <a:endParaRPr lang="en-US"/>
          </a:p>
        </p:txBody>
      </p:sp>
      <p:sp>
        <p:nvSpPr>
          <p:cNvPr id="6" name="Shape 2"/>
          <p:cNvSpPr/>
          <p:nvPr/>
        </p:nvSpPr>
        <p:spPr>
          <a:xfrm>
            <a:off x="647700" y="1428750"/>
            <a:ext cx="8286750" cy="7162800"/>
          </a:xfrm>
          <a:prstGeom prst="rect">
            <a:avLst/>
          </a:prstGeom>
          <a:solidFill>
            <a:srgbClr val="FAFBF9"/>
          </a:solidFill>
          <a:ln w="12700">
            <a:solidFill>
              <a:srgbClr val="A6A6A6"/>
            </a:solidFill>
            <a:prstDash val="dash"/>
          </a:ln>
        </p:spPr>
        <p:txBody>
          <a:bodyPr/>
          <a:lstStyle/>
          <a:p>
            <a:endParaRPr lang="en-US"/>
          </a:p>
        </p:txBody>
      </p:sp>
      <p:sp>
        <p:nvSpPr>
          <p:cNvPr id="7" name="Text 3"/>
          <p:cNvSpPr/>
          <p:nvPr/>
        </p:nvSpPr>
        <p:spPr>
          <a:xfrm>
            <a:off x="774700" y="1498600"/>
            <a:ext cx="8039100" cy="368300"/>
          </a:xfrm>
          <a:prstGeom prst="rect">
            <a:avLst/>
          </a:prstGeom>
          <a:noFill/>
          <a:ln/>
        </p:spPr>
        <p:txBody>
          <a:bodyPr wrap="square" lIns="25400" tIns="25400" rIns="25400" bIns="25400" rtlCol="0" anchor="t">
            <a:normAutofit lnSpcReduction="10000"/>
          </a:bodyPr>
          <a:lstStyle/>
          <a:p>
            <a:pPr marL="0" indent="0" algn="ctr">
              <a:buNone/>
            </a:pPr>
            <a:r>
              <a:rPr lang="en-US" sz="2100" b="1" dirty="0">
                <a:solidFill>
                  <a:srgbClr val="595959"/>
                </a:solidFill>
                <a:latin typeface="Calibri" pitchFamily="34" charset="0"/>
                <a:ea typeface="Calibri" pitchFamily="34" charset="-122"/>
                <a:cs typeface="Calibri" pitchFamily="34" charset="-120"/>
              </a:rPr>
              <a:t>Top spare parts — usage chart (Top 5) &amp; cost table (Top 10)</a:t>
            </a:r>
            <a:endParaRPr lang="en-US" sz="2100" dirty="0"/>
          </a:p>
        </p:txBody>
      </p:sp>
      <p:sp>
        <p:nvSpPr>
          <p:cNvPr id="9" name="Shape 5"/>
          <p:cNvSpPr/>
          <p:nvPr/>
        </p:nvSpPr>
        <p:spPr>
          <a:xfrm>
            <a:off x="647700" y="8782050"/>
            <a:ext cx="8286750" cy="1085850"/>
          </a:xfrm>
          <a:prstGeom prst="rect">
            <a:avLst/>
          </a:prstGeom>
          <a:solidFill>
            <a:srgbClr val="E2EFDA"/>
          </a:solidFill>
          <a:ln/>
        </p:spPr>
        <p:txBody>
          <a:bodyPr/>
          <a:lstStyle/>
          <a:p>
            <a:endParaRPr lang="en-US"/>
          </a:p>
        </p:txBody>
      </p:sp>
      <p:sp>
        <p:nvSpPr>
          <p:cNvPr id="10" name="Text 6"/>
          <p:cNvSpPr/>
          <p:nvPr/>
        </p:nvSpPr>
        <p:spPr>
          <a:xfrm>
            <a:off x="914400" y="8991600"/>
            <a:ext cx="8001952" cy="704850"/>
          </a:xfrm>
          <a:prstGeom prst="rect">
            <a:avLst/>
          </a:prstGeom>
          <a:noFill/>
          <a:ln/>
        </p:spPr>
        <p:txBody>
          <a:bodyPr wrap="square" lIns="25400" tIns="25400" rIns="25400" bIns="25400" rtlCol="0" anchor="t">
            <a:normAutofit fontScale="92500"/>
          </a:bodyPr>
          <a:lstStyle/>
          <a:p>
            <a:pPr marL="0" indent="0" algn="l">
              <a:lnSpc>
                <a:spcPct val="114130"/>
              </a:lnSpc>
              <a:buNone/>
            </a:pPr>
            <a:r>
              <a:rPr lang="en-US" sz="1875" b="1" dirty="0">
                <a:solidFill>
                  <a:srgbClr val="1A1A1A"/>
                </a:solidFill>
                <a:latin typeface="Calibri" pitchFamily="34" charset="0"/>
                <a:ea typeface="Calibri" pitchFamily="34" charset="-122"/>
                <a:cs typeface="Calibri" pitchFamily="34" charset="-120"/>
              </a:rPr>
              <a:t>Source: </a:t>
            </a:r>
            <a:r>
              <a:rPr lang="en-US" sz="1875" dirty="0">
                <a:solidFill>
                  <a:srgbClr val="1A1A1A"/>
                </a:solidFill>
                <a:latin typeface="Calibri" pitchFamily="34" charset="0"/>
                <a:ea typeface="Calibri" pitchFamily="34" charset="-122"/>
                <a:cs typeface="Calibri" pitchFamily="34" charset="-120"/>
              </a:rPr>
              <a:t>Tickets export – Spare Parts Record, July 2026, matched to the Sheet1 cost list by material code; 20 rows with a placeholder quantity of 999 were excluded.</a:t>
            </a:r>
            <a:endParaRPr lang="en-US" sz="1875" dirty="0"/>
          </a:p>
        </p:txBody>
      </p:sp>
      <p:sp>
        <p:nvSpPr>
          <p:cNvPr id="11" name="Shape 7"/>
          <p:cNvSpPr/>
          <p:nvPr/>
        </p:nvSpPr>
        <p:spPr>
          <a:xfrm>
            <a:off x="9353550" y="1428750"/>
            <a:ext cx="8232458" cy="2543175"/>
          </a:xfrm>
          <a:prstGeom prst="rect">
            <a:avLst/>
          </a:prstGeom>
          <a:solidFill>
            <a:srgbClr val="F1F6F2"/>
          </a:solidFill>
          <a:ln/>
        </p:spPr>
        <p:txBody>
          <a:bodyPr/>
          <a:lstStyle/>
          <a:p>
            <a:endParaRPr lang="en-US"/>
          </a:p>
        </p:txBody>
      </p:sp>
      <p:sp>
        <p:nvSpPr>
          <p:cNvPr id="12" name="Text 8"/>
          <p:cNvSpPr/>
          <p:nvPr/>
        </p:nvSpPr>
        <p:spPr>
          <a:xfrm>
            <a:off x="9639300" y="1676400"/>
            <a:ext cx="8486775"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A1A1A"/>
                </a:solidFill>
                <a:latin typeface="Calibri" pitchFamily="34" charset="0"/>
                <a:ea typeface="Calibri" pitchFamily="34" charset="-122"/>
                <a:cs typeface="Calibri" pitchFamily="34" charset="-120"/>
              </a:rPr>
              <a:t>Data comments:</a:t>
            </a:r>
            <a:endParaRPr lang="en-US" sz="1950" dirty="0"/>
          </a:p>
        </p:txBody>
      </p:sp>
      <p:sp>
        <p:nvSpPr>
          <p:cNvPr id="13" name="Text 9"/>
          <p:cNvSpPr/>
          <p:nvPr/>
        </p:nvSpPr>
        <p:spPr>
          <a:xfrm>
            <a:off x="9639300" y="2114550"/>
            <a:ext cx="7946708" cy="728663"/>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 </a:t>
            </a:r>
            <a:r>
              <a:rPr lang="en-US" sz="1875" b="1" dirty="0">
                <a:solidFill>
                  <a:srgbClr val="1A1A1A"/>
                </a:solidFill>
                <a:latin typeface="Calibri" pitchFamily="34" charset="0"/>
                <a:ea typeface="Calibri" pitchFamily="34" charset="-122"/>
                <a:cs typeface="Calibri" pitchFamily="34" charset="-120"/>
              </a:rPr>
              <a:t>AD-DC Power Module - Core 60/120/150 Kw </a:t>
            </a:r>
            <a:r>
              <a:rPr lang="en-US" sz="1875" dirty="0">
                <a:solidFill>
                  <a:srgbClr val="1A1A1A"/>
                </a:solidFill>
                <a:latin typeface="Calibri" pitchFamily="34" charset="0"/>
                <a:ea typeface="Calibri" pitchFamily="34" charset="-122"/>
                <a:cs typeface="Calibri" pitchFamily="34" charset="-120"/>
              </a:rPr>
              <a:t>has both the highest usage (560 units) and by far the highest cost ($303,416) in the month.</a:t>
            </a:r>
            <a:endParaRPr lang="en-US" sz="1875" dirty="0"/>
          </a:p>
        </p:txBody>
      </p:sp>
      <p:sp>
        <p:nvSpPr>
          <p:cNvPr id="14" name="Text 10"/>
          <p:cNvSpPr/>
          <p:nvPr/>
        </p:nvSpPr>
        <p:spPr>
          <a:xfrm>
            <a:off x="9639300" y="2919413"/>
            <a:ext cx="7946708" cy="728663"/>
          </a:xfrm>
          <a:prstGeom prst="rect">
            <a:avLst/>
          </a:prstGeom>
          <a:noFill/>
          <a:ln/>
        </p:spPr>
        <p:txBody>
          <a:bodyPr wrap="square" lIns="25400" tIns="25400" rIns="25400" bIns="25400" rtlCol="0" anchor="t">
            <a:noAutofit/>
          </a:bodyPr>
          <a:lstStyle/>
          <a:p>
            <a:pPr marL="0" indent="0" algn="l">
              <a:lnSpc>
                <a:spcPct val="118207"/>
              </a:lnSpc>
              <a:buNone/>
            </a:pPr>
            <a:r>
              <a:rPr lang="en-US" sz="1880" dirty="0">
                <a:solidFill>
                  <a:srgbClr val="1A1A1A"/>
                </a:solidFill>
                <a:latin typeface="Calibri" pitchFamily="34" charset="0"/>
                <a:ea typeface="Calibri" pitchFamily="34" charset="-122"/>
                <a:cs typeface="Calibri" pitchFamily="34" charset="-120"/>
              </a:rPr>
              <a:t>· </a:t>
            </a:r>
            <a:r>
              <a:rPr lang="en-US" sz="1880" b="1" dirty="0">
                <a:solidFill>
                  <a:srgbClr val="1A1A1A"/>
                </a:solidFill>
                <a:latin typeface="Calibri" pitchFamily="34" charset="0"/>
                <a:ea typeface="Calibri" pitchFamily="34" charset="-122"/>
                <a:cs typeface="Calibri" pitchFamily="34" charset="-120"/>
              </a:rPr>
              <a:t>HV Core V2.8 </a:t>
            </a:r>
            <a:r>
              <a:rPr lang="en-US" sz="1880" dirty="0">
                <a:solidFill>
                  <a:srgbClr val="1A1A1A"/>
                </a:solidFill>
                <a:latin typeface="Calibri" pitchFamily="34" charset="0"/>
                <a:ea typeface="Calibri" pitchFamily="34" charset="-122"/>
                <a:cs typeface="Calibri" pitchFamily="34" charset="-120"/>
              </a:rPr>
              <a:t>is 2nd in usage (221 units, $8,619).</a:t>
            </a:r>
            <a:endParaRPr lang="en-US" sz="1880" dirty="0"/>
          </a:p>
        </p:txBody>
      </p:sp>
      <p:sp>
        <p:nvSpPr>
          <p:cNvPr id="15" name="Shape 11"/>
          <p:cNvSpPr/>
          <p:nvPr/>
        </p:nvSpPr>
        <p:spPr>
          <a:xfrm>
            <a:off x="9353550" y="4067175"/>
            <a:ext cx="8286750" cy="1585913"/>
          </a:xfrm>
          <a:prstGeom prst="rect">
            <a:avLst/>
          </a:prstGeom>
          <a:solidFill>
            <a:srgbClr val="F1F6F2"/>
          </a:solidFill>
          <a:ln/>
        </p:spPr>
        <p:txBody>
          <a:bodyPr/>
          <a:lstStyle/>
          <a:p>
            <a:endParaRPr lang="en-US"/>
          </a:p>
        </p:txBody>
      </p:sp>
      <p:sp>
        <p:nvSpPr>
          <p:cNvPr id="16" name="Shape 12"/>
          <p:cNvSpPr/>
          <p:nvPr/>
        </p:nvSpPr>
        <p:spPr>
          <a:xfrm>
            <a:off x="9353550" y="4048125"/>
            <a:ext cx="38100" cy="1604963"/>
          </a:xfrm>
          <a:prstGeom prst="rect">
            <a:avLst/>
          </a:prstGeom>
          <a:solidFill>
            <a:srgbClr val="C0504D"/>
          </a:solidFill>
          <a:ln/>
        </p:spPr>
        <p:txBody>
          <a:bodyPr/>
          <a:lstStyle/>
          <a:p>
            <a:endParaRPr lang="en-US"/>
          </a:p>
        </p:txBody>
      </p:sp>
      <p:sp>
        <p:nvSpPr>
          <p:cNvPr id="17" name="Text 13"/>
          <p:cNvSpPr/>
          <p:nvPr/>
        </p:nvSpPr>
        <p:spPr>
          <a:xfrm>
            <a:off x="9677400" y="4295775"/>
            <a:ext cx="8444865"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A1A1A"/>
                </a:solidFill>
                <a:latin typeface="Calibri" pitchFamily="34" charset="0"/>
                <a:ea typeface="Calibri" pitchFamily="34" charset="-122"/>
                <a:cs typeface="Calibri" pitchFamily="34" charset="-120"/>
              </a:rPr>
              <a:t>Reasons for AD-DC Power Module failure</a:t>
            </a:r>
            <a:endParaRPr lang="en-US" sz="1950" dirty="0"/>
          </a:p>
        </p:txBody>
      </p:sp>
      <p:sp>
        <p:nvSpPr>
          <p:cNvPr id="18" name="Text 14"/>
          <p:cNvSpPr/>
          <p:nvPr/>
        </p:nvSpPr>
        <p:spPr>
          <a:xfrm>
            <a:off x="9677400" y="4714875"/>
            <a:ext cx="7907465" cy="728663"/>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 Input Under Voltage. · Power module group check error.</a:t>
            </a:r>
            <a:endParaRPr lang="en-US" sz="1875" dirty="0"/>
          </a:p>
        </p:txBody>
      </p:sp>
      <p:sp>
        <p:nvSpPr>
          <p:cNvPr id="19" name="Shape 15"/>
          <p:cNvSpPr/>
          <p:nvPr/>
        </p:nvSpPr>
        <p:spPr>
          <a:xfrm>
            <a:off x="9353550" y="5843588"/>
            <a:ext cx="8286750" cy="2085975"/>
          </a:xfrm>
          <a:prstGeom prst="rect">
            <a:avLst/>
          </a:prstGeom>
          <a:solidFill>
            <a:srgbClr val="F1F6F2"/>
          </a:solidFill>
          <a:ln/>
        </p:spPr>
        <p:txBody>
          <a:bodyPr/>
          <a:lstStyle/>
          <a:p>
            <a:endParaRPr lang="en-US"/>
          </a:p>
        </p:txBody>
      </p:sp>
      <p:sp>
        <p:nvSpPr>
          <p:cNvPr id="20" name="Shape 16"/>
          <p:cNvSpPr/>
          <p:nvPr/>
        </p:nvSpPr>
        <p:spPr>
          <a:xfrm>
            <a:off x="9353549" y="5843588"/>
            <a:ext cx="45719" cy="2085975"/>
          </a:xfrm>
          <a:prstGeom prst="rect">
            <a:avLst/>
          </a:prstGeom>
          <a:solidFill>
            <a:srgbClr val="619B32"/>
          </a:solidFill>
          <a:ln/>
        </p:spPr>
        <p:txBody>
          <a:bodyPr/>
          <a:lstStyle/>
          <a:p>
            <a:endParaRPr lang="en-US"/>
          </a:p>
        </p:txBody>
      </p:sp>
      <p:sp>
        <p:nvSpPr>
          <p:cNvPr id="21" name="Text 17"/>
          <p:cNvSpPr/>
          <p:nvPr/>
        </p:nvSpPr>
        <p:spPr>
          <a:xfrm>
            <a:off x="9677400" y="6091238"/>
            <a:ext cx="8444865"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A1A1A"/>
                </a:solidFill>
                <a:latin typeface="Calibri" pitchFamily="34" charset="0"/>
                <a:ea typeface="Calibri" pitchFamily="34" charset="-122"/>
                <a:cs typeface="Calibri" pitchFamily="34" charset="-120"/>
              </a:rPr>
              <a:t>Solution for reducing Power Module fails</a:t>
            </a:r>
            <a:endParaRPr lang="en-US" sz="1950" dirty="0"/>
          </a:p>
        </p:txBody>
      </p:sp>
      <p:sp>
        <p:nvSpPr>
          <p:cNvPr id="22" name="Text 18"/>
          <p:cNvSpPr/>
          <p:nvPr/>
        </p:nvSpPr>
        <p:spPr>
          <a:xfrm>
            <a:off x="9677400" y="6510338"/>
            <a:ext cx="7907465" cy="1073944"/>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 New FW to remove "Input Under Voltage" alarms by keeping the current stable when the voltage changes (it lowers the power) — TQA &amp; pilot run in July 2026. · Do regular maintenance (cleaning).</a:t>
            </a:r>
            <a:endParaRPr lang="en-US" sz="1875" dirty="0"/>
          </a:p>
        </p:txBody>
      </p:sp>
      <p:graphicFrame>
        <p:nvGraphicFramePr>
          <p:cNvPr id="201" name="EVCS Top10 Chart"/>
          <p:cNvGraphicFramePr/>
          <p:nvPr/>
        </p:nvGraphicFramePr>
        <p:xfrm>
          <a:off x="774700" y="1968500"/>
          <a:ext cx="8039100" cy="2667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4" name="Table 23">
            <a:extLst>
              <a:ext uri="{FF2B5EF4-FFF2-40B4-BE49-F238E27FC236}">
                <a16:creationId xmlns:a16="http://schemas.microsoft.com/office/drawing/2014/main" id="{17765A0C-1773-4381-8432-111E10F157C5}"/>
              </a:ext>
            </a:extLst>
          </p:cNvPr>
          <p:cNvGraphicFramePr>
            <a:graphicFrameLocks noGrp="1"/>
          </p:cNvGraphicFramePr>
          <p:nvPr/>
        </p:nvGraphicFramePr>
        <p:xfrm>
          <a:off x="774700" y="4762500"/>
          <a:ext cx="8039100" cy="3784600"/>
        </p:xfrm>
        <a:graphic>
          <a:graphicData uri="http://schemas.openxmlformats.org/drawingml/2006/table">
            <a:tbl>
              <a:tblPr/>
              <a:tblGrid>
                <a:gridCol w="431800">
                  <a:extLst>
                    <a:ext uri="{9D8B030D-6E8A-4147-A177-3AD203B41FA5}">
                      <a16:colId xmlns:a16="http://schemas.microsoft.com/office/drawing/2014/main" val="3209527351"/>
                    </a:ext>
                  </a:extLst>
                </a:gridCol>
                <a:gridCol w="4381500">
                  <a:extLst>
                    <a:ext uri="{9D8B030D-6E8A-4147-A177-3AD203B41FA5}">
                      <a16:colId xmlns:a16="http://schemas.microsoft.com/office/drawing/2014/main" val="4156543629"/>
                    </a:ext>
                  </a:extLst>
                </a:gridCol>
                <a:gridCol w="1460500">
                  <a:extLst>
                    <a:ext uri="{9D8B030D-6E8A-4147-A177-3AD203B41FA5}">
                      <a16:colId xmlns:a16="http://schemas.microsoft.com/office/drawing/2014/main" val="4077782261"/>
                    </a:ext>
                  </a:extLst>
                </a:gridCol>
                <a:gridCol w="1765300">
                  <a:extLst>
                    <a:ext uri="{9D8B030D-6E8A-4147-A177-3AD203B41FA5}">
                      <a16:colId xmlns:a16="http://schemas.microsoft.com/office/drawing/2014/main" val="1013381554"/>
                    </a:ext>
                  </a:extLst>
                </a:gridCol>
              </a:tblGrid>
              <a:tr h="355600">
                <a:tc>
                  <a:txBody>
                    <a:bodyPr/>
                    <a:lstStyle/>
                    <a:p>
                      <a:pPr algn="ctr"/>
                      <a:r>
                        <a:rPr lang="en-US" sz="1400" b="1">
                          <a:solidFill>
                            <a:srgbClr val="FFFFFF"/>
                          </a:solidFill>
                        </a:rPr>
                        <a:t>#</a:t>
                      </a:r>
                    </a:p>
                  </a:txBody>
                  <a:tcPr marT="45028" marB="45028" anchor="ctr">
                    <a:lnL w="0"/>
                    <a:lnR w="0"/>
                    <a:lnT w="0"/>
                    <a:lnB w="0"/>
                    <a:lnTlToBr w="0"/>
                    <a:lnBlToTr w="0"/>
                    <a:solidFill>
                      <a:srgbClr val="619B32"/>
                    </a:solidFill>
                  </a:tcPr>
                </a:tc>
                <a:tc>
                  <a:txBody>
                    <a:bodyPr/>
                    <a:lstStyle/>
                    <a:p>
                      <a:pPr algn="l"/>
                      <a:r>
                        <a:rPr lang="en-US" sz="1400" b="1">
                          <a:solidFill>
                            <a:srgbClr val="FFFFFF"/>
                          </a:solidFill>
                        </a:rPr>
                        <a:t>Material Name</a:t>
                      </a:r>
                    </a:p>
                  </a:txBody>
                  <a:tcPr marT="45028" marB="45028" anchor="ctr">
                    <a:lnL w="0"/>
                    <a:lnR w="0"/>
                    <a:lnT w="0"/>
                    <a:lnB w="0"/>
                    <a:lnTlToBr w="0"/>
                    <a:lnBlToTr w="0"/>
                    <a:solidFill>
                      <a:srgbClr val="619B32"/>
                    </a:solidFill>
                  </a:tcPr>
                </a:tc>
                <a:tc>
                  <a:txBody>
                    <a:bodyPr/>
                    <a:lstStyle/>
                    <a:p>
                      <a:pPr algn="ctr"/>
                      <a:r>
                        <a:rPr lang="en-US" sz="1400" b="1">
                          <a:solidFill>
                            <a:srgbClr val="FFFFFF"/>
                          </a:solidFill>
                        </a:rPr>
                        <a:t>Qty</a:t>
                      </a:r>
                    </a:p>
                  </a:txBody>
                  <a:tcPr marT="45028" marB="45028" anchor="ctr">
                    <a:lnL w="0"/>
                    <a:lnR w="0"/>
                    <a:lnT w="0"/>
                    <a:lnB w="0"/>
                    <a:lnTlToBr w="0"/>
                    <a:lnBlToTr w="0"/>
                    <a:solidFill>
                      <a:srgbClr val="619B32"/>
                    </a:solidFill>
                  </a:tcPr>
                </a:tc>
                <a:tc>
                  <a:txBody>
                    <a:bodyPr/>
                    <a:lstStyle/>
                    <a:p>
                      <a:pPr algn="ctr"/>
                      <a:r>
                        <a:rPr lang="en-US" sz="1400" b="1">
                          <a:solidFill>
                            <a:srgbClr val="FFFFFF"/>
                          </a:solidFill>
                        </a:rPr>
                        <a:t>Est. Cost (USD)</a:t>
                      </a:r>
                    </a:p>
                  </a:txBody>
                  <a:tcPr marT="45028" marB="45028" anchor="ctr">
                    <a:lnL w="0"/>
                    <a:lnR w="0"/>
                    <a:lnT w="0"/>
                    <a:lnB w="0"/>
                    <a:lnTlToBr w="0"/>
                    <a:lnBlToTr w="0"/>
                    <a:solidFill>
                      <a:srgbClr val="619B32"/>
                    </a:solidFill>
                  </a:tcPr>
                </a:tc>
                <a:extLst>
                  <a:ext uri="{0D108BD9-81ED-4DB2-BD59-A6C34878D82A}">
                    <a16:rowId xmlns:a16="http://schemas.microsoft.com/office/drawing/2014/main" val="2142141340"/>
                  </a:ext>
                </a:extLst>
              </a:tr>
              <a:tr h="342900">
                <a:tc>
                  <a:txBody>
                    <a:bodyPr/>
                    <a:lstStyle/>
                    <a:p>
                      <a:pPr algn="ctr"/>
                      <a:r>
                        <a:rPr lang="en-US" sz="1400">
                          <a:solidFill>
                            <a:srgbClr val="1A1A1A"/>
                          </a:solidFill>
                        </a:rPr>
                        <a:t>1</a:t>
                      </a:r>
                    </a:p>
                  </a:txBody>
                  <a:tcPr marT="45028" marB="45028" anchor="ctr">
                    <a:lnL w="0"/>
                    <a:lnR w="0"/>
                    <a:lnT w="0"/>
                    <a:lnB w="0"/>
                    <a:lnTlToBr w="0"/>
                    <a:lnBlToTr w="0"/>
                    <a:solidFill>
                      <a:srgbClr val="FFFFFF"/>
                    </a:solidFill>
                  </a:tcPr>
                </a:tc>
                <a:tc>
                  <a:txBody>
                    <a:bodyPr/>
                    <a:lstStyle/>
                    <a:p>
                      <a:pPr algn="l"/>
                      <a:r>
                        <a:rPr lang="en-US" sz="1400">
                          <a:solidFill>
                            <a:srgbClr val="1A1A1A"/>
                          </a:solidFill>
                        </a:rPr>
                        <a:t>AD-DC Power Module - Core 60/120/150 Kw</a:t>
                      </a:r>
                    </a:p>
                  </a:txBody>
                  <a:tcPr marT="45028" marB="45028" anchor="ctr">
                    <a:lnL w="0"/>
                    <a:lnR w="0"/>
                    <a:lnT w="0"/>
                    <a:lnB w="0"/>
                    <a:lnTlToBr w="0"/>
                    <a:lnBlToTr w="0"/>
                    <a:solidFill>
                      <a:srgbClr val="FFFFFF"/>
                    </a:solidFill>
                  </a:tcPr>
                </a:tc>
                <a:tc>
                  <a:txBody>
                    <a:bodyPr/>
                    <a:lstStyle/>
                    <a:p>
                      <a:pPr algn="r"/>
                      <a:r>
                        <a:rPr lang="en-US" sz="1400">
                          <a:solidFill>
                            <a:srgbClr val="1A1A1A"/>
                          </a:solidFill>
                        </a:rPr>
                        <a:t>560</a:t>
                      </a:r>
                    </a:p>
                  </a:txBody>
                  <a:tcPr marT="45028" marB="45028" anchor="ctr">
                    <a:lnL w="0"/>
                    <a:lnR w="0"/>
                    <a:lnT w="0"/>
                    <a:lnB w="0"/>
                    <a:lnTlToBr w="0"/>
                    <a:lnBlToTr w="0"/>
                    <a:solidFill>
                      <a:srgbClr val="FFFFFF"/>
                    </a:solidFill>
                  </a:tcPr>
                </a:tc>
                <a:tc>
                  <a:txBody>
                    <a:bodyPr/>
                    <a:lstStyle/>
                    <a:p>
                      <a:pPr algn="r"/>
                      <a:r>
                        <a:rPr lang="en-US" sz="1400">
                          <a:solidFill>
                            <a:srgbClr val="1A1A1A"/>
                          </a:solidFill>
                        </a:rPr>
                        <a:t>$303,416</a:t>
                      </a:r>
                    </a:p>
                  </a:txBody>
                  <a:tcPr marT="45028" marB="45028" anchor="ctr">
                    <a:lnL w="0"/>
                    <a:lnR w="0"/>
                    <a:lnT w="0"/>
                    <a:lnB w="0"/>
                    <a:lnTlToBr w="0"/>
                    <a:lnBlToTr w="0"/>
                    <a:solidFill>
                      <a:srgbClr val="FFFFFF"/>
                    </a:solidFill>
                  </a:tcPr>
                </a:tc>
                <a:extLst>
                  <a:ext uri="{0D108BD9-81ED-4DB2-BD59-A6C34878D82A}">
                    <a16:rowId xmlns:a16="http://schemas.microsoft.com/office/drawing/2014/main" val="4085248291"/>
                  </a:ext>
                </a:extLst>
              </a:tr>
              <a:tr h="342900">
                <a:tc>
                  <a:txBody>
                    <a:bodyPr/>
                    <a:lstStyle/>
                    <a:p>
                      <a:pPr algn="ctr"/>
                      <a:r>
                        <a:rPr lang="en-US" sz="1400">
                          <a:solidFill>
                            <a:srgbClr val="1A1A1A"/>
                          </a:solidFill>
                        </a:rPr>
                        <a:t>2</a:t>
                      </a:r>
                    </a:p>
                  </a:txBody>
                  <a:tcPr marT="45028" marB="45028" anchor="ctr">
                    <a:lnL w="0"/>
                    <a:lnR w="0"/>
                    <a:lnT w="0"/>
                    <a:lnB w="0"/>
                    <a:lnTlToBr w="0"/>
                    <a:lnBlToTr w="0"/>
                    <a:solidFill>
                      <a:srgbClr val="F1F5EC"/>
                    </a:solidFill>
                  </a:tcPr>
                </a:tc>
                <a:tc>
                  <a:txBody>
                    <a:bodyPr/>
                    <a:lstStyle/>
                    <a:p>
                      <a:pPr algn="l"/>
                      <a:r>
                        <a:rPr lang="en-US" sz="1400">
                          <a:solidFill>
                            <a:srgbClr val="1A1A1A"/>
                          </a:solidFill>
                        </a:rPr>
                        <a:t>HV Core V2.8 - Core 60/80/120/150Kw</a:t>
                      </a:r>
                    </a:p>
                  </a:txBody>
                  <a:tcPr marT="45028" marB="45028" anchor="ctr">
                    <a:lnL w="0"/>
                    <a:lnR w="0"/>
                    <a:lnT w="0"/>
                    <a:lnB w="0"/>
                    <a:lnTlToBr w="0"/>
                    <a:lnBlToTr w="0"/>
                    <a:solidFill>
                      <a:srgbClr val="F1F5EC"/>
                    </a:solidFill>
                  </a:tcPr>
                </a:tc>
                <a:tc>
                  <a:txBody>
                    <a:bodyPr/>
                    <a:lstStyle/>
                    <a:p>
                      <a:pPr algn="r"/>
                      <a:r>
                        <a:rPr lang="en-US" sz="1400">
                          <a:solidFill>
                            <a:srgbClr val="1A1A1A"/>
                          </a:solidFill>
                        </a:rPr>
                        <a:t>221</a:t>
                      </a:r>
                    </a:p>
                  </a:txBody>
                  <a:tcPr marT="45028" marB="45028" anchor="ctr">
                    <a:lnL w="0"/>
                    <a:lnR w="0"/>
                    <a:lnT w="0"/>
                    <a:lnB w="0"/>
                    <a:lnTlToBr w="0"/>
                    <a:lnBlToTr w="0"/>
                    <a:solidFill>
                      <a:srgbClr val="F1F5EC"/>
                    </a:solidFill>
                  </a:tcPr>
                </a:tc>
                <a:tc>
                  <a:txBody>
                    <a:bodyPr/>
                    <a:lstStyle/>
                    <a:p>
                      <a:pPr algn="r"/>
                      <a:r>
                        <a:rPr lang="en-US" sz="1400">
                          <a:solidFill>
                            <a:srgbClr val="1A1A1A"/>
                          </a:solidFill>
                        </a:rPr>
                        <a:t>$8,619</a:t>
                      </a:r>
                    </a:p>
                  </a:txBody>
                  <a:tcPr marT="45028" marB="45028" anchor="ctr">
                    <a:lnL w="0"/>
                    <a:lnR w="0"/>
                    <a:lnT w="0"/>
                    <a:lnB w="0"/>
                    <a:lnTlToBr w="0"/>
                    <a:lnBlToTr w="0"/>
                    <a:solidFill>
                      <a:srgbClr val="F1F5EC"/>
                    </a:solidFill>
                  </a:tcPr>
                </a:tc>
                <a:extLst>
                  <a:ext uri="{0D108BD9-81ED-4DB2-BD59-A6C34878D82A}">
                    <a16:rowId xmlns:a16="http://schemas.microsoft.com/office/drawing/2014/main" val="712618745"/>
                  </a:ext>
                </a:extLst>
              </a:tr>
              <a:tr h="342900">
                <a:tc>
                  <a:txBody>
                    <a:bodyPr/>
                    <a:lstStyle/>
                    <a:p>
                      <a:pPr algn="ctr"/>
                      <a:r>
                        <a:rPr lang="en-US" sz="1400">
                          <a:solidFill>
                            <a:srgbClr val="1A1A1A"/>
                          </a:solidFill>
                        </a:rPr>
                        <a:t>3</a:t>
                      </a:r>
                    </a:p>
                  </a:txBody>
                  <a:tcPr marT="45028" marB="45028" anchor="ctr">
                    <a:lnL w="0"/>
                    <a:lnR w="0"/>
                    <a:lnT w="0"/>
                    <a:lnB w="0"/>
                    <a:lnTlToBr w="0"/>
                    <a:lnBlToTr w="0"/>
                    <a:solidFill>
                      <a:srgbClr val="FFFFFF"/>
                    </a:solidFill>
                  </a:tcPr>
                </a:tc>
                <a:tc>
                  <a:txBody>
                    <a:bodyPr/>
                    <a:lstStyle/>
                    <a:p>
                      <a:pPr algn="l"/>
                      <a:r>
                        <a:rPr lang="en-US" sz="1400">
                          <a:solidFill>
                            <a:srgbClr val="1A1A1A"/>
                          </a:solidFill>
                        </a:rPr>
                        <a:t>AC PCBA - AC 22Kw</a:t>
                      </a:r>
                    </a:p>
                  </a:txBody>
                  <a:tcPr marT="45028" marB="45028" anchor="ctr">
                    <a:lnL w="0"/>
                    <a:lnR w="0"/>
                    <a:lnT w="0"/>
                    <a:lnB w="0"/>
                    <a:lnTlToBr w="0"/>
                    <a:lnBlToTr w="0"/>
                    <a:solidFill>
                      <a:srgbClr val="FFFFFF"/>
                    </a:solidFill>
                  </a:tcPr>
                </a:tc>
                <a:tc>
                  <a:txBody>
                    <a:bodyPr/>
                    <a:lstStyle/>
                    <a:p>
                      <a:pPr algn="r"/>
                      <a:r>
                        <a:rPr lang="en-US" sz="1400">
                          <a:solidFill>
                            <a:srgbClr val="1A1A1A"/>
                          </a:solidFill>
                        </a:rPr>
                        <a:t>212</a:t>
                      </a:r>
                    </a:p>
                  </a:txBody>
                  <a:tcPr marT="45028" marB="45028" anchor="ctr">
                    <a:lnL w="0"/>
                    <a:lnR w="0"/>
                    <a:lnT w="0"/>
                    <a:lnB w="0"/>
                    <a:lnTlToBr w="0"/>
                    <a:lnBlToTr w="0"/>
                    <a:solidFill>
                      <a:srgbClr val="FFFFFF"/>
                    </a:solidFill>
                  </a:tcPr>
                </a:tc>
                <a:tc>
                  <a:txBody>
                    <a:bodyPr/>
                    <a:lstStyle/>
                    <a:p>
                      <a:pPr algn="r"/>
                      <a:r>
                        <a:rPr lang="en-US" sz="1400">
                          <a:solidFill>
                            <a:srgbClr val="1A1A1A"/>
                          </a:solidFill>
                        </a:rPr>
                        <a:t>$7,017</a:t>
                      </a:r>
                    </a:p>
                  </a:txBody>
                  <a:tcPr marT="45028" marB="45028" anchor="ctr">
                    <a:lnL w="0"/>
                    <a:lnR w="0"/>
                    <a:lnT w="0"/>
                    <a:lnB w="0"/>
                    <a:lnTlToBr w="0"/>
                    <a:lnBlToTr w="0"/>
                    <a:solidFill>
                      <a:srgbClr val="FFFFFF"/>
                    </a:solidFill>
                  </a:tcPr>
                </a:tc>
                <a:extLst>
                  <a:ext uri="{0D108BD9-81ED-4DB2-BD59-A6C34878D82A}">
                    <a16:rowId xmlns:a16="http://schemas.microsoft.com/office/drawing/2014/main" val="2843401383"/>
                  </a:ext>
                </a:extLst>
              </a:tr>
              <a:tr h="342900">
                <a:tc>
                  <a:txBody>
                    <a:bodyPr/>
                    <a:lstStyle/>
                    <a:p>
                      <a:pPr algn="ctr"/>
                      <a:r>
                        <a:rPr lang="en-US" sz="1400">
                          <a:solidFill>
                            <a:srgbClr val="1A1A1A"/>
                          </a:solidFill>
                        </a:rPr>
                        <a:t>4</a:t>
                      </a:r>
                    </a:p>
                  </a:txBody>
                  <a:tcPr marT="45028" marB="45028" anchor="ctr">
                    <a:lnL w="0"/>
                    <a:lnR w="0"/>
                    <a:lnT w="0"/>
                    <a:lnB w="0"/>
                    <a:lnTlToBr w="0"/>
                    <a:lnBlToTr w="0"/>
                    <a:solidFill>
                      <a:srgbClr val="F1F5EC"/>
                    </a:solidFill>
                  </a:tcPr>
                </a:tc>
                <a:tc>
                  <a:txBody>
                    <a:bodyPr/>
                    <a:lstStyle/>
                    <a:p>
                      <a:pPr algn="l"/>
                      <a:r>
                        <a:rPr lang="en-US" sz="1400">
                          <a:solidFill>
                            <a:srgbClr val="1A1A1A"/>
                          </a:solidFill>
                        </a:rPr>
                        <a:t>COREmini QT Screen (Excluded PCBA)</a:t>
                      </a:r>
                    </a:p>
                  </a:txBody>
                  <a:tcPr marT="45028" marB="45028" anchor="ctr">
                    <a:lnL w="0"/>
                    <a:lnR w="0"/>
                    <a:lnT w="0"/>
                    <a:lnB w="0"/>
                    <a:lnTlToBr w="0"/>
                    <a:lnBlToTr w="0"/>
                    <a:solidFill>
                      <a:srgbClr val="F1F5EC"/>
                    </a:solidFill>
                  </a:tcPr>
                </a:tc>
                <a:tc>
                  <a:txBody>
                    <a:bodyPr/>
                    <a:lstStyle/>
                    <a:p>
                      <a:pPr algn="r"/>
                      <a:r>
                        <a:rPr lang="en-US" sz="1400">
                          <a:solidFill>
                            <a:srgbClr val="1A1A1A"/>
                          </a:solidFill>
                        </a:rPr>
                        <a:t>211</a:t>
                      </a:r>
                    </a:p>
                  </a:txBody>
                  <a:tcPr marT="45028" marB="45028" anchor="ctr">
                    <a:lnL w="0"/>
                    <a:lnR w="0"/>
                    <a:lnT w="0"/>
                    <a:lnB w="0"/>
                    <a:lnTlToBr w="0"/>
                    <a:lnBlToTr w="0"/>
                    <a:solidFill>
                      <a:srgbClr val="F1F5EC"/>
                    </a:solidFill>
                  </a:tcPr>
                </a:tc>
                <a:tc>
                  <a:txBody>
                    <a:bodyPr/>
                    <a:lstStyle/>
                    <a:p>
                      <a:pPr algn="r"/>
                      <a:r>
                        <a:rPr lang="en-US" sz="1400">
                          <a:solidFill>
                            <a:srgbClr val="1A1A1A"/>
                          </a:solidFill>
                        </a:rPr>
                        <a:t>$31,740</a:t>
                      </a:r>
                    </a:p>
                  </a:txBody>
                  <a:tcPr marT="45028" marB="45028" anchor="ctr">
                    <a:lnL w="0"/>
                    <a:lnR w="0"/>
                    <a:lnT w="0"/>
                    <a:lnB w="0"/>
                    <a:lnTlToBr w="0"/>
                    <a:lnBlToTr w="0"/>
                    <a:solidFill>
                      <a:srgbClr val="F1F5EC"/>
                    </a:solidFill>
                  </a:tcPr>
                </a:tc>
                <a:extLst>
                  <a:ext uri="{0D108BD9-81ED-4DB2-BD59-A6C34878D82A}">
                    <a16:rowId xmlns:a16="http://schemas.microsoft.com/office/drawing/2014/main" val="3369050192"/>
                  </a:ext>
                </a:extLst>
              </a:tr>
              <a:tr h="342900">
                <a:tc>
                  <a:txBody>
                    <a:bodyPr/>
                    <a:lstStyle/>
                    <a:p>
                      <a:pPr algn="ctr"/>
                      <a:r>
                        <a:rPr lang="en-US" sz="1400">
                          <a:solidFill>
                            <a:srgbClr val="1A1A1A"/>
                          </a:solidFill>
                        </a:rPr>
                        <a:t>5</a:t>
                      </a:r>
                    </a:p>
                  </a:txBody>
                  <a:tcPr marT="45028" marB="45028" anchor="ctr">
                    <a:lnL w="0"/>
                    <a:lnR w="0"/>
                    <a:lnT w="0"/>
                    <a:lnB w="0"/>
                    <a:lnTlToBr w="0"/>
                    <a:lnBlToTr w="0"/>
                    <a:solidFill>
                      <a:srgbClr val="FFFFFF"/>
                    </a:solidFill>
                  </a:tcPr>
                </a:tc>
                <a:tc>
                  <a:txBody>
                    <a:bodyPr/>
                    <a:lstStyle/>
                    <a:p>
                      <a:pPr algn="l"/>
                      <a:r>
                        <a:rPr lang="en-US" sz="1400">
                          <a:solidFill>
                            <a:srgbClr val="1A1A1A"/>
                          </a:solidFill>
                        </a:rPr>
                        <a:t>AD-DC Power Module</a:t>
                      </a:r>
                    </a:p>
                  </a:txBody>
                  <a:tcPr marT="45028" marB="45028" anchor="ctr">
                    <a:lnL w="0"/>
                    <a:lnR w="0"/>
                    <a:lnT w="0"/>
                    <a:lnB w="0"/>
                    <a:lnTlToBr w="0"/>
                    <a:lnBlToTr w="0"/>
                    <a:solidFill>
                      <a:srgbClr val="FFFFFF"/>
                    </a:solidFill>
                  </a:tcPr>
                </a:tc>
                <a:tc>
                  <a:txBody>
                    <a:bodyPr/>
                    <a:lstStyle/>
                    <a:p>
                      <a:pPr algn="r"/>
                      <a:r>
                        <a:rPr lang="en-US" sz="1400">
                          <a:solidFill>
                            <a:srgbClr val="1A1A1A"/>
                          </a:solidFill>
                        </a:rPr>
                        <a:t>160</a:t>
                      </a:r>
                    </a:p>
                  </a:txBody>
                  <a:tcPr marT="45028" marB="45028" anchor="ctr">
                    <a:lnL w="0"/>
                    <a:lnR w="0"/>
                    <a:lnT w="0"/>
                    <a:lnB w="0"/>
                    <a:lnTlToBr w="0"/>
                    <a:lnBlToTr w="0"/>
                    <a:solidFill>
                      <a:srgbClr val="FFFFFF"/>
                    </a:solidFill>
                  </a:tcPr>
                </a:tc>
                <a:tc>
                  <a:txBody>
                    <a:bodyPr/>
                    <a:lstStyle/>
                    <a:p>
                      <a:pPr algn="r"/>
                      <a:r>
                        <a:rPr lang="en-US" sz="1400">
                          <a:solidFill>
                            <a:srgbClr val="1A1A1A"/>
                          </a:solidFill>
                        </a:rPr>
                        <a:t>$66,286</a:t>
                      </a:r>
                    </a:p>
                  </a:txBody>
                  <a:tcPr marT="45028" marB="45028" anchor="ctr">
                    <a:lnL w="0"/>
                    <a:lnR w="0"/>
                    <a:lnT w="0"/>
                    <a:lnB w="0"/>
                    <a:lnTlToBr w="0"/>
                    <a:lnBlToTr w="0"/>
                    <a:solidFill>
                      <a:srgbClr val="FFFFFF"/>
                    </a:solidFill>
                  </a:tcPr>
                </a:tc>
                <a:extLst>
                  <a:ext uri="{0D108BD9-81ED-4DB2-BD59-A6C34878D82A}">
                    <a16:rowId xmlns:a16="http://schemas.microsoft.com/office/drawing/2014/main" val="1662223010"/>
                  </a:ext>
                </a:extLst>
              </a:tr>
              <a:tr h="342900">
                <a:tc>
                  <a:txBody>
                    <a:bodyPr/>
                    <a:lstStyle/>
                    <a:p>
                      <a:pPr algn="ctr"/>
                      <a:r>
                        <a:rPr lang="en-US" sz="1400">
                          <a:solidFill>
                            <a:srgbClr val="1A1A1A"/>
                          </a:solidFill>
                        </a:rPr>
                        <a:t>6</a:t>
                      </a:r>
                    </a:p>
                  </a:txBody>
                  <a:tcPr marT="45028" marB="45028" anchor="ctr">
                    <a:lnL w="0"/>
                    <a:lnR w="0"/>
                    <a:lnT w="0"/>
                    <a:lnB w="0"/>
                    <a:lnTlToBr w="0"/>
                    <a:lnBlToTr w="0"/>
                    <a:solidFill>
                      <a:srgbClr val="F1F5EC"/>
                    </a:solidFill>
                  </a:tcPr>
                </a:tc>
                <a:tc>
                  <a:txBody>
                    <a:bodyPr/>
                    <a:lstStyle/>
                    <a:p>
                      <a:pPr algn="l"/>
                      <a:r>
                        <a:rPr lang="en-US" sz="1400">
                          <a:solidFill>
                            <a:srgbClr val="1A1A1A"/>
                          </a:solidFill>
                        </a:rPr>
                        <a:t>DC Cooling Fan - Core mini 60/80Kw</a:t>
                      </a:r>
                    </a:p>
                  </a:txBody>
                  <a:tcPr marT="45028" marB="45028" anchor="ctr">
                    <a:lnL w="0"/>
                    <a:lnR w="0"/>
                    <a:lnT w="0"/>
                    <a:lnB w="0"/>
                    <a:lnTlToBr w="0"/>
                    <a:lnBlToTr w="0"/>
                    <a:solidFill>
                      <a:srgbClr val="F1F5EC"/>
                    </a:solidFill>
                  </a:tcPr>
                </a:tc>
                <a:tc>
                  <a:txBody>
                    <a:bodyPr/>
                    <a:lstStyle/>
                    <a:p>
                      <a:pPr algn="r"/>
                      <a:r>
                        <a:rPr lang="en-US" sz="1400">
                          <a:solidFill>
                            <a:srgbClr val="1A1A1A"/>
                          </a:solidFill>
                        </a:rPr>
                        <a:t>137</a:t>
                      </a:r>
                    </a:p>
                  </a:txBody>
                  <a:tcPr marT="45028" marB="45028" anchor="ctr">
                    <a:lnL w="0"/>
                    <a:lnR w="0"/>
                    <a:lnT w="0"/>
                    <a:lnB w="0"/>
                    <a:lnTlToBr w="0"/>
                    <a:lnBlToTr w="0"/>
                    <a:solidFill>
                      <a:srgbClr val="F1F5EC"/>
                    </a:solidFill>
                  </a:tcPr>
                </a:tc>
                <a:tc>
                  <a:txBody>
                    <a:bodyPr/>
                    <a:lstStyle/>
                    <a:p>
                      <a:pPr algn="r"/>
                      <a:r>
                        <a:rPr lang="en-US" sz="1400">
                          <a:solidFill>
                            <a:srgbClr val="1A1A1A"/>
                          </a:solidFill>
                        </a:rPr>
                        <a:t>$3,511</a:t>
                      </a:r>
                    </a:p>
                  </a:txBody>
                  <a:tcPr marT="45028" marB="45028" anchor="ctr">
                    <a:lnL w="0"/>
                    <a:lnR w="0"/>
                    <a:lnT w="0"/>
                    <a:lnB w="0"/>
                    <a:lnTlToBr w="0"/>
                    <a:lnBlToTr w="0"/>
                    <a:solidFill>
                      <a:srgbClr val="F1F5EC"/>
                    </a:solidFill>
                  </a:tcPr>
                </a:tc>
                <a:extLst>
                  <a:ext uri="{0D108BD9-81ED-4DB2-BD59-A6C34878D82A}">
                    <a16:rowId xmlns:a16="http://schemas.microsoft.com/office/drawing/2014/main" val="2420231985"/>
                  </a:ext>
                </a:extLst>
              </a:tr>
              <a:tr h="342900">
                <a:tc>
                  <a:txBody>
                    <a:bodyPr/>
                    <a:lstStyle/>
                    <a:p>
                      <a:pPr algn="ctr"/>
                      <a:r>
                        <a:rPr lang="en-US" sz="1400">
                          <a:solidFill>
                            <a:srgbClr val="1A1A1A"/>
                          </a:solidFill>
                        </a:rPr>
                        <a:t>7</a:t>
                      </a:r>
                    </a:p>
                  </a:txBody>
                  <a:tcPr marT="45028" marB="45028" anchor="ctr">
                    <a:lnL w="0"/>
                    <a:lnR w="0"/>
                    <a:lnT w="0"/>
                    <a:lnB w="0"/>
                    <a:lnTlToBr w="0"/>
                    <a:lnBlToTr w="0"/>
                    <a:solidFill>
                      <a:srgbClr val="FFFFFF"/>
                    </a:solidFill>
                  </a:tcPr>
                </a:tc>
                <a:tc>
                  <a:txBody>
                    <a:bodyPr/>
                    <a:lstStyle/>
                    <a:p>
                      <a:pPr algn="l"/>
                      <a:r>
                        <a:rPr lang="en-US" sz="1400">
                          <a:solidFill>
                            <a:srgbClr val="1A1A1A"/>
                          </a:solidFill>
                        </a:rPr>
                        <a:t>DC Charging Cable - Core mini 60/80Kw</a:t>
                      </a:r>
                    </a:p>
                  </a:txBody>
                  <a:tcPr marT="45028" marB="45028" anchor="ctr">
                    <a:lnL w="0"/>
                    <a:lnR w="0"/>
                    <a:lnT w="0"/>
                    <a:lnB w="0"/>
                    <a:lnTlToBr w="0"/>
                    <a:lnBlToTr w="0"/>
                    <a:solidFill>
                      <a:srgbClr val="FFFFFF"/>
                    </a:solidFill>
                  </a:tcPr>
                </a:tc>
                <a:tc>
                  <a:txBody>
                    <a:bodyPr/>
                    <a:lstStyle/>
                    <a:p>
                      <a:pPr algn="r"/>
                      <a:r>
                        <a:rPr lang="en-US" sz="1400">
                          <a:solidFill>
                            <a:srgbClr val="1A1A1A"/>
                          </a:solidFill>
                        </a:rPr>
                        <a:t>128</a:t>
                      </a:r>
                    </a:p>
                  </a:txBody>
                  <a:tcPr marT="45028" marB="45028" anchor="ctr">
                    <a:lnL w="0"/>
                    <a:lnR w="0"/>
                    <a:lnT w="0"/>
                    <a:lnB w="0"/>
                    <a:lnTlToBr w="0"/>
                    <a:lnBlToTr w="0"/>
                    <a:solidFill>
                      <a:srgbClr val="FFFFFF"/>
                    </a:solidFill>
                  </a:tcPr>
                </a:tc>
                <a:tc>
                  <a:txBody>
                    <a:bodyPr/>
                    <a:lstStyle/>
                    <a:p>
                      <a:pPr algn="r"/>
                      <a:r>
                        <a:rPr lang="en-US" sz="1400">
                          <a:solidFill>
                            <a:srgbClr val="1A1A1A"/>
                          </a:solidFill>
                        </a:rPr>
                        <a:t>$31,006</a:t>
                      </a:r>
                    </a:p>
                  </a:txBody>
                  <a:tcPr marT="45028" marB="45028" anchor="ctr">
                    <a:lnL w="0"/>
                    <a:lnR w="0"/>
                    <a:lnT w="0"/>
                    <a:lnB w="0"/>
                    <a:lnTlToBr w="0"/>
                    <a:lnBlToTr w="0"/>
                    <a:solidFill>
                      <a:srgbClr val="FFFFFF"/>
                    </a:solidFill>
                  </a:tcPr>
                </a:tc>
                <a:extLst>
                  <a:ext uri="{0D108BD9-81ED-4DB2-BD59-A6C34878D82A}">
                    <a16:rowId xmlns:a16="http://schemas.microsoft.com/office/drawing/2014/main" val="416751466"/>
                  </a:ext>
                </a:extLst>
              </a:tr>
              <a:tr h="342900">
                <a:tc>
                  <a:txBody>
                    <a:bodyPr/>
                    <a:lstStyle/>
                    <a:p>
                      <a:pPr algn="ctr"/>
                      <a:r>
                        <a:rPr lang="en-US" sz="1400">
                          <a:solidFill>
                            <a:srgbClr val="1A1A1A"/>
                          </a:solidFill>
                        </a:rPr>
                        <a:t>8</a:t>
                      </a:r>
                    </a:p>
                  </a:txBody>
                  <a:tcPr marT="45028" marB="45028" anchor="ctr">
                    <a:lnL w="0"/>
                    <a:lnR w="0"/>
                    <a:lnT w="0"/>
                    <a:lnB w="0"/>
                    <a:lnTlToBr w="0"/>
                    <a:lnBlToTr w="0"/>
                    <a:solidFill>
                      <a:srgbClr val="F1F5EC"/>
                    </a:solidFill>
                  </a:tcPr>
                </a:tc>
                <a:tc>
                  <a:txBody>
                    <a:bodyPr/>
                    <a:lstStyle/>
                    <a:p>
                      <a:pPr algn="l"/>
                      <a:r>
                        <a:rPr lang="en-US" sz="1400">
                          <a:solidFill>
                            <a:srgbClr val="1A1A1A"/>
                          </a:solidFill>
                        </a:rPr>
                        <a:t>OCPP AC 7kw and AC 22Kw (New Version)</a:t>
                      </a:r>
                    </a:p>
                  </a:txBody>
                  <a:tcPr marT="45028" marB="45028" anchor="ctr">
                    <a:lnL w="0"/>
                    <a:lnR w="0"/>
                    <a:lnT w="0"/>
                    <a:lnB w="0"/>
                    <a:lnTlToBr w="0"/>
                    <a:lnBlToTr w="0"/>
                    <a:solidFill>
                      <a:srgbClr val="F1F5EC"/>
                    </a:solidFill>
                  </a:tcPr>
                </a:tc>
                <a:tc>
                  <a:txBody>
                    <a:bodyPr/>
                    <a:lstStyle/>
                    <a:p>
                      <a:pPr algn="r"/>
                      <a:r>
                        <a:rPr lang="en-US" sz="1400">
                          <a:solidFill>
                            <a:srgbClr val="1A1A1A"/>
                          </a:solidFill>
                        </a:rPr>
                        <a:t>126</a:t>
                      </a:r>
                    </a:p>
                  </a:txBody>
                  <a:tcPr marT="45028" marB="45028" anchor="ctr">
                    <a:lnL w="0"/>
                    <a:lnR w="0"/>
                    <a:lnT w="0"/>
                    <a:lnB w="0"/>
                    <a:lnTlToBr w="0"/>
                    <a:lnBlToTr w="0"/>
                    <a:solidFill>
                      <a:srgbClr val="F1F5EC"/>
                    </a:solidFill>
                  </a:tcPr>
                </a:tc>
                <a:tc>
                  <a:txBody>
                    <a:bodyPr/>
                    <a:lstStyle/>
                    <a:p>
                      <a:pPr algn="r"/>
                      <a:r>
                        <a:rPr lang="en-US" sz="1400">
                          <a:solidFill>
                            <a:srgbClr val="1A1A1A"/>
                          </a:solidFill>
                        </a:rPr>
                        <a:t>$2,269</a:t>
                      </a:r>
                    </a:p>
                  </a:txBody>
                  <a:tcPr marT="45028" marB="45028" anchor="ctr">
                    <a:lnL w="0"/>
                    <a:lnR w="0"/>
                    <a:lnT w="0"/>
                    <a:lnB w="0"/>
                    <a:lnTlToBr w="0"/>
                    <a:lnBlToTr w="0"/>
                    <a:solidFill>
                      <a:srgbClr val="F1F5EC"/>
                    </a:solidFill>
                  </a:tcPr>
                </a:tc>
                <a:extLst>
                  <a:ext uri="{0D108BD9-81ED-4DB2-BD59-A6C34878D82A}">
                    <a16:rowId xmlns:a16="http://schemas.microsoft.com/office/drawing/2014/main" val="3234136409"/>
                  </a:ext>
                </a:extLst>
              </a:tr>
              <a:tr h="342900">
                <a:tc>
                  <a:txBody>
                    <a:bodyPr/>
                    <a:lstStyle/>
                    <a:p>
                      <a:pPr algn="ctr"/>
                      <a:r>
                        <a:rPr lang="en-US" sz="1400">
                          <a:solidFill>
                            <a:srgbClr val="1A1A1A"/>
                          </a:solidFill>
                        </a:rPr>
                        <a:t>9</a:t>
                      </a:r>
                    </a:p>
                  </a:txBody>
                  <a:tcPr marT="45028" marB="45028" anchor="ctr">
                    <a:lnL w="0"/>
                    <a:lnR w="0"/>
                    <a:lnT w="0"/>
                    <a:lnB w="0"/>
                    <a:lnTlToBr w="0"/>
                    <a:lnBlToTr w="0"/>
                    <a:solidFill>
                      <a:srgbClr val="FFFFFF"/>
                    </a:solidFill>
                  </a:tcPr>
                </a:tc>
                <a:tc>
                  <a:txBody>
                    <a:bodyPr/>
                    <a:lstStyle/>
                    <a:p>
                      <a:pPr algn="l"/>
                      <a:r>
                        <a:rPr lang="en-US" sz="1400">
                          <a:solidFill>
                            <a:srgbClr val="1A1A1A"/>
                          </a:solidFill>
                        </a:rPr>
                        <a:t>QT Board (Compatible with CORE, COREmini, Kern)</a:t>
                      </a:r>
                    </a:p>
                  </a:txBody>
                  <a:tcPr marT="45028" marB="45028" anchor="ctr">
                    <a:lnL w="0"/>
                    <a:lnR w="0"/>
                    <a:lnT w="0"/>
                    <a:lnB w="0"/>
                    <a:lnTlToBr w="0"/>
                    <a:lnBlToTr w="0"/>
                    <a:solidFill>
                      <a:srgbClr val="FFFFFF"/>
                    </a:solidFill>
                  </a:tcPr>
                </a:tc>
                <a:tc>
                  <a:txBody>
                    <a:bodyPr/>
                    <a:lstStyle/>
                    <a:p>
                      <a:pPr algn="r"/>
                      <a:r>
                        <a:rPr lang="en-US" sz="1400">
                          <a:solidFill>
                            <a:srgbClr val="1A1A1A"/>
                          </a:solidFill>
                        </a:rPr>
                        <a:t>98</a:t>
                      </a:r>
                    </a:p>
                  </a:txBody>
                  <a:tcPr marT="45028" marB="45028" anchor="ctr">
                    <a:lnL w="0"/>
                    <a:lnR w="0"/>
                    <a:lnT w="0"/>
                    <a:lnB w="0"/>
                    <a:lnTlToBr w="0"/>
                    <a:lnBlToTr w="0"/>
                    <a:solidFill>
                      <a:srgbClr val="FFFFFF"/>
                    </a:solidFill>
                  </a:tcPr>
                </a:tc>
                <a:tc>
                  <a:txBody>
                    <a:bodyPr/>
                    <a:lstStyle/>
                    <a:p>
                      <a:pPr algn="r"/>
                      <a:r>
                        <a:rPr lang="en-US" sz="1400">
                          <a:solidFill>
                            <a:srgbClr val="1A1A1A"/>
                          </a:solidFill>
                        </a:rPr>
                        <a:t>$5,460</a:t>
                      </a:r>
                    </a:p>
                  </a:txBody>
                  <a:tcPr marT="45028" marB="45028" anchor="ctr">
                    <a:lnL w="0"/>
                    <a:lnR w="0"/>
                    <a:lnT w="0"/>
                    <a:lnB w="0"/>
                    <a:lnTlToBr w="0"/>
                    <a:lnBlToTr w="0"/>
                    <a:solidFill>
                      <a:srgbClr val="FFFFFF"/>
                    </a:solidFill>
                  </a:tcPr>
                </a:tc>
                <a:extLst>
                  <a:ext uri="{0D108BD9-81ED-4DB2-BD59-A6C34878D82A}">
                    <a16:rowId xmlns:a16="http://schemas.microsoft.com/office/drawing/2014/main" val="849845316"/>
                  </a:ext>
                </a:extLst>
              </a:tr>
              <a:tr h="342900">
                <a:tc>
                  <a:txBody>
                    <a:bodyPr/>
                    <a:lstStyle/>
                    <a:p>
                      <a:pPr algn="ctr"/>
                      <a:r>
                        <a:rPr lang="en-US" sz="1400">
                          <a:solidFill>
                            <a:srgbClr val="1A1A1A"/>
                          </a:solidFill>
                        </a:rPr>
                        <a:t>10</a:t>
                      </a:r>
                    </a:p>
                  </a:txBody>
                  <a:tcPr marT="45028" marB="45028" anchor="ctr">
                    <a:lnL w="0"/>
                    <a:lnR w="0"/>
                    <a:lnT w="0"/>
                    <a:lnB w="0"/>
                    <a:lnTlToBr w="0"/>
                    <a:lnBlToTr w="0"/>
                    <a:solidFill>
                      <a:srgbClr val="F1F5EC"/>
                    </a:solidFill>
                  </a:tcPr>
                </a:tc>
                <a:tc>
                  <a:txBody>
                    <a:bodyPr/>
                    <a:lstStyle/>
                    <a:p>
                      <a:pPr algn="l"/>
                      <a:r>
                        <a:rPr lang="en-US" sz="1400">
                          <a:solidFill>
                            <a:srgbClr val="1A1A1A"/>
                          </a:solidFill>
                        </a:rPr>
                        <a:t>DC Cooling Fan - Core 120/150Kw</a:t>
                      </a:r>
                    </a:p>
                  </a:txBody>
                  <a:tcPr marT="45028" marB="45028" anchor="ctr">
                    <a:lnL w="0"/>
                    <a:lnR w="0"/>
                    <a:lnT w="0"/>
                    <a:lnB w="0"/>
                    <a:lnTlToBr w="0"/>
                    <a:lnBlToTr w="0"/>
                    <a:solidFill>
                      <a:srgbClr val="F1F5EC"/>
                    </a:solidFill>
                  </a:tcPr>
                </a:tc>
                <a:tc>
                  <a:txBody>
                    <a:bodyPr/>
                    <a:lstStyle/>
                    <a:p>
                      <a:pPr algn="r"/>
                      <a:r>
                        <a:rPr lang="en-US" sz="1400">
                          <a:solidFill>
                            <a:srgbClr val="1A1A1A"/>
                          </a:solidFill>
                        </a:rPr>
                        <a:t>88</a:t>
                      </a:r>
                    </a:p>
                  </a:txBody>
                  <a:tcPr marT="45028" marB="45028" anchor="ctr">
                    <a:lnL w="0"/>
                    <a:lnR w="0"/>
                    <a:lnT w="0"/>
                    <a:lnB w="0"/>
                    <a:lnTlToBr w="0"/>
                    <a:lnBlToTr w="0"/>
                    <a:solidFill>
                      <a:srgbClr val="F1F5EC"/>
                    </a:solidFill>
                  </a:tcPr>
                </a:tc>
                <a:tc>
                  <a:txBody>
                    <a:bodyPr/>
                    <a:lstStyle/>
                    <a:p>
                      <a:pPr algn="r"/>
                      <a:r>
                        <a:rPr lang="en-US" sz="1400">
                          <a:solidFill>
                            <a:srgbClr val="1A1A1A"/>
                          </a:solidFill>
                        </a:rPr>
                        <a:t>$2,029</a:t>
                      </a:r>
                    </a:p>
                  </a:txBody>
                  <a:tcPr marT="45028" marB="45028" anchor="ctr">
                    <a:lnL w="0"/>
                    <a:lnR w="0"/>
                    <a:lnT w="0"/>
                    <a:lnB w="0"/>
                    <a:lnTlToBr w="0"/>
                    <a:lnBlToTr w="0"/>
                    <a:solidFill>
                      <a:srgbClr val="F1F5EC"/>
                    </a:solidFill>
                  </a:tcPr>
                </a:tc>
                <a:extLst>
                  <a:ext uri="{0D108BD9-81ED-4DB2-BD59-A6C34878D82A}">
                    <a16:rowId xmlns:a16="http://schemas.microsoft.com/office/drawing/2014/main" val="2859380848"/>
                  </a:ext>
                </a:extLst>
              </a:tr>
            </a:tbl>
          </a:graphicData>
        </a:graphic>
      </p:graphicFrame>
    </p:spTree>
    <p:extLst>
      <p:ext uri="{BB962C8B-B14F-4D97-AF65-F5344CB8AC3E}">
        <p14:creationId xmlns:p14="http://schemas.microsoft.com/office/powerpoint/2010/main" val="748123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hape 11">
            <a:extLst>
              <a:ext uri="{FF2B5EF4-FFF2-40B4-BE49-F238E27FC236}">
                <a16:creationId xmlns:a16="http://schemas.microsoft.com/office/drawing/2014/main" id="{6B392812-321E-5EA1-C646-EAF280BCD570}"/>
              </a:ext>
            </a:extLst>
          </p:cNvPr>
          <p:cNvSpPr/>
          <p:nvPr/>
        </p:nvSpPr>
        <p:spPr>
          <a:xfrm>
            <a:off x="9299258" y="7393781"/>
            <a:ext cx="8286750" cy="1950244"/>
          </a:xfrm>
          <a:prstGeom prst="rect">
            <a:avLst/>
          </a:prstGeom>
          <a:solidFill>
            <a:srgbClr val="F1F6F2"/>
          </a:solidFill>
          <a:ln/>
        </p:spPr>
        <p:txBody>
          <a:bodyPr/>
          <a:lstStyle/>
          <a:p>
            <a:endParaRPr lang="en-US"/>
          </a:p>
        </p:txBody>
      </p:sp>
      <p:pic>
        <p:nvPicPr>
          <p:cNvPr id="2" name="Image 0" descr="preencoded.png"/>
          <p:cNvPicPr>
            <a:picLocks noChangeAspect="1"/>
          </p:cNvPicPr>
          <p:nvPr/>
        </p:nvPicPr>
        <p:blipFill>
          <a:blip r:embed="rId3"/>
          <a:srcRect/>
          <a:stretch/>
        </p:blipFill>
        <p:spPr>
          <a:xfrm>
            <a:off x="114300" y="342900"/>
            <a:ext cx="571500" cy="571500"/>
          </a:xfrm>
          <a:prstGeom prst="rect">
            <a:avLst/>
          </a:prstGeom>
        </p:spPr>
      </p:pic>
      <p:pic>
        <p:nvPicPr>
          <p:cNvPr id="3" name="Image 1" descr="preencoded.png"/>
          <p:cNvPicPr>
            <a:picLocks noChangeAspect="1"/>
          </p:cNvPicPr>
          <p:nvPr/>
        </p:nvPicPr>
        <p:blipFill>
          <a:blip r:embed="rId4"/>
          <a:srcRect t="49" b="49"/>
          <a:stretch/>
        </p:blipFill>
        <p:spPr>
          <a:xfrm>
            <a:off x="14001750" y="114300"/>
            <a:ext cx="4114800" cy="914400"/>
          </a:xfrm>
          <a:prstGeom prst="rect">
            <a:avLst/>
          </a:prstGeom>
        </p:spPr>
      </p:pic>
      <p:sp>
        <p:nvSpPr>
          <p:cNvPr id="4" name="Text 0"/>
          <p:cNvSpPr/>
          <p:nvPr/>
        </p:nvSpPr>
        <p:spPr>
          <a:xfrm>
            <a:off x="876300" y="419100"/>
            <a:ext cx="7516951" cy="508000"/>
          </a:xfrm>
          <a:prstGeom prst="rect">
            <a:avLst/>
          </a:prstGeom>
          <a:noFill/>
          <a:ln/>
        </p:spPr>
        <p:txBody>
          <a:bodyPr wrap="square" lIns="25400" tIns="25400" rIns="25400" bIns="25400" rtlCol="0" anchor="t">
            <a:normAutofit/>
          </a:bodyPr>
          <a:lstStyle/>
          <a:p>
            <a:pPr marL="0" indent="0" algn="l">
              <a:buNone/>
            </a:pPr>
            <a:r>
              <a:rPr lang="en-US" sz="3000" b="1" dirty="0">
                <a:solidFill>
                  <a:srgbClr val="1A1A1A"/>
                </a:solidFill>
                <a:latin typeface="Calibri" pitchFamily="34" charset="0"/>
                <a:ea typeface="Calibri" pitchFamily="34" charset="-122"/>
                <a:cs typeface="Calibri" pitchFamily="34" charset="-120"/>
              </a:rPr>
              <a:t>1.4. Top spare parts used in the month: BSS</a:t>
            </a:r>
            <a:endParaRPr lang="en-US" sz="3000" dirty="0"/>
          </a:p>
        </p:txBody>
      </p:sp>
      <p:sp>
        <p:nvSpPr>
          <p:cNvPr id="5" name="Shape 1"/>
          <p:cNvSpPr/>
          <p:nvPr/>
        </p:nvSpPr>
        <p:spPr>
          <a:xfrm>
            <a:off x="0" y="1152525"/>
            <a:ext cx="18288000" cy="19050"/>
          </a:xfrm>
          <a:prstGeom prst="rect">
            <a:avLst/>
          </a:prstGeom>
          <a:solidFill>
            <a:srgbClr val="A6A6A6"/>
          </a:solidFill>
          <a:ln/>
        </p:spPr>
        <p:txBody>
          <a:bodyPr/>
          <a:lstStyle/>
          <a:p>
            <a:endParaRPr lang="en-US"/>
          </a:p>
        </p:txBody>
      </p:sp>
      <p:sp>
        <p:nvSpPr>
          <p:cNvPr id="6" name="Shape 2"/>
          <p:cNvSpPr/>
          <p:nvPr/>
        </p:nvSpPr>
        <p:spPr>
          <a:xfrm>
            <a:off x="647700" y="1428750"/>
            <a:ext cx="8286750" cy="7162800"/>
          </a:xfrm>
          <a:prstGeom prst="rect">
            <a:avLst/>
          </a:prstGeom>
          <a:solidFill>
            <a:srgbClr val="FAFBF9"/>
          </a:solidFill>
          <a:ln w="12700">
            <a:solidFill>
              <a:srgbClr val="A6A6A6"/>
            </a:solidFill>
            <a:prstDash val="dash"/>
          </a:ln>
        </p:spPr>
        <p:txBody>
          <a:bodyPr/>
          <a:lstStyle/>
          <a:p>
            <a:endParaRPr lang="en-US"/>
          </a:p>
        </p:txBody>
      </p:sp>
      <p:sp>
        <p:nvSpPr>
          <p:cNvPr id="7" name="Text 3"/>
          <p:cNvSpPr/>
          <p:nvPr/>
        </p:nvSpPr>
        <p:spPr>
          <a:xfrm>
            <a:off x="774700" y="1498600"/>
            <a:ext cx="8039100" cy="368300"/>
          </a:xfrm>
          <a:prstGeom prst="rect">
            <a:avLst/>
          </a:prstGeom>
          <a:noFill/>
          <a:ln/>
        </p:spPr>
        <p:txBody>
          <a:bodyPr wrap="square" lIns="25400" tIns="25400" rIns="25400" bIns="25400" rtlCol="0" anchor="t">
            <a:normAutofit lnSpcReduction="10000"/>
          </a:bodyPr>
          <a:lstStyle/>
          <a:p>
            <a:pPr marL="0" indent="0" algn="ctr">
              <a:buNone/>
            </a:pPr>
            <a:r>
              <a:rPr lang="en-US" sz="2100" b="1" dirty="0">
                <a:solidFill>
                  <a:srgbClr val="595959"/>
                </a:solidFill>
                <a:latin typeface="Calibri" pitchFamily="34" charset="0"/>
                <a:ea typeface="Calibri" pitchFamily="34" charset="-122"/>
                <a:cs typeface="Calibri" pitchFamily="34" charset="-120"/>
              </a:rPr>
              <a:t>Top spare parts — usage chart (Top 5) &amp; cost table (Top 10)</a:t>
            </a:r>
            <a:endParaRPr lang="en-US" sz="2100" dirty="0"/>
          </a:p>
        </p:txBody>
      </p:sp>
      <p:sp>
        <p:nvSpPr>
          <p:cNvPr id="9" name="Shape 5"/>
          <p:cNvSpPr/>
          <p:nvPr/>
        </p:nvSpPr>
        <p:spPr>
          <a:xfrm>
            <a:off x="647700" y="8782050"/>
            <a:ext cx="8286750" cy="1085850"/>
          </a:xfrm>
          <a:prstGeom prst="rect">
            <a:avLst/>
          </a:prstGeom>
          <a:solidFill>
            <a:srgbClr val="E2EFDA"/>
          </a:solidFill>
          <a:ln/>
        </p:spPr>
        <p:txBody>
          <a:bodyPr/>
          <a:lstStyle/>
          <a:p>
            <a:endParaRPr lang="en-US"/>
          </a:p>
        </p:txBody>
      </p:sp>
      <p:sp>
        <p:nvSpPr>
          <p:cNvPr id="10" name="Text 6"/>
          <p:cNvSpPr/>
          <p:nvPr/>
        </p:nvSpPr>
        <p:spPr>
          <a:xfrm>
            <a:off x="914400" y="8991600"/>
            <a:ext cx="8001952" cy="704850"/>
          </a:xfrm>
          <a:prstGeom prst="rect">
            <a:avLst/>
          </a:prstGeom>
          <a:noFill/>
          <a:ln/>
        </p:spPr>
        <p:txBody>
          <a:bodyPr wrap="square" lIns="25400" tIns="25400" rIns="25400" bIns="25400" rtlCol="0" anchor="t">
            <a:normAutofit fontScale="77500" lnSpcReduction="20000"/>
          </a:bodyPr>
          <a:lstStyle/>
          <a:p>
            <a:pPr marL="0" indent="0" algn="l">
              <a:lnSpc>
                <a:spcPct val="114130"/>
              </a:lnSpc>
              <a:buNone/>
            </a:pPr>
            <a:r>
              <a:rPr lang="en-US" sz="1875" b="1" dirty="0">
                <a:solidFill>
                  <a:srgbClr val="1A1A1A"/>
                </a:solidFill>
                <a:latin typeface="Calibri" pitchFamily="34" charset="0"/>
                <a:ea typeface="Calibri" pitchFamily="34" charset="-122"/>
                <a:cs typeface="Calibri" pitchFamily="34" charset="-120"/>
              </a:rPr>
              <a:t>Source: </a:t>
            </a:r>
            <a:r>
              <a:rPr lang="en-US" sz="1875" dirty="0">
                <a:solidFill>
                  <a:srgbClr val="1A1A1A"/>
                </a:solidFill>
                <a:latin typeface="Calibri" pitchFamily="34" charset="0"/>
                <a:ea typeface="Calibri" pitchFamily="34" charset="-122"/>
                <a:cs typeface="Calibri" pitchFamily="34" charset="-120"/>
              </a:rPr>
              <a:t>Tickets export – Spare Parts Record, July 2026, matched to the Sheet1 cost list by material code; 20 rows with a placeholder quantity of 999 were excluded. Cost shows N/A where the part code has no match in the cost sheet.</a:t>
            </a:r>
            <a:endParaRPr lang="en-US" sz="1875" dirty="0"/>
          </a:p>
        </p:txBody>
      </p:sp>
      <p:sp>
        <p:nvSpPr>
          <p:cNvPr id="11" name="Shape 7"/>
          <p:cNvSpPr/>
          <p:nvPr/>
        </p:nvSpPr>
        <p:spPr>
          <a:xfrm>
            <a:off x="9353550" y="1428750"/>
            <a:ext cx="8286750" cy="3314700"/>
          </a:xfrm>
          <a:prstGeom prst="rect">
            <a:avLst/>
          </a:prstGeom>
          <a:solidFill>
            <a:srgbClr val="F1F6F2"/>
          </a:solidFill>
          <a:ln/>
        </p:spPr>
        <p:txBody>
          <a:bodyPr/>
          <a:lstStyle/>
          <a:p>
            <a:endParaRPr lang="en-US"/>
          </a:p>
        </p:txBody>
      </p:sp>
      <p:sp>
        <p:nvSpPr>
          <p:cNvPr id="12" name="Text 8"/>
          <p:cNvSpPr/>
          <p:nvPr/>
        </p:nvSpPr>
        <p:spPr>
          <a:xfrm>
            <a:off x="9639300" y="1676400"/>
            <a:ext cx="8486775"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A1A1A"/>
                </a:solidFill>
                <a:latin typeface="Calibri" pitchFamily="34" charset="0"/>
                <a:ea typeface="Calibri" pitchFamily="34" charset="-122"/>
                <a:cs typeface="Calibri" pitchFamily="34" charset="-120"/>
              </a:rPr>
              <a:t>Data comments:</a:t>
            </a:r>
            <a:endParaRPr lang="en-US" sz="1950" dirty="0"/>
          </a:p>
        </p:txBody>
      </p:sp>
      <p:sp>
        <p:nvSpPr>
          <p:cNvPr id="13" name="Text 9"/>
          <p:cNvSpPr/>
          <p:nvPr/>
        </p:nvSpPr>
        <p:spPr>
          <a:xfrm>
            <a:off x="9639300" y="2114550"/>
            <a:ext cx="7946708" cy="728663"/>
          </a:xfrm>
          <a:prstGeom prst="rect">
            <a:avLst/>
          </a:prstGeom>
          <a:noFill/>
          <a:ln/>
        </p:spPr>
        <p:txBody>
          <a:bodyPr wrap="square" lIns="25400" tIns="25400" rIns="25400" bIns="25400" rtlCol="0" anchor="t">
            <a:noAutofit/>
          </a:bodyPr>
          <a:lstStyle/>
          <a:p>
            <a:pPr marL="0" indent="0" algn="l">
              <a:lnSpc>
                <a:spcPct val="118207"/>
              </a:lnSpc>
              <a:buNone/>
            </a:pPr>
            <a:r>
              <a:rPr lang="en-US" sz="1880" dirty="0">
                <a:solidFill>
                  <a:srgbClr val="1A1A1A"/>
                </a:solidFill>
                <a:latin typeface="Calibri" pitchFamily="34" charset="0"/>
                <a:ea typeface="Calibri" pitchFamily="34" charset="-122"/>
                <a:cs typeface="Calibri" pitchFamily="34" charset="-120"/>
              </a:rPr>
              <a:t>· </a:t>
            </a:r>
            <a:r>
              <a:rPr lang="en-US" sz="1880" b="1" dirty="0">
                <a:solidFill>
                  <a:srgbClr val="1A1A1A"/>
                </a:solidFill>
                <a:latin typeface="Calibri" pitchFamily="34" charset="0"/>
                <a:ea typeface="Calibri" pitchFamily="34" charset="-122"/>
                <a:cs typeface="Calibri" pitchFamily="34" charset="-120"/>
              </a:rPr>
              <a:t>Battery Compartment Lock Sensor - Shengjiu </a:t>
            </a:r>
            <a:r>
              <a:rPr lang="en-US" sz="1880" dirty="0">
                <a:solidFill>
                  <a:srgbClr val="1A1A1A"/>
                </a:solidFill>
                <a:latin typeface="Calibri" pitchFamily="34" charset="0"/>
                <a:ea typeface="Calibri" pitchFamily="34" charset="-122"/>
                <a:cs typeface="Calibri" pitchFamily="34" charset="-120"/>
              </a:rPr>
              <a:t>has the highest usage (3,138 units) but costs only $1,569; the biggest cost is After-sales Module ZZ Gen 1 at $16,601 (1,302 units), then the Shengjiu gen3 lock at $10,739 (1,375 units).</a:t>
            </a:r>
            <a:endParaRPr lang="en-US" sz="1880" dirty="0"/>
          </a:p>
        </p:txBody>
      </p:sp>
      <p:sp>
        <p:nvSpPr>
          <p:cNvPr id="14" name="Text 10"/>
          <p:cNvSpPr/>
          <p:nvPr/>
        </p:nvSpPr>
        <p:spPr>
          <a:xfrm>
            <a:off x="9639301" y="3224610"/>
            <a:ext cx="7620000" cy="596900"/>
          </a:xfrm>
          <a:prstGeom prst="rect">
            <a:avLst/>
          </a:prstGeom>
          <a:noFill/>
          <a:ln/>
        </p:spPr>
        <p:txBody>
          <a:bodyPr wrap="square" lIns="25400" tIns="25400" rIns="25400" bIns="25400" rtlCol="0" anchor="t">
            <a:noAutofit/>
          </a:bodyPr>
          <a:lstStyle/>
          <a:p>
            <a:pPr marL="0" indent="0" algn="l">
              <a:lnSpc>
                <a:spcPct val="118207"/>
              </a:lnSpc>
              <a:buNone/>
            </a:pPr>
            <a:r>
              <a:rPr lang="en-US" sz="1880" dirty="0">
                <a:solidFill>
                  <a:srgbClr val="1A1A1A"/>
                </a:solidFill>
                <a:latin typeface="Calibri" pitchFamily="34" charset="0"/>
                <a:ea typeface="Calibri" pitchFamily="34" charset="-122"/>
                <a:cs typeface="Calibri" pitchFamily="34" charset="-120"/>
              </a:rPr>
              <a:t>· </a:t>
            </a:r>
            <a:r>
              <a:rPr lang="en-US" sz="1880" b="1" dirty="0">
                <a:solidFill>
                  <a:srgbClr val="1A1A1A"/>
                </a:solidFill>
                <a:latin typeface="Calibri" pitchFamily="34" charset="0"/>
                <a:ea typeface="Calibri" pitchFamily="34" charset="-122"/>
                <a:cs typeface="Calibri" pitchFamily="34" charset="-120"/>
              </a:rPr>
              <a:t>SD card </a:t>
            </a:r>
            <a:r>
              <a:rPr lang="en-US" sz="1880" dirty="0">
                <a:solidFill>
                  <a:srgbClr val="1A1A1A"/>
                </a:solidFill>
                <a:latin typeface="Calibri" pitchFamily="34" charset="0"/>
                <a:ea typeface="Calibri" pitchFamily="34" charset="-122"/>
                <a:cs typeface="Calibri" pitchFamily="34" charset="-120"/>
              </a:rPr>
              <a:t>is the most used part outside the lock and sensor group (176 units, $704). Back plate and ZhongZheng lock have no cost record.</a:t>
            </a:r>
            <a:endParaRPr lang="en-US" sz="1880" dirty="0"/>
          </a:p>
        </p:txBody>
      </p:sp>
      <p:sp>
        <p:nvSpPr>
          <p:cNvPr id="15" name="Shape 11"/>
          <p:cNvSpPr/>
          <p:nvPr/>
        </p:nvSpPr>
        <p:spPr>
          <a:xfrm>
            <a:off x="9298115" y="5143500"/>
            <a:ext cx="8286750" cy="1950244"/>
          </a:xfrm>
          <a:prstGeom prst="rect">
            <a:avLst/>
          </a:prstGeom>
          <a:solidFill>
            <a:srgbClr val="F1F6F2"/>
          </a:solidFill>
          <a:ln/>
        </p:spPr>
        <p:txBody>
          <a:bodyPr/>
          <a:lstStyle/>
          <a:p>
            <a:endParaRPr lang="en-US"/>
          </a:p>
        </p:txBody>
      </p:sp>
      <p:sp>
        <p:nvSpPr>
          <p:cNvPr id="16" name="Shape 12"/>
          <p:cNvSpPr/>
          <p:nvPr/>
        </p:nvSpPr>
        <p:spPr>
          <a:xfrm>
            <a:off x="9298115" y="5143500"/>
            <a:ext cx="38100" cy="1950244"/>
          </a:xfrm>
          <a:prstGeom prst="rect">
            <a:avLst/>
          </a:prstGeom>
          <a:solidFill>
            <a:srgbClr val="C0504D"/>
          </a:solidFill>
          <a:ln/>
        </p:spPr>
        <p:txBody>
          <a:bodyPr/>
          <a:lstStyle/>
          <a:p>
            <a:endParaRPr lang="en-US"/>
          </a:p>
        </p:txBody>
      </p:sp>
      <p:sp>
        <p:nvSpPr>
          <p:cNvPr id="17" name="Text 13"/>
          <p:cNvSpPr/>
          <p:nvPr/>
        </p:nvSpPr>
        <p:spPr>
          <a:xfrm>
            <a:off x="9621965" y="5391150"/>
            <a:ext cx="8444865"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A1A1A"/>
                </a:solidFill>
                <a:latin typeface="Calibri" pitchFamily="34" charset="0"/>
                <a:ea typeface="Calibri" pitchFamily="34" charset="-122"/>
                <a:cs typeface="Calibri" pitchFamily="34" charset="-120"/>
              </a:rPr>
              <a:t>Root cause — hardware quality</a:t>
            </a:r>
            <a:endParaRPr lang="en-US" sz="1950" dirty="0"/>
          </a:p>
        </p:txBody>
      </p:sp>
      <p:sp>
        <p:nvSpPr>
          <p:cNvPr id="18" name="Text 14"/>
          <p:cNvSpPr/>
          <p:nvPr/>
        </p:nvSpPr>
        <p:spPr>
          <a:xfrm>
            <a:off x="9621965" y="5810250"/>
            <a:ext cx="7907465" cy="1073944"/>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solidFill>
                  <a:srgbClr val="1A1A1A"/>
                </a:solidFill>
                <a:latin typeface="Calibri" pitchFamily="34" charset="0"/>
                <a:ea typeface="Calibri" pitchFamily="34" charset="-122"/>
                <a:cs typeface="Calibri" pitchFamily="34" charset="-120"/>
              </a:rPr>
              <a:t>The current parts are not durable enough. Standard SD cards wear out too fast, and the mechanical locks cannot handle repeated daily use by customers.</a:t>
            </a:r>
            <a:endParaRPr lang="en-US" sz="1875" dirty="0"/>
          </a:p>
        </p:txBody>
      </p:sp>
      <p:sp>
        <p:nvSpPr>
          <p:cNvPr id="20" name="Text 16"/>
          <p:cNvSpPr/>
          <p:nvPr/>
        </p:nvSpPr>
        <p:spPr>
          <a:xfrm>
            <a:off x="9639300" y="7824788"/>
            <a:ext cx="8486775"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latin typeface="Calibri" pitchFamily="34" charset="0"/>
                <a:ea typeface="Calibri" pitchFamily="34" charset="-122"/>
                <a:cs typeface="Calibri" pitchFamily="34" charset="-120"/>
              </a:rPr>
              <a:t>Solutions [proposal to HQ]</a:t>
            </a:r>
            <a:endParaRPr lang="en-US" sz="1950" dirty="0"/>
          </a:p>
        </p:txBody>
      </p:sp>
      <p:sp>
        <p:nvSpPr>
          <p:cNvPr id="21" name="Text 17"/>
          <p:cNvSpPr/>
          <p:nvPr/>
        </p:nvSpPr>
        <p:spPr>
          <a:xfrm>
            <a:off x="9639300" y="8243888"/>
            <a:ext cx="7946708" cy="1419225"/>
          </a:xfrm>
          <a:prstGeom prst="rect">
            <a:avLst/>
          </a:prstGeom>
          <a:noFill/>
          <a:ln/>
        </p:spPr>
        <p:txBody>
          <a:bodyPr wrap="square" lIns="25400" tIns="25400" rIns="25400" bIns="25400" rtlCol="0" anchor="t">
            <a:normAutofit/>
          </a:bodyPr>
          <a:lstStyle/>
          <a:p>
            <a:pPr marL="0" indent="0" algn="l">
              <a:lnSpc>
                <a:spcPct val="118207"/>
              </a:lnSpc>
              <a:buNone/>
            </a:pPr>
            <a:r>
              <a:rPr lang="en-US" sz="1875" dirty="0">
                <a:latin typeface="Calibri" pitchFamily="34" charset="0"/>
                <a:ea typeface="Calibri" pitchFamily="34" charset="-122"/>
                <a:cs typeface="Calibri" pitchFamily="34" charset="-120"/>
              </a:rPr>
              <a:t>· Switch to industrial-grade SD cards and heavy-duty mechanical locks. · Ask the supplier for a quality review, or find a more reliable supplier.</a:t>
            </a:r>
            <a:endParaRPr lang="en-US" sz="1875" dirty="0"/>
          </a:p>
        </p:txBody>
      </p:sp>
      <p:graphicFrame>
        <p:nvGraphicFramePr>
          <p:cNvPr id="201" name="BSS Top5 Chart"/>
          <p:cNvGraphicFramePr/>
          <p:nvPr/>
        </p:nvGraphicFramePr>
        <p:xfrm>
          <a:off x="774700" y="1968500"/>
          <a:ext cx="8039100" cy="2667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3" name="Table 22">
            <a:extLst>
              <a:ext uri="{FF2B5EF4-FFF2-40B4-BE49-F238E27FC236}">
                <a16:creationId xmlns:a16="http://schemas.microsoft.com/office/drawing/2014/main" id="{1B272D9F-CE85-4EB1-ACD4-237EB01EEC52}"/>
              </a:ext>
            </a:extLst>
          </p:cNvPr>
          <p:cNvGraphicFramePr>
            <a:graphicFrameLocks noGrp="1"/>
          </p:cNvGraphicFramePr>
          <p:nvPr/>
        </p:nvGraphicFramePr>
        <p:xfrm>
          <a:off x="774700" y="4762500"/>
          <a:ext cx="8039100" cy="3784600"/>
        </p:xfrm>
        <a:graphic>
          <a:graphicData uri="http://schemas.openxmlformats.org/drawingml/2006/table">
            <a:tbl>
              <a:tblPr/>
              <a:tblGrid>
                <a:gridCol w="431800">
                  <a:extLst>
                    <a:ext uri="{9D8B030D-6E8A-4147-A177-3AD203B41FA5}">
                      <a16:colId xmlns:a16="http://schemas.microsoft.com/office/drawing/2014/main" val="3896110127"/>
                    </a:ext>
                  </a:extLst>
                </a:gridCol>
                <a:gridCol w="4381500">
                  <a:extLst>
                    <a:ext uri="{9D8B030D-6E8A-4147-A177-3AD203B41FA5}">
                      <a16:colId xmlns:a16="http://schemas.microsoft.com/office/drawing/2014/main" val="3387960231"/>
                    </a:ext>
                  </a:extLst>
                </a:gridCol>
                <a:gridCol w="1460500">
                  <a:extLst>
                    <a:ext uri="{9D8B030D-6E8A-4147-A177-3AD203B41FA5}">
                      <a16:colId xmlns:a16="http://schemas.microsoft.com/office/drawing/2014/main" val="3286137286"/>
                    </a:ext>
                  </a:extLst>
                </a:gridCol>
                <a:gridCol w="1765300">
                  <a:extLst>
                    <a:ext uri="{9D8B030D-6E8A-4147-A177-3AD203B41FA5}">
                      <a16:colId xmlns:a16="http://schemas.microsoft.com/office/drawing/2014/main" val="3364892848"/>
                    </a:ext>
                  </a:extLst>
                </a:gridCol>
              </a:tblGrid>
              <a:tr h="355600">
                <a:tc>
                  <a:txBody>
                    <a:bodyPr/>
                    <a:lstStyle/>
                    <a:p>
                      <a:pPr algn="ctr"/>
                      <a:r>
                        <a:rPr lang="en-US" sz="1400" b="1">
                          <a:solidFill>
                            <a:srgbClr val="FFFFFF"/>
                          </a:solidFill>
                        </a:rPr>
                        <a:t>#</a:t>
                      </a:r>
                    </a:p>
                  </a:txBody>
                  <a:tcPr marT="45028" marB="45028" anchor="ctr">
                    <a:lnL w="0"/>
                    <a:lnR w="0"/>
                    <a:lnT w="0"/>
                    <a:lnB w="0"/>
                    <a:lnTlToBr w="0"/>
                    <a:lnBlToTr w="0"/>
                    <a:solidFill>
                      <a:srgbClr val="619B32"/>
                    </a:solidFill>
                  </a:tcPr>
                </a:tc>
                <a:tc>
                  <a:txBody>
                    <a:bodyPr/>
                    <a:lstStyle/>
                    <a:p>
                      <a:pPr algn="l"/>
                      <a:r>
                        <a:rPr lang="en-US" sz="1400" b="1">
                          <a:solidFill>
                            <a:srgbClr val="FFFFFF"/>
                          </a:solidFill>
                        </a:rPr>
                        <a:t>Material Name</a:t>
                      </a:r>
                    </a:p>
                  </a:txBody>
                  <a:tcPr marT="45028" marB="45028" anchor="ctr">
                    <a:lnL w="0"/>
                    <a:lnR w="0"/>
                    <a:lnT w="0"/>
                    <a:lnB w="0"/>
                    <a:lnTlToBr w="0"/>
                    <a:lnBlToTr w="0"/>
                    <a:solidFill>
                      <a:srgbClr val="619B32"/>
                    </a:solidFill>
                  </a:tcPr>
                </a:tc>
                <a:tc>
                  <a:txBody>
                    <a:bodyPr/>
                    <a:lstStyle/>
                    <a:p>
                      <a:pPr algn="ctr"/>
                      <a:r>
                        <a:rPr lang="en-US" sz="1400" b="1">
                          <a:solidFill>
                            <a:srgbClr val="FFFFFF"/>
                          </a:solidFill>
                        </a:rPr>
                        <a:t>Qty</a:t>
                      </a:r>
                    </a:p>
                  </a:txBody>
                  <a:tcPr marT="45028" marB="45028" anchor="ctr">
                    <a:lnL w="0"/>
                    <a:lnR w="0"/>
                    <a:lnT w="0"/>
                    <a:lnB w="0"/>
                    <a:lnTlToBr w="0"/>
                    <a:lnBlToTr w="0"/>
                    <a:solidFill>
                      <a:srgbClr val="619B32"/>
                    </a:solidFill>
                  </a:tcPr>
                </a:tc>
                <a:tc>
                  <a:txBody>
                    <a:bodyPr/>
                    <a:lstStyle/>
                    <a:p>
                      <a:pPr algn="ctr"/>
                      <a:r>
                        <a:rPr lang="en-US" sz="1400" b="1">
                          <a:solidFill>
                            <a:srgbClr val="FFFFFF"/>
                          </a:solidFill>
                        </a:rPr>
                        <a:t>Est. Cost (USD)</a:t>
                      </a:r>
                    </a:p>
                  </a:txBody>
                  <a:tcPr marT="45028" marB="45028" anchor="ctr">
                    <a:lnL w="0"/>
                    <a:lnR w="0"/>
                    <a:lnT w="0"/>
                    <a:lnB w="0"/>
                    <a:lnTlToBr w="0"/>
                    <a:lnBlToTr w="0"/>
                    <a:solidFill>
                      <a:srgbClr val="619B32"/>
                    </a:solidFill>
                  </a:tcPr>
                </a:tc>
                <a:extLst>
                  <a:ext uri="{0D108BD9-81ED-4DB2-BD59-A6C34878D82A}">
                    <a16:rowId xmlns:a16="http://schemas.microsoft.com/office/drawing/2014/main" val="1487523523"/>
                  </a:ext>
                </a:extLst>
              </a:tr>
              <a:tr h="342900">
                <a:tc>
                  <a:txBody>
                    <a:bodyPr/>
                    <a:lstStyle/>
                    <a:p>
                      <a:pPr algn="ctr"/>
                      <a:r>
                        <a:rPr lang="en-US" sz="1400">
                          <a:solidFill>
                            <a:srgbClr val="1A1A1A"/>
                          </a:solidFill>
                        </a:rPr>
                        <a:t>1</a:t>
                      </a:r>
                    </a:p>
                  </a:txBody>
                  <a:tcPr marT="45028" marB="45028" anchor="ctr">
                    <a:lnL w="0"/>
                    <a:lnR w="0"/>
                    <a:lnT w="0"/>
                    <a:lnB w="0"/>
                    <a:lnTlToBr w="0"/>
                    <a:lnBlToTr w="0"/>
                    <a:solidFill>
                      <a:srgbClr val="FFFFFF"/>
                    </a:solidFill>
                  </a:tcPr>
                </a:tc>
                <a:tc>
                  <a:txBody>
                    <a:bodyPr/>
                    <a:lstStyle/>
                    <a:p>
                      <a:pPr algn="l"/>
                      <a:r>
                        <a:rPr lang="en-US" sz="1400">
                          <a:solidFill>
                            <a:srgbClr val="1A1A1A"/>
                          </a:solidFill>
                        </a:rPr>
                        <a:t>Battery Compartment Lock Sensor - Shengjiu | BSS</a:t>
                      </a:r>
                    </a:p>
                  </a:txBody>
                  <a:tcPr marT="45028" marB="45028" anchor="ctr">
                    <a:lnL w="0"/>
                    <a:lnR w="0"/>
                    <a:lnT w="0"/>
                    <a:lnB w="0"/>
                    <a:lnTlToBr w="0"/>
                    <a:lnBlToTr w="0"/>
                    <a:solidFill>
                      <a:srgbClr val="FFFFFF"/>
                    </a:solidFill>
                  </a:tcPr>
                </a:tc>
                <a:tc>
                  <a:txBody>
                    <a:bodyPr/>
                    <a:lstStyle/>
                    <a:p>
                      <a:pPr algn="r"/>
                      <a:r>
                        <a:rPr lang="en-US" sz="1400">
                          <a:solidFill>
                            <a:srgbClr val="1A1A1A"/>
                          </a:solidFill>
                        </a:rPr>
                        <a:t>3138</a:t>
                      </a:r>
                    </a:p>
                  </a:txBody>
                  <a:tcPr marT="45028" marB="45028" anchor="ctr">
                    <a:lnL w="0"/>
                    <a:lnR w="0"/>
                    <a:lnT w="0"/>
                    <a:lnB w="0"/>
                    <a:lnTlToBr w="0"/>
                    <a:lnBlToTr w="0"/>
                    <a:solidFill>
                      <a:srgbClr val="FFFFFF"/>
                    </a:solidFill>
                  </a:tcPr>
                </a:tc>
                <a:tc>
                  <a:txBody>
                    <a:bodyPr/>
                    <a:lstStyle/>
                    <a:p>
                      <a:pPr algn="r"/>
                      <a:r>
                        <a:rPr lang="en-US" sz="1400" dirty="0">
                          <a:solidFill>
                            <a:srgbClr val="1A1A1A"/>
                          </a:solidFill>
                        </a:rPr>
                        <a:t>$1,569</a:t>
                      </a:r>
                    </a:p>
                  </a:txBody>
                  <a:tcPr marT="45028" marB="45028" anchor="ctr">
                    <a:lnL w="0"/>
                    <a:lnR w="0"/>
                    <a:lnT w="0"/>
                    <a:lnB w="0"/>
                    <a:lnTlToBr w="0"/>
                    <a:lnBlToTr w="0"/>
                    <a:solidFill>
                      <a:srgbClr val="FFFFFF"/>
                    </a:solidFill>
                  </a:tcPr>
                </a:tc>
                <a:extLst>
                  <a:ext uri="{0D108BD9-81ED-4DB2-BD59-A6C34878D82A}">
                    <a16:rowId xmlns:a16="http://schemas.microsoft.com/office/drawing/2014/main" val="1675066084"/>
                  </a:ext>
                </a:extLst>
              </a:tr>
              <a:tr h="342900">
                <a:tc>
                  <a:txBody>
                    <a:bodyPr/>
                    <a:lstStyle/>
                    <a:p>
                      <a:pPr algn="ctr"/>
                      <a:r>
                        <a:rPr lang="en-US" sz="1400">
                          <a:solidFill>
                            <a:srgbClr val="1A1A1A"/>
                          </a:solidFill>
                        </a:rPr>
                        <a:t>2</a:t>
                      </a:r>
                    </a:p>
                  </a:txBody>
                  <a:tcPr marT="45028" marB="45028" anchor="ctr">
                    <a:lnL w="0"/>
                    <a:lnR w="0"/>
                    <a:lnT w="0"/>
                    <a:lnB w="0"/>
                    <a:lnTlToBr w="0"/>
                    <a:lnBlToTr w="0"/>
                    <a:solidFill>
                      <a:srgbClr val="F1F5EC"/>
                    </a:solidFill>
                  </a:tcPr>
                </a:tc>
                <a:tc>
                  <a:txBody>
                    <a:bodyPr/>
                    <a:lstStyle/>
                    <a:p>
                      <a:pPr algn="l"/>
                      <a:r>
                        <a:rPr lang="en-US" sz="1400">
                          <a:solidFill>
                            <a:srgbClr val="1A1A1A"/>
                          </a:solidFill>
                        </a:rPr>
                        <a:t>Battery Compartment Lock - Shengjiu gen3 | BSS</a:t>
                      </a:r>
                    </a:p>
                  </a:txBody>
                  <a:tcPr marT="45028" marB="45028" anchor="ctr">
                    <a:lnL w="0"/>
                    <a:lnR w="0"/>
                    <a:lnT w="0"/>
                    <a:lnB w="0"/>
                    <a:lnTlToBr w="0"/>
                    <a:lnBlToTr w="0"/>
                    <a:solidFill>
                      <a:srgbClr val="F1F5EC"/>
                    </a:solidFill>
                  </a:tcPr>
                </a:tc>
                <a:tc>
                  <a:txBody>
                    <a:bodyPr/>
                    <a:lstStyle/>
                    <a:p>
                      <a:pPr algn="r"/>
                      <a:r>
                        <a:rPr lang="en-US" sz="1400">
                          <a:solidFill>
                            <a:srgbClr val="1A1A1A"/>
                          </a:solidFill>
                        </a:rPr>
                        <a:t>1375</a:t>
                      </a:r>
                    </a:p>
                  </a:txBody>
                  <a:tcPr marT="45028" marB="45028" anchor="ctr">
                    <a:lnL w="0"/>
                    <a:lnR w="0"/>
                    <a:lnT w="0"/>
                    <a:lnB w="0"/>
                    <a:lnTlToBr w="0"/>
                    <a:lnBlToTr w="0"/>
                    <a:solidFill>
                      <a:srgbClr val="F1F5EC"/>
                    </a:solidFill>
                  </a:tcPr>
                </a:tc>
                <a:tc>
                  <a:txBody>
                    <a:bodyPr/>
                    <a:lstStyle/>
                    <a:p>
                      <a:pPr algn="r"/>
                      <a:r>
                        <a:rPr lang="en-US" sz="1400" dirty="0">
                          <a:solidFill>
                            <a:srgbClr val="1A1A1A"/>
                          </a:solidFill>
                        </a:rPr>
                        <a:t>$10,739</a:t>
                      </a:r>
                    </a:p>
                  </a:txBody>
                  <a:tcPr marT="45028" marB="45028" anchor="ctr">
                    <a:lnL w="0"/>
                    <a:lnR w="0"/>
                    <a:lnT w="0"/>
                    <a:lnB w="0"/>
                    <a:lnTlToBr w="0"/>
                    <a:lnBlToTr w="0"/>
                    <a:solidFill>
                      <a:srgbClr val="F1F5EC"/>
                    </a:solidFill>
                  </a:tcPr>
                </a:tc>
                <a:extLst>
                  <a:ext uri="{0D108BD9-81ED-4DB2-BD59-A6C34878D82A}">
                    <a16:rowId xmlns:a16="http://schemas.microsoft.com/office/drawing/2014/main" val="4102735667"/>
                  </a:ext>
                </a:extLst>
              </a:tr>
              <a:tr h="342900">
                <a:tc>
                  <a:txBody>
                    <a:bodyPr/>
                    <a:lstStyle/>
                    <a:p>
                      <a:pPr algn="ctr"/>
                      <a:r>
                        <a:rPr lang="en-US" sz="1400">
                          <a:solidFill>
                            <a:srgbClr val="1A1A1A"/>
                          </a:solidFill>
                        </a:rPr>
                        <a:t>3</a:t>
                      </a:r>
                    </a:p>
                  </a:txBody>
                  <a:tcPr marT="45028" marB="45028" anchor="ctr">
                    <a:lnL w="0"/>
                    <a:lnR w="0"/>
                    <a:lnT w="0"/>
                    <a:lnB w="0"/>
                    <a:lnTlToBr w="0"/>
                    <a:lnBlToTr w="0"/>
                    <a:solidFill>
                      <a:srgbClr val="FFFFFF"/>
                    </a:solidFill>
                  </a:tcPr>
                </a:tc>
                <a:tc>
                  <a:txBody>
                    <a:bodyPr/>
                    <a:lstStyle/>
                    <a:p>
                      <a:pPr algn="l"/>
                      <a:r>
                        <a:rPr lang="en-US" sz="1400">
                          <a:solidFill>
                            <a:srgbClr val="1A1A1A"/>
                          </a:solidFill>
                        </a:rPr>
                        <a:t>After-sales Module ZZ - BSS Gen 1</a:t>
                      </a:r>
                    </a:p>
                  </a:txBody>
                  <a:tcPr marT="45028" marB="45028" anchor="ctr">
                    <a:lnL w="0"/>
                    <a:lnR w="0"/>
                    <a:lnT w="0"/>
                    <a:lnB w="0"/>
                    <a:lnTlToBr w="0"/>
                    <a:lnBlToTr w="0"/>
                    <a:solidFill>
                      <a:srgbClr val="FFFFFF"/>
                    </a:solidFill>
                  </a:tcPr>
                </a:tc>
                <a:tc>
                  <a:txBody>
                    <a:bodyPr/>
                    <a:lstStyle/>
                    <a:p>
                      <a:pPr algn="r"/>
                      <a:r>
                        <a:rPr lang="en-US" sz="1400">
                          <a:solidFill>
                            <a:srgbClr val="1A1A1A"/>
                          </a:solidFill>
                        </a:rPr>
                        <a:t>1302</a:t>
                      </a:r>
                    </a:p>
                  </a:txBody>
                  <a:tcPr marT="45028" marB="45028" anchor="ctr">
                    <a:lnL w="0"/>
                    <a:lnR w="0"/>
                    <a:lnT w="0"/>
                    <a:lnB w="0"/>
                    <a:lnTlToBr w="0"/>
                    <a:lnBlToTr w="0"/>
                    <a:solidFill>
                      <a:srgbClr val="FFFFFF"/>
                    </a:solidFill>
                  </a:tcPr>
                </a:tc>
                <a:tc>
                  <a:txBody>
                    <a:bodyPr/>
                    <a:lstStyle/>
                    <a:p>
                      <a:pPr algn="r"/>
                      <a:r>
                        <a:rPr lang="en-US" sz="1400">
                          <a:solidFill>
                            <a:srgbClr val="1A1A1A"/>
                          </a:solidFill>
                        </a:rPr>
                        <a:t>$16,601</a:t>
                      </a:r>
                    </a:p>
                  </a:txBody>
                  <a:tcPr marT="45028" marB="45028" anchor="ctr">
                    <a:lnL w="0"/>
                    <a:lnR w="0"/>
                    <a:lnT w="0"/>
                    <a:lnB w="0"/>
                    <a:lnTlToBr w="0"/>
                    <a:lnBlToTr w="0"/>
                    <a:solidFill>
                      <a:srgbClr val="FFFFFF"/>
                    </a:solidFill>
                  </a:tcPr>
                </a:tc>
                <a:extLst>
                  <a:ext uri="{0D108BD9-81ED-4DB2-BD59-A6C34878D82A}">
                    <a16:rowId xmlns:a16="http://schemas.microsoft.com/office/drawing/2014/main" val="943422880"/>
                  </a:ext>
                </a:extLst>
              </a:tr>
              <a:tr h="342900">
                <a:tc>
                  <a:txBody>
                    <a:bodyPr/>
                    <a:lstStyle/>
                    <a:p>
                      <a:pPr algn="ctr"/>
                      <a:r>
                        <a:rPr lang="en-US" sz="1400">
                          <a:solidFill>
                            <a:srgbClr val="1A1A1A"/>
                          </a:solidFill>
                        </a:rPr>
                        <a:t>4</a:t>
                      </a:r>
                    </a:p>
                  </a:txBody>
                  <a:tcPr marT="45028" marB="45028" anchor="ctr">
                    <a:lnL w="0"/>
                    <a:lnR w="0"/>
                    <a:lnT w="0"/>
                    <a:lnB w="0"/>
                    <a:lnTlToBr w="0"/>
                    <a:lnBlToTr w="0"/>
                    <a:solidFill>
                      <a:srgbClr val="F1F5EC"/>
                    </a:solidFill>
                  </a:tcPr>
                </a:tc>
                <a:tc>
                  <a:txBody>
                    <a:bodyPr/>
                    <a:lstStyle/>
                    <a:p>
                      <a:pPr algn="l"/>
                      <a:r>
                        <a:rPr lang="en-US" sz="1400">
                          <a:solidFill>
                            <a:srgbClr val="1A1A1A"/>
                          </a:solidFill>
                        </a:rPr>
                        <a:t>Battery Compartment Lock Sensor - SK | BSS</a:t>
                      </a:r>
                    </a:p>
                  </a:txBody>
                  <a:tcPr marT="45028" marB="45028" anchor="ctr">
                    <a:lnL w="0"/>
                    <a:lnR w="0"/>
                    <a:lnT w="0"/>
                    <a:lnB w="0"/>
                    <a:lnTlToBr w="0"/>
                    <a:lnBlToTr w="0"/>
                    <a:solidFill>
                      <a:srgbClr val="F1F5EC"/>
                    </a:solidFill>
                  </a:tcPr>
                </a:tc>
                <a:tc>
                  <a:txBody>
                    <a:bodyPr/>
                    <a:lstStyle/>
                    <a:p>
                      <a:pPr algn="r"/>
                      <a:r>
                        <a:rPr lang="en-US" sz="1400">
                          <a:solidFill>
                            <a:srgbClr val="1A1A1A"/>
                          </a:solidFill>
                        </a:rPr>
                        <a:t>706</a:t>
                      </a:r>
                    </a:p>
                  </a:txBody>
                  <a:tcPr marT="45028" marB="45028" anchor="ctr">
                    <a:lnL w="0"/>
                    <a:lnR w="0"/>
                    <a:lnT w="0"/>
                    <a:lnB w="0"/>
                    <a:lnTlToBr w="0"/>
                    <a:lnBlToTr w="0"/>
                    <a:solidFill>
                      <a:srgbClr val="F1F5EC"/>
                    </a:solidFill>
                  </a:tcPr>
                </a:tc>
                <a:tc>
                  <a:txBody>
                    <a:bodyPr/>
                    <a:lstStyle/>
                    <a:p>
                      <a:pPr algn="r"/>
                      <a:r>
                        <a:rPr lang="en-US" sz="1400" dirty="0">
                          <a:solidFill>
                            <a:srgbClr val="1A1A1A"/>
                          </a:solidFill>
                        </a:rPr>
                        <a:t>$353</a:t>
                      </a:r>
                    </a:p>
                  </a:txBody>
                  <a:tcPr marT="45028" marB="45028" anchor="ctr">
                    <a:lnL w="0"/>
                    <a:lnR w="0"/>
                    <a:lnT w="0"/>
                    <a:lnB w="0"/>
                    <a:lnTlToBr w="0"/>
                    <a:lnBlToTr w="0"/>
                    <a:solidFill>
                      <a:srgbClr val="F1F5EC"/>
                    </a:solidFill>
                  </a:tcPr>
                </a:tc>
                <a:extLst>
                  <a:ext uri="{0D108BD9-81ED-4DB2-BD59-A6C34878D82A}">
                    <a16:rowId xmlns:a16="http://schemas.microsoft.com/office/drawing/2014/main" val="763598673"/>
                  </a:ext>
                </a:extLst>
              </a:tr>
              <a:tr h="342900">
                <a:tc>
                  <a:txBody>
                    <a:bodyPr/>
                    <a:lstStyle/>
                    <a:p>
                      <a:pPr algn="ctr"/>
                      <a:r>
                        <a:rPr lang="en-US" sz="1400">
                          <a:solidFill>
                            <a:srgbClr val="1A1A1A"/>
                          </a:solidFill>
                        </a:rPr>
                        <a:t>5</a:t>
                      </a:r>
                    </a:p>
                  </a:txBody>
                  <a:tcPr marT="45028" marB="45028" anchor="ctr">
                    <a:lnL w="0"/>
                    <a:lnR w="0"/>
                    <a:lnT w="0"/>
                    <a:lnB w="0"/>
                    <a:lnTlToBr w="0"/>
                    <a:lnBlToTr w="0"/>
                    <a:solidFill>
                      <a:srgbClr val="FFFFFF"/>
                    </a:solidFill>
                  </a:tcPr>
                </a:tc>
                <a:tc>
                  <a:txBody>
                    <a:bodyPr/>
                    <a:lstStyle/>
                    <a:p>
                      <a:pPr algn="l"/>
                      <a:r>
                        <a:rPr lang="en-US" sz="1400">
                          <a:solidFill>
                            <a:srgbClr val="1A1A1A"/>
                          </a:solidFill>
                        </a:rPr>
                        <a:t>Back plate - Shengjiu lock</a:t>
                      </a:r>
                    </a:p>
                  </a:txBody>
                  <a:tcPr marT="45028" marB="45028" anchor="ctr">
                    <a:lnL w="0"/>
                    <a:lnR w="0"/>
                    <a:lnT w="0"/>
                    <a:lnB w="0"/>
                    <a:lnTlToBr w="0"/>
                    <a:lnBlToTr w="0"/>
                    <a:solidFill>
                      <a:srgbClr val="FFFFFF"/>
                    </a:solidFill>
                  </a:tcPr>
                </a:tc>
                <a:tc>
                  <a:txBody>
                    <a:bodyPr/>
                    <a:lstStyle/>
                    <a:p>
                      <a:pPr algn="r"/>
                      <a:r>
                        <a:rPr lang="en-US" sz="1400">
                          <a:solidFill>
                            <a:srgbClr val="1A1A1A"/>
                          </a:solidFill>
                        </a:rPr>
                        <a:t>609</a:t>
                      </a:r>
                    </a:p>
                  </a:txBody>
                  <a:tcPr marT="45028" marB="45028" anchor="ctr">
                    <a:lnL w="0"/>
                    <a:lnR w="0"/>
                    <a:lnT w="0"/>
                    <a:lnB w="0"/>
                    <a:lnTlToBr w="0"/>
                    <a:lnBlToTr w="0"/>
                    <a:solidFill>
                      <a:srgbClr val="FFFFFF"/>
                    </a:solidFill>
                  </a:tcPr>
                </a:tc>
                <a:tc>
                  <a:txBody>
                    <a:bodyPr/>
                    <a:lstStyle/>
                    <a:p>
                      <a:pPr algn="r"/>
                      <a:r>
                        <a:rPr lang="en-US" sz="1400" dirty="0">
                          <a:solidFill>
                            <a:srgbClr val="1A1A1A"/>
                          </a:solidFill>
                        </a:rPr>
                        <a:t>$2.21</a:t>
                      </a:r>
                    </a:p>
                  </a:txBody>
                  <a:tcPr marT="45028" marB="45028" anchor="ctr">
                    <a:lnL w="0"/>
                    <a:lnR w="0"/>
                    <a:lnT w="0"/>
                    <a:lnB w="0"/>
                    <a:lnTlToBr w="0"/>
                    <a:lnBlToTr w="0"/>
                    <a:solidFill>
                      <a:srgbClr val="FFFFFF"/>
                    </a:solidFill>
                  </a:tcPr>
                </a:tc>
                <a:extLst>
                  <a:ext uri="{0D108BD9-81ED-4DB2-BD59-A6C34878D82A}">
                    <a16:rowId xmlns:a16="http://schemas.microsoft.com/office/drawing/2014/main" val="277440474"/>
                  </a:ext>
                </a:extLst>
              </a:tr>
              <a:tr h="342900">
                <a:tc>
                  <a:txBody>
                    <a:bodyPr/>
                    <a:lstStyle/>
                    <a:p>
                      <a:pPr algn="ctr"/>
                      <a:r>
                        <a:rPr lang="en-US" sz="1400">
                          <a:solidFill>
                            <a:srgbClr val="1A1A1A"/>
                          </a:solidFill>
                        </a:rPr>
                        <a:t>6</a:t>
                      </a:r>
                    </a:p>
                  </a:txBody>
                  <a:tcPr marT="45028" marB="45028" anchor="ctr">
                    <a:lnL w="0"/>
                    <a:lnR w="0"/>
                    <a:lnT w="0"/>
                    <a:lnB w="0"/>
                    <a:lnTlToBr w="0"/>
                    <a:lnBlToTr w="0"/>
                    <a:solidFill>
                      <a:srgbClr val="F1F5EC"/>
                    </a:solidFill>
                  </a:tcPr>
                </a:tc>
                <a:tc>
                  <a:txBody>
                    <a:bodyPr/>
                    <a:lstStyle/>
                    <a:p>
                      <a:pPr algn="l"/>
                      <a:r>
                        <a:rPr lang="en-US" sz="1400">
                          <a:solidFill>
                            <a:srgbClr val="1A1A1A"/>
                          </a:solidFill>
                        </a:rPr>
                        <a:t>SD card</a:t>
                      </a:r>
                    </a:p>
                  </a:txBody>
                  <a:tcPr marT="45028" marB="45028" anchor="ctr">
                    <a:lnL w="0"/>
                    <a:lnR w="0"/>
                    <a:lnT w="0"/>
                    <a:lnB w="0"/>
                    <a:lnTlToBr w="0"/>
                    <a:lnBlToTr w="0"/>
                    <a:solidFill>
                      <a:srgbClr val="F1F5EC"/>
                    </a:solidFill>
                  </a:tcPr>
                </a:tc>
                <a:tc>
                  <a:txBody>
                    <a:bodyPr/>
                    <a:lstStyle/>
                    <a:p>
                      <a:pPr algn="r"/>
                      <a:r>
                        <a:rPr lang="en-US" sz="1400">
                          <a:solidFill>
                            <a:srgbClr val="1A1A1A"/>
                          </a:solidFill>
                        </a:rPr>
                        <a:t>176</a:t>
                      </a:r>
                    </a:p>
                  </a:txBody>
                  <a:tcPr marT="45028" marB="45028" anchor="ctr">
                    <a:lnL w="0"/>
                    <a:lnR w="0"/>
                    <a:lnT w="0"/>
                    <a:lnB w="0"/>
                    <a:lnTlToBr w="0"/>
                    <a:lnBlToTr w="0"/>
                    <a:solidFill>
                      <a:srgbClr val="F1F5EC"/>
                    </a:solidFill>
                  </a:tcPr>
                </a:tc>
                <a:tc>
                  <a:txBody>
                    <a:bodyPr/>
                    <a:lstStyle/>
                    <a:p>
                      <a:pPr algn="r"/>
                      <a:r>
                        <a:rPr lang="en-US" sz="1400" dirty="0">
                          <a:solidFill>
                            <a:srgbClr val="1A1A1A"/>
                          </a:solidFill>
                        </a:rPr>
                        <a:t>$704</a:t>
                      </a:r>
                    </a:p>
                  </a:txBody>
                  <a:tcPr marT="45028" marB="45028" anchor="ctr">
                    <a:lnL w="0"/>
                    <a:lnR w="0"/>
                    <a:lnT w="0"/>
                    <a:lnB w="0"/>
                    <a:lnTlToBr w="0"/>
                    <a:lnBlToTr w="0"/>
                    <a:solidFill>
                      <a:srgbClr val="F1F5EC"/>
                    </a:solidFill>
                  </a:tcPr>
                </a:tc>
                <a:extLst>
                  <a:ext uri="{0D108BD9-81ED-4DB2-BD59-A6C34878D82A}">
                    <a16:rowId xmlns:a16="http://schemas.microsoft.com/office/drawing/2014/main" val="3978477177"/>
                  </a:ext>
                </a:extLst>
              </a:tr>
              <a:tr h="342900">
                <a:tc>
                  <a:txBody>
                    <a:bodyPr/>
                    <a:lstStyle/>
                    <a:p>
                      <a:pPr algn="ctr"/>
                      <a:r>
                        <a:rPr lang="en-US" sz="1400">
                          <a:solidFill>
                            <a:srgbClr val="1A1A1A"/>
                          </a:solidFill>
                        </a:rPr>
                        <a:t>7</a:t>
                      </a:r>
                    </a:p>
                  </a:txBody>
                  <a:tcPr marT="45028" marB="45028" anchor="ctr">
                    <a:lnL w="0"/>
                    <a:lnR w="0"/>
                    <a:lnT w="0"/>
                    <a:lnB w="0"/>
                    <a:lnTlToBr w="0"/>
                    <a:lnBlToTr w="0"/>
                    <a:solidFill>
                      <a:srgbClr val="FFFFFF"/>
                    </a:solidFill>
                  </a:tcPr>
                </a:tc>
                <a:tc>
                  <a:txBody>
                    <a:bodyPr/>
                    <a:lstStyle/>
                    <a:p>
                      <a:pPr algn="l"/>
                      <a:r>
                        <a:rPr lang="en-US" sz="1400">
                          <a:solidFill>
                            <a:srgbClr val="1A1A1A"/>
                          </a:solidFill>
                        </a:rPr>
                        <a:t>Slot Control Board - BSS 6/12 Slot</a:t>
                      </a:r>
                    </a:p>
                  </a:txBody>
                  <a:tcPr marT="45028" marB="45028" anchor="ctr">
                    <a:lnL w="0"/>
                    <a:lnR w="0"/>
                    <a:lnT w="0"/>
                    <a:lnB w="0"/>
                    <a:lnTlToBr w="0"/>
                    <a:lnBlToTr w="0"/>
                    <a:solidFill>
                      <a:srgbClr val="FFFFFF"/>
                    </a:solidFill>
                  </a:tcPr>
                </a:tc>
                <a:tc>
                  <a:txBody>
                    <a:bodyPr/>
                    <a:lstStyle/>
                    <a:p>
                      <a:pPr algn="r"/>
                      <a:r>
                        <a:rPr lang="en-US" sz="1400">
                          <a:solidFill>
                            <a:srgbClr val="1A1A1A"/>
                          </a:solidFill>
                        </a:rPr>
                        <a:t>48</a:t>
                      </a:r>
                    </a:p>
                  </a:txBody>
                  <a:tcPr marT="45028" marB="45028" anchor="ctr">
                    <a:lnL w="0"/>
                    <a:lnR w="0"/>
                    <a:lnT w="0"/>
                    <a:lnB w="0"/>
                    <a:lnTlToBr w="0"/>
                    <a:lnBlToTr w="0"/>
                    <a:solidFill>
                      <a:srgbClr val="FFFFFF"/>
                    </a:solidFill>
                  </a:tcPr>
                </a:tc>
                <a:tc>
                  <a:txBody>
                    <a:bodyPr/>
                    <a:lstStyle/>
                    <a:p>
                      <a:pPr algn="r"/>
                      <a:r>
                        <a:rPr lang="en-US" sz="1400" dirty="0">
                          <a:solidFill>
                            <a:srgbClr val="1A1A1A"/>
                          </a:solidFill>
                        </a:rPr>
                        <a:t>$541</a:t>
                      </a:r>
                    </a:p>
                  </a:txBody>
                  <a:tcPr marT="45028" marB="45028" anchor="ctr">
                    <a:lnL w="0"/>
                    <a:lnR w="0"/>
                    <a:lnT w="0"/>
                    <a:lnB w="0"/>
                    <a:lnTlToBr w="0"/>
                    <a:lnBlToTr w="0"/>
                    <a:solidFill>
                      <a:srgbClr val="FFFFFF"/>
                    </a:solidFill>
                  </a:tcPr>
                </a:tc>
                <a:extLst>
                  <a:ext uri="{0D108BD9-81ED-4DB2-BD59-A6C34878D82A}">
                    <a16:rowId xmlns:a16="http://schemas.microsoft.com/office/drawing/2014/main" val="2357785957"/>
                  </a:ext>
                </a:extLst>
              </a:tr>
              <a:tr h="342900">
                <a:tc>
                  <a:txBody>
                    <a:bodyPr/>
                    <a:lstStyle/>
                    <a:p>
                      <a:pPr algn="ctr"/>
                      <a:r>
                        <a:rPr lang="en-US" sz="1400">
                          <a:solidFill>
                            <a:srgbClr val="1A1A1A"/>
                          </a:solidFill>
                        </a:rPr>
                        <a:t>8</a:t>
                      </a:r>
                    </a:p>
                  </a:txBody>
                  <a:tcPr marT="45028" marB="45028" anchor="ctr">
                    <a:lnL w="0"/>
                    <a:lnR w="0"/>
                    <a:lnT w="0"/>
                    <a:lnB w="0"/>
                    <a:lnTlToBr w="0"/>
                    <a:lnBlToTr w="0"/>
                    <a:solidFill>
                      <a:srgbClr val="F1F5EC"/>
                    </a:solidFill>
                  </a:tcPr>
                </a:tc>
                <a:tc>
                  <a:txBody>
                    <a:bodyPr/>
                    <a:lstStyle/>
                    <a:p>
                      <a:pPr algn="l"/>
                      <a:r>
                        <a:rPr lang="en-US" sz="1400">
                          <a:solidFill>
                            <a:srgbClr val="1A1A1A"/>
                          </a:solidFill>
                        </a:rPr>
                        <a:t>Battery Compartment Lock - ZhongZheng | BSS</a:t>
                      </a:r>
                    </a:p>
                  </a:txBody>
                  <a:tcPr marT="45028" marB="45028" anchor="ctr">
                    <a:lnL w="0"/>
                    <a:lnR w="0"/>
                    <a:lnT w="0"/>
                    <a:lnB w="0"/>
                    <a:lnTlToBr w="0"/>
                    <a:lnBlToTr w="0"/>
                    <a:solidFill>
                      <a:srgbClr val="F1F5EC"/>
                    </a:solidFill>
                  </a:tcPr>
                </a:tc>
                <a:tc>
                  <a:txBody>
                    <a:bodyPr/>
                    <a:lstStyle/>
                    <a:p>
                      <a:pPr algn="r"/>
                      <a:r>
                        <a:rPr lang="en-US" sz="1400">
                          <a:solidFill>
                            <a:srgbClr val="1A1A1A"/>
                          </a:solidFill>
                        </a:rPr>
                        <a:t>39</a:t>
                      </a:r>
                    </a:p>
                  </a:txBody>
                  <a:tcPr marT="45028" marB="45028" anchor="ctr">
                    <a:lnL w="0"/>
                    <a:lnR w="0"/>
                    <a:lnT w="0"/>
                    <a:lnB w="0"/>
                    <a:lnTlToBr w="0"/>
                    <a:lnBlToTr w="0"/>
                    <a:solidFill>
                      <a:srgbClr val="F1F5EC"/>
                    </a:solidFill>
                  </a:tcPr>
                </a:tc>
                <a:tc>
                  <a:txBody>
                    <a:bodyPr/>
                    <a:lstStyle/>
                    <a:p>
                      <a:pPr algn="r"/>
                      <a:r>
                        <a:rPr lang="en-US" sz="1400" dirty="0">
                          <a:solidFill>
                            <a:srgbClr val="1A1A1A"/>
                          </a:solidFill>
                        </a:rPr>
                        <a:t>$9.57$</a:t>
                      </a:r>
                    </a:p>
                  </a:txBody>
                  <a:tcPr marT="45028" marB="45028" anchor="ctr">
                    <a:lnL w="0"/>
                    <a:lnR w="0"/>
                    <a:lnT w="0"/>
                    <a:lnB w="0"/>
                    <a:lnTlToBr w="0"/>
                    <a:lnBlToTr w="0"/>
                    <a:solidFill>
                      <a:srgbClr val="F1F5EC"/>
                    </a:solidFill>
                  </a:tcPr>
                </a:tc>
                <a:extLst>
                  <a:ext uri="{0D108BD9-81ED-4DB2-BD59-A6C34878D82A}">
                    <a16:rowId xmlns:a16="http://schemas.microsoft.com/office/drawing/2014/main" val="3575215029"/>
                  </a:ext>
                </a:extLst>
              </a:tr>
              <a:tr h="342900">
                <a:tc>
                  <a:txBody>
                    <a:bodyPr/>
                    <a:lstStyle/>
                    <a:p>
                      <a:pPr algn="ctr"/>
                      <a:r>
                        <a:rPr lang="en-US" sz="1400">
                          <a:solidFill>
                            <a:srgbClr val="1A1A1A"/>
                          </a:solidFill>
                        </a:rPr>
                        <a:t>9</a:t>
                      </a:r>
                    </a:p>
                  </a:txBody>
                  <a:tcPr marT="45028" marB="45028" anchor="ctr">
                    <a:lnL w="0"/>
                    <a:lnR w="0"/>
                    <a:lnT w="0"/>
                    <a:lnB w="0"/>
                    <a:lnTlToBr w="0"/>
                    <a:lnBlToTr w="0"/>
                    <a:solidFill>
                      <a:srgbClr val="FFFFFF"/>
                    </a:solidFill>
                  </a:tcPr>
                </a:tc>
                <a:tc>
                  <a:txBody>
                    <a:bodyPr/>
                    <a:lstStyle/>
                    <a:p>
                      <a:pPr algn="l"/>
                      <a:r>
                        <a:rPr lang="en-US" sz="1400">
                          <a:solidFill>
                            <a:srgbClr val="1A1A1A"/>
                          </a:solidFill>
                        </a:rPr>
                        <a:t>Battery compartment | BSS</a:t>
                      </a:r>
                    </a:p>
                  </a:txBody>
                  <a:tcPr marT="45028" marB="45028" anchor="ctr">
                    <a:lnL w="0"/>
                    <a:lnR w="0"/>
                    <a:lnT w="0"/>
                    <a:lnB w="0"/>
                    <a:lnTlToBr w="0"/>
                    <a:lnBlToTr w="0"/>
                    <a:solidFill>
                      <a:srgbClr val="FFFFFF"/>
                    </a:solidFill>
                  </a:tcPr>
                </a:tc>
                <a:tc>
                  <a:txBody>
                    <a:bodyPr/>
                    <a:lstStyle/>
                    <a:p>
                      <a:pPr algn="r"/>
                      <a:r>
                        <a:rPr lang="en-US" sz="1400">
                          <a:solidFill>
                            <a:srgbClr val="1A1A1A"/>
                          </a:solidFill>
                        </a:rPr>
                        <a:t>34</a:t>
                      </a:r>
                    </a:p>
                  </a:txBody>
                  <a:tcPr marT="45028" marB="45028" anchor="ctr">
                    <a:lnL w="0"/>
                    <a:lnR w="0"/>
                    <a:lnT w="0"/>
                    <a:lnB w="0"/>
                    <a:lnTlToBr w="0"/>
                    <a:lnBlToTr w="0"/>
                    <a:solidFill>
                      <a:srgbClr val="FFFFFF"/>
                    </a:solidFill>
                  </a:tcPr>
                </a:tc>
                <a:tc>
                  <a:txBody>
                    <a:bodyPr/>
                    <a:lstStyle/>
                    <a:p>
                      <a:pPr algn="r"/>
                      <a:r>
                        <a:rPr lang="en-US" sz="1400" dirty="0">
                          <a:solidFill>
                            <a:srgbClr val="1A1A1A"/>
                          </a:solidFill>
                        </a:rPr>
                        <a:t>$750</a:t>
                      </a:r>
                    </a:p>
                  </a:txBody>
                  <a:tcPr marT="45028" marB="45028" anchor="ctr">
                    <a:lnL w="0"/>
                    <a:lnR w="0"/>
                    <a:lnT w="0"/>
                    <a:lnB w="0"/>
                    <a:lnTlToBr w="0"/>
                    <a:lnBlToTr w="0"/>
                    <a:solidFill>
                      <a:srgbClr val="FFFFFF"/>
                    </a:solidFill>
                  </a:tcPr>
                </a:tc>
                <a:extLst>
                  <a:ext uri="{0D108BD9-81ED-4DB2-BD59-A6C34878D82A}">
                    <a16:rowId xmlns:a16="http://schemas.microsoft.com/office/drawing/2014/main" val="1457605128"/>
                  </a:ext>
                </a:extLst>
              </a:tr>
              <a:tr h="342900">
                <a:tc>
                  <a:txBody>
                    <a:bodyPr/>
                    <a:lstStyle/>
                    <a:p>
                      <a:pPr algn="ctr"/>
                      <a:r>
                        <a:rPr lang="en-US" sz="1400">
                          <a:solidFill>
                            <a:srgbClr val="1A1A1A"/>
                          </a:solidFill>
                        </a:rPr>
                        <a:t>10</a:t>
                      </a:r>
                    </a:p>
                  </a:txBody>
                  <a:tcPr marT="45028" marB="45028" anchor="ctr">
                    <a:lnL w="0"/>
                    <a:lnR w="0"/>
                    <a:lnT w="0"/>
                    <a:lnB w="0"/>
                    <a:lnTlToBr w="0"/>
                    <a:lnBlToTr w="0"/>
                    <a:solidFill>
                      <a:srgbClr val="F1F5EC"/>
                    </a:solidFill>
                  </a:tcPr>
                </a:tc>
                <a:tc>
                  <a:txBody>
                    <a:bodyPr/>
                    <a:lstStyle/>
                    <a:p>
                      <a:pPr algn="l"/>
                      <a:r>
                        <a:rPr lang="en-US" sz="1400">
                          <a:solidFill>
                            <a:srgbClr val="1A1A1A"/>
                          </a:solidFill>
                        </a:rPr>
                        <a:t>BSS-Power Supply Module</a:t>
                      </a:r>
                    </a:p>
                  </a:txBody>
                  <a:tcPr marT="45028" marB="45028" anchor="ctr">
                    <a:lnL w="0"/>
                    <a:lnR w="0"/>
                    <a:lnT w="0"/>
                    <a:lnB w="0"/>
                    <a:lnTlToBr w="0"/>
                    <a:lnBlToTr w="0"/>
                    <a:solidFill>
                      <a:srgbClr val="F1F5EC"/>
                    </a:solidFill>
                  </a:tcPr>
                </a:tc>
                <a:tc>
                  <a:txBody>
                    <a:bodyPr/>
                    <a:lstStyle/>
                    <a:p>
                      <a:pPr algn="r"/>
                      <a:r>
                        <a:rPr lang="en-US" sz="1400">
                          <a:solidFill>
                            <a:srgbClr val="1A1A1A"/>
                          </a:solidFill>
                        </a:rPr>
                        <a:t>24</a:t>
                      </a:r>
                    </a:p>
                  </a:txBody>
                  <a:tcPr marT="45028" marB="45028" anchor="ctr">
                    <a:lnL w="0"/>
                    <a:lnR w="0"/>
                    <a:lnT w="0"/>
                    <a:lnB w="0"/>
                    <a:lnTlToBr w="0"/>
                    <a:lnBlToTr w="0"/>
                    <a:solidFill>
                      <a:srgbClr val="F1F5EC"/>
                    </a:solidFill>
                  </a:tcPr>
                </a:tc>
                <a:tc>
                  <a:txBody>
                    <a:bodyPr/>
                    <a:lstStyle/>
                    <a:p>
                      <a:pPr algn="r"/>
                      <a:r>
                        <a:rPr lang="en-US" sz="1400" dirty="0">
                          <a:solidFill>
                            <a:srgbClr val="1A1A1A"/>
                          </a:solidFill>
                        </a:rPr>
                        <a:t>$1,022</a:t>
                      </a:r>
                    </a:p>
                  </a:txBody>
                  <a:tcPr marT="45028" marB="45028" anchor="ctr">
                    <a:lnL w="0"/>
                    <a:lnR w="0"/>
                    <a:lnT w="0"/>
                    <a:lnB w="0"/>
                    <a:lnTlToBr w="0"/>
                    <a:lnBlToTr w="0"/>
                    <a:solidFill>
                      <a:srgbClr val="F1F5EC"/>
                    </a:solidFill>
                  </a:tcPr>
                </a:tc>
                <a:extLst>
                  <a:ext uri="{0D108BD9-81ED-4DB2-BD59-A6C34878D82A}">
                    <a16:rowId xmlns:a16="http://schemas.microsoft.com/office/drawing/2014/main" val="4212916837"/>
                  </a:ext>
                </a:extLst>
              </a:tr>
            </a:tbl>
          </a:graphicData>
        </a:graphic>
      </p:graphicFrame>
    </p:spTree>
    <p:extLst>
      <p:ext uri="{BB962C8B-B14F-4D97-AF65-F5344CB8AC3E}">
        <p14:creationId xmlns:p14="http://schemas.microsoft.com/office/powerpoint/2010/main" val="1405764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114300" y="342900"/>
            <a:ext cx="571500" cy="571500"/>
          </a:xfrm>
          <a:prstGeom prst="rect">
            <a:avLst/>
          </a:prstGeom>
        </p:spPr>
      </p:pic>
      <p:pic>
        <p:nvPicPr>
          <p:cNvPr id="3" name="Image 1" descr="preencoded.png"/>
          <p:cNvPicPr>
            <a:picLocks noChangeAspect="1"/>
          </p:cNvPicPr>
          <p:nvPr/>
        </p:nvPicPr>
        <p:blipFill>
          <a:blip r:embed="rId4"/>
          <a:srcRect t="49" b="49"/>
          <a:stretch/>
        </p:blipFill>
        <p:spPr>
          <a:xfrm>
            <a:off x="14001750" y="114300"/>
            <a:ext cx="4114800" cy="914400"/>
          </a:xfrm>
          <a:prstGeom prst="rect">
            <a:avLst/>
          </a:prstGeom>
        </p:spPr>
      </p:pic>
      <p:sp>
        <p:nvSpPr>
          <p:cNvPr id="4" name="Text 0"/>
          <p:cNvSpPr/>
          <p:nvPr/>
        </p:nvSpPr>
        <p:spPr>
          <a:xfrm>
            <a:off x="876300" y="419100"/>
            <a:ext cx="6632912" cy="508000"/>
          </a:xfrm>
          <a:prstGeom prst="rect">
            <a:avLst/>
          </a:prstGeom>
          <a:noFill/>
          <a:ln/>
        </p:spPr>
        <p:txBody>
          <a:bodyPr wrap="square" lIns="25400" tIns="25400" rIns="25400" bIns="25400" rtlCol="0" anchor="t">
            <a:normAutofit/>
          </a:bodyPr>
          <a:lstStyle/>
          <a:p>
            <a:pPr marL="0" indent="0" algn="l">
              <a:buNone/>
            </a:pPr>
            <a:r>
              <a:rPr lang="en-US" sz="3000" b="1" dirty="0">
                <a:solidFill>
                  <a:srgbClr val="1A1A1A"/>
                </a:solidFill>
                <a:latin typeface="Calibri" pitchFamily="34" charset="0"/>
                <a:ea typeface="Calibri" pitchFamily="34" charset="-122"/>
                <a:cs typeface="Calibri" pitchFamily="34" charset="-120"/>
              </a:rPr>
              <a:t>1.5. SLA performance by ASP, SE: EVCS</a:t>
            </a:r>
            <a:endParaRPr lang="en-US" sz="3000" dirty="0"/>
          </a:p>
        </p:txBody>
      </p:sp>
      <p:sp>
        <p:nvSpPr>
          <p:cNvPr id="5" name="Shape 1"/>
          <p:cNvSpPr/>
          <p:nvPr/>
        </p:nvSpPr>
        <p:spPr>
          <a:xfrm>
            <a:off x="0" y="1152525"/>
            <a:ext cx="18288000" cy="19050"/>
          </a:xfrm>
          <a:prstGeom prst="rect">
            <a:avLst/>
          </a:prstGeom>
          <a:solidFill>
            <a:srgbClr val="A6A6A6"/>
          </a:solidFill>
          <a:ln/>
        </p:spPr>
        <p:txBody>
          <a:bodyPr/>
          <a:lstStyle/>
          <a:p>
            <a:endParaRPr lang="en-US"/>
          </a:p>
        </p:txBody>
      </p:sp>
      <p:sp>
        <p:nvSpPr>
          <p:cNvPr id="6" name="Text 2"/>
          <p:cNvSpPr/>
          <p:nvPr/>
        </p:nvSpPr>
        <p:spPr>
          <a:xfrm>
            <a:off x="647700" y="1428750"/>
            <a:ext cx="9944021"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2F5597"/>
                </a:solidFill>
                <a:latin typeface="Calibri" pitchFamily="34" charset="0"/>
                <a:ea typeface="Calibri" pitchFamily="34" charset="-122"/>
                <a:cs typeface="Calibri" pitchFamily="34" charset="-120"/>
              </a:rPr>
              <a:t>Overdue rate by ASP / SE — M2 → M7 (colour = severity vs the 5.0% target)</a:t>
            </a:r>
            <a:endParaRPr lang="en-US" sz="1875" dirty="0"/>
          </a:p>
        </p:txBody>
      </p:sp>
      <p:sp>
        <p:nvSpPr>
          <p:cNvPr id="8" name="Text 4"/>
          <p:cNvSpPr/>
          <p:nvPr/>
        </p:nvSpPr>
        <p:spPr>
          <a:xfrm>
            <a:off x="1924050" y="2254250"/>
            <a:ext cx="954088"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M2</a:t>
            </a:r>
            <a:endParaRPr lang="en-US" sz="1575" dirty="0"/>
          </a:p>
        </p:txBody>
      </p:sp>
      <p:sp>
        <p:nvSpPr>
          <p:cNvPr id="9" name="Text 5"/>
          <p:cNvSpPr/>
          <p:nvPr/>
        </p:nvSpPr>
        <p:spPr>
          <a:xfrm>
            <a:off x="2878138" y="2254250"/>
            <a:ext cx="954286"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M3</a:t>
            </a:r>
            <a:endParaRPr lang="en-US" sz="1575" dirty="0"/>
          </a:p>
        </p:txBody>
      </p:sp>
      <p:sp>
        <p:nvSpPr>
          <p:cNvPr id="10" name="Text 6"/>
          <p:cNvSpPr/>
          <p:nvPr/>
        </p:nvSpPr>
        <p:spPr>
          <a:xfrm>
            <a:off x="3832424" y="2254250"/>
            <a:ext cx="954088"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M4</a:t>
            </a:r>
            <a:endParaRPr lang="en-US" sz="1575" dirty="0"/>
          </a:p>
        </p:txBody>
      </p:sp>
      <p:sp>
        <p:nvSpPr>
          <p:cNvPr id="11" name="Text 7"/>
          <p:cNvSpPr/>
          <p:nvPr/>
        </p:nvSpPr>
        <p:spPr>
          <a:xfrm>
            <a:off x="4786511" y="2254250"/>
            <a:ext cx="954286"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M5</a:t>
            </a:r>
            <a:endParaRPr lang="en-US" sz="1575" dirty="0"/>
          </a:p>
        </p:txBody>
      </p:sp>
      <p:sp>
        <p:nvSpPr>
          <p:cNvPr id="12" name="Text 8"/>
          <p:cNvSpPr/>
          <p:nvPr/>
        </p:nvSpPr>
        <p:spPr>
          <a:xfrm>
            <a:off x="5740797" y="2254250"/>
            <a:ext cx="954286"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M6</a:t>
            </a:r>
            <a:endParaRPr lang="en-US" sz="1575" dirty="0"/>
          </a:p>
        </p:txBody>
      </p:sp>
      <p:sp>
        <p:nvSpPr>
          <p:cNvPr id="13" name="Text 9"/>
          <p:cNvSpPr/>
          <p:nvPr/>
        </p:nvSpPr>
        <p:spPr>
          <a:xfrm>
            <a:off x="6695083" y="2254250"/>
            <a:ext cx="954088"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M7</a:t>
            </a:r>
            <a:endParaRPr lang="en-US" sz="1575" dirty="0"/>
          </a:p>
        </p:txBody>
      </p:sp>
      <p:sp>
        <p:nvSpPr>
          <p:cNvPr id="14" name="Text 10"/>
          <p:cNvSpPr/>
          <p:nvPr/>
        </p:nvSpPr>
        <p:spPr>
          <a:xfrm>
            <a:off x="7487245" y="2254250"/>
            <a:ext cx="220027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595959"/>
                </a:solidFill>
                <a:latin typeface="Calibri" pitchFamily="34" charset="0"/>
                <a:ea typeface="Calibri" pitchFamily="34" charset="-122"/>
                <a:cs typeface="Calibri" pitchFamily="34" charset="-120"/>
              </a:rPr>
              <a:t>M7 total · ovd</a:t>
            </a:r>
            <a:endParaRPr lang="en-US" sz="1575" dirty="0"/>
          </a:p>
        </p:txBody>
      </p:sp>
      <p:sp>
        <p:nvSpPr>
          <p:cNvPr id="15" name="Text 11"/>
          <p:cNvSpPr/>
          <p:nvPr/>
        </p:nvSpPr>
        <p:spPr>
          <a:xfrm>
            <a:off x="647700" y="2689225"/>
            <a:ext cx="1362075" cy="3175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A1A1A"/>
                </a:solidFill>
                <a:latin typeface="Calibri" pitchFamily="34" charset="0"/>
                <a:ea typeface="Calibri" pitchFamily="34" charset="-122"/>
                <a:cs typeface="Calibri" pitchFamily="34" charset="-120"/>
              </a:rPr>
              <a:t>EC</a:t>
            </a:r>
            <a:endParaRPr lang="en-US" sz="1800" dirty="0"/>
          </a:p>
        </p:txBody>
      </p:sp>
      <p:sp>
        <p:nvSpPr>
          <p:cNvPr id="16" name="Shape 12"/>
          <p:cNvSpPr/>
          <p:nvPr/>
        </p:nvSpPr>
        <p:spPr>
          <a:xfrm>
            <a:off x="1962150" y="2571750"/>
            <a:ext cx="877888" cy="514350"/>
          </a:xfrm>
          <a:prstGeom prst="rect">
            <a:avLst/>
          </a:prstGeom>
          <a:solidFill>
            <a:srgbClr val="DCEBD0"/>
          </a:solidFill>
          <a:ln/>
        </p:spPr>
        <p:txBody>
          <a:bodyPr/>
          <a:lstStyle/>
          <a:p>
            <a:endParaRPr lang="en-US"/>
          </a:p>
        </p:txBody>
      </p:sp>
      <p:sp>
        <p:nvSpPr>
          <p:cNvPr id="17" name="Text 13"/>
          <p:cNvSpPr/>
          <p:nvPr/>
        </p:nvSpPr>
        <p:spPr>
          <a:xfrm>
            <a:off x="1924050" y="269557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2F5F1F"/>
                </a:solidFill>
                <a:latin typeface="Calibri" pitchFamily="34" charset="0"/>
                <a:ea typeface="Calibri" pitchFamily="34" charset="-122"/>
                <a:cs typeface="Calibri" pitchFamily="34" charset="-120"/>
              </a:rPr>
              <a:t>4.0%</a:t>
            </a:r>
            <a:endParaRPr lang="en-US" sz="1725" dirty="0"/>
          </a:p>
        </p:txBody>
      </p:sp>
      <p:sp>
        <p:nvSpPr>
          <p:cNvPr id="18" name="Shape 14"/>
          <p:cNvSpPr/>
          <p:nvPr/>
        </p:nvSpPr>
        <p:spPr>
          <a:xfrm>
            <a:off x="2916238" y="2571750"/>
            <a:ext cx="878086" cy="514350"/>
          </a:xfrm>
          <a:prstGeom prst="rect">
            <a:avLst/>
          </a:prstGeom>
          <a:solidFill>
            <a:srgbClr val="DCEBD0"/>
          </a:solidFill>
          <a:ln/>
        </p:spPr>
        <p:txBody>
          <a:bodyPr/>
          <a:lstStyle/>
          <a:p>
            <a:endParaRPr lang="en-US"/>
          </a:p>
        </p:txBody>
      </p:sp>
      <p:sp>
        <p:nvSpPr>
          <p:cNvPr id="19" name="Text 15"/>
          <p:cNvSpPr/>
          <p:nvPr/>
        </p:nvSpPr>
        <p:spPr>
          <a:xfrm>
            <a:off x="2878138" y="2695575"/>
            <a:ext cx="954286"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2F5F1F"/>
                </a:solidFill>
                <a:latin typeface="Calibri" pitchFamily="34" charset="0"/>
                <a:ea typeface="Calibri" pitchFamily="34" charset="-122"/>
                <a:cs typeface="Calibri" pitchFamily="34" charset="-120"/>
              </a:rPr>
              <a:t>1.3%</a:t>
            </a:r>
            <a:endParaRPr lang="en-US" sz="1725" dirty="0"/>
          </a:p>
        </p:txBody>
      </p:sp>
      <p:sp>
        <p:nvSpPr>
          <p:cNvPr id="20" name="Shape 16"/>
          <p:cNvSpPr/>
          <p:nvPr/>
        </p:nvSpPr>
        <p:spPr>
          <a:xfrm>
            <a:off x="3870524" y="2571750"/>
            <a:ext cx="877888" cy="514350"/>
          </a:xfrm>
          <a:prstGeom prst="rect">
            <a:avLst/>
          </a:prstGeom>
          <a:solidFill>
            <a:srgbClr val="EDEFD3"/>
          </a:solidFill>
          <a:ln/>
        </p:spPr>
        <p:txBody>
          <a:bodyPr/>
          <a:lstStyle/>
          <a:p>
            <a:endParaRPr lang="en-US"/>
          </a:p>
        </p:txBody>
      </p:sp>
      <p:sp>
        <p:nvSpPr>
          <p:cNvPr id="21" name="Text 17"/>
          <p:cNvSpPr/>
          <p:nvPr/>
        </p:nvSpPr>
        <p:spPr>
          <a:xfrm>
            <a:off x="3832424" y="269557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4A5A1E"/>
                </a:solidFill>
                <a:latin typeface="Calibri" pitchFamily="34" charset="0"/>
                <a:ea typeface="Calibri" pitchFamily="34" charset="-122"/>
                <a:cs typeface="Calibri" pitchFamily="34" charset="-120"/>
              </a:rPr>
              <a:t>7.7%</a:t>
            </a:r>
            <a:endParaRPr lang="en-US" sz="1725" dirty="0"/>
          </a:p>
        </p:txBody>
      </p:sp>
      <p:sp>
        <p:nvSpPr>
          <p:cNvPr id="22" name="Shape 18"/>
          <p:cNvSpPr/>
          <p:nvPr/>
        </p:nvSpPr>
        <p:spPr>
          <a:xfrm>
            <a:off x="4824611" y="2571750"/>
            <a:ext cx="878086" cy="514350"/>
          </a:xfrm>
          <a:prstGeom prst="rect">
            <a:avLst/>
          </a:prstGeom>
          <a:solidFill>
            <a:srgbClr val="FAE2C2"/>
          </a:solidFill>
          <a:ln/>
        </p:spPr>
        <p:txBody>
          <a:bodyPr/>
          <a:lstStyle/>
          <a:p>
            <a:endParaRPr lang="en-US"/>
          </a:p>
        </p:txBody>
      </p:sp>
      <p:sp>
        <p:nvSpPr>
          <p:cNvPr id="23" name="Text 19"/>
          <p:cNvSpPr/>
          <p:nvPr/>
        </p:nvSpPr>
        <p:spPr>
          <a:xfrm>
            <a:off x="4786511" y="2695575"/>
            <a:ext cx="954286"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8A5A12"/>
                </a:solidFill>
                <a:latin typeface="Calibri" pitchFamily="34" charset="0"/>
                <a:ea typeface="Calibri" pitchFamily="34" charset="-122"/>
                <a:cs typeface="Calibri" pitchFamily="34" charset="-120"/>
              </a:rPr>
              <a:t>12.9%</a:t>
            </a:r>
            <a:endParaRPr lang="en-US" sz="1725" dirty="0"/>
          </a:p>
        </p:txBody>
      </p:sp>
      <p:sp>
        <p:nvSpPr>
          <p:cNvPr id="24" name="Shape 20"/>
          <p:cNvSpPr/>
          <p:nvPr/>
        </p:nvSpPr>
        <p:spPr>
          <a:xfrm>
            <a:off x="5778897" y="2571750"/>
            <a:ext cx="878086" cy="514350"/>
          </a:xfrm>
          <a:prstGeom prst="rect">
            <a:avLst/>
          </a:prstGeom>
          <a:solidFill>
            <a:srgbClr val="FAE2C2"/>
          </a:solidFill>
          <a:ln/>
        </p:spPr>
        <p:txBody>
          <a:bodyPr/>
          <a:lstStyle/>
          <a:p>
            <a:endParaRPr lang="en-US"/>
          </a:p>
        </p:txBody>
      </p:sp>
      <p:sp>
        <p:nvSpPr>
          <p:cNvPr id="25" name="Text 21"/>
          <p:cNvSpPr/>
          <p:nvPr/>
        </p:nvSpPr>
        <p:spPr>
          <a:xfrm>
            <a:off x="5740797" y="2695575"/>
            <a:ext cx="954286"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8A5A12"/>
                </a:solidFill>
                <a:latin typeface="Calibri" pitchFamily="34" charset="0"/>
                <a:ea typeface="Calibri" pitchFamily="34" charset="-122"/>
                <a:cs typeface="Calibri" pitchFamily="34" charset="-120"/>
              </a:rPr>
              <a:t>15.1%</a:t>
            </a:r>
            <a:endParaRPr lang="en-US" sz="1725" dirty="0"/>
          </a:p>
        </p:txBody>
      </p:sp>
      <p:sp>
        <p:nvSpPr>
          <p:cNvPr id="26" name="Shape 22"/>
          <p:cNvSpPr/>
          <p:nvPr/>
        </p:nvSpPr>
        <p:spPr>
          <a:xfrm>
            <a:off x="6733183" y="2571750"/>
            <a:ext cx="877888" cy="514350"/>
          </a:xfrm>
          <a:prstGeom prst="rect">
            <a:avLst/>
          </a:prstGeom>
          <a:solidFill>
            <a:srgbClr val="FAE2C2"/>
          </a:solidFill>
          <a:ln/>
        </p:spPr>
        <p:txBody>
          <a:bodyPr/>
          <a:lstStyle/>
          <a:p>
            <a:endParaRPr lang="en-US"/>
          </a:p>
        </p:txBody>
      </p:sp>
      <p:sp>
        <p:nvSpPr>
          <p:cNvPr id="27" name="Text 23"/>
          <p:cNvSpPr/>
          <p:nvPr/>
        </p:nvSpPr>
        <p:spPr>
          <a:xfrm>
            <a:off x="6695083" y="269557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8A5A12"/>
                </a:solidFill>
                <a:latin typeface="Calibri" pitchFamily="34" charset="0"/>
                <a:ea typeface="Calibri" pitchFamily="34" charset="-122"/>
                <a:cs typeface="Calibri" pitchFamily="34" charset="-120"/>
              </a:rPr>
              <a:t>10.0%</a:t>
            </a:r>
            <a:endParaRPr lang="en-US" sz="1725" dirty="0"/>
          </a:p>
        </p:txBody>
      </p:sp>
      <p:sp>
        <p:nvSpPr>
          <p:cNvPr id="28" name="Text 24"/>
          <p:cNvSpPr/>
          <p:nvPr/>
        </p:nvSpPr>
        <p:spPr>
          <a:xfrm>
            <a:off x="7487245" y="2701925"/>
            <a:ext cx="2200275"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3,010 · </a:t>
            </a:r>
            <a:r>
              <a:rPr lang="en-US" sz="1650" b="1" dirty="0">
                <a:solidFill>
                  <a:srgbClr val="1A1A1A"/>
                </a:solidFill>
                <a:latin typeface="Calibri" pitchFamily="34" charset="0"/>
                <a:ea typeface="Calibri" pitchFamily="34" charset="-122"/>
                <a:cs typeface="Calibri" pitchFamily="34" charset="-120"/>
              </a:rPr>
              <a:t>301</a:t>
            </a:r>
            <a:endParaRPr lang="en-US" sz="1650" dirty="0"/>
          </a:p>
        </p:txBody>
      </p:sp>
      <p:sp>
        <p:nvSpPr>
          <p:cNvPr id="29" name="Text 25"/>
          <p:cNvSpPr/>
          <p:nvPr/>
        </p:nvSpPr>
        <p:spPr>
          <a:xfrm>
            <a:off x="647700" y="3279775"/>
            <a:ext cx="1362075" cy="3175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A1A1A"/>
                </a:solidFill>
                <a:latin typeface="Calibri" pitchFamily="34" charset="0"/>
                <a:ea typeface="Calibri" pitchFamily="34" charset="-122"/>
                <a:cs typeface="Calibri" pitchFamily="34" charset="-120"/>
              </a:rPr>
              <a:t>ES</a:t>
            </a:r>
            <a:endParaRPr lang="en-US" sz="1800" dirty="0"/>
          </a:p>
        </p:txBody>
      </p:sp>
      <p:sp>
        <p:nvSpPr>
          <p:cNvPr id="30" name="Shape 26"/>
          <p:cNvSpPr/>
          <p:nvPr/>
        </p:nvSpPr>
        <p:spPr>
          <a:xfrm>
            <a:off x="1962150" y="3162300"/>
            <a:ext cx="877888" cy="514350"/>
          </a:xfrm>
          <a:prstGeom prst="rect">
            <a:avLst/>
          </a:prstGeom>
          <a:solidFill>
            <a:srgbClr val="EDEFD3"/>
          </a:solidFill>
          <a:ln/>
        </p:spPr>
        <p:txBody>
          <a:bodyPr/>
          <a:lstStyle/>
          <a:p>
            <a:endParaRPr lang="en-US"/>
          </a:p>
        </p:txBody>
      </p:sp>
      <p:sp>
        <p:nvSpPr>
          <p:cNvPr id="31" name="Text 27"/>
          <p:cNvSpPr/>
          <p:nvPr/>
        </p:nvSpPr>
        <p:spPr>
          <a:xfrm>
            <a:off x="1924050" y="328612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4A5A1E"/>
                </a:solidFill>
                <a:latin typeface="Calibri" pitchFamily="34" charset="0"/>
                <a:ea typeface="Calibri" pitchFamily="34" charset="-122"/>
                <a:cs typeface="Calibri" pitchFamily="34" charset="-120"/>
              </a:rPr>
              <a:t>5.0%</a:t>
            </a:r>
            <a:endParaRPr lang="en-US" sz="1725" dirty="0"/>
          </a:p>
        </p:txBody>
      </p:sp>
      <p:sp>
        <p:nvSpPr>
          <p:cNvPr id="32" name="Shape 28"/>
          <p:cNvSpPr/>
          <p:nvPr/>
        </p:nvSpPr>
        <p:spPr>
          <a:xfrm>
            <a:off x="2916238" y="3162300"/>
            <a:ext cx="878086" cy="514350"/>
          </a:xfrm>
          <a:prstGeom prst="rect">
            <a:avLst/>
          </a:prstGeom>
          <a:solidFill>
            <a:srgbClr val="EDEFD3"/>
          </a:solidFill>
          <a:ln/>
        </p:spPr>
        <p:txBody>
          <a:bodyPr/>
          <a:lstStyle/>
          <a:p>
            <a:endParaRPr lang="en-US"/>
          </a:p>
        </p:txBody>
      </p:sp>
      <p:sp>
        <p:nvSpPr>
          <p:cNvPr id="33" name="Text 29"/>
          <p:cNvSpPr/>
          <p:nvPr/>
        </p:nvSpPr>
        <p:spPr>
          <a:xfrm>
            <a:off x="2878138" y="3286125"/>
            <a:ext cx="954286"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4A5A1E"/>
                </a:solidFill>
                <a:latin typeface="Calibri" pitchFamily="34" charset="0"/>
                <a:ea typeface="Calibri" pitchFamily="34" charset="-122"/>
                <a:cs typeface="Calibri" pitchFamily="34" charset="-120"/>
              </a:rPr>
              <a:t>6.1%</a:t>
            </a:r>
            <a:endParaRPr lang="en-US" sz="1725" dirty="0"/>
          </a:p>
        </p:txBody>
      </p:sp>
      <p:sp>
        <p:nvSpPr>
          <p:cNvPr id="34" name="Shape 30"/>
          <p:cNvSpPr/>
          <p:nvPr/>
        </p:nvSpPr>
        <p:spPr>
          <a:xfrm>
            <a:off x="3870524" y="3162300"/>
            <a:ext cx="877888" cy="514350"/>
          </a:xfrm>
          <a:prstGeom prst="rect">
            <a:avLst/>
          </a:prstGeom>
          <a:solidFill>
            <a:srgbClr val="FAE2C2"/>
          </a:solidFill>
          <a:ln/>
        </p:spPr>
        <p:txBody>
          <a:bodyPr/>
          <a:lstStyle/>
          <a:p>
            <a:endParaRPr lang="en-US"/>
          </a:p>
        </p:txBody>
      </p:sp>
      <p:sp>
        <p:nvSpPr>
          <p:cNvPr id="35" name="Text 31"/>
          <p:cNvSpPr/>
          <p:nvPr/>
        </p:nvSpPr>
        <p:spPr>
          <a:xfrm>
            <a:off x="3832424" y="328612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8A5A12"/>
                </a:solidFill>
                <a:latin typeface="Calibri" pitchFamily="34" charset="0"/>
                <a:ea typeface="Calibri" pitchFamily="34" charset="-122"/>
                <a:cs typeface="Calibri" pitchFamily="34" charset="-120"/>
              </a:rPr>
              <a:t>10.2%</a:t>
            </a:r>
            <a:endParaRPr lang="en-US" sz="1725" dirty="0"/>
          </a:p>
        </p:txBody>
      </p:sp>
      <p:sp>
        <p:nvSpPr>
          <p:cNvPr id="36" name="Shape 32"/>
          <p:cNvSpPr/>
          <p:nvPr/>
        </p:nvSpPr>
        <p:spPr>
          <a:xfrm>
            <a:off x="4824611" y="3162300"/>
            <a:ext cx="878086" cy="514350"/>
          </a:xfrm>
          <a:prstGeom prst="rect">
            <a:avLst/>
          </a:prstGeom>
          <a:solidFill>
            <a:srgbClr val="FAE2C2"/>
          </a:solidFill>
          <a:ln/>
        </p:spPr>
        <p:txBody>
          <a:bodyPr/>
          <a:lstStyle/>
          <a:p>
            <a:endParaRPr lang="en-US"/>
          </a:p>
        </p:txBody>
      </p:sp>
      <p:sp>
        <p:nvSpPr>
          <p:cNvPr id="37" name="Text 33"/>
          <p:cNvSpPr/>
          <p:nvPr/>
        </p:nvSpPr>
        <p:spPr>
          <a:xfrm>
            <a:off x="4786511" y="3286125"/>
            <a:ext cx="954286"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8A5A12"/>
                </a:solidFill>
                <a:latin typeface="Calibri" pitchFamily="34" charset="0"/>
                <a:ea typeface="Calibri" pitchFamily="34" charset="-122"/>
                <a:cs typeface="Calibri" pitchFamily="34" charset="-120"/>
              </a:rPr>
              <a:t>12.0%</a:t>
            </a:r>
            <a:endParaRPr lang="en-US" sz="1725" dirty="0"/>
          </a:p>
        </p:txBody>
      </p:sp>
      <p:sp>
        <p:nvSpPr>
          <p:cNvPr id="38" name="Shape 34"/>
          <p:cNvSpPr/>
          <p:nvPr/>
        </p:nvSpPr>
        <p:spPr>
          <a:xfrm>
            <a:off x="5778897" y="3162300"/>
            <a:ext cx="878086" cy="514350"/>
          </a:xfrm>
          <a:prstGeom prst="rect">
            <a:avLst/>
          </a:prstGeom>
          <a:solidFill>
            <a:srgbClr val="FAE2C2"/>
          </a:solidFill>
          <a:ln/>
        </p:spPr>
        <p:txBody>
          <a:bodyPr/>
          <a:lstStyle/>
          <a:p>
            <a:endParaRPr lang="en-US"/>
          </a:p>
        </p:txBody>
      </p:sp>
      <p:sp>
        <p:nvSpPr>
          <p:cNvPr id="39" name="Text 35"/>
          <p:cNvSpPr/>
          <p:nvPr/>
        </p:nvSpPr>
        <p:spPr>
          <a:xfrm>
            <a:off x="5740797" y="3286125"/>
            <a:ext cx="954286"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8A5A12"/>
                </a:solidFill>
                <a:latin typeface="Calibri" pitchFamily="34" charset="0"/>
                <a:ea typeface="Calibri" pitchFamily="34" charset="-122"/>
                <a:cs typeface="Calibri" pitchFamily="34" charset="-120"/>
              </a:rPr>
              <a:t>10.8%</a:t>
            </a:r>
            <a:endParaRPr lang="en-US" sz="1725" dirty="0"/>
          </a:p>
        </p:txBody>
      </p:sp>
      <p:sp>
        <p:nvSpPr>
          <p:cNvPr id="40" name="Shape 36"/>
          <p:cNvSpPr/>
          <p:nvPr/>
        </p:nvSpPr>
        <p:spPr>
          <a:xfrm>
            <a:off x="6733183" y="3162300"/>
            <a:ext cx="877888" cy="514350"/>
          </a:xfrm>
          <a:prstGeom prst="rect">
            <a:avLst/>
          </a:prstGeom>
          <a:solidFill>
            <a:srgbClr val="FAE2C2"/>
          </a:solidFill>
          <a:ln/>
        </p:spPr>
        <p:txBody>
          <a:bodyPr/>
          <a:lstStyle/>
          <a:p>
            <a:endParaRPr lang="en-US"/>
          </a:p>
        </p:txBody>
      </p:sp>
      <p:sp>
        <p:nvSpPr>
          <p:cNvPr id="41" name="Text 37"/>
          <p:cNvSpPr/>
          <p:nvPr/>
        </p:nvSpPr>
        <p:spPr>
          <a:xfrm>
            <a:off x="6695083" y="328612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8A5A12"/>
                </a:solidFill>
                <a:latin typeface="Calibri" pitchFamily="34" charset="0"/>
                <a:ea typeface="Calibri" pitchFamily="34" charset="-122"/>
                <a:cs typeface="Calibri" pitchFamily="34" charset="-120"/>
              </a:rPr>
              <a:t>11.5%</a:t>
            </a:r>
            <a:endParaRPr lang="en-US" sz="1725" dirty="0"/>
          </a:p>
        </p:txBody>
      </p:sp>
      <p:sp>
        <p:nvSpPr>
          <p:cNvPr id="42" name="Text 38"/>
          <p:cNvSpPr/>
          <p:nvPr/>
        </p:nvSpPr>
        <p:spPr>
          <a:xfrm>
            <a:off x="7487245" y="3292475"/>
            <a:ext cx="2200275"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4,105 · </a:t>
            </a:r>
            <a:r>
              <a:rPr lang="en-US" sz="1650" b="1" dirty="0">
                <a:solidFill>
                  <a:srgbClr val="1A1A1A"/>
                </a:solidFill>
                <a:latin typeface="Calibri" pitchFamily="34" charset="0"/>
                <a:ea typeface="Calibri" pitchFamily="34" charset="-122"/>
                <a:cs typeface="Calibri" pitchFamily="34" charset="-120"/>
              </a:rPr>
              <a:t>471</a:t>
            </a:r>
            <a:endParaRPr lang="en-US" sz="1650" dirty="0"/>
          </a:p>
        </p:txBody>
      </p:sp>
      <p:sp>
        <p:nvSpPr>
          <p:cNvPr id="43" name="Text 39"/>
          <p:cNvSpPr/>
          <p:nvPr/>
        </p:nvSpPr>
        <p:spPr>
          <a:xfrm>
            <a:off x="647700" y="3870325"/>
            <a:ext cx="1362075" cy="3175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A1A1A"/>
                </a:solidFill>
                <a:latin typeface="Calibri" pitchFamily="34" charset="0"/>
                <a:ea typeface="Calibri" pitchFamily="34" charset="-122"/>
                <a:cs typeface="Calibri" pitchFamily="34" charset="-120"/>
              </a:rPr>
              <a:t>ITS</a:t>
            </a:r>
            <a:endParaRPr lang="en-US" sz="1800" dirty="0"/>
          </a:p>
        </p:txBody>
      </p:sp>
      <p:sp>
        <p:nvSpPr>
          <p:cNvPr id="44" name="Shape 40"/>
          <p:cNvSpPr/>
          <p:nvPr/>
        </p:nvSpPr>
        <p:spPr>
          <a:xfrm>
            <a:off x="1962150" y="3752850"/>
            <a:ext cx="877888" cy="514350"/>
          </a:xfrm>
          <a:prstGeom prst="rect">
            <a:avLst/>
          </a:prstGeom>
          <a:solidFill>
            <a:srgbClr val="DCEBD0"/>
          </a:solidFill>
          <a:ln/>
        </p:spPr>
        <p:txBody>
          <a:bodyPr/>
          <a:lstStyle/>
          <a:p>
            <a:endParaRPr lang="en-US"/>
          </a:p>
        </p:txBody>
      </p:sp>
      <p:sp>
        <p:nvSpPr>
          <p:cNvPr id="45" name="Text 41"/>
          <p:cNvSpPr/>
          <p:nvPr/>
        </p:nvSpPr>
        <p:spPr>
          <a:xfrm>
            <a:off x="1924050" y="387667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2F5F1F"/>
                </a:solidFill>
                <a:latin typeface="Calibri" pitchFamily="34" charset="0"/>
                <a:ea typeface="Calibri" pitchFamily="34" charset="-122"/>
                <a:cs typeface="Calibri" pitchFamily="34" charset="-120"/>
              </a:rPr>
              <a:t>2.5%</a:t>
            </a:r>
            <a:endParaRPr lang="en-US" sz="1725" dirty="0"/>
          </a:p>
        </p:txBody>
      </p:sp>
      <p:sp>
        <p:nvSpPr>
          <p:cNvPr id="46" name="Shape 42"/>
          <p:cNvSpPr/>
          <p:nvPr/>
        </p:nvSpPr>
        <p:spPr>
          <a:xfrm>
            <a:off x="2916238" y="3752850"/>
            <a:ext cx="878086" cy="514350"/>
          </a:xfrm>
          <a:prstGeom prst="rect">
            <a:avLst/>
          </a:prstGeom>
          <a:solidFill>
            <a:srgbClr val="DCEBD0"/>
          </a:solidFill>
          <a:ln/>
        </p:spPr>
        <p:txBody>
          <a:bodyPr/>
          <a:lstStyle/>
          <a:p>
            <a:endParaRPr lang="en-US"/>
          </a:p>
        </p:txBody>
      </p:sp>
      <p:sp>
        <p:nvSpPr>
          <p:cNvPr id="47" name="Text 43"/>
          <p:cNvSpPr/>
          <p:nvPr/>
        </p:nvSpPr>
        <p:spPr>
          <a:xfrm>
            <a:off x="2878138" y="3876675"/>
            <a:ext cx="954286"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2F5F1F"/>
                </a:solidFill>
                <a:latin typeface="Calibri" pitchFamily="34" charset="0"/>
                <a:ea typeface="Calibri" pitchFamily="34" charset="-122"/>
                <a:cs typeface="Calibri" pitchFamily="34" charset="-120"/>
              </a:rPr>
              <a:t>3.0%</a:t>
            </a:r>
            <a:endParaRPr lang="en-US" sz="1725" dirty="0"/>
          </a:p>
        </p:txBody>
      </p:sp>
      <p:sp>
        <p:nvSpPr>
          <p:cNvPr id="48" name="Shape 44"/>
          <p:cNvSpPr/>
          <p:nvPr/>
        </p:nvSpPr>
        <p:spPr>
          <a:xfrm>
            <a:off x="3870524" y="3752850"/>
            <a:ext cx="877888" cy="514350"/>
          </a:xfrm>
          <a:prstGeom prst="rect">
            <a:avLst/>
          </a:prstGeom>
          <a:solidFill>
            <a:srgbClr val="DCEBD0"/>
          </a:solidFill>
          <a:ln/>
        </p:spPr>
        <p:txBody>
          <a:bodyPr/>
          <a:lstStyle/>
          <a:p>
            <a:endParaRPr lang="en-US"/>
          </a:p>
        </p:txBody>
      </p:sp>
      <p:sp>
        <p:nvSpPr>
          <p:cNvPr id="49" name="Text 45"/>
          <p:cNvSpPr/>
          <p:nvPr/>
        </p:nvSpPr>
        <p:spPr>
          <a:xfrm>
            <a:off x="3832424" y="387667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2F5F1F"/>
                </a:solidFill>
                <a:latin typeface="Calibri" pitchFamily="34" charset="0"/>
                <a:ea typeface="Calibri" pitchFamily="34" charset="-122"/>
                <a:cs typeface="Calibri" pitchFamily="34" charset="-120"/>
              </a:rPr>
              <a:t>4.5%</a:t>
            </a:r>
            <a:endParaRPr lang="en-US" sz="1725" dirty="0"/>
          </a:p>
        </p:txBody>
      </p:sp>
      <p:sp>
        <p:nvSpPr>
          <p:cNvPr id="50" name="Shape 46"/>
          <p:cNvSpPr/>
          <p:nvPr/>
        </p:nvSpPr>
        <p:spPr>
          <a:xfrm>
            <a:off x="4824611" y="3752850"/>
            <a:ext cx="878086" cy="514350"/>
          </a:xfrm>
          <a:prstGeom prst="rect">
            <a:avLst/>
          </a:prstGeom>
          <a:solidFill>
            <a:srgbClr val="FAE2C2"/>
          </a:solidFill>
          <a:ln/>
        </p:spPr>
        <p:txBody>
          <a:bodyPr/>
          <a:lstStyle/>
          <a:p>
            <a:endParaRPr lang="en-US"/>
          </a:p>
        </p:txBody>
      </p:sp>
      <p:sp>
        <p:nvSpPr>
          <p:cNvPr id="51" name="Text 47"/>
          <p:cNvSpPr/>
          <p:nvPr/>
        </p:nvSpPr>
        <p:spPr>
          <a:xfrm>
            <a:off x="4786511" y="3876675"/>
            <a:ext cx="954286"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8A5A12"/>
                </a:solidFill>
                <a:latin typeface="Calibri" pitchFamily="34" charset="0"/>
                <a:ea typeface="Calibri" pitchFamily="34" charset="-122"/>
                <a:cs typeface="Calibri" pitchFamily="34" charset="-120"/>
              </a:rPr>
              <a:t>15.1%</a:t>
            </a:r>
            <a:endParaRPr lang="en-US" sz="1725" dirty="0"/>
          </a:p>
        </p:txBody>
      </p:sp>
      <p:sp>
        <p:nvSpPr>
          <p:cNvPr id="52" name="Shape 48"/>
          <p:cNvSpPr/>
          <p:nvPr/>
        </p:nvSpPr>
        <p:spPr>
          <a:xfrm>
            <a:off x="5778897" y="3752850"/>
            <a:ext cx="878086" cy="514350"/>
          </a:xfrm>
          <a:prstGeom prst="rect">
            <a:avLst/>
          </a:prstGeom>
          <a:solidFill>
            <a:srgbClr val="FAE2C2"/>
          </a:solidFill>
          <a:ln/>
        </p:spPr>
        <p:txBody>
          <a:bodyPr/>
          <a:lstStyle/>
          <a:p>
            <a:endParaRPr lang="en-US"/>
          </a:p>
        </p:txBody>
      </p:sp>
      <p:sp>
        <p:nvSpPr>
          <p:cNvPr id="53" name="Text 49"/>
          <p:cNvSpPr/>
          <p:nvPr/>
        </p:nvSpPr>
        <p:spPr>
          <a:xfrm>
            <a:off x="5740797" y="3876675"/>
            <a:ext cx="954286"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8A5A12"/>
                </a:solidFill>
                <a:latin typeface="Calibri" pitchFamily="34" charset="0"/>
                <a:ea typeface="Calibri" pitchFamily="34" charset="-122"/>
                <a:cs typeface="Calibri" pitchFamily="34" charset="-120"/>
              </a:rPr>
              <a:t>19.5%</a:t>
            </a:r>
            <a:endParaRPr lang="en-US" sz="1725" dirty="0"/>
          </a:p>
        </p:txBody>
      </p:sp>
      <p:sp>
        <p:nvSpPr>
          <p:cNvPr id="54" name="Shape 50"/>
          <p:cNvSpPr/>
          <p:nvPr/>
        </p:nvSpPr>
        <p:spPr>
          <a:xfrm>
            <a:off x="6733183" y="3752850"/>
            <a:ext cx="877888" cy="514350"/>
          </a:xfrm>
          <a:prstGeom prst="rect">
            <a:avLst/>
          </a:prstGeom>
          <a:solidFill>
            <a:srgbClr val="FAE2C2"/>
          </a:solidFill>
          <a:ln/>
        </p:spPr>
        <p:txBody>
          <a:bodyPr/>
          <a:lstStyle/>
          <a:p>
            <a:endParaRPr lang="en-US"/>
          </a:p>
        </p:txBody>
      </p:sp>
      <p:sp>
        <p:nvSpPr>
          <p:cNvPr id="55" name="Text 51"/>
          <p:cNvSpPr/>
          <p:nvPr/>
        </p:nvSpPr>
        <p:spPr>
          <a:xfrm>
            <a:off x="6695083" y="387667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8A5A12"/>
                </a:solidFill>
                <a:latin typeface="Calibri" pitchFamily="34" charset="0"/>
                <a:ea typeface="Calibri" pitchFamily="34" charset="-122"/>
                <a:cs typeface="Calibri" pitchFamily="34" charset="-120"/>
              </a:rPr>
              <a:t>15.8%</a:t>
            </a:r>
            <a:endParaRPr lang="en-US" sz="1725" dirty="0"/>
          </a:p>
        </p:txBody>
      </p:sp>
      <p:sp>
        <p:nvSpPr>
          <p:cNvPr id="56" name="Text 52"/>
          <p:cNvSpPr/>
          <p:nvPr/>
        </p:nvSpPr>
        <p:spPr>
          <a:xfrm>
            <a:off x="7487245" y="3883025"/>
            <a:ext cx="2200275"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2,366 · </a:t>
            </a:r>
            <a:r>
              <a:rPr lang="en-US" sz="1650" b="1" dirty="0">
                <a:solidFill>
                  <a:srgbClr val="1A1A1A"/>
                </a:solidFill>
                <a:latin typeface="Calibri" pitchFamily="34" charset="0"/>
                <a:ea typeface="Calibri" pitchFamily="34" charset="-122"/>
                <a:cs typeface="Calibri" pitchFamily="34" charset="-120"/>
              </a:rPr>
              <a:t>374</a:t>
            </a:r>
            <a:endParaRPr lang="en-US" sz="1650" dirty="0"/>
          </a:p>
        </p:txBody>
      </p:sp>
      <p:sp>
        <p:nvSpPr>
          <p:cNvPr id="57" name="Text 53"/>
          <p:cNvSpPr/>
          <p:nvPr/>
        </p:nvSpPr>
        <p:spPr>
          <a:xfrm>
            <a:off x="647700" y="4460875"/>
            <a:ext cx="1362075" cy="3175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A1A1A"/>
                </a:solidFill>
                <a:latin typeface="Calibri" pitchFamily="34" charset="0"/>
                <a:ea typeface="Calibri" pitchFamily="34" charset="-122"/>
                <a:cs typeface="Calibri" pitchFamily="34" charset="-120"/>
              </a:rPr>
              <a:t>SE</a:t>
            </a:r>
            <a:endParaRPr lang="en-US" sz="1800" dirty="0"/>
          </a:p>
        </p:txBody>
      </p:sp>
      <p:sp>
        <p:nvSpPr>
          <p:cNvPr id="58" name="Shape 54"/>
          <p:cNvSpPr/>
          <p:nvPr/>
        </p:nvSpPr>
        <p:spPr>
          <a:xfrm>
            <a:off x="1962150" y="4343400"/>
            <a:ext cx="877888" cy="514350"/>
          </a:xfrm>
          <a:prstGeom prst="rect">
            <a:avLst/>
          </a:prstGeom>
          <a:solidFill>
            <a:srgbClr val="F0F1EE"/>
          </a:solidFill>
          <a:ln/>
        </p:spPr>
        <p:txBody>
          <a:bodyPr/>
          <a:lstStyle/>
          <a:p>
            <a:endParaRPr lang="en-US"/>
          </a:p>
        </p:txBody>
      </p:sp>
      <p:sp>
        <p:nvSpPr>
          <p:cNvPr id="59" name="Text 55"/>
          <p:cNvSpPr/>
          <p:nvPr/>
        </p:nvSpPr>
        <p:spPr>
          <a:xfrm>
            <a:off x="1924050" y="446722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A8ADA4"/>
                </a:solidFill>
                <a:latin typeface="Calibri" pitchFamily="34" charset="0"/>
                <a:ea typeface="Calibri" pitchFamily="34" charset="-122"/>
                <a:cs typeface="Calibri" pitchFamily="34" charset="-120"/>
              </a:rPr>
              <a:t>–</a:t>
            </a:r>
            <a:endParaRPr lang="en-US" sz="1725" dirty="0"/>
          </a:p>
        </p:txBody>
      </p:sp>
      <p:sp>
        <p:nvSpPr>
          <p:cNvPr id="60" name="Shape 56"/>
          <p:cNvSpPr/>
          <p:nvPr/>
        </p:nvSpPr>
        <p:spPr>
          <a:xfrm>
            <a:off x="2916238" y="4343400"/>
            <a:ext cx="878086" cy="514350"/>
          </a:xfrm>
          <a:prstGeom prst="rect">
            <a:avLst/>
          </a:prstGeom>
          <a:solidFill>
            <a:srgbClr val="F3C7BB"/>
          </a:solidFill>
          <a:ln/>
        </p:spPr>
        <p:txBody>
          <a:bodyPr/>
          <a:lstStyle/>
          <a:p>
            <a:endParaRPr lang="en-US"/>
          </a:p>
        </p:txBody>
      </p:sp>
      <p:sp>
        <p:nvSpPr>
          <p:cNvPr id="61" name="Text 57"/>
          <p:cNvSpPr/>
          <p:nvPr/>
        </p:nvSpPr>
        <p:spPr>
          <a:xfrm>
            <a:off x="2878138" y="4467225"/>
            <a:ext cx="954286"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96382A"/>
                </a:solidFill>
                <a:latin typeface="Calibri" pitchFamily="34" charset="0"/>
                <a:ea typeface="Calibri" pitchFamily="34" charset="-122"/>
                <a:cs typeface="Calibri" pitchFamily="34" charset="-120"/>
              </a:rPr>
              <a:t>27.3%</a:t>
            </a:r>
            <a:endParaRPr lang="en-US" sz="1725" dirty="0"/>
          </a:p>
        </p:txBody>
      </p:sp>
      <p:sp>
        <p:nvSpPr>
          <p:cNvPr id="62" name="Shape 58"/>
          <p:cNvSpPr/>
          <p:nvPr/>
        </p:nvSpPr>
        <p:spPr>
          <a:xfrm>
            <a:off x="3870524" y="4343400"/>
            <a:ext cx="877888" cy="514350"/>
          </a:xfrm>
          <a:prstGeom prst="rect">
            <a:avLst/>
          </a:prstGeom>
          <a:solidFill>
            <a:schemeClr val="accent6">
              <a:lumMod val="20000"/>
              <a:lumOff val="80000"/>
            </a:schemeClr>
          </a:solidFill>
          <a:ln/>
        </p:spPr>
        <p:txBody>
          <a:bodyPr/>
          <a:lstStyle/>
          <a:p>
            <a:endParaRPr lang="en-US"/>
          </a:p>
        </p:txBody>
      </p:sp>
      <p:sp>
        <p:nvSpPr>
          <p:cNvPr id="64" name="Shape 60"/>
          <p:cNvSpPr/>
          <p:nvPr/>
        </p:nvSpPr>
        <p:spPr>
          <a:xfrm>
            <a:off x="4824611" y="4343400"/>
            <a:ext cx="878086" cy="514350"/>
          </a:xfrm>
          <a:prstGeom prst="rect">
            <a:avLst/>
          </a:prstGeom>
          <a:solidFill>
            <a:schemeClr val="accent6">
              <a:lumMod val="20000"/>
              <a:lumOff val="80000"/>
            </a:schemeClr>
          </a:solidFill>
          <a:ln/>
        </p:spPr>
        <p:txBody>
          <a:bodyPr/>
          <a:lstStyle/>
          <a:p>
            <a:endParaRPr lang="en-US"/>
          </a:p>
        </p:txBody>
      </p:sp>
      <p:sp>
        <p:nvSpPr>
          <p:cNvPr id="65" name="Text 61"/>
          <p:cNvSpPr/>
          <p:nvPr/>
        </p:nvSpPr>
        <p:spPr>
          <a:xfrm>
            <a:off x="4829770" y="4441428"/>
            <a:ext cx="954286"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chemeClr val="accent6">
                    <a:lumMod val="50000"/>
                  </a:schemeClr>
                </a:solidFill>
                <a:latin typeface="Calibri" pitchFamily="34" charset="0"/>
                <a:ea typeface="Calibri" pitchFamily="34" charset="-122"/>
                <a:cs typeface="Calibri" pitchFamily="34" charset="-120"/>
              </a:rPr>
              <a:t>5.6%</a:t>
            </a:r>
            <a:endParaRPr lang="en-US" sz="1725" dirty="0">
              <a:solidFill>
                <a:schemeClr val="accent6">
                  <a:lumMod val="50000"/>
                </a:schemeClr>
              </a:solidFill>
            </a:endParaRPr>
          </a:p>
        </p:txBody>
      </p:sp>
      <p:sp>
        <p:nvSpPr>
          <p:cNvPr id="66" name="Shape 62"/>
          <p:cNvSpPr/>
          <p:nvPr/>
        </p:nvSpPr>
        <p:spPr>
          <a:xfrm>
            <a:off x="5778897" y="4343400"/>
            <a:ext cx="878086" cy="514350"/>
          </a:xfrm>
          <a:prstGeom prst="rect">
            <a:avLst/>
          </a:prstGeom>
          <a:solidFill>
            <a:schemeClr val="accent6">
              <a:lumMod val="20000"/>
              <a:lumOff val="80000"/>
            </a:schemeClr>
          </a:solidFill>
          <a:ln/>
        </p:spPr>
        <p:txBody>
          <a:bodyPr/>
          <a:lstStyle/>
          <a:p>
            <a:endParaRPr lang="en-US"/>
          </a:p>
        </p:txBody>
      </p:sp>
      <p:sp>
        <p:nvSpPr>
          <p:cNvPr id="67" name="Text 63"/>
          <p:cNvSpPr/>
          <p:nvPr/>
        </p:nvSpPr>
        <p:spPr>
          <a:xfrm>
            <a:off x="5767585" y="4441428"/>
            <a:ext cx="954286"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chemeClr val="accent6">
                    <a:lumMod val="50000"/>
                  </a:schemeClr>
                </a:solidFill>
                <a:latin typeface="Calibri" pitchFamily="34" charset="0"/>
                <a:ea typeface="Calibri" pitchFamily="34" charset="-122"/>
                <a:cs typeface="Calibri" pitchFamily="34" charset="-120"/>
              </a:rPr>
              <a:t>10.6%</a:t>
            </a:r>
            <a:endParaRPr lang="en-US" sz="1725" dirty="0">
              <a:solidFill>
                <a:schemeClr val="accent6">
                  <a:lumMod val="50000"/>
                </a:schemeClr>
              </a:solidFill>
            </a:endParaRPr>
          </a:p>
        </p:txBody>
      </p:sp>
      <p:sp>
        <p:nvSpPr>
          <p:cNvPr id="68" name="Shape 64"/>
          <p:cNvSpPr/>
          <p:nvPr/>
        </p:nvSpPr>
        <p:spPr>
          <a:xfrm>
            <a:off x="6733183" y="4343400"/>
            <a:ext cx="877888" cy="514350"/>
          </a:xfrm>
          <a:prstGeom prst="rect">
            <a:avLst/>
          </a:prstGeom>
          <a:solidFill>
            <a:schemeClr val="accent6">
              <a:lumMod val="20000"/>
              <a:lumOff val="80000"/>
            </a:schemeClr>
          </a:solidFill>
          <a:ln/>
        </p:spPr>
        <p:txBody>
          <a:bodyPr/>
          <a:lstStyle/>
          <a:p>
            <a:endParaRPr lang="en-US"/>
          </a:p>
        </p:txBody>
      </p:sp>
      <p:sp>
        <p:nvSpPr>
          <p:cNvPr id="69" name="Text 65"/>
          <p:cNvSpPr/>
          <p:nvPr/>
        </p:nvSpPr>
        <p:spPr>
          <a:xfrm>
            <a:off x="6702184" y="442912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chemeClr val="accent6">
                    <a:lumMod val="50000"/>
                  </a:schemeClr>
                </a:solidFill>
                <a:latin typeface="Calibri" pitchFamily="34" charset="0"/>
                <a:ea typeface="Calibri" pitchFamily="34" charset="-122"/>
                <a:cs typeface="Calibri" pitchFamily="34" charset="-120"/>
              </a:rPr>
              <a:t>3.1%</a:t>
            </a:r>
            <a:endParaRPr lang="en-US" sz="1725" dirty="0">
              <a:solidFill>
                <a:schemeClr val="accent6">
                  <a:lumMod val="50000"/>
                </a:schemeClr>
              </a:solidFill>
            </a:endParaRPr>
          </a:p>
        </p:txBody>
      </p:sp>
      <p:sp>
        <p:nvSpPr>
          <p:cNvPr id="70" name="Text 66"/>
          <p:cNvSpPr/>
          <p:nvPr/>
        </p:nvSpPr>
        <p:spPr>
          <a:xfrm>
            <a:off x="7487245" y="4473575"/>
            <a:ext cx="2200275"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1,798 · </a:t>
            </a:r>
            <a:r>
              <a:rPr lang="en-US" sz="1650" b="1" dirty="0">
                <a:solidFill>
                  <a:srgbClr val="1A1A1A"/>
                </a:solidFill>
                <a:latin typeface="Calibri" pitchFamily="34" charset="0"/>
                <a:ea typeface="Calibri" pitchFamily="34" charset="-122"/>
                <a:cs typeface="Calibri" pitchFamily="34" charset="-120"/>
              </a:rPr>
              <a:t>55</a:t>
            </a:r>
            <a:endParaRPr lang="en-US" sz="1650" dirty="0"/>
          </a:p>
        </p:txBody>
      </p:sp>
      <p:sp>
        <p:nvSpPr>
          <p:cNvPr id="71" name="Text 67"/>
          <p:cNvSpPr/>
          <p:nvPr/>
        </p:nvSpPr>
        <p:spPr>
          <a:xfrm>
            <a:off x="647700" y="5086350"/>
            <a:ext cx="9944021"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2F5597"/>
                </a:solidFill>
                <a:latin typeface="Calibri" pitchFamily="34" charset="0"/>
                <a:ea typeface="Calibri" pitchFamily="34" charset="-122"/>
                <a:cs typeface="Calibri" pitchFamily="34" charset="-120"/>
              </a:rPr>
              <a:t>Workload vs overdue rate — M7 (who needs action first)</a:t>
            </a:r>
            <a:endParaRPr lang="en-US" sz="1875" dirty="0"/>
          </a:p>
        </p:txBody>
      </p:sp>
      <p:sp>
        <p:nvSpPr>
          <p:cNvPr id="72" name="Text 68"/>
          <p:cNvSpPr/>
          <p:nvPr/>
        </p:nvSpPr>
        <p:spPr>
          <a:xfrm>
            <a:off x="889794" y="5530850"/>
            <a:ext cx="405606"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595959"/>
                </a:solidFill>
                <a:latin typeface="Calibri" pitchFamily="34" charset="0"/>
                <a:ea typeface="Calibri" pitchFamily="34" charset="-122"/>
                <a:cs typeface="Calibri" pitchFamily="34" charset="-120"/>
              </a:rPr>
              <a:t>20%</a:t>
            </a:r>
            <a:endParaRPr lang="en-US" sz="1500" dirty="0"/>
          </a:p>
        </p:txBody>
      </p:sp>
      <p:sp>
        <p:nvSpPr>
          <p:cNvPr id="73" name="Text 69"/>
          <p:cNvSpPr/>
          <p:nvPr/>
        </p:nvSpPr>
        <p:spPr>
          <a:xfrm rot="10800000">
            <a:off x="990600" y="7250906"/>
            <a:ext cx="304800" cy="1269206"/>
          </a:xfrm>
          <a:prstGeom prst="rect">
            <a:avLst/>
          </a:prstGeom>
          <a:noFill/>
          <a:ln/>
        </p:spPr>
        <p:txBody>
          <a:bodyPr vert="eaVert" wrap="square" lIns="25400" tIns="25400" rIns="25400" bIns="25400" rtlCol="0" anchor="t">
            <a:normAutofit fontScale="92500"/>
          </a:bodyPr>
          <a:lstStyle/>
          <a:p>
            <a:pPr marL="0" indent="0" algn="l">
              <a:buNone/>
            </a:pPr>
            <a:r>
              <a:rPr lang="en-US" sz="1500" dirty="0">
                <a:solidFill>
                  <a:srgbClr val="404040"/>
                </a:solidFill>
                <a:latin typeface="Calibri" pitchFamily="34" charset="0"/>
                <a:ea typeface="Calibri" pitchFamily="34" charset="-122"/>
                <a:cs typeface="Calibri" pitchFamily="34" charset="-120"/>
              </a:rPr>
              <a:t>Overdue rate →</a:t>
            </a:r>
            <a:endParaRPr lang="en-US" sz="1500" dirty="0"/>
          </a:p>
        </p:txBody>
      </p:sp>
      <p:sp>
        <p:nvSpPr>
          <p:cNvPr id="74" name="Text 70"/>
          <p:cNvSpPr/>
          <p:nvPr/>
        </p:nvSpPr>
        <p:spPr>
          <a:xfrm>
            <a:off x="986433" y="9973270"/>
            <a:ext cx="308967"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595959"/>
                </a:solidFill>
                <a:latin typeface="Calibri" pitchFamily="34" charset="0"/>
                <a:ea typeface="Calibri" pitchFamily="34" charset="-122"/>
                <a:cs typeface="Calibri" pitchFamily="34" charset="-120"/>
              </a:rPr>
              <a:t>0%</a:t>
            </a:r>
            <a:endParaRPr lang="en-US" sz="1500" dirty="0"/>
          </a:p>
        </p:txBody>
      </p:sp>
      <p:sp>
        <p:nvSpPr>
          <p:cNvPr id="75" name="Shape 71"/>
          <p:cNvSpPr/>
          <p:nvPr/>
        </p:nvSpPr>
        <p:spPr>
          <a:xfrm>
            <a:off x="1333500" y="5530850"/>
            <a:ext cx="8354219" cy="4671020"/>
          </a:xfrm>
          <a:prstGeom prst="rect">
            <a:avLst/>
          </a:prstGeom>
          <a:solidFill>
            <a:srgbClr val="FBFCFA"/>
          </a:solidFill>
          <a:ln w="12700">
            <a:solidFill>
              <a:srgbClr val="D9DED7"/>
            </a:solidFill>
            <a:prstDash val="solid"/>
          </a:ln>
        </p:spPr>
        <p:txBody>
          <a:bodyPr/>
          <a:lstStyle/>
          <a:p>
            <a:endParaRPr lang="en-US"/>
          </a:p>
        </p:txBody>
      </p:sp>
      <p:sp>
        <p:nvSpPr>
          <p:cNvPr id="76" name="Shape 72"/>
          <p:cNvSpPr/>
          <p:nvPr/>
        </p:nvSpPr>
        <p:spPr>
          <a:xfrm>
            <a:off x="1346200" y="9027716"/>
            <a:ext cx="8328819" cy="12700"/>
          </a:xfrm>
          <a:prstGeom prst="rect">
            <a:avLst/>
          </a:prstGeom>
          <a:solidFill>
            <a:srgbClr val="C00000"/>
          </a:solidFill>
          <a:ln/>
        </p:spPr>
        <p:txBody>
          <a:bodyPr/>
          <a:lstStyle/>
          <a:p>
            <a:endParaRPr lang="en-US"/>
          </a:p>
        </p:txBody>
      </p:sp>
      <p:sp>
        <p:nvSpPr>
          <p:cNvPr id="77" name="Text 73"/>
          <p:cNvSpPr/>
          <p:nvPr/>
        </p:nvSpPr>
        <p:spPr>
          <a:xfrm>
            <a:off x="1422400" y="8741966"/>
            <a:ext cx="1242616" cy="266700"/>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C00000"/>
                </a:solidFill>
                <a:latin typeface="Calibri" pitchFamily="34" charset="0"/>
                <a:ea typeface="Calibri" pitchFamily="34" charset="-122"/>
                <a:cs typeface="Calibri" pitchFamily="34" charset="-120"/>
              </a:rPr>
              <a:t>SLA target 5.0%</a:t>
            </a:r>
            <a:endParaRPr lang="en-US" sz="1425" dirty="0"/>
          </a:p>
        </p:txBody>
      </p:sp>
      <p:sp>
        <p:nvSpPr>
          <p:cNvPr id="78" name="Shape 74"/>
          <p:cNvSpPr/>
          <p:nvPr/>
        </p:nvSpPr>
        <p:spPr>
          <a:xfrm>
            <a:off x="5726188" y="7761468"/>
            <a:ext cx="209550" cy="209550"/>
          </a:xfrm>
          <a:prstGeom prst="ellipse">
            <a:avLst/>
          </a:prstGeom>
          <a:solidFill>
            <a:srgbClr val="8A5A12"/>
          </a:solidFill>
          <a:ln/>
        </p:spPr>
        <p:txBody>
          <a:bodyPr/>
          <a:lstStyle/>
          <a:p>
            <a:endParaRPr lang="en-US"/>
          </a:p>
        </p:txBody>
      </p:sp>
      <p:sp>
        <p:nvSpPr>
          <p:cNvPr id="79" name="Text 75"/>
          <p:cNvSpPr/>
          <p:nvPr/>
        </p:nvSpPr>
        <p:spPr>
          <a:xfrm>
            <a:off x="6048931" y="7651750"/>
            <a:ext cx="1004887" cy="304800"/>
          </a:xfrm>
          <a:prstGeom prst="rect">
            <a:avLst/>
          </a:prstGeom>
          <a:noFill/>
          <a:ln/>
        </p:spPr>
        <p:txBody>
          <a:bodyPr wrap="non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EC · 10.0%</a:t>
            </a:r>
            <a:endParaRPr lang="en-US" sz="1725" dirty="0"/>
          </a:p>
        </p:txBody>
      </p:sp>
      <p:sp>
        <p:nvSpPr>
          <p:cNvPr id="80" name="Text 76"/>
          <p:cNvSpPr/>
          <p:nvPr/>
        </p:nvSpPr>
        <p:spPr>
          <a:xfrm>
            <a:off x="6050038" y="7841049"/>
            <a:ext cx="1004887" cy="266700"/>
          </a:xfrm>
          <a:prstGeom prst="rect">
            <a:avLst/>
          </a:prstGeom>
          <a:noFill/>
          <a:ln/>
        </p:spPr>
        <p:txBody>
          <a:bodyPr wrap="none" lIns="25400" tIns="25400" rIns="25400" bIns="25400" rtlCol="0" anchor="t">
            <a:normAutofit lnSpcReduction="10000"/>
          </a:bodyPr>
          <a:lstStyle/>
          <a:p>
            <a:pPr marL="0" indent="0" algn="l">
              <a:buNone/>
            </a:pPr>
            <a:r>
              <a:rPr lang="en-US" sz="1425" dirty="0">
                <a:solidFill>
                  <a:srgbClr val="595959"/>
                </a:solidFill>
                <a:latin typeface="Calibri" pitchFamily="34" charset="0"/>
                <a:ea typeface="Calibri" pitchFamily="34" charset="-122"/>
                <a:cs typeface="Calibri" pitchFamily="34" charset="-120"/>
              </a:rPr>
              <a:t>3,010 tickets</a:t>
            </a:r>
            <a:endParaRPr lang="en-US" sz="1425" dirty="0"/>
          </a:p>
        </p:txBody>
      </p:sp>
      <p:sp>
        <p:nvSpPr>
          <p:cNvPr id="81" name="Shape 77"/>
          <p:cNvSpPr/>
          <p:nvPr/>
        </p:nvSpPr>
        <p:spPr>
          <a:xfrm>
            <a:off x="7553667" y="7413017"/>
            <a:ext cx="209550" cy="209550"/>
          </a:xfrm>
          <a:prstGeom prst="ellipse">
            <a:avLst/>
          </a:prstGeom>
          <a:solidFill>
            <a:srgbClr val="8A5A12"/>
          </a:solidFill>
          <a:ln/>
        </p:spPr>
        <p:txBody>
          <a:bodyPr/>
          <a:lstStyle/>
          <a:p>
            <a:endParaRPr lang="en-US"/>
          </a:p>
        </p:txBody>
      </p:sp>
      <p:sp>
        <p:nvSpPr>
          <p:cNvPr id="82" name="Text 78"/>
          <p:cNvSpPr/>
          <p:nvPr/>
        </p:nvSpPr>
        <p:spPr>
          <a:xfrm>
            <a:off x="7877517" y="7270142"/>
            <a:ext cx="1003498" cy="304800"/>
          </a:xfrm>
          <a:prstGeom prst="rect">
            <a:avLst/>
          </a:prstGeom>
          <a:noFill/>
          <a:ln/>
        </p:spPr>
        <p:txBody>
          <a:bodyPr wrap="non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ES · 11.5%</a:t>
            </a:r>
            <a:endParaRPr lang="en-US" sz="1725" dirty="0"/>
          </a:p>
        </p:txBody>
      </p:sp>
      <p:sp>
        <p:nvSpPr>
          <p:cNvPr id="83" name="Text 79"/>
          <p:cNvSpPr/>
          <p:nvPr/>
        </p:nvSpPr>
        <p:spPr>
          <a:xfrm>
            <a:off x="7877517" y="7436644"/>
            <a:ext cx="1003498" cy="266700"/>
          </a:xfrm>
          <a:prstGeom prst="rect">
            <a:avLst/>
          </a:prstGeom>
          <a:noFill/>
          <a:ln/>
        </p:spPr>
        <p:txBody>
          <a:bodyPr wrap="none" lIns="25400" tIns="25400" rIns="25400" bIns="25400" rtlCol="0" anchor="t">
            <a:normAutofit lnSpcReduction="10000"/>
          </a:bodyPr>
          <a:lstStyle/>
          <a:p>
            <a:pPr marL="0" indent="0" algn="l">
              <a:buNone/>
            </a:pPr>
            <a:r>
              <a:rPr lang="en-US" sz="1425" dirty="0">
                <a:solidFill>
                  <a:srgbClr val="595959"/>
                </a:solidFill>
                <a:latin typeface="Calibri" pitchFamily="34" charset="0"/>
                <a:ea typeface="Calibri" pitchFamily="34" charset="-122"/>
                <a:cs typeface="Calibri" pitchFamily="34" charset="-120"/>
              </a:rPr>
              <a:t>4,105 tickets</a:t>
            </a:r>
            <a:endParaRPr lang="en-US" sz="1425" dirty="0"/>
          </a:p>
        </p:txBody>
      </p:sp>
      <p:sp>
        <p:nvSpPr>
          <p:cNvPr id="84" name="Shape 80"/>
          <p:cNvSpPr/>
          <p:nvPr/>
        </p:nvSpPr>
        <p:spPr>
          <a:xfrm>
            <a:off x="4651397" y="6414122"/>
            <a:ext cx="209550" cy="209550"/>
          </a:xfrm>
          <a:prstGeom prst="ellipse">
            <a:avLst/>
          </a:prstGeom>
          <a:solidFill>
            <a:srgbClr val="8A5A12"/>
          </a:solidFill>
          <a:ln/>
        </p:spPr>
        <p:txBody>
          <a:bodyPr/>
          <a:lstStyle/>
          <a:p>
            <a:endParaRPr lang="en-US"/>
          </a:p>
        </p:txBody>
      </p:sp>
      <p:sp>
        <p:nvSpPr>
          <p:cNvPr id="85" name="Text 81"/>
          <p:cNvSpPr/>
          <p:nvPr/>
        </p:nvSpPr>
        <p:spPr>
          <a:xfrm>
            <a:off x="4975247" y="6271247"/>
            <a:ext cx="1054695" cy="304800"/>
          </a:xfrm>
          <a:prstGeom prst="rect">
            <a:avLst/>
          </a:prstGeom>
          <a:noFill/>
          <a:ln/>
        </p:spPr>
        <p:txBody>
          <a:bodyPr wrap="non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ITS · 15.8%</a:t>
            </a:r>
            <a:endParaRPr lang="en-US" sz="1725" dirty="0"/>
          </a:p>
        </p:txBody>
      </p:sp>
      <p:sp>
        <p:nvSpPr>
          <p:cNvPr id="86" name="Text 82"/>
          <p:cNvSpPr/>
          <p:nvPr/>
        </p:nvSpPr>
        <p:spPr>
          <a:xfrm>
            <a:off x="4975247" y="6537947"/>
            <a:ext cx="1054695" cy="266700"/>
          </a:xfrm>
          <a:prstGeom prst="rect">
            <a:avLst/>
          </a:prstGeom>
          <a:noFill/>
          <a:ln/>
        </p:spPr>
        <p:txBody>
          <a:bodyPr wrap="none" lIns="25400" tIns="25400" rIns="25400" bIns="25400" rtlCol="0" anchor="t">
            <a:normAutofit lnSpcReduction="10000"/>
          </a:bodyPr>
          <a:lstStyle/>
          <a:p>
            <a:pPr marL="0" indent="0" algn="l">
              <a:buNone/>
            </a:pPr>
            <a:r>
              <a:rPr lang="en-US" sz="1425" dirty="0">
                <a:solidFill>
                  <a:srgbClr val="595959"/>
                </a:solidFill>
                <a:latin typeface="Calibri" pitchFamily="34" charset="0"/>
                <a:ea typeface="Calibri" pitchFamily="34" charset="-122"/>
                <a:cs typeface="Calibri" pitchFamily="34" charset="-120"/>
              </a:rPr>
              <a:t>2,366 tickets</a:t>
            </a:r>
            <a:endParaRPr lang="en-US" sz="1425" dirty="0"/>
          </a:p>
        </p:txBody>
      </p:sp>
      <p:sp>
        <p:nvSpPr>
          <p:cNvPr id="87" name="Shape 83"/>
          <p:cNvSpPr/>
          <p:nvPr/>
        </p:nvSpPr>
        <p:spPr>
          <a:xfrm>
            <a:off x="3703445" y="9364345"/>
            <a:ext cx="209550" cy="209550"/>
          </a:xfrm>
          <a:prstGeom prst="ellipse">
            <a:avLst/>
          </a:prstGeom>
          <a:solidFill>
            <a:srgbClr val="2F5F1F"/>
          </a:solidFill>
          <a:ln/>
        </p:spPr>
        <p:txBody>
          <a:bodyPr/>
          <a:lstStyle/>
          <a:p>
            <a:endParaRPr lang="en-US"/>
          </a:p>
        </p:txBody>
      </p:sp>
      <p:sp>
        <p:nvSpPr>
          <p:cNvPr id="88" name="Text 84"/>
          <p:cNvSpPr/>
          <p:nvPr/>
        </p:nvSpPr>
        <p:spPr>
          <a:xfrm>
            <a:off x="4027295" y="9221470"/>
            <a:ext cx="1003498" cy="304800"/>
          </a:xfrm>
          <a:prstGeom prst="rect">
            <a:avLst/>
          </a:prstGeom>
          <a:noFill/>
          <a:ln/>
        </p:spPr>
        <p:txBody>
          <a:bodyPr wrap="non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SE · 3.1%</a:t>
            </a:r>
            <a:endParaRPr lang="en-US" sz="1725" dirty="0"/>
          </a:p>
        </p:txBody>
      </p:sp>
      <p:sp>
        <p:nvSpPr>
          <p:cNvPr id="89" name="Text 85"/>
          <p:cNvSpPr/>
          <p:nvPr/>
        </p:nvSpPr>
        <p:spPr>
          <a:xfrm>
            <a:off x="4027295" y="9488170"/>
            <a:ext cx="1003498" cy="266700"/>
          </a:xfrm>
          <a:prstGeom prst="rect">
            <a:avLst/>
          </a:prstGeom>
          <a:noFill/>
          <a:ln/>
        </p:spPr>
        <p:txBody>
          <a:bodyPr wrap="none" lIns="25400" tIns="25400" rIns="25400" bIns="25400" rtlCol="0" anchor="t">
            <a:normAutofit lnSpcReduction="10000"/>
          </a:bodyPr>
          <a:lstStyle/>
          <a:p>
            <a:pPr marL="0" indent="0" algn="l">
              <a:buNone/>
            </a:pPr>
            <a:r>
              <a:rPr lang="en-US" sz="1425" dirty="0">
                <a:solidFill>
                  <a:srgbClr val="595959"/>
                </a:solidFill>
                <a:latin typeface="Calibri" pitchFamily="34" charset="0"/>
                <a:ea typeface="Calibri" pitchFamily="34" charset="-122"/>
                <a:cs typeface="Calibri" pitchFamily="34" charset="-120"/>
              </a:rPr>
              <a:t>1,798 tickets</a:t>
            </a:r>
            <a:endParaRPr lang="en-US" sz="1425" dirty="0"/>
          </a:p>
        </p:txBody>
      </p:sp>
      <p:sp>
        <p:nvSpPr>
          <p:cNvPr id="90" name="Text 86"/>
          <p:cNvSpPr/>
          <p:nvPr/>
        </p:nvSpPr>
        <p:spPr>
          <a:xfrm>
            <a:off x="1333500" y="10278070"/>
            <a:ext cx="172839"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595959"/>
                </a:solidFill>
                <a:latin typeface="Calibri" pitchFamily="34" charset="0"/>
                <a:ea typeface="Calibri" pitchFamily="34" charset="-122"/>
                <a:cs typeface="Calibri" pitchFamily="34" charset="-120"/>
              </a:rPr>
              <a:t>0</a:t>
            </a:r>
            <a:endParaRPr lang="en-US" sz="1500" dirty="0"/>
          </a:p>
        </p:txBody>
      </p:sp>
      <p:sp>
        <p:nvSpPr>
          <p:cNvPr id="91" name="Text 87"/>
          <p:cNvSpPr/>
          <p:nvPr/>
        </p:nvSpPr>
        <p:spPr>
          <a:xfrm>
            <a:off x="4730175" y="9935458"/>
            <a:ext cx="1418173"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404040"/>
                </a:solidFill>
                <a:latin typeface="Calibri" pitchFamily="34" charset="0"/>
                <a:ea typeface="Calibri" pitchFamily="34" charset="-122"/>
                <a:cs typeface="Calibri" pitchFamily="34" charset="-120"/>
              </a:rPr>
              <a:t>Ticket volume →</a:t>
            </a:r>
            <a:endParaRPr lang="en-US" sz="1500" dirty="0"/>
          </a:p>
        </p:txBody>
      </p:sp>
      <p:sp>
        <p:nvSpPr>
          <p:cNvPr id="92" name="Text 88"/>
          <p:cNvSpPr/>
          <p:nvPr/>
        </p:nvSpPr>
        <p:spPr>
          <a:xfrm>
            <a:off x="9253935" y="10278070"/>
            <a:ext cx="509984"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595959"/>
                </a:solidFill>
                <a:latin typeface="Calibri" pitchFamily="34" charset="0"/>
                <a:ea typeface="Calibri" pitchFamily="34" charset="-122"/>
                <a:cs typeface="Calibri" pitchFamily="34" charset="-120"/>
              </a:rPr>
              <a:t>5,000</a:t>
            </a:r>
            <a:endParaRPr lang="en-US" sz="1500" dirty="0"/>
          </a:p>
        </p:txBody>
      </p:sp>
      <p:sp>
        <p:nvSpPr>
          <p:cNvPr id="93" name="Shape 89"/>
          <p:cNvSpPr/>
          <p:nvPr/>
        </p:nvSpPr>
        <p:spPr>
          <a:xfrm>
            <a:off x="10106819" y="1428750"/>
            <a:ext cx="7533481" cy="3852863"/>
          </a:xfrm>
          <a:prstGeom prst="rect">
            <a:avLst/>
          </a:prstGeom>
          <a:solidFill>
            <a:srgbClr val="F1F6F2"/>
          </a:solidFill>
          <a:ln/>
        </p:spPr>
        <p:txBody>
          <a:bodyPr/>
          <a:lstStyle/>
          <a:p>
            <a:endParaRPr lang="en-US"/>
          </a:p>
        </p:txBody>
      </p:sp>
      <p:sp>
        <p:nvSpPr>
          <p:cNvPr id="94" name="Text 90"/>
          <p:cNvSpPr/>
          <p:nvPr/>
        </p:nvSpPr>
        <p:spPr>
          <a:xfrm>
            <a:off x="10373519" y="1657350"/>
            <a:ext cx="7700090"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A1A1A"/>
                </a:solidFill>
                <a:latin typeface="Calibri" pitchFamily="34" charset="0"/>
                <a:ea typeface="Calibri" pitchFamily="34" charset="-122"/>
                <a:cs typeface="Calibri" pitchFamily="34" charset="-120"/>
              </a:rPr>
              <a:t>Data comments:</a:t>
            </a:r>
            <a:endParaRPr lang="en-US" sz="1950" dirty="0"/>
          </a:p>
        </p:txBody>
      </p:sp>
      <p:sp>
        <p:nvSpPr>
          <p:cNvPr id="95" name="Text 91"/>
          <p:cNvSpPr/>
          <p:nvPr/>
        </p:nvSpPr>
        <p:spPr>
          <a:xfrm>
            <a:off x="10373519" y="2076450"/>
            <a:ext cx="7210084" cy="68699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a:t>
            </a:r>
            <a:r>
              <a:rPr lang="en-US" sz="1800" b="1" dirty="0">
                <a:solidFill>
                  <a:srgbClr val="1A1A1A"/>
                </a:solidFill>
                <a:latin typeface="Calibri" pitchFamily="34" charset="0"/>
                <a:ea typeface="Calibri" pitchFamily="34" charset="-122"/>
                <a:cs typeface="Calibri" pitchFamily="34" charset="-120"/>
              </a:rPr>
              <a:t>Overall trend: </a:t>
            </a:r>
            <a:r>
              <a:rPr lang="en-US" sz="1800" dirty="0">
                <a:solidFill>
                  <a:srgbClr val="1A1A1A"/>
                </a:solidFill>
                <a:latin typeface="Calibri" pitchFamily="34" charset="0"/>
                <a:ea typeface="Calibri" pitchFamily="34" charset="-122"/>
                <a:cs typeface="Calibri" pitchFamily="34" charset="-120"/>
              </a:rPr>
              <a:t>three of four ASPs improved in </a:t>
            </a:r>
            <a:r>
              <a:rPr lang="en-US" dirty="0">
                <a:solidFill>
                  <a:srgbClr val="1A1A1A"/>
                </a:solidFill>
                <a:latin typeface="Calibri" pitchFamily="34" charset="0"/>
                <a:ea typeface="Calibri" pitchFamily="34" charset="-122"/>
                <a:cs typeface="Calibri" pitchFamily="34" charset="-120"/>
              </a:rPr>
              <a:t>July</a:t>
            </a:r>
            <a:r>
              <a:rPr lang="en-US" sz="1800" dirty="0">
                <a:solidFill>
                  <a:srgbClr val="1A1A1A"/>
                </a:solidFill>
                <a:latin typeface="Calibri" pitchFamily="34" charset="0"/>
                <a:ea typeface="Calibri" pitchFamily="34" charset="-122"/>
                <a:cs typeface="Calibri" pitchFamily="34" charset="-120"/>
              </a:rPr>
              <a:t> after the </a:t>
            </a:r>
            <a:r>
              <a:rPr lang="en-US" dirty="0">
                <a:solidFill>
                  <a:srgbClr val="1A1A1A"/>
                </a:solidFill>
                <a:latin typeface="Calibri" pitchFamily="34" charset="0"/>
                <a:ea typeface="Calibri" pitchFamily="34" charset="-122"/>
                <a:cs typeface="Calibri" pitchFamily="34" charset="-120"/>
              </a:rPr>
              <a:t>June</a:t>
            </a:r>
            <a:r>
              <a:rPr lang="en-US" sz="1800" dirty="0">
                <a:solidFill>
                  <a:srgbClr val="1A1A1A"/>
                </a:solidFill>
                <a:latin typeface="Calibri" pitchFamily="34" charset="0"/>
                <a:ea typeface="Calibri" pitchFamily="34" charset="-122"/>
                <a:cs typeface="Calibri" pitchFamily="34" charset="-120"/>
              </a:rPr>
              <a:t> peak, and all four are still above the 5.0% target.</a:t>
            </a:r>
            <a:endParaRPr lang="en-US" sz="1800" dirty="0"/>
          </a:p>
        </p:txBody>
      </p:sp>
      <p:sp>
        <p:nvSpPr>
          <p:cNvPr id="96" name="Text 92"/>
          <p:cNvSpPr/>
          <p:nvPr/>
        </p:nvSpPr>
        <p:spPr>
          <a:xfrm>
            <a:off x="10373519" y="2820591"/>
            <a:ext cx="7210084" cy="68699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a:t>
            </a:r>
            <a:r>
              <a:rPr lang="en-US" sz="1800" b="1" dirty="0">
                <a:solidFill>
                  <a:srgbClr val="1A1A1A"/>
                </a:solidFill>
                <a:latin typeface="Calibri" pitchFamily="34" charset="0"/>
                <a:ea typeface="Calibri" pitchFamily="34" charset="-122"/>
                <a:cs typeface="Calibri" pitchFamily="34" charset="-120"/>
              </a:rPr>
              <a:t>ITS is now the worst </a:t>
            </a:r>
            <a:r>
              <a:rPr lang="en-US" sz="1800" dirty="0">
                <a:solidFill>
                  <a:srgbClr val="1A1A1A"/>
                </a:solidFill>
                <a:latin typeface="Calibri" pitchFamily="34" charset="0"/>
                <a:ea typeface="Calibri" pitchFamily="34" charset="-122"/>
                <a:cs typeface="Calibri" pitchFamily="34" charset="-120"/>
              </a:rPr>
              <a:t>— 15.8% (374 of 2,366), down 3.7pt from June and still the highest rate.</a:t>
            </a:r>
            <a:endParaRPr lang="en-US" sz="1800" dirty="0"/>
          </a:p>
        </p:txBody>
      </p:sp>
      <p:sp>
        <p:nvSpPr>
          <p:cNvPr id="97" name="Text 93"/>
          <p:cNvSpPr/>
          <p:nvPr/>
        </p:nvSpPr>
        <p:spPr>
          <a:xfrm>
            <a:off x="10373519" y="3564731"/>
            <a:ext cx="7210084" cy="68699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a:t>
            </a:r>
            <a:r>
              <a:rPr lang="en-US" sz="1800" b="1" dirty="0">
                <a:solidFill>
                  <a:srgbClr val="1A1A1A"/>
                </a:solidFill>
                <a:latin typeface="Calibri" pitchFamily="34" charset="0"/>
                <a:ea typeface="Calibri" pitchFamily="34" charset="-122"/>
                <a:cs typeface="Calibri" pitchFamily="34" charset="-120"/>
              </a:rPr>
              <a:t>EC improved most </a:t>
            </a:r>
            <a:r>
              <a:rPr lang="en-US" sz="1800" dirty="0">
                <a:solidFill>
                  <a:srgbClr val="1A1A1A"/>
                </a:solidFill>
                <a:latin typeface="Calibri" pitchFamily="34" charset="0"/>
                <a:ea typeface="Calibri" pitchFamily="34" charset="-122"/>
                <a:cs typeface="Calibri" pitchFamily="34" charset="-120"/>
              </a:rPr>
              <a:t>— 10.0% from 15.1%, and now carries 301 overdue tickets.</a:t>
            </a:r>
            <a:endParaRPr lang="en-US" sz="1800" dirty="0"/>
          </a:p>
        </p:txBody>
      </p:sp>
      <p:sp>
        <p:nvSpPr>
          <p:cNvPr id="98" name="Text 94"/>
          <p:cNvSpPr/>
          <p:nvPr/>
        </p:nvSpPr>
        <p:spPr>
          <a:xfrm>
            <a:off x="10373519" y="4308872"/>
            <a:ext cx="7700090" cy="362545"/>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a:t>
            </a:r>
            <a:r>
              <a:rPr lang="en-US" sz="1800" b="1" dirty="0">
                <a:solidFill>
                  <a:srgbClr val="1A1A1A"/>
                </a:solidFill>
                <a:latin typeface="Calibri" pitchFamily="34" charset="0"/>
                <a:ea typeface="Calibri" pitchFamily="34" charset="-122"/>
                <a:cs typeface="Calibri" pitchFamily="34" charset="-120"/>
              </a:rPr>
              <a:t>ES handles the most tickets but got worse </a:t>
            </a:r>
            <a:r>
              <a:rPr lang="en-US" sz="1800" dirty="0">
                <a:solidFill>
                  <a:srgbClr val="1A1A1A"/>
                </a:solidFill>
                <a:latin typeface="Calibri" pitchFamily="34" charset="0"/>
                <a:ea typeface="Calibri" pitchFamily="34" charset="-122"/>
                <a:cs typeface="Calibri" pitchFamily="34" charset="-120"/>
              </a:rPr>
              <a:t>— 11.5% on 4,105 tickets.</a:t>
            </a:r>
            <a:endParaRPr lang="en-US" sz="1800" dirty="0"/>
          </a:p>
        </p:txBody>
      </p:sp>
      <p:sp>
        <p:nvSpPr>
          <p:cNvPr id="99" name="Text 95"/>
          <p:cNvSpPr/>
          <p:nvPr/>
        </p:nvSpPr>
        <p:spPr>
          <a:xfrm>
            <a:off x="10373519" y="4728567"/>
            <a:ext cx="7700090" cy="362545"/>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a:t>
            </a:r>
            <a:r>
              <a:rPr lang="en-US" sz="1800" b="1" dirty="0">
                <a:solidFill>
                  <a:srgbClr val="1A1A1A"/>
                </a:solidFill>
                <a:latin typeface="Calibri" pitchFamily="34" charset="0"/>
                <a:ea typeface="Calibri" pitchFamily="34" charset="-122"/>
                <a:cs typeface="Calibri" pitchFamily="34" charset="-120"/>
              </a:rPr>
              <a:t>SE (in-house) improved </a:t>
            </a:r>
            <a:r>
              <a:rPr lang="en-US" sz="1800" dirty="0">
                <a:solidFill>
                  <a:srgbClr val="1A1A1A"/>
                </a:solidFill>
                <a:latin typeface="Calibri" pitchFamily="34" charset="0"/>
                <a:ea typeface="Calibri" pitchFamily="34" charset="-122"/>
                <a:cs typeface="Calibri" pitchFamily="34" charset="-120"/>
              </a:rPr>
              <a:t>— 3.1% from 10.6% in June.</a:t>
            </a:r>
            <a:endParaRPr lang="en-US" sz="1800" dirty="0"/>
          </a:p>
        </p:txBody>
      </p:sp>
      <p:sp>
        <p:nvSpPr>
          <p:cNvPr id="100" name="Shape 96"/>
          <p:cNvSpPr/>
          <p:nvPr/>
        </p:nvSpPr>
        <p:spPr>
          <a:xfrm>
            <a:off x="10106819" y="5434013"/>
            <a:ext cx="7533481" cy="3013472"/>
          </a:xfrm>
          <a:prstGeom prst="rect">
            <a:avLst/>
          </a:prstGeom>
          <a:solidFill>
            <a:srgbClr val="F1F6F2"/>
          </a:solidFill>
          <a:ln/>
        </p:spPr>
        <p:txBody>
          <a:bodyPr/>
          <a:lstStyle/>
          <a:p>
            <a:endParaRPr lang="en-US"/>
          </a:p>
        </p:txBody>
      </p:sp>
      <p:sp>
        <p:nvSpPr>
          <p:cNvPr id="101" name="Shape 97"/>
          <p:cNvSpPr/>
          <p:nvPr/>
        </p:nvSpPr>
        <p:spPr>
          <a:xfrm>
            <a:off x="10106819" y="5434013"/>
            <a:ext cx="38100" cy="3013472"/>
          </a:xfrm>
          <a:prstGeom prst="rect">
            <a:avLst/>
          </a:prstGeom>
          <a:solidFill>
            <a:srgbClr val="C0504D"/>
          </a:solidFill>
          <a:ln/>
        </p:spPr>
        <p:txBody>
          <a:bodyPr/>
          <a:lstStyle/>
          <a:p>
            <a:endParaRPr lang="en-US"/>
          </a:p>
        </p:txBody>
      </p:sp>
      <p:sp>
        <p:nvSpPr>
          <p:cNvPr id="102" name="Text 98"/>
          <p:cNvSpPr/>
          <p:nvPr/>
        </p:nvSpPr>
        <p:spPr>
          <a:xfrm>
            <a:off x="10411619" y="5662613"/>
            <a:ext cx="7658180"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A1A1A"/>
                </a:solidFill>
                <a:latin typeface="Calibri" pitchFamily="34" charset="0"/>
                <a:ea typeface="Calibri" pitchFamily="34" charset="-122"/>
                <a:cs typeface="Calibri" pitchFamily="34" charset="-120"/>
              </a:rPr>
              <a:t>Problems:</a:t>
            </a:r>
            <a:endParaRPr lang="en-US" sz="1950" dirty="0"/>
          </a:p>
        </p:txBody>
      </p:sp>
      <p:sp>
        <p:nvSpPr>
          <p:cNvPr id="103" name="Text 99"/>
          <p:cNvSpPr/>
          <p:nvPr/>
        </p:nvSpPr>
        <p:spPr>
          <a:xfrm>
            <a:off x="10411619" y="6081713"/>
            <a:ext cx="7170841" cy="68699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a:t>
            </a:r>
            <a:r>
              <a:rPr lang="en-US" sz="1800" b="1" dirty="0">
                <a:solidFill>
                  <a:srgbClr val="1A1A1A"/>
                </a:solidFill>
                <a:latin typeface="Calibri" pitchFamily="34" charset="0"/>
                <a:ea typeface="Calibri" pitchFamily="34" charset="-122"/>
                <a:cs typeface="Calibri" pitchFamily="34" charset="-120"/>
              </a:rPr>
              <a:t>Waiting for spare parts: </a:t>
            </a:r>
            <a:r>
              <a:rPr lang="en-US" sz="1800" dirty="0">
                <a:solidFill>
                  <a:srgbClr val="1A1A1A"/>
                </a:solidFill>
                <a:latin typeface="Calibri" pitchFamily="34" charset="0"/>
                <a:ea typeface="Calibri" pitchFamily="34" charset="-122"/>
                <a:cs typeface="Calibri" pitchFamily="34" charset="-120"/>
              </a:rPr>
              <a:t>technicians arrived on time but had to wait days for spare parts (fans, boards, modules).</a:t>
            </a:r>
            <a:endParaRPr lang="en-US" sz="1800" dirty="0"/>
          </a:p>
        </p:txBody>
      </p:sp>
      <p:sp>
        <p:nvSpPr>
          <p:cNvPr id="104" name="Text 100"/>
          <p:cNvSpPr/>
          <p:nvPr/>
        </p:nvSpPr>
        <p:spPr>
          <a:xfrm>
            <a:off x="10411619" y="6825853"/>
            <a:ext cx="7170841" cy="68699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a:t>
            </a:r>
            <a:r>
              <a:rPr lang="en-US" sz="1800" b="1" dirty="0">
                <a:solidFill>
                  <a:srgbClr val="1A1A1A"/>
                </a:solidFill>
                <a:latin typeface="Calibri" pitchFamily="34" charset="0"/>
                <a:ea typeface="Calibri" pitchFamily="34" charset="-122"/>
                <a:cs typeface="Calibri" pitchFamily="34" charset="-120"/>
              </a:rPr>
              <a:t>Human error: </a:t>
            </a:r>
            <a:r>
              <a:rPr lang="en-US" sz="1800" dirty="0">
                <a:solidFill>
                  <a:srgbClr val="1A1A1A"/>
                </a:solidFill>
                <a:latin typeface="Calibri" pitchFamily="34" charset="0"/>
                <a:ea typeface="Calibri" pitchFamily="34" charset="-122"/>
                <a:cs typeface="Calibri" pitchFamily="34" charset="-120"/>
              </a:rPr>
              <a:t>technicians fixed the charger but forgot to close the ticket on the app.</a:t>
            </a:r>
            <a:endParaRPr lang="en-US" sz="1800" dirty="0"/>
          </a:p>
        </p:txBody>
      </p:sp>
      <p:sp>
        <p:nvSpPr>
          <p:cNvPr id="105" name="Text 101"/>
          <p:cNvSpPr/>
          <p:nvPr/>
        </p:nvSpPr>
        <p:spPr>
          <a:xfrm>
            <a:off x="10411619" y="7569994"/>
            <a:ext cx="7170841" cy="68699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a:t>
            </a:r>
            <a:r>
              <a:rPr lang="en-US" sz="1800" b="1" dirty="0">
                <a:solidFill>
                  <a:srgbClr val="1A1A1A"/>
                </a:solidFill>
                <a:latin typeface="Calibri" pitchFamily="34" charset="0"/>
                <a:ea typeface="Calibri" pitchFamily="34" charset="-122"/>
                <a:cs typeface="Calibri" pitchFamily="34" charset="-120"/>
              </a:rPr>
              <a:t>System problems: </a:t>
            </a:r>
            <a:r>
              <a:rPr lang="en-US" sz="1800" dirty="0">
                <a:solidFill>
                  <a:srgbClr val="1A1A1A"/>
                </a:solidFill>
                <a:latin typeface="Calibri" pitchFamily="34" charset="0"/>
                <a:ea typeface="Calibri" pitchFamily="34" charset="-122"/>
                <a:cs typeface="Calibri" pitchFamily="34" charset="-120"/>
              </a:rPr>
              <a:t>tickets that were already fixed were re-opened by customers, or buried under duplicate tickets.</a:t>
            </a:r>
            <a:endParaRPr lang="en-US" sz="1800" dirty="0"/>
          </a:p>
        </p:txBody>
      </p:sp>
      <p:sp>
        <p:nvSpPr>
          <p:cNvPr id="106" name="Shape 102"/>
          <p:cNvSpPr/>
          <p:nvPr/>
        </p:nvSpPr>
        <p:spPr>
          <a:xfrm>
            <a:off x="10106819" y="8599884"/>
            <a:ext cx="7533481" cy="1601986"/>
          </a:xfrm>
          <a:prstGeom prst="rect">
            <a:avLst/>
          </a:prstGeom>
          <a:solidFill>
            <a:srgbClr val="E2EFDA"/>
          </a:solidFill>
          <a:ln/>
        </p:spPr>
        <p:txBody>
          <a:bodyPr/>
          <a:lstStyle/>
          <a:p>
            <a:endParaRPr lang="en-US" dirty="0"/>
          </a:p>
        </p:txBody>
      </p:sp>
      <p:sp>
        <p:nvSpPr>
          <p:cNvPr id="107" name="Text 103"/>
          <p:cNvSpPr/>
          <p:nvPr/>
        </p:nvSpPr>
        <p:spPr>
          <a:xfrm>
            <a:off x="10373519" y="8828484"/>
            <a:ext cx="7700090"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A1A1A"/>
                </a:solidFill>
                <a:latin typeface="Calibri" pitchFamily="34" charset="0"/>
                <a:ea typeface="Calibri" pitchFamily="34" charset="-122"/>
                <a:cs typeface="Calibri" pitchFamily="34" charset="-120"/>
              </a:rPr>
              <a:t>Solutions:</a:t>
            </a:r>
            <a:endParaRPr lang="en-US" sz="1950" dirty="0"/>
          </a:p>
        </p:txBody>
      </p:sp>
      <p:sp>
        <p:nvSpPr>
          <p:cNvPr id="108" name="Text 104"/>
          <p:cNvSpPr/>
          <p:nvPr/>
        </p:nvSpPr>
        <p:spPr>
          <a:xfrm>
            <a:off x="10373519" y="9066311"/>
            <a:ext cx="7700090" cy="362545"/>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Keep extra spare parts closer to the technician teams.</a:t>
            </a:r>
            <a:endParaRPr lang="en-US" sz="1800" dirty="0"/>
          </a:p>
        </p:txBody>
      </p:sp>
      <p:sp>
        <p:nvSpPr>
          <p:cNvPr id="109" name="Text 105"/>
          <p:cNvSpPr/>
          <p:nvPr/>
        </p:nvSpPr>
        <p:spPr>
          <a:xfrm>
            <a:off x="10369709" y="9362650"/>
            <a:ext cx="7700090" cy="362545"/>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Require technicians to close tickets on the app right after the repair.</a:t>
            </a:r>
            <a:endParaRPr lang="en-US" sz="1800" dirty="0"/>
          </a:p>
        </p:txBody>
      </p:sp>
      <p:sp>
        <p:nvSpPr>
          <p:cNvPr id="110" name="Text 106"/>
          <p:cNvSpPr/>
          <p:nvPr/>
        </p:nvSpPr>
        <p:spPr>
          <a:xfrm>
            <a:off x="10369709" y="9640066"/>
            <a:ext cx="7700090" cy="362545"/>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Automatically delete duplicate tickets.</a:t>
            </a:r>
            <a:endParaRPr lang="en-US" sz="1800" dirty="0"/>
          </a:p>
        </p:txBody>
      </p:sp>
      <p:sp>
        <p:nvSpPr>
          <p:cNvPr id="114" name="Text 45">
            <a:extLst>
              <a:ext uri="{FF2B5EF4-FFF2-40B4-BE49-F238E27FC236}">
                <a16:creationId xmlns:a16="http://schemas.microsoft.com/office/drawing/2014/main" id="{BB0C7D89-755E-E153-6668-C674AB9C502E}"/>
              </a:ext>
            </a:extLst>
          </p:cNvPr>
          <p:cNvSpPr/>
          <p:nvPr/>
        </p:nvSpPr>
        <p:spPr>
          <a:xfrm>
            <a:off x="3851473" y="4441428"/>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2F5F1F"/>
                </a:solidFill>
                <a:latin typeface="Calibri" pitchFamily="34" charset="0"/>
                <a:ea typeface="Calibri" pitchFamily="34" charset="-122"/>
                <a:cs typeface="Calibri" pitchFamily="34" charset="-120"/>
              </a:rPr>
              <a:t>4.4%</a:t>
            </a:r>
            <a:endParaRPr lang="en-US" sz="1725" dirty="0"/>
          </a:p>
        </p:txBody>
      </p:sp>
      <p:sp>
        <p:nvSpPr>
          <p:cNvPr id="502" name="AvgLine2"/>
          <p:cNvSpPr/>
          <p:nvPr/>
        </p:nvSpPr>
        <p:spPr>
          <a:xfrm>
            <a:off x="1333500" y="7008993"/>
            <a:ext cx="8356600" cy="25400"/>
          </a:xfrm>
          <a:prstGeom prst="rect">
            <a:avLst/>
          </a:prstGeom>
          <a:solidFill>
            <a:srgbClr val="1F7A5C">
              <a:alpha val="70000"/>
            </a:srgbClr>
          </a:solidFill>
          <a:ln>
            <a:noFill/>
          </a:ln>
        </p:spPr>
        <p:txBody>
          <a:bodyPr/>
          <a:lstStyle/>
          <a:p>
            <a:endParaRPr lang="en-US" dirty="0"/>
          </a:p>
        </p:txBody>
      </p:sp>
      <p:sp>
        <p:nvSpPr>
          <p:cNvPr id="503" name="AvgLine2Label"/>
          <p:cNvSpPr txBox="1"/>
          <p:nvPr/>
        </p:nvSpPr>
        <p:spPr>
          <a:xfrm>
            <a:off x="1398756" y="7034393"/>
            <a:ext cx="2794000" cy="266700"/>
          </a:xfrm>
          <a:prstGeom prst="rect">
            <a:avLst/>
          </a:prstGeom>
          <a:noFill/>
        </p:spPr>
        <p:txBody>
          <a:bodyPr wrap="none" lIns="0" tIns="0" rIns="0" bIns="0">
            <a:noAutofit/>
          </a:bodyPr>
          <a:lstStyle/>
          <a:p>
            <a:pPr marL="0" indent="0" algn="l">
              <a:buNone/>
            </a:pPr>
            <a:r>
              <a:rPr lang="en-US" sz="1425" b="1" dirty="0">
                <a:solidFill>
                  <a:srgbClr val="1F7A5C"/>
                </a:solidFill>
                <a:latin typeface="Calibri" pitchFamily="34" charset="0"/>
              </a:rPr>
              <a:t>EC/ES/ITS avg: 12.1%</a:t>
            </a:r>
          </a:p>
        </p:txBody>
      </p:sp>
      <p:sp>
        <p:nvSpPr>
          <p:cNvPr id="448" name="AvgLine BSS">
            <a:extLst>
              <a:ext uri="{FF2B5EF4-FFF2-40B4-BE49-F238E27FC236}">
                <a16:creationId xmlns:a16="http://schemas.microsoft.com/office/drawing/2014/main" id="{36D07568-4A90-C92D-E44F-1388F4296E62}"/>
              </a:ext>
            </a:extLst>
          </p:cNvPr>
          <p:cNvSpPr/>
          <p:nvPr/>
        </p:nvSpPr>
        <p:spPr>
          <a:xfrm>
            <a:off x="1333500" y="7649210"/>
            <a:ext cx="8356600" cy="25400"/>
          </a:xfrm>
          <a:prstGeom prst="rect">
            <a:avLst/>
          </a:prstGeom>
          <a:solidFill>
            <a:srgbClr val="2F5597">
              <a:alpha val="70000"/>
            </a:srgbClr>
          </a:solidFill>
          <a:ln>
            <a:noFill/>
          </a:ln>
        </p:spPr>
        <p:txBody>
          <a:bodyPr/>
          <a:lstStyle/>
          <a:p>
            <a:endParaRPr lang="en-US">
              <a:solidFill>
                <a:srgbClr val="2F5597"/>
              </a:solidFill>
            </a:endParaRPr>
          </a:p>
        </p:txBody>
      </p:sp>
      <p:sp>
        <p:nvSpPr>
          <p:cNvPr id="452" name="AvgLine Label BSS">
            <a:extLst>
              <a:ext uri="{FF2B5EF4-FFF2-40B4-BE49-F238E27FC236}">
                <a16:creationId xmlns:a16="http://schemas.microsoft.com/office/drawing/2014/main" id="{E7A166DB-10F9-F314-81FB-57252E1E3885}"/>
              </a:ext>
            </a:extLst>
          </p:cNvPr>
          <p:cNvSpPr txBox="1"/>
          <p:nvPr/>
        </p:nvSpPr>
        <p:spPr>
          <a:xfrm>
            <a:off x="1422400" y="7689850"/>
            <a:ext cx="2413000" cy="266700"/>
          </a:xfrm>
          <a:prstGeom prst="rect">
            <a:avLst/>
          </a:prstGeom>
          <a:noFill/>
        </p:spPr>
        <p:txBody>
          <a:bodyPr wrap="none" lIns="0" tIns="0" rIns="0" bIns="0">
            <a:noAutofit/>
          </a:bodyPr>
          <a:lstStyle/>
          <a:p>
            <a:pPr marL="0" indent="0" algn="l">
              <a:buNone/>
            </a:pPr>
            <a:r>
              <a:rPr lang="en-US" sz="1425" b="1" dirty="0">
                <a:solidFill>
                  <a:srgbClr val="2F5597"/>
                </a:solidFill>
                <a:latin typeface="Calibri" pitchFamily="34" charset="0"/>
                <a:ea typeface="Calibri" pitchFamily="34" charset="-122"/>
                <a:cs typeface="Calibri" pitchFamily="34" charset="-120"/>
              </a:rPr>
              <a:t>All avg: 10.6%</a:t>
            </a:r>
          </a:p>
        </p:txBody>
      </p:sp>
    </p:spTree>
    <p:extLst>
      <p:ext uri="{BB962C8B-B14F-4D97-AF65-F5344CB8AC3E}">
        <p14:creationId xmlns:p14="http://schemas.microsoft.com/office/powerpoint/2010/main" val="300223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114300" y="342900"/>
            <a:ext cx="571500" cy="571500"/>
          </a:xfrm>
          <a:prstGeom prst="rect">
            <a:avLst/>
          </a:prstGeom>
        </p:spPr>
      </p:pic>
      <p:pic>
        <p:nvPicPr>
          <p:cNvPr id="3" name="Image 1" descr="preencoded.png"/>
          <p:cNvPicPr>
            <a:picLocks noChangeAspect="1"/>
          </p:cNvPicPr>
          <p:nvPr/>
        </p:nvPicPr>
        <p:blipFill>
          <a:blip r:embed="rId4"/>
          <a:srcRect t="49" b="49"/>
          <a:stretch/>
        </p:blipFill>
        <p:spPr>
          <a:xfrm>
            <a:off x="14001750" y="114300"/>
            <a:ext cx="4114800" cy="914400"/>
          </a:xfrm>
          <a:prstGeom prst="rect">
            <a:avLst/>
          </a:prstGeom>
        </p:spPr>
      </p:pic>
      <p:sp>
        <p:nvSpPr>
          <p:cNvPr id="4" name="Text 0"/>
          <p:cNvSpPr/>
          <p:nvPr/>
        </p:nvSpPr>
        <p:spPr>
          <a:xfrm>
            <a:off x="876300" y="419100"/>
            <a:ext cx="6398478" cy="508000"/>
          </a:xfrm>
          <a:prstGeom prst="rect">
            <a:avLst/>
          </a:prstGeom>
          <a:noFill/>
          <a:ln/>
        </p:spPr>
        <p:txBody>
          <a:bodyPr wrap="square" lIns="25400" tIns="25400" rIns="25400" bIns="25400" rtlCol="0" anchor="t">
            <a:normAutofit/>
          </a:bodyPr>
          <a:lstStyle/>
          <a:p>
            <a:pPr marL="0" indent="0" algn="l">
              <a:buNone/>
            </a:pPr>
            <a:r>
              <a:rPr lang="en-US" sz="3000" b="1" dirty="0">
                <a:solidFill>
                  <a:srgbClr val="1A1A1A"/>
                </a:solidFill>
                <a:latin typeface="Calibri" pitchFamily="34" charset="0"/>
                <a:ea typeface="Calibri" pitchFamily="34" charset="-122"/>
                <a:cs typeface="Calibri" pitchFamily="34" charset="-120"/>
              </a:rPr>
              <a:t>1.5. SLA performance by ASP, SE: BSS</a:t>
            </a:r>
            <a:endParaRPr lang="en-US" sz="3000" dirty="0"/>
          </a:p>
        </p:txBody>
      </p:sp>
      <p:sp>
        <p:nvSpPr>
          <p:cNvPr id="5" name="Shape 1"/>
          <p:cNvSpPr/>
          <p:nvPr/>
        </p:nvSpPr>
        <p:spPr>
          <a:xfrm>
            <a:off x="0" y="1152525"/>
            <a:ext cx="18288000" cy="19050"/>
          </a:xfrm>
          <a:prstGeom prst="rect">
            <a:avLst/>
          </a:prstGeom>
          <a:solidFill>
            <a:srgbClr val="A6A6A6"/>
          </a:solidFill>
          <a:ln/>
        </p:spPr>
        <p:txBody>
          <a:bodyPr/>
          <a:lstStyle/>
          <a:p>
            <a:endParaRPr lang="en-US"/>
          </a:p>
        </p:txBody>
      </p:sp>
      <p:sp>
        <p:nvSpPr>
          <p:cNvPr id="6" name="Text 2"/>
          <p:cNvSpPr/>
          <p:nvPr/>
        </p:nvSpPr>
        <p:spPr>
          <a:xfrm>
            <a:off x="647700" y="1428750"/>
            <a:ext cx="9944021"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2F5597"/>
                </a:solidFill>
                <a:latin typeface="Calibri" pitchFamily="34" charset="0"/>
                <a:ea typeface="Calibri" pitchFamily="34" charset="-122"/>
                <a:cs typeface="Calibri" pitchFamily="34" charset="-120"/>
              </a:rPr>
              <a:t>Overdue rate by ASP / SE — M2 → M7 (colour = severity vs the 5.0% target)</a:t>
            </a:r>
            <a:endParaRPr lang="en-US" sz="1875" dirty="0"/>
          </a:p>
        </p:txBody>
      </p:sp>
      <p:sp>
        <p:nvSpPr>
          <p:cNvPr id="8" name="Text 4"/>
          <p:cNvSpPr/>
          <p:nvPr/>
        </p:nvSpPr>
        <p:spPr>
          <a:xfrm>
            <a:off x="1924050" y="2254250"/>
            <a:ext cx="954088"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M2</a:t>
            </a:r>
            <a:endParaRPr lang="en-US" sz="1575" dirty="0"/>
          </a:p>
        </p:txBody>
      </p:sp>
      <p:sp>
        <p:nvSpPr>
          <p:cNvPr id="9" name="Text 5"/>
          <p:cNvSpPr/>
          <p:nvPr/>
        </p:nvSpPr>
        <p:spPr>
          <a:xfrm>
            <a:off x="2878138" y="2254250"/>
            <a:ext cx="954286"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M3</a:t>
            </a:r>
            <a:endParaRPr lang="en-US" sz="1575" dirty="0"/>
          </a:p>
        </p:txBody>
      </p:sp>
      <p:sp>
        <p:nvSpPr>
          <p:cNvPr id="10" name="Text 6"/>
          <p:cNvSpPr/>
          <p:nvPr/>
        </p:nvSpPr>
        <p:spPr>
          <a:xfrm>
            <a:off x="3832424" y="2254250"/>
            <a:ext cx="954088"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M4</a:t>
            </a:r>
            <a:endParaRPr lang="en-US" sz="1575" dirty="0"/>
          </a:p>
        </p:txBody>
      </p:sp>
      <p:sp>
        <p:nvSpPr>
          <p:cNvPr id="11" name="Text 7"/>
          <p:cNvSpPr/>
          <p:nvPr/>
        </p:nvSpPr>
        <p:spPr>
          <a:xfrm>
            <a:off x="4786511" y="2254250"/>
            <a:ext cx="954286"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M5</a:t>
            </a:r>
            <a:endParaRPr lang="en-US" sz="1575" dirty="0"/>
          </a:p>
        </p:txBody>
      </p:sp>
      <p:sp>
        <p:nvSpPr>
          <p:cNvPr id="12" name="Text 8"/>
          <p:cNvSpPr/>
          <p:nvPr/>
        </p:nvSpPr>
        <p:spPr>
          <a:xfrm>
            <a:off x="5740797" y="2254250"/>
            <a:ext cx="954286"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M6</a:t>
            </a:r>
            <a:endParaRPr lang="en-US" sz="1575" dirty="0"/>
          </a:p>
        </p:txBody>
      </p:sp>
      <p:sp>
        <p:nvSpPr>
          <p:cNvPr id="13" name="Text 9"/>
          <p:cNvSpPr/>
          <p:nvPr/>
        </p:nvSpPr>
        <p:spPr>
          <a:xfrm>
            <a:off x="6695083" y="2254250"/>
            <a:ext cx="954088" cy="279400"/>
          </a:xfrm>
          <a:prstGeom prst="rect">
            <a:avLst/>
          </a:prstGeom>
          <a:noFill/>
          <a:ln/>
        </p:spPr>
        <p:txBody>
          <a:bodyPr wrap="square" lIns="25400" tIns="25400" rIns="25400" bIns="25400" rtlCol="0" anchor="t">
            <a:normAutofit lnSpcReduction="10000"/>
          </a:bodyPr>
          <a:lstStyle/>
          <a:p>
            <a:pPr marL="0" indent="0" algn="ctr">
              <a:buNone/>
            </a:pPr>
            <a:r>
              <a:rPr lang="en-US" sz="1575" dirty="0">
                <a:solidFill>
                  <a:srgbClr val="595959"/>
                </a:solidFill>
                <a:latin typeface="Calibri" pitchFamily="34" charset="0"/>
                <a:ea typeface="Calibri" pitchFamily="34" charset="-122"/>
                <a:cs typeface="Calibri" pitchFamily="34" charset="-120"/>
              </a:rPr>
              <a:t>M7</a:t>
            </a:r>
            <a:endParaRPr lang="en-US" sz="1575" dirty="0"/>
          </a:p>
        </p:txBody>
      </p:sp>
      <p:sp>
        <p:nvSpPr>
          <p:cNvPr id="14" name="Text 10"/>
          <p:cNvSpPr/>
          <p:nvPr/>
        </p:nvSpPr>
        <p:spPr>
          <a:xfrm>
            <a:off x="7487245" y="2254250"/>
            <a:ext cx="220027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595959"/>
                </a:solidFill>
                <a:latin typeface="Calibri" pitchFamily="34" charset="0"/>
                <a:ea typeface="Calibri" pitchFamily="34" charset="-122"/>
                <a:cs typeface="Calibri" pitchFamily="34" charset="-120"/>
              </a:rPr>
              <a:t>M7 total · ovd</a:t>
            </a:r>
            <a:endParaRPr lang="en-US" sz="1575" dirty="0"/>
          </a:p>
        </p:txBody>
      </p:sp>
      <p:sp>
        <p:nvSpPr>
          <p:cNvPr id="15" name="Text 11"/>
          <p:cNvSpPr/>
          <p:nvPr/>
        </p:nvSpPr>
        <p:spPr>
          <a:xfrm>
            <a:off x="647700" y="2689225"/>
            <a:ext cx="1362075" cy="3175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A1A1A"/>
                </a:solidFill>
                <a:latin typeface="Calibri" pitchFamily="34" charset="0"/>
                <a:ea typeface="Calibri" pitchFamily="34" charset="-122"/>
                <a:cs typeface="Calibri" pitchFamily="34" charset="-120"/>
              </a:rPr>
              <a:t>EC</a:t>
            </a:r>
            <a:endParaRPr lang="en-US" sz="1800" dirty="0"/>
          </a:p>
        </p:txBody>
      </p:sp>
      <p:sp>
        <p:nvSpPr>
          <p:cNvPr id="16" name="Shape 12"/>
          <p:cNvSpPr/>
          <p:nvPr/>
        </p:nvSpPr>
        <p:spPr>
          <a:xfrm>
            <a:off x="1962150" y="2571750"/>
            <a:ext cx="877888" cy="514350"/>
          </a:xfrm>
          <a:prstGeom prst="rect">
            <a:avLst/>
          </a:prstGeom>
          <a:solidFill>
            <a:srgbClr val="F0F1EE"/>
          </a:solidFill>
          <a:ln/>
        </p:spPr>
        <p:txBody>
          <a:bodyPr/>
          <a:lstStyle/>
          <a:p>
            <a:endParaRPr lang="en-US"/>
          </a:p>
        </p:txBody>
      </p:sp>
      <p:sp>
        <p:nvSpPr>
          <p:cNvPr id="17" name="Text 13"/>
          <p:cNvSpPr/>
          <p:nvPr/>
        </p:nvSpPr>
        <p:spPr>
          <a:xfrm>
            <a:off x="1924050" y="269557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A8ADA4"/>
                </a:solidFill>
                <a:latin typeface="Calibri" pitchFamily="34" charset="0"/>
                <a:ea typeface="Calibri" pitchFamily="34" charset="-122"/>
                <a:cs typeface="Calibri" pitchFamily="34" charset="-120"/>
              </a:rPr>
              <a:t>–</a:t>
            </a:r>
            <a:endParaRPr lang="en-US" sz="1725" dirty="0"/>
          </a:p>
        </p:txBody>
      </p:sp>
      <p:sp>
        <p:nvSpPr>
          <p:cNvPr id="20" name="Shape 16"/>
          <p:cNvSpPr/>
          <p:nvPr/>
        </p:nvSpPr>
        <p:spPr>
          <a:xfrm>
            <a:off x="3870524" y="2571750"/>
            <a:ext cx="877888" cy="514350"/>
          </a:xfrm>
          <a:prstGeom prst="rect">
            <a:avLst/>
          </a:prstGeom>
          <a:solidFill>
            <a:srgbClr val="F0F1EE"/>
          </a:solidFill>
          <a:ln/>
        </p:spPr>
        <p:txBody>
          <a:bodyPr/>
          <a:lstStyle/>
          <a:p>
            <a:endParaRPr lang="en-US"/>
          </a:p>
        </p:txBody>
      </p:sp>
      <p:sp>
        <p:nvSpPr>
          <p:cNvPr id="21" name="Text 17"/>
          <p:cNvSpPr/>
          <p:nvPr/>
        </p:nvSpPr>
        <p:spPr>
          <a:xfrm>
            <a:off x="3832424" y="269557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A8ADA4"/>
                </a:solidFill>
                <a:latin typeface="Calibri" pitchFamily="34" charset="0"/>
                <a:ea typeface="Calibri" pitchFamily="34" charset="-122"/>
                <a:cs typeface="Calibri" pitchFamily="34" charset="-120"/>
              </a:rPr>
              <a:t>–</a:t>
            </a:r>
            <a:endParaRPr lang="en-US" sz="1725" dirty="0"/>
          </a:p>
        </p:txBody>
      </p:sp>
      <p:sp>
        <p:nvSpPr>
          <p:cNvPr id="22" name="Shape 18"/>
          <p:cNvSpPr/>
          <p:nvPr/>
        </p:nvSpPr>
        <p:spPr>
          <a:xfrm>
            <a:off x="4824611" y="2571750"/>
            <a:ext cx="878086" cy="514350"/>
          </a:xfrm>
          <a:prstGeom prst="rect">
            <a:avLst/>
          </a:prstGeom>
          <a:solidFill>
            <a:srgbClr val="DE9285"/>
          </a:solidFill>
          <a:ln/>
        </p:spPr>
        <p:txBody>
          <a:bodyPr/>
          <a:lstStyle/>
          <a:p>
            <a:endParaRPr lang="en-US"/>
          </a:p>
        </p:txBody>
      </p:sp>
      <p:sp>
        <p:nvSpPr>
          <p:cNvPr id="23" name="Text 19"/>
          <p:cNvSpPr/>
          <p:nvPr/>
        </p:nvSpPr>
        <p:spPr>
          <a:xfrm>
            <a:off x="4786511" y="2695575"/>
            <a:ext cx="954286"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5A1A12"/>
                </a:solidFill>
                <a:latin typeface="Calibri" pitchFamily="34" charset="0"/>
                <a:ea typeface="Calibri" pitchFamily="34" charset="-122"/>
                <a:cs typeface="Calibri" pitchFamily="34" charset="-120"/>
              </a:rPr>
              <a:t>82.0%</a:t>
            </a:r>
            <a:endParaRPr lang="en-US" sz="1725" dirty="0"/>
          </a:p>
        </p:txBody>
      </p:sp>
      <p:sp>
        <p:nvSpPr>
          <p:cNvPr id="24" name="Shape 20"/>
          <p:cNvSpPr/>
          <p:nvPr/>
        </p:nvSpPr>
        <p:spPr>
          <a:xfrm>
            <a:off x="5778897" y="2571750"/>
            <a:ext cx="878086" cy="514350"/>
          </a:xfrm>
          <a:prstGeom prst="rect">
            <a:avLst/>
          </a:prstGeom>
          <a:solidFill>
            <a:srgbClr val="F3C7BB"/>
          </a:solidFill>
          <a:ln/>
        </p:spPr>
        <p:txBody>
          <a:bodyPr/>
          <a:lstStyle/>
          <a:p>
            <a:endParaRPr lang="en-US"/>
          </a:p>
        </p:txBody>
      </p:sp>
      <p:sp>
        <p:nvSpPr>
          <p:cNvPr id="25" name="Text 21"/>
          <p:cNvSpPr/>
          <p:nvPr/>
        </p:nvSpPr>
        <p:spPr>
          <a:xfrm>
            <a:off x="5740797" y="2695575"/>
            <a:ext cx="954286"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96382A"/>
                </a:solidFill>
                <a:latin typeface="Calibri" pitchFamily="34" charset="0"/>
                <a:ea typeface="Calibri" pitchFamily="34" charset="-122"/>
                <a:cs typeface="Calibri" pitchFamily="34" charset="-120"/>
              </a:rPr>
              <a:t>34.9%</a:t>
            </a:r>
            <a:endParaRPr lang="en-US" sz="1725" dirty="0"/>
          </a:p>
        </p:txBody>
      </p:sp>
      <p:sp>
        <p:nvSpPr>
          <p:cNvPr id="26" name="Shape 22"/>
          <p:cNvSpPr/>
          <p:nvPr/>
        </p:nvSpPr>
        <p:spPr>
          <a:xfrm>
            <a:off x="6733183" y="2571750"/>
            <a:ext cx="877888" cy="514350"/>
          </a:xfrm>
          <a:prstGeom prst="rect">
            <a:avLst/>
          </a:prstGeom>
          <a:solidFill>
            <a:srgbClr val="FAE2C2"/>
          </a:solidFill>
          <a:ln/>
        </p:spPr>
        <p:txBody>
          <a:bodyPr/>
          <a:lstStyle/>
          <a:p>
            <a:endParaRPr lang="en-US"/>
          </a:p>
        </p:txBody>
      </p:sp>
      <p:sp>
        <p:nvSpPr>
          <p:cNvPr id="27" name="Text 23"/>
          <p:cNvSpPr/>
          <p:nvPr/>
        </p:nvSpPr>
        <p:spPr>
          <a:xfrm>
            <a:off x="6695083" y="269557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8A5A12"/>
                </a:solidFill>
                <a:latin typeface="Calibri" pitchFamily="34" charset="0"/>
                <a:ea typeface="Calibri" pitchFamily="34" charset="-122"/>
                <a:cs typeface="Calibri" pitchFamily="34" charset="-120"/>
              </a:rPr>
              <a:t>16.2%</a:t>
            </a:r>
            <a:endParaRPr lang="en-US" sz="1725" dirty="0"/>
          </a:p>
        </p:txBody>
      </p:sp>
      <p:sp>
        <p:nvSpPr>
          <p:cNvPr id="28" name="Text 24"/>
          <p:cNvSpPr/>
          <p:nvPr/>
        </p:nvSpPr>
        <p:spPr>
          <a:xfrm>
            <a:off x="7487245" y="2701925"/>
            <a:ext cx="2200275"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4,517 · </a:t>
            </a:r>
            <a:r>
              <a:rPr lang="en-US" sz="1650" b="1" dirty="0">
                <a:solidFill>
                  <a:srgbClr val="1A1A1A"/>
                </a:solidFill>
                <a:latin typeface="Calibri" pitchFamily="34" charset="0"/>
                <a:ea typeface="Calibri" pitchFamily="34" charset="-122"/>
                <a:cs typeface="Calibri" pitchFamily="34" charset="-120"/>
              </a:rPr>
              <a:t>733</a:t>
            </a:r>
            <a:endParaRPr lang="en-US" sz="1650" dirty="0"/>
          </a:p>
        </p:txBody>
      </p:sp>
      <p:sp>
        <p:nvSpPr>
          <p:cNvPr id="29" name="Text 25"/>
          <p:cNvSpPr/>
          <p:nvPr/>
        </p:nvSpPr>
        <p:spPr>
          <a:xfrm>
            <a:off x="647700" y="3279775"/>
            <a:ext cx="1362075" cy="3175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A1A1A"/>
                </a:solidFill>
                <a:latin typeface="Calibri" pitchFamily="34" charset="0"/>
                <a:ea typeface="Calibri" pitchFamily="34" charset="-122"/>
                <a:cs typeface="Calibri" pitchFamily="34" charset="-120"/>
              </a:rPr>
              <a:t>ES</a:t>
            </a:r>
            <a:endParaRPr lang="en-US" sz="1800" dirty="0"/>
          </a:p>
        </p:txBody>
      </p:sp>
      <p:sp>
        <p:nvSpPr>
          <p:cNvPr id="30" name="Shape 26"/>
          <p:cNvSpPr/>
          <p:nvPr/>
        </p:nvSpPr>
        <p:spPr>
          <a:xfrm>
            <a:off x="1962150" y="3162300"/>
            <a:ext cx="877888" cy="514350"/>
          </a:xfrm>
          <a:prstGeom prst="rect">
            <a:avLst/>
          </a:prstGeom>
          <a:solidFill>
            <a:srgbClr val="F0F1EE"/>
          </a:solidFill>
          <a:ln/>
        </p:spPr>
        <p:txBody>
          <a:bodyPr/>
          <a:lstStyle/>
          <a:p>
            <a:endParaRPr lang="en-US"/>
          </a:p>
        </p:txBody>
      </p:sp>
      <p:sp>
        <p:nvSpPr>
          <p:cNvPr id="31" name="Text 27"/>
          <p:cNvSpPr/>
          <p:nvPr/>
        </p:nvSpPr>
        <p:spPr>
          <a:xfrm>
            <a:off x="1924050" y="328612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A8ADA4"/>
                </a:solidFill>
                <a:latin typeface="Calibri" pitchFamily="34" charset="0"/>
                <a:ea typeface="Calibri" pitchFamily="34" charset="-122"/>
                <a:cs typeface="Calibri" pitchFamily="34" charset="-120"/>
              </a:rPr>
              <a:t>–</a:t>
            </a:r>
            <a:endParaRPr lang="en-US" sz="1725" dirty="0"/>
          </a:p>
        </p:txBody>
      </p:sp>
      <p:sp>
        <p:nvSpPr>
          <p:cNvPr id="34" name="Shape 30"/>
          <p:cNvSpPr/>
          <p:nvPr/>
        </p:nvSpPr>
        <p:spPr>
          <a:xfrm>
            <a:off x="3870524" y="3162300"/>
            <a:ext cx="877888" cy="514350"/>
          </a:xfrm>
          <a:prstGeom prst="rect">
            <a:avLst/>
          </a:prstGeom>
          <a:solidFill>
            <a:srgbClr val="F0F1EE"/>
          </a:solidFill>
          <a:ln/>
        </p:spPr>
        <p:txBody>
          <a:bodyPr/>
          <a:lstStyle/>
          <a:p>
            <a:endParaRPr lang="en-US"/>
          </a:p>
        </p:txBody>
      </p:sp>
      <p:sp>
        <p:nvSpPr>
          <p:cNvPr id="35" name="Text 31"/>
          <p:cNvSpPr/>
          <p:nvPr/>
        </p:nvSpPr>
        <p:spPr>
          <a:xfrm>
            <a:off x="3832424" y="328612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A8ADA4"/>
                </a:solidFill>
                <a:latin typeface="Calibri" pitchFamily="34" charset="0"/>
                <a:ea typeface="Calibri" pitchFamily="34" charset="-122"/>
                <a:cs typeface="Calibri" pitchFamily="34" charset="-120"/>
              </a:rPr>
              <a:t>–</a:t>
            </a:r>
            <a:endParaRPr lang="en-US" sz="1725" dirty="0"/>
          </a:p>
        </p:txBody>
      </p:sp>
      <p:sp>
        <p:nvSpPr>
          <p:cNvPr id="36" name="Shape 32"/>
          <p:cNvSpPr/>
          <p:nvPr/>
        </p:nvSpPr>
        <p:spPr>
          <a:xfrm>
            <a:off x="4824611" y="3162300"/>
            <a:ext cx="878086" cy="514350"/>
          </a:xfrm>
          <a:prstGeom prst="rect">
            <a:avLst/>
          </a:prstGeom>
          <a:solidFill>
            <a:srgbClr val="DE9285"/>
          </a:solidFill>
          <a:ln/>
        </p:spPr>
        <p:txBody>
          <a:bodyPr/>
          <a:lstStyle/>
          <a:p>
            <a:endParaRPr lang="en-US"/>
          </a:p>
        </p:txBody>
      </p:sp>
      <p:sp>
        <p:nvSpPr>
          <p:cNvPr id="37" name="Text 33"/>
          <p:cNvSpPr/>
          <p:nvPr/>
        </p:nvSpPr>
        <p:spPr>
          <a:xfrm>
            <a:off x="4786511" y="3286125"/>
            <a:ext cx="954286"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5A1A12"/>
                </a:solidFill>
                <a:latin typeface="Calibri" pitchFamily="34" charset="0"/>
                <a:ea typeface="Calibri" pitchFamily="34" charset="-122"/>
                <a:cs typeface="Calibri" pitchFamily="34" charset="-120"/>
              </a:rPr>
              <a:t>64.2%</a:t>
            </a:r>
            <a:endParaRPr lang="en-US" sz="1725" dirty="0"/>
          </a:p>
        </p:txBody>
      </p:sp>
      <p:sp>
        <p:nvSpPr>
          <p:cNvPr id="38" name="Shape 34"/>
          <p:cNvSpPr/>
          <p:nvPr/>
        </p:nvSpPr>
        <p:spPr>
          <a:xfrm>
            <a:off x="5778897" y="3162300"/>
            <a:ext cx="878086" cy="514350"/>
          </a:xfrm>
          <a:prstGeom prst="rect">
            <a:avLst/>
          </a:prstGeom>
          <a:solidFill>
            <a:srgbClr val="DE9285"/>
          </a:solidFill>
          <a:ln/>
        </p:spPr>
        <p:txBody>
          <a:bodyPr/>
          <a:lstStyle/>
          <a:p>
            <a:endParaRPr lang="en-US"/>
          </a:p>
        </p:txBody>
      </p:sp>
      <p:sp>
        <p:nvSpPr>
          <p:cNvPr id="39" name="Text 35"/>
          <p:cNvSpPr/>
          <p:nvPr/>
        </p:nvSpPr>
        <p:spPr>
          <a:xfrm>
            <a:off x="5740797" y="3286125"/>
            <a:ext cx="954286"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5A1A12"/>
                </a:solidFill>
                <a:latin typeface="Calibri" pitchFamily="34" charset="0"/>
                <a:ea typeface="Calibri" pitchFamily="34" charset="-122"/>
                <a:cs typeface="Calibri" pitchFamily="34" charset="-120"/>
              </a:rPr>
              <a:t>45.4%</a:t>
            </a:r>
            <a:endParaRPr lang="en-US" sz="1725" dirty="0"/>
          </a:p>
        </p:txBody>
      </p:sp>
      <p:sp>
        <p:nvSpPr>
          <p:cNvPr id="40" name="Shape 36"/>
          <p:cNvSpPr/>
          <p:nvPr/>
        </p:nvSpPr>
        <p:spPr>
          <a:xfrm>
            <a:off x="6733183" y="3162300"/>
            <a:ext cx="877888" cy="514350"/>
          </a:xfrm>
          <a:prstGeom prst="rect">
            <a:avLst/>
          </a:prstGeom>
          <a:solidFill>
            <a:srgbClr val="F3C7BB"/>
          </a:solidFill>
          <a:ln/>
        </p:spPr>
        <p:txBody>
          <a:bodyPr/>
          <a:lstStyle/>
          <a:p>
            <a:endParaRPr lang="en-US"/>
          </a:p>
        </p:txBody>
      </p:sp>
      <p:sp>
        <p:nvSpPr>
          <p:cNvPr id="41" name="Text 37"/>
          <p:cNvSpPr/>
          <p:nvPr/>
        </p:nvSpPr>
        <p:spPr>
          <a:xfrm>
            <a:off x="6695083" y="328612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96382A"/>
                </a:solidFill>
                <a:latin typeface="Calibri" pitchFamily="34" charset="0"/>
                <a:ea typeface="Calibri" pitchFamily="34" charset="-122"/>
                <a:cs typeface="Calibri" pitchFamily="34" charset="-120"/>
              </a:rPr>
              <a:t>22.4%</a:t>
            </a:r>
            <a:endParaRPr lang="en-US" sz="1725" dirty="0"/>
          </a:p>
        </p:txBody>
      </p:sp>
      <p:sp>
        <p:nvSpPr>
          <p:cNvPr id="42" name="Text 38"/>
          <p:cNvSpPr/>
          <p:nvPr/>
        </p:nvSpPr>
        <p:spPr>
          <a:xfrm>
            <a:off x="7487245" y="3292475"/>
            <a:ext cx="2200275"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4,433 · </a:t>
            </a:r>
            <a:r>
              <a:rPr lang="en-US" sz="1650" b="1" dirty="0">
                <a:solidFill>
                  <a:srgbClr val="1A1A1A"/>
                </a:solidFill>
                <a:latin typeface="Calibri" pitchFamily="34" charset="0"/>
                <a:ea typeface="Calibri" pitchFamily="34" charset="-122"/>
                <a:cs typeface="Calibri" pitchFamily="34" charset="-120"/>
              </a:rPr>
              <a:t>992</a:t>
            </a:r>
            <a:endParaRPr lang="en-US" sz="1650" dirty="0"/>
          </a:p>
        </p:txBody>
      </p:sp>
      <p:sp>
        <p:nvSpPr>
          <p:cNvPr id="43" name="Text 39"/>
          <p:cNvSpPr/>
          <p:nvPr/>
        </p:nvSpPr>
        <p:spPr>
          <a:xfrm>
            <a:off x="647700" y="3870325"/>
            <a:ext cx="1362075" cy="3175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A1A1A"/>
                </a:solidFill>
                <a:latin typeface="Calibri" pitchFamily="34" charset="0"/>
                <a:ea typeface="Calibri" pitchFamily="34" charset="-122"/>
                <a:cs typeface="Calibri" pitchFamily="34" charset="-120"/>
              </a:rPr>
              <a:t>ITS</a:t>
            </a:r>
            <a:endParaRPr lang="en-US" sz="1800" dirty="0"/>
          </a:p>
        </p:txBody>
      </p:sp>
      <p:sp>
        <p:nvSpPr>
          <p:cNvPr id="44" name="Shape 40"/>
          <p:cNvSpPr/>
          <p:nvPr/>
        </p:nvSpPr>
        <p:spPr>
          <a:xfrm>
            <a:off x="1962150" y="3752850"/>
            <a:ext cx="877888" cy="514350"/>
          </a:xfrm>
          <a:prstGeom prst="rect">
            <a:avLst/>
          </a:prstGeom>
          <a:solidFill>
            <a:srgbClr val="F0F1EE"/>
          </a:solidFill>
          <a:ln/>
        </p:spPr>
        <p:txBody>
          <a:bodyPr/>
          <a:lstStyle/>
          <a:p>
            <a:endParaRPr lang="en-US"/>
          </a:p>
        </p:txBody>
      </p:sp>
      <p:sp>
        <p:nvSpPr>
          <p:cNvPr id="45" name="Text 41"/>
          <p:cNvSpPr/>
          <p:nvPr/>
        </p:nvSpPr>
        <p:spPr>
          <a:xfrm>
            <a:off x="1924050" y="387667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A8ADA4"/>
                </a:solidFill>
                <a:latin typeface="Calibri" pitchFamily="34" charset="0"/>
                <a:ea typeface="Calibri" pitchFamily="34" charset="-122"/>
                <a:cs typeface="Calibri" pitchFamily="34" charset="-120"/>
              </a:rPr>
              <a:t>–</a:t>
            </a:r>
            <a:endParaRPr lang="en-US" sz="1725" dirty="0"/>
          </a:p>
        </p:txBody>
      </p:sp>
      <p:sp>
        <p:nvSpPr>
          <p:cNvPr id="46" name="Shape 42"/>
          <p:cNvSpPr/>
          <p:nvPr/>
        </p:nvSpPr>
        <p:spPr>
          <a:xfrm>
            <a:off x="2916238" y="3752850"/>
            <a:ext cx="878086" cy="514350"/>
          </a:xfrm>
          <a:prstGeom prst="rect">
            <a:avLst/>
          </a:prstGeom>
          <a:solidFill>
            <a:srgbClr val="F0F1EE"/>
          </a:solidFill>
          <a:ln/>
        </p:spPr>
        <p:txBody>
          <a:bodyPr/>
          <a:lstStyle/>
          <a:p>
            <a:endParaRPr lang="en-US"/>
          </a:p>
        </p:txBody>
      </p:sp>
      <p:sp>
        <p:nvSpPr>
          <p:cNvPr id="47" name="Text 43"/>
          <p:cNvSpPr/>
          <p:nvPr/>
        </p:nvSpPr>
        <p:spPr>
          <a:xfrm>
            <a:off x="2878138" y="3876675"/>
            <a:ext cx="954286"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A8ADA4"/>
                </a:solidFill>
                <a:latin typeface="Calibri" pitchFamily="34" charset="0"/>
                <a:ea typeface="Calibri" pitchFamily="34" charset="-122"/>
                <a:cs typeface="Calibri" pitchFamily="34" charset="-120"/>
              </a:rPr>
              <a:t>–</a:t>
            </a:r>
            <a:endParaRPr lang="en-US" sz="1725" dirty="0"/>
          </a:p>
        </p:txBody>
      </p:sp>
      <p:sp>
        <p:nvSpPr>
          <p:cNvPr id="48" name="Shape 44"/>
          <p:cNvSpPr/>
          <p:nvPr/>
        </p:nvSpPr>
        <p:spPr>
          <a:xfrm>
            <a:off x="3870524" y="3752850"/>
            <a:ext cx="877888" cy="514350"/>
          </a:xfrm>
          <a:prstGeom prst="rect">
            <a:avLst/>
          </a:prstGeom>
          <a:solidFill>
            <a:srgbClr val="F0F1EE"/>
          </a:solidFill>
          <a:ln/>
        </p:spPr>
        <p:txBody>
          <a:bodyPr/>
          <a:lstStyle/>
          <a:p>
            <a:endParaRPr lang="en-US"/>
          </a:p>
        </p:txBody>
      </p:sp>
      <p:sp>
        <p:nvSpPr>
          <p:cNvPr id="49" name="Text 45"/>
          <p:cNvSpPr/>
          <p:nvPr/>
        </p:nvSpPr>
        <p:spPr>
          <a:xfrm>
            <a:off x="3832424" y="387667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A8ADA4"/>
                </a:solidFill>
                <a:latin typeface="Calibri" pitchFamily="34" charset="0"/>
                <a:ea typeface="Calibri" pitchFamily="34" charset="-122"/>
                <a:cs typeface="Calibri" pitchFamily="34" charset="-120"/>
              </a:rPr>
              <a:t>–</a:t>
            </a:r>
            <a:endParaRPr lang="en-US" sz="1725" dirty="0"/>
          </a:p>
        </p:txBody>
      </p:sp>
      <p:sp>
        <p:nvSpPr>
          <p:cNvPr id="50" name="Shape 46"/>
          <p:cNvSpPr/>
          <p:nvPr/>
        </p:nvSpPr>
        <p:spPr>
          <a:xfrm>
            <a:off x="4824611" y="3752850"/>
            <a:ext cx="878086" cy="514350"/>
          </a:xfrm>
          <a:prstGeom prst="rect">
            <a:avLst/>
          </a:prstGeom>
          <a:solidFill>
            <a:srgbClr val="F3C7BB"/>
          </a:solidFill>
          <a:ln/>
        </p:spPr>
        <p:txBody>
          <a:bodyPr/>
          <a:lstStyle/>
          <a:p>
            <a:endParaRPr lang="en-US"/>
          </a:p>
        </p:txBody>
      </p:sp>
      <p:sp>
        <p:nvSpPr>
          <p:cNvPr id="51" name="Text 47"/>
          <p:cNvSpPr/>
          <p:nvPr/>
        </p:nvSpPr>
        <p:spPr>
          <a:xfrm>
            <a:off x="4786511" y="3876675"/>
            <a:ext cx="954286"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96382A"/>
                </a:solidFill>
                <a:latin typeface="Calibri" pitchFamily="34" charset="0"/>
                <a:ea typeface="Calibri" pitchFamily="34" charset="-122"/>
                <a:cs typeface="Calibri" pitchFamily="34" charset="-120"/>
              </a:rPr>
              <a:t>35.4%</a:t>
            </a:r>
            <a:endParaRPr lang="en-US" sz="1725" dirty="0"/>
          </a:p>
        </p:txBody>
      </p:sp>
      <p:sp>
        <p:nvSpPr>
          <p:cNvPr id="52" name="Shape 48"/>
          <p:cNvSpPr/>
          <p:nvPr/>
        </p:nvSpPr>
        <p:spPr>
          <a:xfrm>
            <a:off x="5778897" y="3752850"/>
            <a:ext cx="878086" cy="514350"/>
          </a:xfrm>
          <a:prstGeom prst="rect">
            <a:avLst/>
          </a:prstGeom>
          <a:solidFill>
            <a:srgbClr val="F3C7BB"/>
          </a:solidFill>
          <a:ln/>
        </p:spPr>
        <p:txBody>
          <a:bodyPr/>
          <a:lstStyle/>
          <a:p>
            <a:endParaRPr lang="en-US"/>
          </a:p>
        </p:txBody>
      </p:sp>
      <p:sp>
        <p:nvSpPr>
          <p:cNvPr id="53" name="Text 49"/>
          <p:cNvSpPr/>
          <p:nvPr/>
        </p:nvSpPr>
        <p:spPr>
          <a:xfrm>
            <a:off x="5740797" y="3876675"/>
            <a:ext cx="954286"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96382A"/>
                </a:solidFill>
                <a:latin typeface="Calibri" pitchFamily="34" charset="0"/>
                <a:ea typeface="Calibri" pitchFamily="34" charset="-122"/>
                <a:cs typeface="Calibri" pitchFamily="34" charset="-120"/>
              </a:rPr>
              <a:t>37.7%</a:t>
            </a:r>
            <a:endParaRPr lang="en-US" sz="1725" dirty="0"/>
          </a:p>
        </p:txBody>
      </p:sp>
      <p:sp>
        <p:nvSpPr>
          <p:cNvPr id="54" name="Shape 50"/>
          <p:cNvSpPr/>
          <p:nvPr/>
        </p:nvSpPr>
        <p:spPr>
          <a:xfrm>
            <a:off x="6733183" y="3752850"/>
            <a:ext cx="877888" cy="514350"/>
          </a:xfrm>
          <a:prstGeom prst="rect">
            <a:avLst/>
          </a:prstGeom>
          <a:solidFill>
            <a:srgbClr val="F3C7BB"/>
          </a:solidFill>
          <a:ln/>
        </p:spPr>
        <p:txBody>
          <a:bodyPr/>
          <a:lstStyle/>
          <a:p>
            <a:endParaRPr lang="en-US"/>
          </a:p>
        </p:txBody>
      </p:sp>
      <p:sp>
        <p:nvSpPr>
          <p:cNvPr id="55" name="Text 51"/>
          <p:cNvSpPr/>
          <p:nvPr/>
        </p:nvSpPr>
        <p:spPr>
          <a:xfrm>
            <a:off x="6695083" y="387667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96382A"/>
                </a:solidFill>
                <a:latin typeface="Calibri" pitchFamily="34" charset="0"/>
                <a:ea typeface="Calibri" pitchFamily="34" charset="-122"/>
                <a:cs typeface="Calibri" pitchFamily="34" charset="-120"/>
              </a:rPr>
              <a:t>34.1%</a:t>
            </a:r>
            <a:endParaRPr lang="en-US" sz="1725" dirty="0"/>
          </a:p>
        </p:txBody>
      </p:sp>
      <p:sp>
        <p:nvSpPr>
          <p:cNvPr id="56" name="Text 52"/>
          <p:cNvSpPr/>
          <p:nvPr/>
        </p:nvSpPr>
        <p:spPr>
          <a:xfrm>
            <a:off x="7487245" y="3883025"/>
            <a:ext cx="2200275"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3,248 · </a:t>
            </a:r>
            <a:r>
              <a:rPr lang="en-US" sz="1650" b="1" dirty="0">
                <a:solidFill>
                  <a:srgbClr val="1A1A1A"/>
                </a:solidFill>
                <a:latin typeface="Calibri" pitchFamily="34" charset="0"/>
                <a:ea typeface="Calibri" pitchFamily="34" charset="-122"/>
                <a:cs typeface="Calibri" pitchFamily="34" charset="-120"/>
              </a:rPr>
              <a:t>1,107</a:t>
            </a:r>
            <a:endParaRPr lang="en-US" sz="1650" dirty="0"/>
          </a:p>
        </p:txBody>
      </p:sp>
      <p:sp>
        <p:nvSpPr>
          <p:cNvPr id="57" name="Text 53"/>
          <p:cNvSpPr/>
          <p:nvPr/>
        </p:nvSpPr>
        <p:spPr>
          <a:xfrm>
            <a:off x="647700" y="4460875"/>
            <a:ext cx="1362075" cy="3175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A1A1A"/>
                </a:solidFill>
                <a:latin typeface="Calibri" pitchFamily="34" charset="0"/>
                <a:ea typeface="Calibri" pitchFamily="34" charset="-122"/>
                <a:cs typeface="Calibri" pitchFamily="34" charset="-120"/>
              </a:rPr>
              <a:t>SE</a:t>
            </a:r>
            <a:endParaRPr lang="en-US" sz="1800" dirty="0"/>
          </a:p>
        </p:txBody>
      </p:sp>
      <p:sp>
        <p:nvSpPr>
          <p:cNvPr id="58" name="Shape 54"/>
          <p:cNvSpPr/>
          <p:nvPr/>
        </p:nvSpPr>
        <p:spPr>
          <a:xfrm>
            <a:off x="1962150" y="4343400"/>
            <a:ext cx="877888" cy="514350"/>
          </a:xfrm>
          <a:prstGeom prst="rect">
            <a:avLst/>
          </a:prstGeom>
          <a:solidFill>
            <a:srgbClr val="F0F1EE"/>
          </a:solidFill>
          <a:ln/>
        </p:spPr>
        <p:txBody>
          <a:bodyPr/>
          <a:lstStyle/>
          <a:p>
            <a:endParaRPr lang="en-US"/>
          </a:p>
        </p:txBody>
      </p:sp>
      <p:sp>
        <p:nvSpPr>
          <p:cNvPr id="59" name="Text 55"/>
          <p:cNvSpPr/>
          <p:nvPr/>
        </p:nvSpPr>
        <p:spPr>
          <a:xfrm>
            <a:off x="1924050" y="446722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A8ADA4"/>
                </a:solidFill>
                <a:latin typeface="Calibri" pitchFamily="34" charset="0"/>
                <a:ea typeface="Calibri" pitchFamily="34" charset="-122"/>
                <a:cs typeface="Calibri" pitchFamily="34" charset="-120"/>
              </a:rPr>
              <a:t>–</a:t>
            </a:r>
            <a:endParaRPr lang="en-US" sz="1725" dirty="0"/>
          </a:p>
        </p:txBody>
      </p:sp>
      <p:sp>
        <p:nvSpPr>
          <p:cNvPr id="60" name="Shape 56"/>
          <p:cNvSpPr/>
          <p:nvPr/>
        </p:nvSpPr>
        <p:spPr>
          <a:xfrm>
            <a:off x="2916238" y="4343400"/>
            <a:ext cx="878086" cy="514350"/>
          </a:xfrm>
          <a:prstGeom prst="rect">
            <a:avLst/>
          </a:prstGeom>
          <a:solidFill>
            <a:srgbClr val="F0F1EE"/>
          </a:solidFill>
          <a:ln/>
        </p:spPr>
        <p:txBody>
          <a:bodyPr/>
          <a:lstStyle/>
          <a:p>
            <a:endParaRPr lang="en-US"/>
          </a:p>
        </p:txBody>
      </p:sp>
      <p:sp>
        <p:nvSpPr>
          <p:cNvPr id="61" name="Text 57"/>
          <p:cNvSpPr/>
          <p:nvPr/>
        </p:nvSpPr>
        <p:spPr>
          <a:xfrm>
            <a:off x="2878138" y="4467225"/>
            <a:ext cx="954286"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A8ADA4"/>
                </a:solidFill>
                <a:latin typeface="Calibri" pitchFamily="34" charset="0"/>
                <a:ea typeface="Calibri" pitchFamily="34" charset="-122"/>
                <a:cs typeface="Calibri" pitchFamily="34" charset="-120"/>
              </a:rPr>
              <a:t>–</a:t>
            </a:r>
            <a:endParaRPr lang="en-US" sz="1725" dirty="0"/>
          </a:p>
        </p:txBody>
      </p:sp>
      <p:sp>
        <p:nvSpPr>
          <p:cNvPr id="62" name="Shape 58"/>
          <p:cNvSpPr/>
          <p:nvPr/>
        </p:nvSpPr>
        <p:spPr>
          <a:xfrm>
            <a:off x="3870524" y="4343400"/>
            <a:ext cx="877888" cy="514350"/>
          </a:xfrm>
          <a:prstGeom prst="rect">
            <a:avLst/>
          </a:prstGeom>
          <a:solidFill>
            <a:srgbClr val="F0F1EE"/>
          </a:solidFill>
          <a:ln/>
        </p:spPr>
        <p:txBody>
          <a:bodyPr/>
          <a:lstStyle/>
          <a:p>
            <a:endParaRPr lang="en-US"/>
          </a:p>
        </p:txBody>
      </p:sp>
      <p:sp>
        <p:nvSpPr>
          <p:cNvPr id="63" name="Text 59"/>
          <p:cNvSpPr/>
          <p:nvPr/>
        </p:nvSpPr>
        <p:spPr>
          <a:xfrm>
            <a:off x="3832424" y="446722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A8ADA4"/>
                </a:solidFill>
                <a:latin typeface="Calibri" pitchFamily="34" charset="0"/>
                <a:ea typeface="Calibri" pitchFamily="34" charset="-122"/>
                <a:cs typeface="Calibri" pitchFamily="34" charset="-120"/>
              </a:rPr>
              <a:t>–</a:t>
            </a:r>
            <a:endParaRPr lang="en-US" sz="1725" dirty="0"/>
          </a:p>
        </p:txBody>
      </p:sp>
      <p:sp>
        <p:nvSpPr>
          <p:cNvPr id="64" name="Shape 60"/>
          <p:cNvSpPr/>
          <p:nvPr/>
        </p:nvSpPr>
        <p:spPr>
          <a:xfrm>
            <a:off x="4824611" y="4343400"/>
            <a:ext cx="878086" cy="514350"/>
          </a:xfrm>
          <a:prstGeom prst="rect">
            <a:avLst/>
          </a:prstGeom>
          <a:solidFill>
            <a:srgbClr val="EDEFD3"/>
          </a:solidFill>
          <a:ln/>
        </p:spPr>
        <p:txBody>
          <a:bodyPr/>
          <a:lstStyle/>
          <a:p>
            <a:endParaRPr lang="en-US"/>
          </a:p>
        </p:txBody>
      </p:sp>
      <p:sp>
        <p:nvSpPr>
          <p:cNvPr id="65" name="Text 61"/>
          <p:cNvSpPr/>
          <p:nvPr/>
        </p:nvSpPr>
        <p:spPr>
          <a:xfrm>
            <a:off x="4786511" y="4467225"/>
            <a:ext cx="954286"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4A5A1E"/>
                </a:solidFill>
                <a:latin typeface="Calibri" pitchFamily="34" charset="0"/>
                <a:ea typeface="Calibri" pitchFamily="34" charset="-122"/>
                <a:cs typeface="Calibri" pitchFamily="34" charset="-120"/>
              </a:rPr>
              <a:t>9.2%</a:t>
            </a:r>
            <a:endParaRPr lang="en-US" sz="1725" dirty="0"/>
          </a:p>
        </p:txBody>
      </p:sp>
      <p:sp>
        <p:nvSpPr>
          <p:cNvPr id="66" name="Shape 62"/>
          <p:cNvSpPr/>
          <p:nvPr/>
        </p:nvSpPr>
        <p:spPr>
          <a:xfrm>
            <a:off x="5778897" y="4343400"/>
            <a:ext cx="878086" cy="514350"/>
          </a:xfrm>
          <a:prstGeom prst="rect">
            <a:avLst/>
          </a:prstGeom>
          <a:solidFill>
            <a:srgbClr val="EDEFD3"/>
          </a:solidFill>
          <a:ln/>
        </p:spPr>
        <p:txBody>
          <a:bodyPr/>
          <a:lstStyle/>
          <a:p>
            <a:endParaRPr lang="en-US"/>
          </a:p>
        </p:txBody>
      </p:sp>
      <p:sp>
        <p:nvSpPr>
          <p:cNvPr id="67" name="Text 63"/>
          <p:cNvSpPr/>
          <p:nvPr/>
        </p:nvSpPr>
        <p:spPr>
          <a:xfrm>
            <a:off x="5740797" y="4467225"/>
            <a:ext cx="954286"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4A5A1E"/>
                </a:solidFill>
                <a:latin typeface="Calibri" pitchFamily="34" charset="0"/>
                <a:ea typeface="Calibri" pitchFamily="34" charset="-122"/>
                <a:cs typeface="Calibri" pitchFamily="34" charset="-120"/>
              </a:rPr>
              <a:t>8.3%</a:t>
            </a:r>
            <a:endParaRPr lang="en-US" sz="1725" dirty="0"/>
          </a:p>
        </p:txBody>
      </p:sp>
      <p:sp>
        <p:nvSpPr>
          <p:cNvPr id="68" name="Shape 64"/>
          <p:cNvSpPr/>
          <p:nvPr/>
        </p:nvSpPr>
        <p:spPr>
          <a:xfrm>
            <a:off x="6733183" y="4343400"/>
            <a:ext cx="877888" cy="514350"/>
          </a:xfrm>
          <a:prstGeom prst="rect">
            <a:avLst/>
          </a:prstGeom>
          <a:solidFill>
            <a:srgbClr val="FAE2C2"/>
          </a:solidFill>
          <a:ln/>
        </p:spPr>
        <p:txBody>
          <a:bodyPr/>
          <a:lstStyle/>
          <a:p>
            <a:endParaRPr lang="en-US"/>
          </a:p>
        </p:txBody>
      </p:sp>
      <p:sp>
        <p:nvSpPr>
          <p:cNvPr id="69" name="Text 65"/>
          <p:cNvSpPr/>
          <p:nvPr/>
        </p:nvSpPr>
        <p:spPr>
          <a:xfrm>
            <a:off x="6695083" y="446722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8A5A12"/>
                </a:solidFill>
                <a:latin typeface="Calibri" pitchFamily="34" charset="0"/>
                <a:ea typeface="Calibri" pitchFamily="34" charset="-122"/>
                <a:cs typeface="Calibri" pitchFamily="34" charset="-120"/>
              </a:rPr>
              <a:t>13.4%</a:t>
            </a:r>
            <a:endParaRPr lang="en-US" sz="1725" dirty="0"/>
          </a:p>
        </p:txBody>
      </p:sp>
      <p:sp>
        <p:nvSpPr>
          <p:cNvPr id="70" name="Text 66"/>
          <p:cNvSpPr/>
          <p:nvPr/>
        </p:nvSpPr>
        <p:spPr>
          <a:xfrm>
            <a:off x="7487245" y="4473575"/>
            <a:ext cx="2200275" cy="29210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1A1A1A"/>
                </a:solidFill>
                <a:latin typeface="Calibri" pitchFamily="34" charset="0"/>
                <a:ea typeface="Calibri" pitchFamily="34" charset="-122"/>
                <a:cs typeface="Calibri" pitchFamily="34" charset="-120"/>
              </a:rPr>
              <a:t>3,616 · </a:t>
            </a:r>
            <a:r>
              <a:rPr lang="en-US" sz="1650" b="1" dirty="0">
                <a:solidFill>
                  <a:srgbClr val="1A1A1A"/>
                </a:solidFill>
                <a:latin typeface="Calibri" pitchFamily="34" charset="0"/>
                <a:ea typeface="Calibri" pitchFamily="34" charset="-122"/>
                <a:cs typeface="Calibri" pitchFamily="34" charset="-120"/>
              </a:rPr>
              <a:t>486</a:t>
            </a:r>
            <a:endParaRPr lang="en-US" sz="1650" dirty="0"/>
          </a:p>
        </p:txBody>
      </p:sp>
      <p:sp>
        <p:nvSpPr>
          <p:cNvPr id="71" name="Text 67"/>
          <p:cNvSpPr/>
          <p:nvPr/>
        </p:nvSpPr>
        <p:spPr>
          <a:xfrm>
            <a:off x="647700" y="5086350"/>
            <a:ext cx="9944021"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2F5597"/>
                </a:solidFill>
                <a:latin typeface="Calibri" pitchFamily="34" charset="0"/>
                <a:ea typeface="Calibri" pitchFamily="34" charset="-122"/>
                <a:cs typeface="Calibri" pitchFamily="34" charset="-120"/>
              </a:rPr>
              <a:t>Workload vs overdue rate — M7 (who needs action first)</a:t>
            </a:r>
            <a:endParaRPr lang="en-US" sz="1875" dirty="0"/>
          </a:p>
        </p:txBody>
      </p:sp>
      <p:sp>
        <p:nvSpPr>
          <p:cNvPr id="72" name="Text 68"/>
          <p:cNvSpPr/>
          <p:nvPr/>
        </p:nvSpPr>
        <p:spPr>
          <a:xfrm>
            <a:off x="889794" y="5530850"/>
            <a:ext cx="405606"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595959"/>
                </a:solidFill>
                <a:latin typeface="Calibri" pitchFamily="34" charset="0"/>
                <a:ea typeface="Calibri" pitchFamily="34" charset="-122"/>
                <a:cs typeface="Calibri" pitchFamily="34" charset="-120"/>
              </a:rPr>
              <a:t>50%</a:t>
            </a:r>
            <a:endParaRPr lang="en-US" sz="1500" dirty="0"/>
          </a:p>
        </p:txBody>
      </p:sp>
      <p:sp>
        <p:nvSpPr>
          <p:cNvPr id="73" name="Text 69"/>
          <p:cNvSpPr/>
          <p:nvPr/>
        </p:nvSpPr>
        <p:spPr>
          <a:xfrm rot="10800000">
            <a:off x="990600" y="6864747"/>
            <a:ext cx="304800" cy="1269206"/>
          </a:xfrm>
          <a:prstGeom prst="rect">
            <a:avLst/>
          </a:prstGeom>
          <a:noFill/>
          <a:ln/>
        </p:spPr>
        <p:txBody>
          <a:bodyPr vert="eaVert" wrap="square" lIns="25400" tIns="25400" rIns="25400" bIns="25400" rtlCol="0" anchor="t">
            <a:normAutofit fontScale="92500"/>
          </a:bodyPr>
          <a:lstStyle/>
          <a:p>
            <a:pPr marL="0" indent="0" algn="l">
              <a:buNone/>
            </a:pPr>
            <a:r>
              <a:rPr lang="en-US" sz="1500" dirty="0">
                <a:solidFill>
                  <a:srgbClr val="404040"/>
                </a:solidFill>
                <a:latin typeface="Calibri" pitchFamily="34" charset="0"/>
                <a:ea typeface="Calibri" pitchFamily="34" charset="-122"/>
                <a:cs typeface="Calibri" pitchFamily="34" charset="-120"/>
              </a:rPr>
              <a:t>Overdue rate →</a:t>
            </a:r>
            <a:endParaRPr lang="en-US" sz="1500" dirty="0"/>
          </a:p>
        </p:txBody>
      </p:sp>
      <p:sp>
        <p:nvSpPr>
          <p:cNvPr id="74" name="Text 70"/>
          <p:cNvSpPr/>
          <p:nvPr/>
        </p:nvSpPr>
        <p:spPr>
          <a:xfrm>
            <a:off x="986433" y="9201150"/>
            <a:ext cx="308967"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595959"/>
                </a:solidFill>
                <a:latin typeface="Calibri" pitchFamily="34" charset="0"/>
                <a:ea typeface="Calibri" pitchFamily="34" charset="-122"/>
                <a:cs typeface="Calibri" pitchFamily="34" charset="-120"/>
              </a:rPr>
              <a:t>0%</a:t>
            </a:r>
            <a:endParaRPr lang="en-US" sz="1500" dirty="0"/>
          </a:p>
        </p:txBody>
      </p:sp>
      <p:sp>
        <p:nvSpPr>
          <p:cNvPr id="75" name="Shape 71"/>
          <p:cNvSpPr/>
          <p:nvPr/>
        </p:nvSpPr>
        <p:spPr>
          <a:xfrm>
            <a:off x="1333500" y="5530850"/>
            <a:ext cx="8354219" cy="3898900"/>
          </a:xfrm>
          <a:prstGeom prst="rect">
            <a:avLst/>
          </a:prstGeom>
          <a:solidFill>
            <a:srgbClr val="FBFCFA"/>
          </a:solidFill>
          <a:ln w="12700">
            <a:solidFill>
              <a:srgbClr val="D9DED7"/>
            </a:solidFill>
            <a:prstDash val="solid"/>
          </a:ln>
        </p:spPr>
        <p:txBody>
          <a:bodyPr/>
          <a:lstStyle/>
          <a:p>
            <a:endParaRPr lang="en-US"/>
          </a:p>
        </p:txBody>
      </p:sp>
      <p:sp>
        <p:nvSpPr>
          <p:cNvPr id="76" name="Shape 72"/>
          <p:cNvSpPr/>
          <p:nvPr/>
        </p:nvSpPr>
        <p:spPr>
          <a:xfrm>
            <a:off x="1346200" y="9029700"/>
            <a:ext cx="8328819" cy="12700"/>
          </a:xfrm>
          <a:prstGeom prst="rect">
            <a:avLst/>
          </a:prstGeom>
          <a:solidFill>
            <a:srgbClr val="C00000"/>
          </a:solidFill>
          <a:ln/>
        </p:spPr>
        <p:txBody>
          <a:bodyPr/>
          <a:lstStyle/>
          <a:p>
            <a:endParaRPr lang="en-US"/>
          </a:p>
        </p:txBody>
      </p:sp>
      <p:sp>
        <p:nvSpPr>
          <p:cNvPr id="77" name="Text 73"/>
          <p:cNvSpPr/>
          <p:nvPr/>
        </p:nvSpPr>
        <p:spPr>
          <a:xfrm>
            <a:off x="1422400" y="8743950"/>
            <a:ext cx="1242616" cy="266700"/>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C00000"/>
                </a:solidFill>
                <a:latin typeface="Calibri" pitchFamily="34" charset="0"/>
                <a:ea typeface="Calibri" pitchFamily="34" charset="-122"/>
                <a:cs typeface="Calibri" pitchFamily="34" charset="-120"/>
              </a:rPr>
              <a:t>SLA target 5.0%</a:t>
            </a:r>
            <a:endParaRPr lang="en-US" sz="1425" dirty="0"/>
          </a:p>
        </p:txBody>
      </p:sp>
      <p:sp>
        <p:nvSpPr>
          <p:cNvPr id="78" name="Shape 74"/>
          <p:cNvSpPr/>
          <p:nvPr/>
        </p:nvSpPr>
        <p:spPr>
          <a:xfrm>
            <a:off x="8242770" y="8056368"/>
            <a:ext cx="209550" cy="209550"/>
          </a:xfrm>
          <a:prstGeom prst="ellipse">
            <a:avLst/>
          </a:prstGeom>
          <a:solidFill>
            <a:srgbClr val="8A5A12"/>
          </a:solidFill>
          <a:ln/>
        </p:spPr>
        <p:txBody>
          <a:bodyPr/>
          <a:lstStyle/>
          <a:p>
            <a:endParaRPr lang="en-US"/>
          </a:p>
        </p:txBody>
      </p:sp>
      <p:sp>
        <p:nvSpPr>
          <p:cNvPr id="79" name="Text 75"/>
          <p:cNvSpPr/>
          <p:nvPr/>
        </p:nvSpPr>
        <p:spPr>
          <a:xfrm>
            <a:off x="8566620" y="7913493"/>
            <a:ext cx="1004887" cy="304800"/>
          </a:xfrm>
          <a:prstGeom prst="rect">
            <a:avLst/>
          </a:prstGeom>
          <a:noFill/>
          <a:ln/>
        </p:spPr>
        <p:txBody>
          <a:bodyPr wrap="non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EC · 16.2%</a:t>
            </a:r>
            <a:endParaRPr lang="en-US" sz="1725" dirty="0"/>
          </a:p>
        </p:txBody>
      </p:sp>
      <p:sp>
        <p:nvSpPr>
          <p:cNvPr id="81" name="Shape 77"/>
          <p:cNvSpPr/>
          <p:nvPr/>
        </p:nvSpPr>
        <p:spPr>
          <a:xfrm>
            <a:off x="8101591" y="7576544"/>
            <a:ext cx="209550" cy="209550"/>
          </a:xfrm>
          <a:prstGeom prst="ellipse">
            <a:avLst/>
          </a:prstGeom>
          <a:solidFill>
            <a:srgbClr val="96382A"/>
          </a:solidFill>
          <a:ln/>
        </p:spPr>
        <p:txBody>
          <a:bodyPr/>
          <a:lstStyle/>
          <a:p>
            <a:endParaRPr lang="en-US"/>
          </a:p>
        </p:txBody>
      </p:sp>
      <p:sp>
        <p:nvSpPr>
          <p:cNvPr id="82" name="Text 78"/>
          <p:cNvSpPr/>
          <p:nvPr/>
        </p:nvSpPr>
        <p:spPr>
          <a:xfrm>
            <a:off x="8425441" y="7433669"/>
            <a:ext cx="1003498" cy="304800"/>
          </a:xfrm>
          <a:prstGeom prst="rect">
            <a:avLst/>
          </a:prstGeom>
          <a:noFill/>
          <a:ln/>
        </p:spPr>
        <p:txBody>
          <a:bodyPr wrap="non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ES · 22.4%</a:t>
            </a:r>
            <a:endParaRPr lang="en-US" sz="1725" dirty="0"/>
          </a:p>
        </p:txBody>
      </p:sp>
      <p:sp>
        <p:nvSpPr>
          <p:cNvPr id="84" name="Shape 80"/>
          <p:cNvSpPr/>
          <p:nvPr/>
        </p:nvSpPr>
        <p:spPr>
          <a:xfrm>
            <a:off x="6109962" y="6671069"/>
            <a:ext cx="209550" cy="209550"/>
          </a:xfrm>
          <a:prstGeom prst="ellipse">
            <a:avLst/>
          </a:prstGeom>
          <a:solidFill>
            <a:srgbClr val="96382A"/>
          </a:solidFill>
          <a:ln/>
        </p:spPr>
        <p:txBody>
          <a:bodyPr/>
          <a:lstStyle/>
          <a:p>
            <a:endParaRPr lang="en-US"/>
          </a:p>
        </p:txBody>
      </p:sp>
      <p:sp>
        <p:nvSpPr>
          <p:cNvPr id="85" name="Text 81"/>
          <p:cNvSpPr/>
          <p:nvPr/>
        </p:nvSpPr>
        <p:spPr>
          <a:xfrm>
            <a:off x="6433812" y="6528194"/>
            <a:ext cx="1054695" cy="304800"/>
          </a:xfrm>
          <a:prstGeom prst="rect">
            <a:avLst/>
          </a:prstGeom>
          <a:noFill/>
          <a:ln/>
        </p:spPr>
        <p:txBody>
          <a:bodyPr wrap="non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ITS · 34.1%</a:t>
            </a:r>
            <a:endParaRPr lang="en-US" sz="1725" dirty="0"/>
          </a:p>
        </p:txBody>
      </p:sp>
      <p:sp>
        <p:nvSpPr>
          <p:cNvPr id="87" name="Shape 83"/>
          <p:cNvSpPr/>
          <p:nvPr/>
        </p:nvSpPr>
        <p:spPr>
          <a:xfrm>
            <a:off x="6728459" y="8273063"/>
            <a:ext cx="209550" cy="209550"/>
          </a:xfrm>
          <a:prstGeom prst="ellipse">
            <a:avLst/>
          </a:prstGeom>
          <a:solidFill>
            <a:srgbClr val="8A5A12"/>
          </a:solidFill>
          <a:ln/>
        </p:spPr>
        <p:txBody>
          <a:bodyPr/>
          <a:lstStyle/>
          <a:p>
            <a:endParaRPr lang="en-US"/>
          </a:p>
        </p:txBody>
      </p:sp>
      <p:sp>
        <p:nvSpPr>
          <p:cNvPr id="88" name="Text 84"/>
          <p:cNvSpPr/>
          <p:nvPr/>
        </p:nvSpPr>
        <p:spPr>
          <a:xfrm>
            <a:off x="7052309" y="8130188"/>
            <a:ext cx="1003498" cy="304800"/>
          </a:xfrm>
          <a:prstGeom prst="rect">
            <a:avLst/>
          </a:prstGeom>
          <a:noFill/>
          <a:ln/>
        </p:spPr>
        <p:txBody>
          <a:bodyPr wrap="non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SE · 13.4%</a:t>
            </a:r>
            <a:endParaRPr lang="en-US" sz="1725" dirty="0"/>
          </a:p>
        </p:txBody>
      </p:sp>
      <p:sp>
        <p:nvSpPr>
          <p:cNvPr id="90" name="Text 86"/>
          <p:cNvSpPr/>
          <p:nvPr/>
        </p:nvSpPr>
        <p:spPr>
          <a:xfrm>
            <a:off x="1333500" y="9505950"/>
            <a:ext cx="172839"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595959"/>
                </a:solidFill>
                <a:latin typeface="Calibri" pitchFamily="34" charset="0"/>
                <a:ea typeface="Calibri" pitchFamily="34" charset="-122"/>
                <a:cs typeface="Calibri" pitchFamily="34" charset="-120"/>
              </a:rPr>
              <a:t>0</a:t>
            </a:r>
            <a:endParaRPr lang="en-US" sz="1500" dirty="0"/>
          </a:p>
        </p:txBody>
      </p:sp>
      <p:sp>
        <p:nvSpPr>
          <p:cNvPr id="91" name="Text 87"/>
          <p:cNvSpPr/>
          <p:nvPr/>
        </p:nvSpPr>
        <p:spPr>
          <a:xfrm>
            <a:off x="4697413" y="9505950"/>
            <a:ext cx="1418173"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404040"/>
                </a:solidFill>
                <a:latin typeface="Calibri" pitchFamily="34" charset="0"/>
                <a:ea typeface="Calibri" pitchFamily="34" charset="-122"/>
                <a:cs typeface="Calibri" pitchFamily="34" charset="-120"/>
              </a:rPr>
              <a:t>Ticket volume →</a:t>
            </a:r>
            <a:endParaRPr lang="en-US" sz="1500" dirty="0"/>
          </a:p>
        </p:txBody>
      </p:sp>
      <p:sp>
        <p:nvSpPr>
          <p:cNvPr id="92" name="Text 88"/>
          <p:cNvSpPr/>
          <p:nvPr/>
        </p:nvSpPr>
        <p:spPr>
          <a:xfrm>
            <a:off x="9253935" y="9505950"/>
            <a:ext cx="509984"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595959"/>
                </a:solidFill>
                <a:latin typeface="Calibri" pitchFamily="34" charset="0"/>
                <a:ea typeface="Calibri" pitchFamily="34" charset="-122"/>
                <a:cs typeface="Calibri" pitchFamily="34" charset="-120"/>
              </a:rPr>
              <a:t>5,000</a:t>
            </a:r>
            <a:endParaRPr lang="en-US" sz="1500" dirty="0"/>
          </a:p>
        </p:txBody>
      </p:sp>
      <p:sp>
        <p:nvSpPr>
          <p:cNvPr id="93" name="Shape 89"/>
          <p:cNvSpPr/>
          <p:nvPr/>
        </p:nvSpPr>
        <p:spPr>
          <a:xfrm>
            <a:off x="10106819" y="1428750"/>
            <a:ext cx="7533481" cy="3757613"/>
          </a:xfrm>
          <a:prstGeom prst="rect">
            <a:avLst/>
          </a:prstGeom>
          <a:solidFill>
            <a:srgbClr val="F1F6F2"/>
          </a:solidFill>
          <a:ln/>
        </p:spPr>
        <p:txBody>
          <a:bodyPr/>
          <a:lstStyle/>
          <a:p>
            <a:endParaRPr lang="en-US"/>
          </a:p>
        </p:txBody>
      </p:sp>
      <p:sp>
        <p:nvSpPr>
          <p:cNvPr id="94" name="Text 90"/>
          <p:cNvSpPr/>
          <p:nvPr/>
        </p:nvSpPr>
        <p:spPr>
          <a:xfrm>
            <a:off x="10373519" y="1657350"/>
            <a:ext cx="7700090"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A1A1A"/>
                </a:solidFill>
                <a:latin typeface="Calibri" pitchFamily="34" charset="0"/>
                <a:ea typeface="Calibri" pitchFamily="34" charset="-122"/>
                <a:cs typeface="Calibri" pitchFamily="34" charset="-120"/>
              </a:rPr>
              <a:t>Data comments:</a:t>
            </a:r>
            <a:endParaRPr lang="en-US" sz="1950" dirty="0"/>
          </a:p>
        </p:txBody>
      </p:sp>
      <p:sp>
        <p:nvSpPr>
          <p:cNvPr id="95" name="Text 91"/>
          <p:cNvSpPr/>
          <p:nvPr/>
        </p:nvSpPr>
        <p:spPr>
          <a:xfrm>
            <a:off x="10373519" y="2076450"/>
            <a:ext cx="7210084" cy="68699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a:t>
            </a:r>
            <a:r>
              <a:rPr lang="en-US" sz="1800" b="1" dirty="0">
                <a:solidFill>
                  <a:srgbClr val="1A1A1A"/>
                </a:solidFill>
                <a:latin typeface="Calibri" pitchFamily="34" charset="0"/>
                <a:ea typeface="Calibri" pitchFamily="34" charset="-122"/>
                <a:cs typeface="Calibri" pitchFamily="34" charset="-120"/>
              </a:rPr>
              <a:t>ITS has the worst rate in M7 — 34.1% </a:t>
            </a:r>
            <a:r>
              <a:rPr lang="en-US" sz="1800" dirty="0">
                <a:solidFill>
                  <a:srgbClr val="1A1A1A"/>
                </a:solidFill>
                <a:latin typeface="Calibri" pitchFamily="34" charset="0"/>
                <a:ea typeface="Calibri" pitchFamily="34" charset="-122"/>
                <a:cs typeface="Calibri" pitchFamily="34" charset="-120"/>
              </a:rPr>
              <a:t>(1,107 of 3,248), only slightly down from 37.7% in M6 and still far above every other partner.</a:t>
            </a:r>
            <a:endParaRPr lang="en-US" sz="1800" dirty="0"/>
          </a:p>
        </p:txBody>
      </p:sp>
      <p:sp>
        <p:nvSpPr>
          <p:cNvPr id="96" name="Text 92"/>
          <p:cNvSpPr/>
          <p:nvPr/>
        </p:nvSpPr>
        <p:spPr>
          <a:xfrm>
            <a:off x="10373519" y="2820591"/>
            <a:ext cx="7210084" cy="68699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a:t>
            </a:r>
            <a:r>
              <a:rPr lang="en-US" sz="1800" b="1" dirty="0">
                <a:solidFill>
                  <a:srgbClr val="1A1A1A"/>
                </a:solidFill>
                <a:latin typeface="Calibri" pitchFamily="34" charset="0"/>
                <a:ea typeface="Calibri" pitchFamily="34" charset="-122"/>
                <a:cs typeface="Calibri" pitchFamily="34" charset="-120"/>
              </a:rPr>
              <a:t>ES 22.4% </a:t>
            </a:r>
            <a:r>
              <a:rPr lang="en-US" sz="1800" dirty="0">
                <a:solidFill>
                  <a:srgbClr val="1A1A1A"/>
                </a:solidFill>
                <a:latin typeface="Calibri" pitchFamily="34" charset="0"/>
                <a:ea typeface="Calibri" pitchFamily="34" charset="-122"/>
                <a:cs typeface="Calibri" pitchFamily="34" charset="-120"/>
              </a:rPr>
              <a:t>(992 of 4,433) and </a:t>
            </a:r>
            <a:r>
              <a:rPr lang="en-US" sz="1800" b="1" dirty="0">
                <a:solidFill>
                  <a:srgbClr val="1A1A1A"/>
                </a:solidFill>
                <a:latin typeface="Calibri" pitchFamily="34" charset="0"/>
                <a:ea typeface="Calibri" pitchFamily="34" charset="-122"/>
                <a:cs typeface="Calibri" pitchFamily="34" charset="-120"/>
              </a:rPr>
              <a:t>EC 16.2% </a:t>
            </a:r>
            <a:r>
              <a:rPr lang="en-US" sz="1800" dirty="0">
                <a:solidFill>
                  <a:srgbClr val="1A1A1A"/>
                </a:solidFill>
                <a:latin typeface="Calibri" pitchFamily="34" charset="0"/>
                <a:ea typeface="Calibri" pitchFamily="34" charset="-122"/>
                <a:cs typeface="Calibri" pitchFamily="34" charset="-120"/>
              </a:rPr>
              <a:t>(733 of 4,517) — both improved sharply but stay far above target.</a:t>
            </a:r>
            <a:endParaRPr lang="en-US" sz="1800" dirty="0"/>
          </a:p>
        </p:txBody>
      </p:sp>
      <p:sp>
        <p:nvSpPr>
          <p:cNvPr id="97" name="Text 93"/>
          <p:cNvSpPr/>
          <p:nvPr/>
        </p:nvSpPr>
        <p:spPr>
          <a:xfrm>
            <a:off x="10373519" y="3564731"/>
            <a:ext cx="7210084" cy="68699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a:t>
            </a:r>
            <a:r>
              <a:rPr lang="en-US" sz="1800" b="1" dirty="0">
                <a:solidFill>
                  <a:srgbClr val="1A1A1A"/>
                </a:solidFill>
                <a:latin typeface="Calibri" pitchFamily="34" charset="0"/>
                <a:ea typeface="Calibri" pitchFamily="34" charset="-122"/>
                <a:cs typeface="Calibri" pitchFamily="34" charset="-120"/>
              </a:rPr>
              <a:t>SE is still the best but rose to 13.4% </a:t>
            </a:r>
            <a:r>
              <a:rPr lang="en-US" sz="1800" dirty="0">
                <a:solidFill>
                  <a:srgbClr val="1A1A1A"/>
                </a:solidFill>
                <a:latin typeface="Calibri" pitchFamily="34" charset="0"/>
                <a:ea typeface="Calibri" pitchFamily="34" charset="-122"/>
                <a:cs typeface="Calibri" pitchFamily="34" charset="-120"/>
              </a:rPr>
              <a:t>from 8.3% in June as its BSS volume grew from 880 to 3,616 tickets.</a:t>
            </a:r>
            <a:endParaRPr lang="en-US" sz="1800" dirty="0"/>
          </a:p>
        </p:txBody>
      </p:sp>
      <p:sp>
        <p:nvSpPr>
          <p:cNvPr id="98" name="Text 94"/>
          <p:cNvSpPr/>
          <p:nvPr/>
        </p:nvSpPr>
        <p:spPr>
          <a:xfrm>
            <a:off x="10373519" y="4308872"/>
            <a:ext cx="7210084" cy="68699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Ticket volume jumped for every partner in July (automatic BSS ticket dispatch) — the limit now is team capacity, not only work discipline.</a:t>
            </a:r>
            <a:endParaRPr lang="en-US" sz="1800" dirty="0"/>
          </a:p>
        </p:txBody>
      </p:sp>
      <p:sp>
        <p:nvSpPr>
          <p:cNvPr id="99" name="Shape 95"/>
          <p:cNvSpPr/>
          <p:nvPr/>
        </p:nvSpPr>
        <p:spPr>
          <a:xfrm>
            <a:off x="10106819" y="5338763"/>
            <a:ext cx="7533481" cy="2170112"/>
          </a:xfrm>
          <a:prstGeom prst="rect">
            <a:avLst/>
          </a:prstGeom>
          <a:solidFill>
            <a:srgbClr val="F1F6F2"/>
          </a:solidFill>
          <a:ln/>
        </p:spPr>
        <p:txBody>
          <a:bodyPr/>
          <a:lstStyle/>
          <a:p>
            <a:endParaRPr lang="en-US"/>
          </a:p>
        </p:txBody>
      </p:sp>
      <p:sp>
        <p:nvSpPr>
          <p:cNvPr id="100" name="Shape 96"/>
          <p:cNvSpPr/>
          <p:nvPr/>
        </p:nvSpPr>
        <p:spPr>
          <a:xfrm>
            <a:off x="10106819" y="5338763"/>
            <a:ext cx="38100" cy="2040136"/>
          </a:xfrm>
          <a:prstGeom prst="rect">
            <a:avLst/>
          </a:prstGeom>
          <a:solidFill>
            <a:srgbClr val="C0504D"/>
          </a:solidFill>
          <a:ln/>
        </p:spPr>
        <p:txBody>
          <a:bodyPr/>
          <a:lstStyle/>
          <a:p>
            <a:endParaRPr lang="en-US"/>
          </a:p>
        </p:txBody>
      </p:sp>
      <p:sp>
        <p:nvSpPr>
          <p:cNvPr id="101" name="Text 97"/>
          <p:cNvSpPr/>
          <p:nvPr/>
        </p:nvSpPr>
        <p:spPr>
          <a:xfrm>
            <a:off x="10411619" y="5567363"/>
            <a:ext cx="7658180"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A1A1A"/>
                </a:solidFill>
                <a:latin typeface="Calibri" pitchFamily="34" charset="0"/>
                <a:ea typeface="Calibri" pitchFamily="34" charset="-122"/>
                <a:cs typeface="Calibri" pitchFamily="34" charset="-120"/>
              </a:rPr>
              <a:t>Problems:</a:t>
            </a:r>
            <a:endParaRPr lang="en-US" sz="1950" dirty="0"/>
          </a:p>
        </p:txBody>
      </p:sp>
      <p:sp>
        <p:nvSpPr>
          <p:cNvPr id="102" name="Text 98"/>
          <p:cNvSpPr/>
          <p:nvPr/>
        </p:nvSpPr>
        <p:spPr>
          <a:xfrm>
            <a:off x="10411619" y="5986463"/>
            <a:ext cx="7658180" cy="362545"/>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Technicians fixed the issue on time but forgot to close the ticket on the app.</a:t>
            </a:r>
            <a:endParaRPr lang="en-US" sz="1800" dirty="0"/>
          </a:p>
        </p:txBody>
      </p:sp>
      <p:sp>
        <p:nvSpPr>
          <p:cNvPr id="103" name="Text 99"/>
          <p:cNvSpPr/>
          <p:nvPr/>
        </p:nvSpPr>
        <p:spPr>
          <a:xfrm>
            <a:off x="10411619" y="6406158"/>
            <a:ext cx="7658180" cy="362545"/>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Delays caused by waiting for spare parts (locks, sensors, boards) to ship.</a:t>
            </a:r>
            <a:endParaRPr lang="en-US" sz="1800" dirty="0"/>
          </a:p>
        </p:txBody>
      </p:sp>
      <p:sp>
        <p:nvSpPr>
          <p:cNvPr id="104" name="Text 100"/>
          <p:cNvSpPr/>
          <p:nvPr/>
        </p:nvSpPr>
        <p:spPr>
          <a:xfrm>
            <a:off x="10411619" y="6768703"/>
            <a:ext cx="7171984" cy="362545"/>
          </a:xfrm>
          <a:prstGeom prst="rect">
            <a:avLst/>
          </a:prstGeom>
          <a:noFill/>
          <a:ln/>
        </p:spPr>
        <p:txBody>
          <a:bodyPr wrap="square" lIns="25400" tIns="25400" rIns="25400" bIns="25400" rtlCol="0" anchor="t">
            <a:noAutofit/>
          </a:bodyPr>
          <a:lstStyle/>
          <a:p>
            <a:pPr marL="0" indent="0" algn="l">
              <a:lnSpc>
                <a:spcPct val="116182"/>
              </a:lnSpc>
              <a:buNone/>
            </a:pPr>
            <a:r>
              <a:rPr lang="en-US" dirty="0">
                <a:solidFill>
                  <a:srgbClr val="1A1A1A"/>
                </a:solidFill>
                <a:latin typeface="Calibri" pitchFamily="34" charset="0"/>
                <a:ea typeface="Calibri" pitchFamily="34" charset="-122"/>
                <a:cs typeface="Calibri" pitchFamily="34" charset="-120"/>
              </a:rPr>
              <a:t>· Too many tickets arrive at once; technicians gave priority to car chargers over battery stations.</a:t>
            </a:r>
            <a:endParaRPr lang="en-US" dirty="0"/>
          </a:p>
        </p:txBody>
      </p:sp>
      <p:sp>
        <p:nvSpPr>
          <p:cNvPr id="105" name="Shape 101"/>
          <p:cNvSpPr/>
          <p:nvPr/>
        </p:nvSpPr>
        <p:spPr>
          <a:xfrm>
            <a:off x="10050122" y="7696200"/>
            <a:ext cx="7533481" cy="2171700"/>
          </a:xfrm>
          <a:prstGeom prst="rect">
            <a:avLst/>
          </a:prstGeom>
          <a:solidFill>
            <a:srgbClr val="E2EFDA"/>
          </a:solidFill>
          <a:ln/>
        </p:spPr>
        <p:txBody>
          <a:bodyPr/>
          <a:lstStyle/>
          <a:p>
            <a:endParaRPr lang="en-US" dirty="0"/>
          </a:p>
        </p:txBody>
      </p:sp>
      <p:sp>
        <p:nvSpPr>
          <p:cNvPr id="106" name="Text 102"/>
          <p:cNvSpPr/>
          <p:nvPr/>
        </p:nvSpPr>
        <p:spPr>
          <a:xfrm>
            <a:off x="10373519" y="7759898"/>
            <a:ext cx="7700090"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A1A1A"/>
                </a:solidFill>
                <a:latin typeface="Calibri" pitchFamily="34" charset="0"/>
                <a:ea typeface="Calibri" pitchFamily="34" charset="-122"/>
                <a:cs typeface="Calibri" pitchFamily="34" charset="-120"/>
              </a:rPr>
              <a:t>Solutions:</a:t>
            </a:r>
            <a:endParaRPr lang="en-US" sz="1950" dirty="0"/>
          </a:p>
        </p:txBody>
      </p:sp>
      <p:sp>
        <p:nvSpPr>
          <p:cNvPr id="107" name="Text 103"/>
          <p:cNvSpPr/>
          <p:nvPr/>
        </p:nvSpPr>
        <p:spPr>
          <a:xfrm>
            <a:off x="10373519" y="8178998"/>
            <a:ext cx="7210084" cy="68699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Require technicians to close tickets on the app right after fixing the issue.</a:t>
            </a:r>
            <a:endParaRPr lang="en-US" sz="1800" dirty="0"/>
          </a:p>
        </p:txBody>
      </p:sp>
      <p:sp>
        <p:nvSpPr>
          <p:cNvPr id="108" name="Text 104"/>
          <p:cNvSpPr/>
          <p:nvPr/>
        </p:nvSpPr>
        <p:spPr>
          <a:xfrm>
            <a:off x="10373519" y="8579643"/>
            <a:ext cx="7210084" cy="68699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Keep common spare parts (locks, sensors, boards) with the technician teams or at local hubs.</a:t>
            </a:r>
            <a:endParaRPr lang="en-US" sz="1800" dirty="0"/>
          </a:p>
        </p:txBody>
      </p:sp>
      <p:sp>
        <p:nvSpPr>
          <p:cNvPr id="110" name="Shape 12">
            <a:extLst>
              <a:ext uri="{FF2B5EF4-FFF2-40B4-BE49-F238E27FC236}">
                <a16:creationId xmlns:a16="http://schemas.microsoft.com/office/drawing/2014/main" id="{E7C57FB5-01BC-0E7F-D7AD-E17DEE6ADBA1}"/>
              </a:ext>
            </a:extLst>
          </p:cNvPr>
          <p:cNvSpPr/>
          <p:nvPr/>
        </p:nvSpPr>
        <p:spPr>
          <a:xfrm>
            <a:off x="2936001" y="2569051"/>
            <a:ext cx="877888" cy="514350"/>
          </a:xfrm>
          <a:prstGeom prst="rect">
            <a:avLst/>
          </a:prstGeom>
          <a:solidFill>
            <a:srgbClr val="F0F1EE"/>
          </a:solidFill>
          <a:ln/>
        </p:spPr>
        <p:txBody>
          <a:bodyPr/>
          <a:lstStyle/>
          <a:p>
            <a:endParaRPr lang="en-US"/>
          </a:p>
        </p:txBody>
      </p:sp>
      <p:sp>
        <p:nvSpPr>
          <p:cNvPr id="112" name="Text 13">
            <a:extLst>
              <a:ext uri="{FF2B5EF4-FFF2-40B4-BE49-F238E27FC236}">
                <a16:creationId xmlns:a16="http://schemas.microsoft.com/office/drawing/2014/main" id="{41286B3F-C408-60A1-BCDE-77B481241994}"/>
              </a:ext>
            </a:extLst>
          </p:cNvPr>
          <p:cNvSpPr/>
          <p:nvPr/>
        </p:nvSpPr>
        <p:spPr>
          <a:xfrm>
            <a:off x="2897901" y="2692876"/>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A8ADA4"/>
                </a:solidFill>
                <a:latin typeface="Calibri" pitchFamily="34" charset="0"/>
                <a:ea typeface="Calibri" pitchFamily="34" charset="-122"/>
                <a:cs typeface="Calibri" pitchFamily="34" charset="-120"/>
              </a:rPr>
              <a:t>–</a:t>
            </a:r>
            <a:endParaRPr lang="en-US" sz="1725" dirty="0"/>
          </a:p>
        </p:txBody>
      </p:sp>
      <p:sp>
        <p:nvSpPr>
          <p:cNvPr id="114" name="Shape 12">
            <a:extLst>
              <a:ext uri="{FF2B5EF4-FFF2-40B4-BE49-F238E27FC236}">
                <a16:creationId xmlns:a16="http://schemas.microsoft.com/office/drawing/2014/main" id="{E7726966-6379-59FD-9F18-58CBA0681BB9}"/>
              </a:ext>
            </a:extLst>
          </p:cNvPr>
          <p:cNvSpPr/>
          <p:nvPr/>
        </p:nvSpPr>
        <p:spPr>
          <a:xfrm>
            <a:off x="2929194" y="3187700"/>
            <a:ext cx="877888" cy="514350"/>
          </a:xfrm>
          <a:prstGeom prst="rect">
            <a:avLst/>
          </a:prstGeom>
          <a:solidFill>
            <a:srgbClr val="F0F1EE"/>
          </a:solidFill>
          <a:ln/>
        </p:spPr>
        <p:txBody>
          <a:bodyPr/>
          <a:lstStyle/>
          <a:p>
            <a:endParaRPr lang="en-US"/>
          </a:p>
        </p:txBody>
      </p:sp>
      <p:sp>
        <p:nvSpPr>
          <p:cNvPr id="116" name="Text 13">
            <a:extLst>
              <a:ext uri="{FF2B5EF4-FFF2-40B4-BE49-F238E27FC236}">
                <a16:creationId xmlns:a16="http://schemas.microsoft.com/office/drawing/2014/main" id="{98672CCF-37C1-6FEE-1449-BF76482034FB}"/>
              </a:ext>
            </a:extLst>
          </p:cNvPr>
          <p:cNvSpPr/>
          <p:nvPr/>
        </p:nvSpPr>
        <p:spPr>
          <a:xfrm>
            <a:off x="2891094" y="3311525"/>
            <a:ext cx="954088" cy="304800"/>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A8ADA4"/>
                </a:solidFill>
                <a:latin typeface="Calibri" pitchFamily="34" charset="0"/>
                <a:ea typeface="Calibri" pitchFamily="34" charset="-122"/>
                <a:cs typeface="Calibri" pitchFamily="34" charset="-120"/>
              </a:rPr>
              <a:t>–</a:t>
            </a:r>
            <a:endParaRPr lang="en-US" sz="1725" dirty="0"/>
          </a:p>
        </p:txBody>
      </p:sp>
      <p:sp>
        <p:nvSpPr>
          <p:cNvPr id="500" name="AvgLine BSS"/>
          <p:cNvSpPr/>
          <p:nvPr/>
        </p:nvSpPr>
        <p:spPr>
          <a:xfrm>
            <a:off x="1333500" y="7928610"/>
            <a:ext cx="8356600" cy="25400"/>
          </a:xfrm>
          <a:prstGeom prst="rect">
            <a:avLst/>
          </a:prstGeom>
          <a:solidFill>
            <a:srgbClr val="2F5597">
              <a:alpha val="70000"/>
            </a:srgbClr>
          </a:solidFill>
          <a:ln>
            <a:noFill/>
          </a:ln>
        </p:spPr>
        <p:txBody>
          <a:bodyPr/>
          <a:lstStyle/>
          <a:p>
            <a:endParaRPr lang="en-US">
              <a:solidFill>
                <a:srgbClr val="2F5597"/>
              </a:solidFill>
            </a:endParaRPr>
          </a:p>
        </p:txBody>
      </p:sp>
      <p:sp>
        <p:nvSpPr>
          <p:cNvPr id="501" name="AvgLine Label BSS"/>
          <p:cNvSpPr txBox="1"/>
          <p:nvPr/>
        </p:nvSpPr>
        <p:spPr>
          <a:xfrm>
            <a:off x="1458516" y="7977685"/>
            <a:ext cx="2413000" cy="266700"/>
          </a:xfrm>
          <a:prstGeom prst="rect">
            <a:avLst/>
          </a:prstGeom>
          <a:noFill/>
        </p:spPr>
        <p:txBody>
          <a:bodyPr wrap="none" lIns="0" tIns="0" rIns="0" bIns="0">
            <a:noAutofit/>
          </a:bodyPr>
          <a:lstStyle/>
          <a:p>
            <a:pPr marL="0" indent="0" algn="l">
              <a:buNone/>
            </a:pPr>
            <a:r>
              <a:rPr lang="en-US" sz="1425" b="1" dirty="0">
                <a:solidFill>
                  <a:srgbClr val="2F5597"/>
                </a:solidFill>
                <a:latin typeface="Calibri" pitchFamily="34" charset="0"/>
                <a:ea typeface="Calibri" pitchFamily="34" charset="-122"/>
                <a:cs typeface="Calibri" pitchFamily="34" charset="-120"/>
              </a:rPr>
              <a:t>All avg: 21%</a:t>
            </a:r>
          </a:p>
        </p:txBody>
      </p:sp>
      <p:sp>
        <p:nvSpPr>
          <p:cNvPr id="120" name="Text 76"/>
          <p:cNvSpPr txBox="1"/>
          <p:nvPr/>
        </p:nvSpPr>
        <p:spPr>
          <a:xfrm>
            <a:off x="8572500" y="8178800"/>
            <a:ext cx="1003300" cy="266700"/>
          </a:xfrm>
          <a:prstGeom prst="rect">
            <a:avLst/>
          </a:prstGeom>
          <a:noFill/>
        </p:spPr>
        <p:txBody>
          <a:bodyPr wrap="square" lIns="0" tIns="0" rIns="0" bIns="0">
            <a:noAutofit/>
          </a:bodyPr>
          <a:lstStyle/>
          <a:p>
            <a:pPr marL="0" indent="0" algn="l">
              <a:buNone/>
            </a:pPr>
            <a:r>
              <a:rPr lang="en-US" sz="1425" dirty="0">
                <a:solidFill>
                  <a:srgbClr val="595959"/>
                </a:solidFill>
                <a:latin typeface="Calibri" pitchFamily="34" charset="0"/>
                <a:ea typeface="Calibri" pitchFamily="34" charset="-122"/>
                <a:cs typeface="Calibri" pitchFamily="34" charset="-120"/>
              </a:rPr>
              <a:t>4,517 tickets</a:t>
            </a:r>
            <a:endParaRPr lang="en-US" sz="1425" dirty="0"/>
          </a:p>
        </p:txBody>
      </p:sp>
      <p:sp>
        <p:nvSpPr>
          <p:cNvPr id="121" name="Text 79"/>
          <p:cNvSpPr txBox="1"/>
          <p:nvPr/>
        </p:nvSpPr>
        <p:spPr>
          <a:xfrm>
            <a:off x="8420100" y="7696200"/>
            <a:ext cx="1003300" cy="266700"/>
          </a:xfrm>
          <a:prstGeom prst="rect">
            <a:avLst/>
          </a:prstGeom>
          <a:noFill/>
        </p:spPr>
        <p:txBody>
          <a:bodyPr wrap="square" lIns="0" tIns="0" rIns="0" bIns="0">
            <a:noAutofit/>
          </a:bodyPr>
          <a:lstStyle/>
          <a:p>
            <a:pPr marL="0" indent="0" algn="l">
              <a:buNone/>
            </a:pPr>
            <a:r>
              <a:rPr lang="en-US" sz="1425" dirty="0">
                <a:solidFill>
                  <a:srgbClr val="595959"/>
                </a:solidFill>
                <a:latin typeface="Calibri" pitchFamily="34" charset="0"/>
                <a:ea typeface="Calibri" pitchFamily="34" charset="-122"/>
                <a:cs typeface="Calibri" pitchFamily="34" charset="-120"/>
              </a:rPr>
              <a:t>4,433 tickets</a:t>
            </a:r>
            <a:endParaRPr lang="en-US" sz="1425" dirty="0"/>
          </a:p>
        </p:txBody>
      </p:sp>
      <p:sp>
        <p:nvSpPr>
          <p:cNvPr id="122" name="Text 82"/>
          <p:cNvSpPr txBox="1"/>
          <p:nvPr/>
        </p:nvSpPr>
        <p:spPr>
          <a:xfrm>
            <a:off x="6438900" y="6794500"/>
            <a:ext cx="1054100" cy="266700"/>
          </a:xfrm>
          <a:prstGeom prst="rect">
            <a:avLst/>
          </a:prstGeom>
          <a:noFill/>
        </p:spPr>
        <p:txBody>
          <a:bodyPr wrap="square" lIns="0" tIns="0" rIns="0" bIns="0">
            <a:noAutofit/>
          </a:bodyPr>
          <a:lstStyle/>
          <a:p>
            <a:pPr marL="0" indent="0" algn="l">
              <a:buNone/>
            </a:pPr>
            <a:r>
              <a:rPr lang="en-US" sz="1425" dirty="0">
                <a:solidFill>
                  <a:srgbClr val="595959"/>
                </a:solidFill>
                <a:latin typeface="Calibri" pitchFamily="34" charset="0"/>
                <a:ea typeface="Calibri" pitchFamily="34" charset="-122"/>
                <a:cs typeface="Calibri" pitchFamily="34" charset="-120"/>
              </a:rPr>
              <a:t>3,248 tickets</a:t>
            </a:r>
            <a:endParaRPr lang="en-US" sz="1425" dirty="0"/>
          </a:p>
        </p:txBody>
      </p:sp>
      <p:sp>
        <p:nvSpPr>
          <p:cNvPr id="123" name="Text 85"/>
          <p:cNvSpPr txBox="1"/>
          <p:nvPr/>
        </p:nvSpPr>
        <p:spPr>
          <a:xfrm>
            <a:off x="7048500" y="8394700"/>
            <a:ext cx="1003300" cy="266700"/>
          </a:xfrm>
          <a:prstGeom prst="rect">
            <a:avLst/>
          </a:prstGeom>
          <a:noFill/>
        </p:spPr>
        <p:txBody>
          <a:bodyPr wrap="square" lIns="0" tIns="0" rIns="0" bIns="0">
            <a:noAutofit/>
          </a:bodyPr>
          <a:lstStyle/>
          <a:p>
            <a:pPr marL="0" indent="0" algn="l">
              <a:buNone/>
            </a:pPr>
            <a:r>
              <a:rPr lang="en-US" sz="1425" dirty="0">
                <a:solidFill>
                  <a:srgbClr val="595959"/>
                </a:solidFill>
                <a:latin typeface="Calibri" pitchFamily="34" charset="0"/>
                <a:ea typeface="Calibri" pitchFamily="34" charset="-122"/>
                <a:cs typeface="Calibri" pitchFamily="34" charset="-120"/>
              </a:rPr>
              <a:t>3,616 tickets</a:t>
            </a:r>
            <a:endParaRPr lang="en-US" sz="1425" dirty="0"/>
          </a:p>
        </p:txBody>
      </p:sp>
      <p:sp>
        <p:nvSpPr>
          <p:cNvPr id="502" name="AvgLine2"/>
          <p:cNvSpPr/>
          <p:nvPr/>
        </p:nvSpPr>
        <p:spPr>
          <a:xfrm>
            <a:off x="1333500" y="7416800"/>
            <a:ext cx="8356600" cy="25400"/>
          </a:xfrm>
          <a:prstGeom prst="rect">
            <a:avLst/>
          </a:prstGeom>
          <a:solidFill>
            <a:srgbClr val="1F7A5C">
              <a:alpha val="70000"/>
            </a:srgbClr>
          </a:solidFill>
          <a:ln>
            <a:noFill/>
          </a:ln>
        </p:spPr>
        <p:txBody>
          <a:bodyPr/>
          <a:lstStyle/>
          <a:p>
            <a:endParaRPr lang="en-US"/>
          </a:p>
        </p:txBody>
      </p:sp>
      <p:sp>
        <p:nvSpPr>
          <p:cNvPr id="503" name="AvgLine2Label"/>
          <p:cNvSpPr txBox="1"/>
          <p:nvPr/>
        </p:nvSpPr>
        <p:spPr>
          <a:xfrm>
            <a:off x="1443038" y="7442200"/>
            <a:ext cx="2794000" cy="266700"/>
          </a:xfrm>
          <a:prstGeom prst="rect">
            <a:avLst/>
          </a:prstGeom>
          <a:noFill/>
        </p:spPr>
        <p:txBody>
          <a:bodyPr wrap="none" lIns="0" tIns="0" rIns="0" bIns="0">
            <a:noAutofit/>
          </a:bodyPr>
          <a:lstStyle/>
          <a:p>
            <a:pPr marL="0" indent="0" algn="l">
              <a:buNone/>
            </a:pPr>
            <a:r>
              <a:rPr lang="en-US" sz="1425" b="1" dirty="0">
                <a:solidFill>
                  <a:srgbClr val="1F7A5C"/>
                </a:solidFill>
                <a:latin typeface="Calibri" pitchFamily="34" charset="0"/>
              </a:rPr>
              <a:t>EC/ES/ITS avg: 23.2%</a:t>
            </a:r>
          </a:p>
        </p:txBody>
      </p:sp>
    </p:spTree>
    <p:extLst>
      <p:ext uri="{BB962C8B-B14F-4D97-AF65-F5344CB8AC3E}">
        <p14:creationId xmlns:p14="http://schemas.microsoft.com/office/powerpoint/2010/main" val="3671877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114300" y="342900"/>
            <a:ext cx="571500" cy="571500"/>
          </a:xfrm>
          <a:prstGeom prst="rect">
            <a:avLst/>
          </a:prstGeom>
        </p:spPr>
      </p:pic>
      <p:pic>
        <p:nvPicPr>
          <p:cNvPr id="3" name="Image 1" descr="preencoded.png"/>
          <p:cNvPicPr>
            <a:picLocks noChangeAspect="1"/>
          </p:cNvPicPr>
          <p:nvPr/>
        </p:nvPicPr>
        <p:blipFill>
          <a:blip r:embed="rId4"/>
          <a:srcRect t="49" b="49"/>
          <a:stretch/>
        </p:blipFill>
        <p:spPr>
          <a:xfrm>
            <a:off x="14001750" y="114300"/>
            <a:ext cx="4114800" cy="914400"/>
          </a:xfrm>
          <a:prstGeom prst="rect">
            <a:avLst/>
          </a:prstGeom>
        </p:spPr>
      </p:pic>
      <p:sp>
        <p:nvSpPr>
          <p:cNvPr id="4" name="Text 0"/>
          <p:cNvSpPr/>
          <p:nvPr/>
        </p:nvSpPr>
        <p:spPr>
          <a:xfrm>
            <a:off x="876300" y="419100"/>
            <a:ext cx="6022817" cy="508000"/>
          </a:xfrm>
          <a:prstGeom prst="rect">
            <a:avLst/>
          </a:prstGeom>
          <a:noFill/>
          <a:ln/>
        </p:spPr>
        <p:txBody>
          <a:bodyPr wrap="square" lIns="25400" tIns="25400" rIns="25400" bIns="25400" rtlCol="0" anchor="t">
            <a:normAutofit/>
          </a:bodyPr>
          <a:lstStyle/>
          <a:p>
            <a:pPr marL="0" indent="0" algn="l">
              <a:buNone/>
            </a:pPr>
            <a:r>
              <a:rPr lang="en-US" sz="3000" b="1" dirty="0">
                <a:solidFill>
                  <a:srgbClr val="1A1A1A"/>
                </a:solidFill>
                <a:latin typeface="Calibri" pitchFamily="34" charset="0"/>
                <a:ea typeface="Calibri" pitchFamily="34" charset="-122"/>
                <a:cs typeface="Calibri" pitchFamily="34" charset="-120"/>
              </a:rPr>
              <a:t>1.5. SLA performance by CSE: EVCS</a:t>
            </a:r>
            <a:endParaRPr lang="en-US" sz="3000" dirty="0"/>
          </a:p>
        </p:txBody>
      </p:sp>
      <p:sp>
        <p:nvSpPr>
          <p:cNvPr id="5" name="Shape 1"/>
          <p:cNvSpPr/>
          <p:nvPr/>
        </p:nvSpPr>
        <p:spPr>
          <a:xfrm>
            <a:off x="0" y="1152525"/>
            <a:ext cx="18288000" cy="19050"/>
          </a:xfrm>
          <a:prstGeom prst="rect">
            <a:avLst/>
          </a:prstGeom>
          <a:solidFill>
            <a:srgbClr val="A6A6A6"/>
          </a:solidFill>
          <a:ln/>
        </p:spPr>
        <p:txBody>
          <a:bodyPr/>
          <a:lstStyle/>
          <a:p>
            <a:endParaRPr lang="en-US"/>
          </a:p>
        </p:txBody>
      </p:sp>
      <p:sp>
        <p:nvSpPr>
          <p:cNvPr id="6" name="Text 2"/>
          <p:cNvSpPr/>
          <p:nvPr/>
        </p:nvSpPr>
        <p:spPr>
          <a:xfrm>
            <a:off x="647700" y="1428750"/>
            <a:ext cx="10151388"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2F5597"/>
                </a:solidFill>
                <a:latin typeface="Calibri" pitchFamily="34" charset="0"/>
                <a:ea typeface="Calibri" pitchFamily="34" charset="-122"/>
                <a:cs typeface="Calibri" pitchFamily="34" charset="-120"/>
              </a:rPr>
              <a:t>Overdue rate by CSE — M2 → M7 (sorted by M7 ticket volume)</a:t>
            </a:r>
            <a:endParaRPr lang="en-US" sz="1875" dirty="0"/>
          </a:p>
        </p:txBody>
      </p:sp>
      <p:sp>
        <p:nvSpPr>
          <p:cNvPr id="8" name="Text 4"/>
          <p:cNvSpPr/>
          <p:nvPr/>
        </p:nvSpPr>
        <p:spPr>
          <a:xfrm>
            <a:off x="2571750" y="2216150"/>
            <a:ext cx="928489" cy="266700"/>
          </a:xfrm>
          <a:prstGeom prst="rect">
            <a:avLst/>
          </a:prstGeom>
          <a:noFill/>
          <a:ln/>
        </p:spPr>
        <p:txBody>
          <a:bodyPr wrap="square" lIns="25400" tIns="25400" rIns="25400" bIns="25400" rtlCol="0" anchor="t">
            <a:normAutofit lnSpcReduction="10000"/>
          </a:bodyPr>
          <a:lstStyle/>
          <a:p>
            <a:pPr marL="0" indent="0" algn="ctr">
              <a:buNone/>
            </a:pPr>
            <a:r>
              <a:rPr lang="en-US" sz="1500" dirty="0">
                <a:solidFill>
                  <a:srgbClr val="595959"/>
                </a:solidFill>
                <a:latin typeface="Calibri" pitchFamily="34" charset="0"/>
                <a:ea typeface="Calibri" pitchFamily="34" charset="-122"/>
                <a:cs typeface="Calibri" pitchFamily="34" charset="-120"/>
              </a:rPr>
              <a:t>M2</a:t>
            </a:r>
            <a:endParaRPr lang="en-US" sz="1500" dirty="0"/>
          </a:p>
        </p:txBody>
      </p:sp>
      <p:sp>
        <p:nvSpPr>
          <p:cNvPr id="9" name="Text 5"/>
          <p:cNvSpPr/>
          <p:nvPr/>
        </p:nvSpPr>
        <p:spPr>
          <a:xfrm>
            <a:off x="3481189" y="2216150"/>
            <a:ext cx="928489" cy="266700"/>
          </a:xfrm>
          <a:prstGeom prst="rect">
            <a:avLst/>
          </a:prstGeom>
          <a:noFill/>
          <a:ln/>
        </p:spPr>
        <p:txBody>
          <a:bodyPr wrap="square" lIns="25400" tIns="25400" rIns="25400" bIns="25400" rtlCol="0" anchor="t">
            <a:normAutofit lnSpcReduction="10000"/>
          </a:bodyPr>
          <a:lstStyle/>
          <a:p>
            <a:pPr marL="0" indent="0" algn="ctr">
              <a:buNone/>
            </a:pPr>
            <a:r>
              <a:rPr lang="en-US" sz="1500" dirty="0">
                <a:solidFill>
                  <a:srgbClr val="595959"/>
                </a:solidFill>
                <a:latin typeface="Calibri" pitchFamily="34" charset="0"/>
                <a:ea typeface="Calibri" pitchFamily="34" charset="-122"/>
                <a:cs typeface="Calibri" pitchFamily="34" charset="-120"/>
              </a:rPr>
              <a:t>M3</a:t>
            </a:r>
            <a:endParaRPr lang="en-US" sz="1500" dirty="0"/>
          </a:p>
        </p:txBody>
      </p:sp>
      <p:sp>
        <p:nvSpPr>
          <p:cNvPr id="10" name="Text 6"/>
          <p:cNvSpPr/>
          <p:nvPr/>
        </p:nvSpPr>
        <p:spPr>
          <a:xfrm>
            <a:off x="4390628" y="2216150"/>
            <a:ext cx="928489" cy="266700"/>
          </a:xfrm>
          <a:prstGeom prst="rect">
            <a:avLst/>
          </a:prstGeom>
          <a:noFill/>
          <a:ln/>
        </p:spPr>
        <p:txBody>
          <a:bodyPr wrap="square" lIns="25400" tIns="25400" rIns="25400" bIns="25400" rtlCol="0" anchor="t">
            <a:normAutofit lnSpcReduction="10000"/>
          </a:bodyPr>
          <a:lstStyle/>
          <a:p>
            <a:pPr marL="0" indent="0" algn="ctr">
              <a:buNone/>
            </a:pPr>
            <a:r>
              <a:rPr lang="en-US" sz="1500" dirty="0">
                <a:solidFill>
                  <a:srgbClr val="595959"/>
                </a:solidFill>
                <a:latin typeface="Calibri" pitchFamily="34" charset="0"/>
                <a:ea typeface="Calibri" pitchFamily="34" charset="-122"/>
                <a:cs typeface="Calibri" pitchFamily="34" charset="-120"/>
              </a:rPr>
              <a:t>M4</a:t>
            </a:r>
            <a:endParaRPr lang="en-US" sz="1500" dirty="0"/>
          </a:p>
        </p:txBody>
      </p:sp>
      <p:sp>
        <p:nvSpPr>
          <p:cNvPr id="11" name="Text 7"/>
          <p:cNvSpPr/>
          <p:nvPr/>
        </p:nvSpPr>
        <p:spPr>
          <a:xfrm>
            <a:off x="5300067" y="2216150"/>
            <a:ext cx="928489" cy="266700"/>
          </a:xfrm>
          <a:prstGeom prst="rect">
            <a:avLst/>
          </a:prstGeom>
          <a:noFill/>
          <a:ln/>
        </p:spPr>
        <p:txBody>
          <a:bodyPr wrap="square" lIns="25400" tIns="25400" rIns="25400" bIns="25400" rtlCol="0" anchor="t">
            <a:normAutofit lnSpcReduction="10000"/>
          </a:bodyPr>
          <a:lstStyle/>
          <a:p>
            <a:pPr marL="0" indent="0" algn="ctr">
              <a:buNone/>
            </a:pPr>
            <a:r>
              <a:rPr lang="en-US" sz="1500" dirty="0">
                <a:solidFill>
                  <a:srgbClr val="595959"/>
                </a:solidFill>
                <a:latin typeface="Calibri" pitchFamily="34" charset="0"/>
                <a:ea typeface="Calibri" pitchFamily="34" charset="-122"/>
                <a:cs typeface="Calibri" pitchFamily="34" charset="-120"/>
              </a:rPr>
              <a:t>M5</a:t>
            </a:r>
            <a:endParaRPr lang="en-US" sz="1500" dirty="0"/>
          </a:p>
        </p:txBody>
      </p:sp>
      <p:sp>
        <p:nvSpPr>
          <p:cNvPr id="12" name="Text 8"/>
          <p:cNvSpPr/>
          <p:nvPr/>
        </p:nvSpPr>
        <p:spPr>
          <a:xfrm>
            <a:off x="6209506" y="2216150"/>
            <a:ext cx="928489" cy="266700"/>
          </a:xfrm>
          <a:prstGeom prst="rect">
            <a:avLst/>
          </a:prstGeom>
          <a:noFill/>
          <a:ln/>
        </p:spPr>
        <p:txBody>
          <a:bodyPr wrap="square" lIns="25400" tIns="25400" rIns="25400" bIns="25400" rtlCol="0" anchor="t">
            <a:normAutofit lnSpcReduction="10000"/>
          </a:bodyPr>
          <a:lstStyle/>
          <a:p>
            <a:pPr marL="0" indent="0" algn="ctr">
              <a:buNone/>
            </a:pPr>
            <a:r>
              <a:rPr lang="en-US" sz="1500" dirty="0">
                <a:solidFill>
                  <a:srgbClr val="595959"/>
                </a:solidFill>
                <a:latin typeface="Calibri" pitchFamily="34" charset="0"/>
                <a:ea typeface="Calibri" pitchFamily="34" charset="-122"/>
                <a:cs typeface="Calibri" pitchFamily="34" charset="-120"/>
              </a:rPr>
              <a:t>M6</a:t>
            </a:r>
            <a:endParaRPr lang="en-US" sz="1500" dirty="0"/>
          </a:p>
        </p:txBody>
      </p:sp>
      <p:sp>
        <p:nvSpPr>
          <p:cNvPr id="13" name="Text 9"/>
          <p:cNvSpPr/>
          <p:nvPr/>
        </p:nvSpPr>
        <p:spPr>
          <a:xfrm>
            <a:off x="7118946" y="2216150"/>
            <a:ext cx="928489" cy="266700"/>
          </a:xfrm>
          <a:prstGeom prst="rect">
            <a:avLst/>
          </a:prstGeom>
          <a:noFill/>
          <a:ln/>
        </p:spPr>
        <p:txBody>
          <a:bodyPr wrap="square" lIns="25400" tIns="25400" rIns="25400" bIns="25400" rtlCol="0" anchor="t">
            <a:normAutofit lnSpcReduction="10000"/>
          </a:bodyPr>
          <a:lstStyle/>
          <a:p>
            <a:pPr marL="0" indent="0" algn="ctr">
              <a:buNone/>
            </a:pPr>
            <a:r>
              <a:rPr lang="en-US" sz="1500" dirty="0">
                <a:solidFill>
                  <a:srgbClr val="595959"/>
                </a:solidFill>
                <a:latin typeface="Calibri" pitchFamily="34" charset="0"/>
                <a:ea typeface="Calibri" pitchFamily="34" charset="-122"/>
                <a:cs typeface="Calibri" pitchFamily="34" charset="-120"/>
              </a:rPr>
              <a:t>M7</a:t>
            </a:r>
            <a:endParaRPr lang="en-US" sz="1500" dirty="0"/>
          </a:p>
        </p:txBody>
      </p:sp>
      <p:sp>
        <p:nvSpPr>
          <p:cNvPr id="14" name="Text 10"/>
          <p:cNvSpPr/>
          <p:nvPr/>
        </p:nvSpPr>
        <p:spPr>
          <a:xfrm>
            <a:off x="7885509" y="2216150"/>
            <a:ext cx="1990725" cy="266700"/>
          </a:xfrm>
          <a:prstGeom prst="rect">
            <a:avLst/>
          </a:prstGeom>
          <a:noFill/>
          <a:ln/>
        </p:spPr>
        <p:txBody>
          <a:bodyPr wrap="square" lIns="25400" tIns="25400" rIns="25400" bIns="25400" rtlCol="0" anchor="t">
            <a:normAutofit lnSpcReduction="10000"/>
          </a:bodyPr>
          <a:lstStyle/>
          <a:p>
            <a:pPr marL="0" indent="0" algn="r">
              <a:buNone/>
            </a:pPr>
            <a:r>
              <a:rPr lang="en-US" sz="1500" dirty="0">
                <a:solidFill>
                  <a:srgbClr val="595959"/>
                </a:solidFill>
                <a:latin typeface="Calibri" pitchFamily="34" charset="0"/>
                <a:ea typeface="Calibri" pitchFamily="34" charset="-122"/>
                <a:cs typeface="Calibri" pitchFamily="34" charset="-120"/>
              </a:rPr>
              <a:t>M7 total · ovd</a:t>
            </a:r>
            <a:endParaRPr lang="en-US" sz="1500" dirty="0"/>
          </a:p>
        </p:txBody>
      </p:sp>
      <p:sp>
        <p:nvSpPr>
          <p:cNvPr id="15" name="Text 11"/>
          <p:cNvSpPr/>
          <p:nvPr/>
        </p:nvSpPr>
        <p:spPr>
          <a:xfrm>
            <a:off x="647700" y="2581275"/>
            <a:ext cx="20955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thuanlu</a:t>
            </a:r>
            <a:endParaRPr lang="en-US" sz="1725" dirty="0"/>
          </a:p>
        </p:txBody>
      </p:sp>
      <p:sp>
        <p:nvSpPr>
          <p:cNvPr id="16" name="Shape 12"/>
          <p:cNvSpPr/>
          <p:nvPr/>
        </p:nvSpPr>
        <p:spPr>
          <a:xfrm>
            <a:off x="2609850" y="2501900"/>
            <a:ext cx="852289" cy="425450"/>
          </a:xfrm>
          <a:prstGeom prst="rect">
            <a:avLst/>
          </a:prstGeom>
          <a:solidFill>
            <a:srgbClr val="DCEBD0"/>
          </a:solidFill>
          <a:ln/>
        </p:spPr>
        <p:txBody>
          <a:bodyPr/>
          <a:lstStyle/>
          <a:p>
            <a:endParaRPr lang="en-US"/>
          </a:p>
        </p:txBody>
      </p:sp>
      <p:sp>
        <p:nvSpPr>
          <p:cNvPr id="17" name="Text 13"/>
          <p:cNvSpPr/>
          <p:nvPr/>
        </p:nvSpPr>
        <p:spPr>
          <a:xfrm>
            <a:off x="2571750" y="25876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3.9%</a:t>
            </a:r>
            <a:endParaRPr lang="en-US" sz="1650" dirty="0"/>
          </a:p>
        </p:txBody>
      </p:sp>
      <p:sp>
        <p:nvSpPr>
          <p:cNvPr id="18" name="Shape 14"/>
          <p:cNvSpPr/>
          <p:nvPr/>
        </p:nvSpPr>
        <p:spPr>
          <a:xfrm>
            <a:off x="3519289" y="2501900"/>
            <a:ext cx="852289" cy="425450"/>
          </a:xfrm>
          <a:prstGeom prst="rect">
            <a:avLst/>
          </a:prstGeom>
          <a:solidFill>
            <a:srgbClr val="DCEBD0"/>
          </a:solidFill>
          <a:ln/>
        </p:spPr>
        <p:txBody>
          <a:bodyPr/>
          <a:lstStyle/>
          <a:p>
            <a:endParaRPr lang="en-US"/>
          </a:p>
        </p:txBody>
      </p:sp>
      <p:sp>
        <p:nvSpPr>
          <p:cNvPr id="19" name="Text 15"/>
          <p:cNvSpPr/>
          <p:nvPr/>
        </p:nvSpPr>
        <p:spPr>
          <a:xfrm>
            <a:off x="3481189" y="25876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4.0%</a:t>
            </a:r>
            <a:endParaRPr lang="en-US" sz="1650" dirty="0"/>
          </a:p>
        </p:txBody>
      </p:sp>
      <p:sp>
        <p:nvSpPr>
          <p:cNvPr id="20" name="Shape 16"/>
          <p:cNvSpPr/>
          <p:nvPr/>
        </p:nvSpPr>
        <p:spPr>
          <a:xfrm>
            <a:off x="4428728" y="2501900"/>
            <a:ext cx="852289" cy="425450"/>
          </a:xfrm>
          <a:prstGeom prst="rect">
            <a:avLst/>
          </a:prstGeom>
          <a:solidFill>
            <a:srgbClr val="EDEFD3"/>
          </a:solidFill>
          <a:ln/>
        </p:spPr>
        <p:txBody>
          <a:bodyPr/>
          <a:lstStyle/>
          <a:p>
            <a:endParaRPr lang="en-US"/>
          </a:p>
        </p:txBody>
      </p:sp>
      <p:sp>
        <p:nvSpPr>
          <p:cNvPr id="21" name="Text 17"/>
          <p:cNvSpPr/>
          <p:nvPr/>
        </p:nvSpPr>
        <p:spPr>
          <a:xfrm>
            <a:off x="4390628" y="25876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6.7%</a:t>
            </a:r>
            <a:endParaRPr lang="en-US" sz="1650" dirty="0"/>
          </a:p>
        </p:txBody>
      </p:sp>
      <p:sp>
        <p:nvSpPr>
          <p:cNvPr id="22" name="Shape 18"/>
          <p:cNvSpPr/>
          <p:nvPr/>
        </p:nvSpPr>
        <p:spPr>
          <a:xfrm>
            <a:off x="5338167" y="2501900"/>
            <a:ext cx="852289" cy="425450"/>
          </a:xfrm>
          <a:prstGeom prst="rect">
            <a:avLst/>
          </a:prstGeom>
          <a:solidFill>
            <a:srgbClr val="EDEFD3"/>
          </a:solidFill>
          <a:ln/>
        </p:spPr>
        <p:txBody>
          <a:bodyPr/>
          <a:lstStyle/>
          <a:p>
            <a:endParaRPr lang="en-US"/>
          </a:p>
        </p:txBody>
      </p:sp>
      <p:sp>
        <p:nvSpPr>
          <p:cNvPr id="23" name="Text 19"/>
          <p:cNvSpPr/>
          <p:nvPr/>
        </p:nvSpPr>
        <p:spPr>
          <a:xfrm>
            <a:off x="5300067" y="25876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7.4%</a:t>
            </a:r>
            <a:endParaRPr lang="en-US" sz="1650" dirty="0"/>
          </a:p>
        </p:txBody>
      </p:sp>
      <p:sp>
        <p:nvSpPr>
          <p:cNvPr id="24" name="Shape 20"/>
          <p:cNvSpPr/>
          <p:nvPr/>
        </p:nvSpPr>
        <p:spPr>
          <a:xfrm>
            <a:off x="6247606" y="2501900"/>
            <a:ext cx="852289" cy="425450"/>
          </a:xfrm>
          <a:prstGeom prst="rect">
            <a:avLst/>
          </a:prstGeom>
          <a:solidFill>
            <a:srgbClr val="FAE2C2"/>
          </a:solidFill>
          <a:ln/>
        </p:spPr>
        <p:txBody>
          <a:bodyPr/>
          <a:lstStyle/>
          <a:p>
            <a:endParaRPr lang="en-US"/>
          </a:p>
        </p:txBody>
      </p:sp>
      <p:sp>
        <p:nvSpPr>
          <p:cNvPr id="25" name="Text 21"/>
          <p:cNvSpPr/>
          <p:nvPr/>
        </p:nvSpPr>
        <p:spPr>
          <a:xfrm>
            <a:off x="6209506" y="25876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10.1%</a:t>
            </a:r>
            <a:endParaRPr lang="en-US" sz="1650" dirty="0"/>
          </a:p>
        </p:txBody>
      </p:sp>
      <p:sp>
        <p:nvSpPr>
          <p:cNvPr id="26" name="Shape 22"/>
          <p:cNvSpPr/>
          <p:nvPr/>
        </p:nvSpPr>
        <p:spPr>
          <a:xfrm>
            <a:off x="7157046" y="2501900"/>
            <a:ext cx="852289" cy="425450"/>
          </a:xfrm>
          <a:prstGeom prst="rect">
            <a:avLst/>
          </a:prstGeom>
          <a:solidFill>
            <a:srgbClr val="EDEFD3"/>
          </a:solidFill>
          <a:ln/>
        </p:spPr>
        <p:txBody>
          <a:bodyPr/>
          <a:lstStyle/>
          <a:p>
            <a:endParaRPr lang="en-US"/>
          </a:p>
        </p:txBody>
      </p:sp>
      <p:sp>
        <p:nvSpPr>
          <p:cNvPr id="27" name="Text 23"/>
          <p:cNvSpPr/>
          <p:nvPr/>
        </p:nvSpPr>
        <p:spPr>
          <a:xfrm>
            <a:off x="7118946" y="25876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8.5%</a:t>
            </a:r>
            <a:endParaRPr lang="en-US" sz="1650" dirty="0"/>
          </a:p>
        </p:txBody>
      </p:sp>
      <p:sp>
        <p:nvSpPr>
          <p:cNvPr id="28" name="Text 24"/>
          <p:cNvSpPr/>
          <p:nvPr/>
        </p:nvSpPr>
        <p:spPr>
          <a:xfrm>
            <a:off x="7885509" y="2593975"/>
            <a:ext cx="199072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1A1A1A"/>
                </a:solidFill>
                <a:latin typeface="Calibri" pitchFamily="34" charset="0"/>
                <a:ea typeface="Calibri" pitchFamily="34" charset="-122"/>
                <a:cs typeface="Calibri" pitchFamily="34" charset="-120"/>
              </a:rPr>
              <a:t>2,988 · </a:t>
            </a:r>
            <a:r>
              <a:rPr lang="en-US" sz="1575" b="1" dirty="0">
                <a:solidFill>
                  <a:srgbClr val="1A1A1A"/>
                </a:solidFill>
                <a:latin typeface="Calibri" pitchFamily="34" charset="0"/>
                <a:ea typeface="Calibri" pitchFamily="34" charset="-122"/>
                <a:cs typeface="Calibri" pitchFamily="34" charset="-120"/>
              </a:rPr>
              <a:t>255</a:t>
            </a:r>
            <a:endParaRPr lang="en-US" sz="1575" dirty="0"/>
          </a:p>
        </p:txBody>
      </p:sp>
      <p:sp>
        <p:nvSpPr>
          <p:cNvPr id="29" name="Text 25"/>
          <p:cNvSpPr/>
          <p:nvPr/>
        </p:nvSpPr>
        <p:spPr>
          <a:xfrm>
            <a:off x="647700" y="3063875"/>
            <a:ext cx="20955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hungvu</a:t>
            </a:r>
            <a:endParaRPr lang="en-US" sz="1725" dirty="0"/>
          </a:p>
        </p:txBody>
      </p:sp>
      <p:sp>
        <p:nvSpPr>
          <p:cNvPr id="30" name="Shape 26"/>
          <p:cNvSpPr/>
          <p:nvPr/>
        </p:nvSpPr>
        <p:spPr>
          <a:xfrm>
            <a:off x="2609850" y="2984500"/>
            <a:ext cx="852289" cy="425450"/>
          </a:xfrm>
          <a:prstGeom prst="rect">
            <a:avLst/>
          </a:prstGeom>
          <a:solidFill>
            <a:srgbClr val="DCEBD0"/>
          </a:solidFill>
          <a:ln/>
        </p:spPr>
        <p:txBody>
          <a:bodyPr/>
          <a:lstStyle/>
          <a:p>
            <a:endParaRPr lang="en-US"/>
          </a:p>
        </p:txBody>
      </p:sp>
      <p:sp>
        <p:nvSpPr>
          <p:cNvPr id="31" name="Text 27"/>
          <p:cNvSpPr/>
          <p:nvPr/>
        </p:nvSpPr>
        <p:spPr>
          <a:xfrm>
            <a:off x="2571750" y="30702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2.1%</a:t>
            </a:r>
            <a:endParaRPr lang="en-US" sz="1650" dirty="0"/>
          </a:p>
        </p:txBody>
      </p:sp>
      <p:sp>
        <p:nvSpPr>
          <p:cNvPr id="32" name="Shape 28"/>
          <p:cNvSpPr/>
          <p:nvPr/>
        </p:nvSpPr>
        <p:spPr>
          <a:xfrm>
            <a:off x="3519289" y="2984500"/>
            <a:ext cx="852289" cy="425450"/>
          </a:xfrm>
          <a:prstGeom prst="rect">
            <a:avLst/>
          </a:prstGeom>
          <a:solidFill>
            <a:srgbClr val="FAE2C2"/>
          </a:solidFill>
          <a:ln/>
        </p:spPr>
        <p:txBody>
          <a:bodyPr/>
          <a:lstStyle/>
          <a:p>
            <a:endParaRPr lang="en-US"/>
          </a:p>
        </p:txBody>
      </p:sp>
      <p:sp>
        <p:nvSpPr>
          <p:cNvPr id="33" name="Text 29"/>
          <p:cNvSpPr/>
          <p:nvPr/>
        </p:nvSpPr>
        <p:spPr>
          <a:xfrm>
            <a:off x="3481189" y="30702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16.5%</a:t>
            </a:r>
            <a:endParaRPr lang="en-US" sz="1650" dirty="0"/>
          </a:p>
        </p:txBody>
      </p:sp>
      <p:sp>
        <p:nvSpPr>
          <p:cNvPr id="34" name="Shape 30"/>
          <p:cNvSpPr/>
          <p:nvPr/>
        </p:nvSpPr>
        <p:spPr>
          <a:xfrm>
            <a:off x="4428728" y="2984500"/>
            <a:ext cx="852289" cy="425450"/>
          </a:xfrm>
          <a:prstGeom prst="rect">
            <a:avLst/>
          </a:prstGeom>
          <a:solidFill>
            <a:srgbClr val="DCEBD0"/>
          </a:solidFill>
          <a:ln/>
        </p:spPr>
        <p:txBody>
          <a:bodyPr/>
          <a:lstStyle/>
          <a:p>
            <a:endParaRPr lang="en-US"/>
          </a:p>
        </p:txBody>
      </p:sp>
      <p:sp>
        <p:nvSpPr>
          <p:cNvPr id="35" name="Text 31"/>
          <p:cNvSpPr/>
          <p:nvPr/>
        </p:nvSpPr>
        <p:spPr>
          <a:xfrm>
            <a:off x="4390628" y="30702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4.4%</a:t>
            </a:r>
            <a:endParaRPr lang="en-US" sz="1650" dirty="0"/>
          </a:p>
        </p:txBody>
      </p:sp>
      <p:sp>
        <p:nvSpPr>
          <p:cNvPr id="36" name="Shape 32"/>
          <p:cNvSpPr/>
          <p:nvPr/>
        </p:nvSpPr>
        <p:spPr>
          <a:xfrm>
            <a:off x="5338167" y="2984500"/>
            <a:ext cx="852289" cy="425450"/>
          </a:xfrm>
          <a:prstGeom prst="rect">
            <a:avLst/>
          </a:prstGeom>
          <a:solidFill>
            <a:srgbClr val="EDEFD3"/>
          </a:solidFill>
          <a:ln/>
        </p:spPr>
        <p:txBody>
          <a:bodyPr/>
          <a:lstStyle/>
          <a:p>
            <a:endParaRPr lang="en-US"/>
          </a:p>
        </p:txBody>
      </p:sp>
      <p:sp>
        <p:nvSpPr>
          <p:cNvPr id="37" name="Text 33"/>
          <p:cNvSpPr/>
          <p:nvPr/>
        </p:nvSpPr>
        <p:spPr>
          <a:xfrm>
            <a:off x="5300067" y="30702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5.9%</a:t>
            </a:r>
            <a:endParaRPr lang="en-US" sz="1650" dirty="0"/>
          </a:p>
        </p:txBody>
      </p:sp>
      <p:sp>
        <p:nvSpPr>
          <p:cNvPr id="38" name="Shape 34"/>
          <p:cNvSpPr/>
          <p:nvPr/>
        </p:nvSpPr>
        <p:spPr>
          <a:xfrm>
            <a:off x="6247606" y="2984500"/>
            <a:ext cx="852289" cy="425450"/>
          </a:xfrm>
          <a:prstGeom prst="rect">
            <a:avLst/>
          </a:prstGeom>
          <a:solidFill>
            <a:srgbClr val="FAE2C2"/>
          </a:solidFill>
          <a:ln/>
        </p:spPr>
        <p:txBody>
          <a:bodyPr/>
          <a:lstStyle/>
          <a:p>
            <a:endParaRPr lang="en-US"/>
          </a:p>
        </p:txBody>
      </p:sp>
      <p:sp>
        <p:nvSpPr>
          <p:cNvPr id="39" name="Text 35"/>
          <p:cNvSpPr/>
          <p:nvPr/>
        </p:nvSpPr>
        <p:spPr>
          <a:xfrm>
            <a:off x="6209506" y="30702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10.9%</a:t>
            </a:r>
            <a:endParaRPr lang="en-US" sz="1650" dirty="0"/>
          </a:p>
        </p:txBody>
      </p:sp>
      <p:sp>
        <p:nvSpPr>
          <p:cNvPr id="40" name="Shape 36"/>
          <p:cNvSpPr/>
          <p:nvPr/>
        </p:nvSpPr>
        <p:spPr>
          <a:xfrm>
            <a:off x="7157046" y="2984500"/>
            <a:ext cx="852289" cy="425450"/>
          </a:xfrm>
          <a:prstGeom prst="rect">
            <a:avLst/>
          </a:prstGeom>
          <a:solidFill>
            <a:srgbClr val="DCEBD0"/>
          </a:solidFill>
          <a:ln/>
        </p:spPr>
        <p:txBody>
          <a:bodyPr/>
          <a:lstStyle/>
          <a:p>
            <a:endParaRPr lang="en-US"/>
          </a:p>
        </p:txBody>
      </p:sp>
      <p:sp>
        <p:nvSpPr>
          <p:cNvPr id="41" name="Text 37"/>
          <p:cNvSpPr/>
          <p:nvPr/>
        </p:nvSpPr>
        <p:spPr>
          <a:xfrm>
            <a:off x="7118946" y="30702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3.5%</a:t>
            </a:r>
            <a:endParaRPr lang="en-US" sz="1650" dirty="0"/>
          </a:p>
        </p:txBody>
      </p:sp>
      <p:sp>
        <p:nvSpPr>
          <p:cNvPr id="42" name="Text 38"/>
          <p:cNvSpPr/>
          <p:nvPr/>
        </p:nvSpPr>
        <p:spPr>
          <a:xfrm>
            <a:off x="7885509" y="3076575"/>
            <a:ext cx="199072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1A1A1A"/>
                </a:solidFill>
                <a:latin typeface="Calibri" pitchFamily="34" charset="0"/>
                <a:ea typeface="Calibri" pitchFamily="34" charset="-122"/>
                <a:cs typeface="Calibri" pitchFamily="34" charset="-120"/>
              </a:rPr>
              <a:t>1,807 · </a:t>
            </a:r>
            <a:r>
              <a:rPr lang="en-US" sz="1575" b="1" dirty="0">
                <a:solidFill>
                  <a:srgbClr val="1A1A1A"/>
                </a:solidFill>
                <a:latin typeface="Calibri" pitchFamily="34" charset="0"/>
                <a:ea typeface="Calibri" pitchFamily="34" charset="-122"/>
                <a:cs typeface="Calibri" pitchFamily="34" charset="-120"/>
              </a:rPr>
              <a:t>64</a:t>
            </a:r>
            <a:endParaRPr lang="en-US" sz="1575" dirty="0"/>
          </a:p>
        </p:txBody>
      </p:sp>
      <p:sp>
        <p:nvSpPr>
          <p:cNvPr id="43" name="Text 39"/>
          <p:cNvSpPr/>
          <p:nvPr/>
        </p:nvSpPr>
        <p:spPr>
          <a:xfrm>
            <a:off x="647700" y="3546475"/>
            <a:ext cx="20955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khiemnguyen</a:t>
            </a:r>
            <a:endParaRPr lang="en-US" sz="1725" dirty="0"/>
          </a:p>
        </p:txBody>
      </p:sp>
      <p:sp>
        <p:nvSpPr>
          <p:cNvPr id="44" name="Shape 40"/>
          <p:cNvSpPr/>
          <p:nvPr/>
        </p:nvSpPr>
        <p:spPr>
          <a:xfrm>
            <a:off x="2609850" y="3467100"/>
            <a:ext cx="852289" cy="425450"/>
          </a:xfrm>
          <a:prstGeom prst="rect">
            <a:avLst/>
          </a:prstGeom>
          <a:solidFill>
            <a:srgbClr val="EDEFD3"/>
          </a:solidFill>
          <a:ln/>
        </p:spPr>
        <p:txBody>
          <a:bodyPr/>
          <a:lstStyle/>
          <a:p>
            <a:endParaRPr lang="en-US"/>
          </a:p>
        </p:txBody>
      </p:sp>
      <p:sp>
        <p:nvSpPr>
          <p:cNvPr id="45" name="Text 41"/>
          <p:cNvSpPr/>
          <p:nvPr/>
        </p:nvSpPr>
        <p:spPr>
          <a:xfrm>
            <a:off x="2571750" y="35528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5.6%</a:t>
            </a:r>
            <a:endParaRPr lang="en-US" sz="1650" dirty="0"/>
          </a:p>
        </p:txBody>
      </p:sp>
      <p:sp>
        <p:nvSpPr>
          <p:cNvPr id="46" name="Shape 42"/>
          <p:cNvSpPr/>
          <p:nvPr/>
        </p:nvSpPr>
        <p:spPr>
          <a:xfrm>
            <a:off x="3519289" y="3467100"/>
            <a:ext cx="852289" cy="425450"/>
          </a:xfrm>
          <a:prstGeom prst="rect">
            <a:avLst/>
          </a:prstGeom>
          <a:solidFill>
            <a:srgbClr val="DCEBD0"/>
          </a:solidFill>
          <a:ln/>
        </p:spPr>
        <p:txBody>
          <a:bodyPr/>
          <a:lstStyle/>
          <a:p>
            <a:endParaRPr lang="en-US"/>
          </a:p>
        </p:txBody>
      </p:sp>
      <p:sp>
        <p:nvSpPr>
          <p:cNvPr id="47" name="Text 43"/>
          <p:cNvSpPr/>
          <p:nvPr/>
        </p:nvSpPr>
        <p:spPr>
          <a:xfrm>
            <a:off x="3481189" y="35528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1.5%</a:t>
            </a:r>
            <a:endParaRPr lang="en-US" sz="1650" dirty="0"/>
          </a:p>
        </p:txBody>
      </p:sp>
      <p:sp>
        <p:nvSpPr>
          <p:cNvPr id="48" name="Shape 44"/>
          <p:cNvSpPr/>
          <p:nvPr/>
        </p:nvSpPr>
        <p:spPr>
          <a:xfrm>
            <a:off x="4428728" y="3467100"/>
            <a:ext cx="852289" cy="425450"/>
          </a:xfrm>
          <a:prstGeom prst="rect">
            <a:avLst/>
          </a:prstGeom>
          <a:solidFill>
            <a:srgbClr val="EDEFD3"/>
          </a:solidFill>
          <a:ln/>
        </p:spPr>
        <p:txBody>
          <a:bodyPr/>
          <a:lstStyle/>
          <a:p>
            <a:endParaRPr lang="en-US"/>
          </a:p>
        </p:txBody>
      </p:sp>
      <p:sp>
        <p:nvSpPr>
          <p:cNvPr id="49" name="Text 45"/>
          <p:cNvSpPr/>
          <p:nvPr/>
        </p:nvSpPr>
        <p:spPr>
          <a:xfrm>
            <a:off x="4390628" y="35528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9.3%</a:t>
            </a:r>
            <a:endParaRPr lang="en-US" sz="1650" dirty="0"/>
          </a:p>
        </p:txBody>
      </p:sp>
      <p:sp>
        <p:nvSpPr>
          <p:cNvPr id="50" name="Shape 46"/>
          <p:cNvSpPr/>
          <p:nvPr/>
        </p:nvSpPr>
        <p:spPr>
          <a:xfrm>
            <a:off x="5338167" y="3467100"/>
            <a:ext cx="852289" cy="425450"/>
          </a:xfrm>
          <a:prstGeom prst="rect">
            <a:avLst/>
          </a:prstGeom>
          <a:solidFill>
            <a:srgbClr val="FAE2C2"/>
          </a:solidFill>
          <a:ln/>
        </p:spPr>
        <p:txBody>
          <a:bodyPr/>
          <a:lstStyle/>
          <a:p>
            <a:endParaRPr lang="en-US"/>
          </a:p>
        </p:txBody>
      </p:sp>
      <p:sp>
        <p:nvSpPr>
          <p:cNvPr id="51" name="Text 47"/>
          <p:cNvSpPr/>
          <p:nvPr/>
        </p:nvSpPr>
        <p:spPr>
          <a:xfrm>
            <a:off x="5300067" y="35528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18.0%</a:t>
            </a:r>
            <a:endParaRPr lang="en-US" sz="1650" dirty="0"/>
          </a:p>
        </p:txBody>
      </p:sp>
      <p:sp>
        <p:nvSpPr>
          <p:cNvPr id="52" name="Shape 48"/>
          <p:cNvSpPr/>
          <p:nvPr/>
        </p:nvSpPr>
        <p:spPr>
          <a:xfrm>
            <a:off x="6247606" y="3467100"/>
            <a:ext cx="852289" cy="425450"/>
          </a:xfrm>
          <a:prstGeom prst="rect">
            <a:avLst/>
          </a:prstGeom>
          <a:solidFill>
            <a:srgbClr val="FAE2C2"/>
          </a:solidFill>
          <a:ln/>
        </p:spPr>
        <p:txBody>
          <a:bodyPr/>
          <a:lstStyle/>
          <a:p>
            <a:endParaRPr lang="en-US"/>
          </a:p>
        </p:txBody>
      </p:sp>
      <p:sp>
        <p:nvSpPr>
          <p:cNvPr id="53" name="Text 49"/>
          <p:cNvSpPr/>
          <p:nvPr/>
        </p:nvSpPr>
        <p:spPr>
          <a:xfrm>
            <a:off x="6209506" y="35528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19.2%</a:t>
            </a:r>
            <a:endParaRPr lang="en-US" sz="1650" dirty="0"/>
          </a:p>
        </p:txBody>
      </p:sp>
      <p:sp>
        <p:nvSpPr>
          <p:cNvPr id="54" name="Shape 50"/>
          <p:cNvSpPr/>
          <p:nvPr/>
        </p:nvSpPr>
        <p:spPr>
          <a:xfrm>
            <a:off x="7157046" y="3467100"/>
            <a:ext cx="852289" cy="425450"/>
          </a:xfrm>
          <a:prstGeom prst="rect">
            <a:avLst/>
          </a:prstGeom>
          <a:solidFill>
            <a:srgbClr val="FAE2C2"/>
          </a:solidFill>
          <a:ln/>
        </p:spPr>
        <p:txBody>
          <a:bodyPr/>
          <a:lstStyle/>
          <a:p>
            <a:endParaRPr lang="en-US"/>
          </a:p>
        </p:txBody>
      </p:sp>
      <p:sp>
        <p:nvSpPr>
          <p:cNvPr id="55" name="Text 51"/>
          <p:cNvSpPr/>
          <p:nvPr/>
        </p:nvSpPr>
        <p:spPr>
          <a:xfrm>
            <a:off x="7118946" y="35528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10.6%</a:t>
            </a:r>
            <a:endParaRPr lang="en-US" sz="1650" dirty="0"/>
          </a:p>
        </p:txBody>
      </p:sp>
      <p:sp>
        <p:nvSpPr>
          <p:cNvPr id="56" name="Text 52"/>
          <p:cNvSpPr/>
          <p:nvPr/>
        </p:nvSpPr>
        <p:spPr>
          <a:xfrm>
            <a:off x="7885509" y="3559175"/>
            <a:ext cx="199072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1A1A1A"/>
                </a:solidFill>
                <a:latin typeface="Calibri" pitchFamily="34" charset="0"/>
                <a:ea typeface="Calibri" pitchFamily="34" charset="-122"/>
                <a:cs typeface="Calibri" pitchFamily="34" charset="-120"/>
              </a:rPr>
              <a:t>1,261 · </a:t>
            </a:r>
            <a:r>
              <a:rPr lang="en-US" sz="1575" b="1" dirty="0">
                <a:solidFill>
                  <a:srgbClr val="1A1A1A"/>
                </a:solidFill>
                <a:latin typeface="Calibri" pitchFamily="34" charset="0"/>
                <a:ea typeface="Calibri" pitchFamily="34" charset="-122"/>
                <a:cs typeface="Calibri" pitchFamily="34" charset="-120"/>
              </a:rPr>
              <a:t>134</a:t>
            </a:r>
            <a:endParaRPr lang="en-US" sz="1575" dirty="0"/>
          </a:p>
        </p:txBody>
      </p:sp>
      <p:sp>
        <p:nvSpPr>
          <p:cNvPr id="57" name="Text 53"/>
          <p:cNvSpPr/>
          <p:nvPr/>
        </p:nvSpPr>
        <p:spPr>
          <a:xfrm>
            <a:off x="647700" y="4029075"/>
            <a:ext cx="20955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dinhnguyen</a:t>
            </a:r>
            <a:endParaRPr lang="en-US" sz="1725" dirty="0"/>
          </a:p>
        </p:txBody>
      </p:sp>
      <p:sp>
        <p:nvSpPr>
          <p:cNvPr id="58" name="Shape 54"/>
          <p:cNvSpPr/>
          <p:nvPr/>
        </p:nvSpPr>
        <p:spPr>
          <a:xfrm>
            <a:off x="2609850" y="3949700"/>
            <a:ext cx="852289" cy="425450"/>
          </a:xfrm>
          <a:prstGeom prst="rect">
            <a:avLst/>
          </a:prstGeom>
          <a:solidFill>
            <a:srgbClr val="DCEBD0"/>
          </a:solidFill>
          <a:ln/>
        </p:spPr>
        <p:txBody>
          <a:bodyPr/>
          <a:lstStyle/>
          <a:p>
            <a:endParaRPr lang="en-US"/>
          </a:p>
        </p:txBody>
      </p:sp>
      <p:sp>
        <p:nvSpPr>
          <p:cNvPr id="59" name="Text 55"/>
          <p:cNvSpPr/>
          <p:nvPr/>
        </p:nvSpPr>
        <p:spPr>
          <a:xfrm>
            <a:off x="2571750" y="40354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3.9%</a:t>
            </a:r>
            <a:endParaRPr lang="en-US" sz="1650" dirty="0"/>
          </a:p>
        </p:txBody>
      </p:sp>
      <p:sp>
        <p:nvSpPr>
          <p:cNvPr id="60" name="Shape 56"/>
          <p:cNvSpPr/>
          <p:nvPr/>
        </p:nvSpPr>
        <p:spPr>
          <a:xfrm>
            <a:off x="3519289" y="3949700"/>
            <a:ext cx="852289" cy="425450"/>
          </a:xfrm>
          <a:prstGeom prst="rect">
            <a:avLst/>
          </a:prstGeom>
          <a:solidFill>
            <a:srgbClr val="DCEBD0"/>
          </a:solidFill>
          <a:ln/>
        </p:spPr>
        <p:txBody>
          <a:bodyPr/>
          <a:lstStyle/>
          <a:p>
            <a:endParaRPr lang="en-US"/>
          </a:p>
        </p:txBody>
      </p:sp>
      <p:sp>
        <p:nvSpPr>
          <p:cNvPr id="61" name="Text 57"/>
          <p:cNvSpPr/>
          <p:nvPr/>
        </p:nvSpPr>
        <p:spPr>
          <a:xfrm>
            <a:off x="3481189" y="40354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1.7%</a:t>
            </a:r>
            <a:endParaRPr lang="en-US" sz="1650" dirty="0"/>
          </a:p>
        </p:txBody>
      </p:sp>
      <p:sp>
        <p:nvSpPr>
          <p:cNvPr id="62" name="Shape 58"/>
          <p:cNvSpPr/>
          <p:nvPr/>
        </p:nvSpPr>
        <p:spPr>
          <a:xfrm>
            <a:off x="4428728" y="3949700"/>
            <a:ext cx="852289" cy="425450"/>
          </a:xfrm>
          <a:prstGeom prst="rect">
            <a:avLst/>
          </a:prstGeom>
          <a:solidFill>
            <a:srgbClr val="EDEFD3"/>
          </a:solidFill>
          <a:ln/>
        </p:spPr>
        <p:txBody>
          <a:bodyPr/>
          <a:lstStyle/>
          <a:p>
            <a:endParaRPr lang="en-US"/>
          </a:p>
        </p:txBody>
      </p:sp>
      <p:sp>
        <p:nvSpPr>
          <p:cNvPr id="63" name="Text 59"/>
          <p:cNvSpPr/>
          <p:nvPr/>
        </p:nvSpPr>
        <p:spPr>
          <a:xfrm>
            <a:off x="4390628" y="40354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6.3%</a:t>
            </a:r>
            <a:endParaRPr lang="en-US" sz="1650" dirty="0"/>
          </a:p>
        </p:txBody>
      </p:sp>
      <p:sp>
        <p:nvSpPr>
          <p:cNvPr id="64" name="Shape 60"/>
          <p:cNvSpPr/>
          <p:nvPr/>
        </p:nvSpPr>
        <p:spPr>
          <a:xfrm>
            <a:off x="5338167" y="3949700"/>
            <a:ext cx="852289" cy="425450"/>
          </a:xfrm>
          <a:prstGeom prst="rect">
            <a:avLst/>
          </a:prstGeom>
          <a:solidFill>
            <a:srgbClr val="FAE2C2"/>
          </a:solidFill>
          <a:ln/>
        </p:spPr>
        <p:txBody>
          <a:bodyPr/>
          <a:lstStyle/>
          <a:p>
            <a:endParaRPr lang="en-US"/>
          </a:p>
        </p:txBody>
      </p:sp>
      <p:sp>
        <p:nvSpPr>
          <p:cNvPr id="65" name="Text 61"/>
          <p:cNvSpPr/>
          <p:nvPr/>
        </p:nvSpPr>
        <p:spPr>
          <a:xfrm>
            <a:off x="5300067" y="40354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15.0%</a:t>
            </a:r>
            <a:endParaRPr lang="en-US" sz="1650" dirty="0"/>
          </a:p>
        </p:txBody>
      </p:sp>
      <p:sp>
        <p:nvSpPr>
          <p:cNvPr id="66" name="Shape 62"/>
          <p:cNvSpPr/>
          <p:nvPr/>
        </p:nvSpPr>
        <p:spPr>
          <a:xfrm>
            <a:off x="6247606" y="3949700"/>
            <a:ext cx="852289" cy="425450"/>
          </a:xfrm>
          <a:prstGeom prst="rect">
            <a:avLst/>
          </a:prstGeom>
          <a:solidFill>
            <a:srgbClr val="FAE2C2"/>
          </a:solidFill>
          <a:ln/>
        </p:spPr>
        <p:txBody>
          <a:bodyPr/>
          <a:lstStyle/>
          <a:p>
            <a:endParaRPr lang="en-US"/>
          </a:p>
        </p:txBody>
      </p:sp>
      <p:sp>
        <p:nvSpPr>
          <p:cNvPr id="67" name="Text 63"/>
          <p:cNvSpPr/>
          <p:nvPr/>
        </p:nvSpPr>
        <p:spPr>
          <a:xfrm>
            <a:off x="6209506" y="40354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18.6%</a:t>
            </a:r>
            <a:endParaRPr lang="en-US" sz="1650" dirty="0"/>
          </a:p>
        </p:txBody>
      </p:sp>
      <p:sp>
        <p:nvSpPr>
          <p:cNvPr id="68" name="Shape 64"/>
          <p:cNvSpPr/>
          <p:nvPr/>
        </p:nvSpPr>
        <p:spPr>
          <a:xfrm>
            <a:off x="7157046" y="3949700"/>
            <a:ext cx="852289" cy="425450"/>
          </a:xfrm>
          <a:prstGeom prst="rect">
            <a:avLst/>
          </a:prstGeom>
          <a:solidFill>
            <a:srgbClr val="FAE2C2"/>
          </a:solidFill>
          <a:ln/>
        </p:spPr>
        <p:txBody>
          <a:bodyPr/>
          <a:lstStyle/>
          <a:p>
            <a:endParaRPr lang="en-US"/>
          </a:p>
        </p:txBody>
      </p:sp>
      <p:sp>
        <p:nvSpPr>
          <p:cNvPr id="69" name="Text 65"/>
          <p:cNvSpPr/>
          <p:nvPr/>
        </p:nvSpPr>
        <p:spPr>
          <a:xfrm>
            <a:off x="7118946" y="40354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15.8%</a:t>
            </a:r>
            <a:endParaRPr lang="en-US" sz="1650" dirty="0"/>
          </a:p>
        </p:txBody>
      </p:sp>
      <p:sp>
        <p:nvSpPr>
          <p:cNvPr id="70" name="Text 66"/>
          <p:cNvSpPr/>
          <p:nvPr/>
        </p:nvSpPr>
        <p:spPr>
          <a:xfrm>
            <a:off x="7885509" y="4041775"/>
            <a:ext cx="199072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1A1A1A"/>
                </a:solidFill>
                <a:latin typeface="Calibri" pitchFamily="34" charset="0"/>
                <a:ea typeface="Calibri" pitchFamily="34" charset="-122"/>
                <a:cs typeface="Calibri" pitchFamily="34" charset="-120"/>
              </a:rPr>
              <a:t>1,145 · </a:t>
            </a:r>
            <a:r>
              <a:rPr lang="en-US" sz="1575" b="1" dirty="0">
                <a:solidFill>
                  <a:srgbClr val="1A1A1A"/>
                </a:solidFill>
                <a:latin typeface="Calibri" pitchFamily="34" charset="0"/>
                <a:ea typeface="Calibri" pitchFamily="34" charset="-122"/>
                <a:cs typeface="Calibri" pitchFamily="34" charset="-120"/>
              </a:rPr>
              <a:t>181</a:t>
            </a:r>
            <a:endParaRPr lang="en-US" sz="1575" dirty="0"/>
          </a:p>
        </p:txBody>
      </p:sp>
      <p:sp>
        <p:nvSpPr>
          <p:cNvPr id="71" name="Text 67"/>
          <p:cNvSpPr/>
          <p:nvPr/>
        </p:nvSpPr>
        <p:spPr>
          <a:xfrm>
            <a:off x="647700" y="4511675"/>
            <a:ext cx="20955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chuongpham</a:t>
            </a:r>
            <a:endParaRPr lang="en-US" sz="1725" dirty="0"/>
          </a:p>
        </p:txBody>
      </p:sp>
      <p:sp>
        <p:nvSpPr>
          <p:cNvPr id="72" name="Shape 68"/>
          <p:cNvSpPr/>
          <p:nvPr/>
        </p:nvSpPr>
        <p:spPr>
          <a:xfrm>
            <a:off x="2609850" y="4432300"/>
            <a:ext cx="852289" cy="425450"/>
          </a:xfrm>
          <a:prstGeom prst="rect">
            <a:avLst/>
          </a:prstGeom>
          <a:solidFill>
            <a:srgbClr val="EDEFD3"/>
          </a:solidFill>
          <a:ln/>
        </p:spPr>
        <p:txBody>
          <a:bodyPr/>
          <a:lstStyle/>
          <a:p>
            <a:endParaRPr lang="en-US"/>
          </a:p>
        </p:txBody>
      </p:sp>
      <p:sp>
        <p:nvSpPr>
          <p:cNvPr id="73" name="Text 69"/>
          <p:cNvSpPr/>
          <p:nvPr/>
        </p:nvSpPr>
        <p:spPr>
          <a:xfrm>
            <a:off x="2571750" y="45180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5.5%</a:t>
            </a:r>
            <a:endParaRPr lang="en-US" sz="1650" dirty="0"/>
          </a:p>
        </p:txBody>
      </p:sp>
      <p:sp>
        <p:nvSpPr>
          <p:cNvPr id="74" name="Shape 70"/>
          <p:cNvSpPr/>
          <p:nvPr/>
        </p:nvSpPr>
        <p:spPr>
          <a:xfrm>
            <a:off x="3519289" y="4432300"/>
            <a:ext cx="852289" cy="425450"/>
          </a:xfrm>
          <a:prstGeom prst="rect">
            <a:avLst/>
          </a:prstGeom>
          <a:solidFill>
            <a:srgbClr val="EDEFD3"/>
          </a:solidFill>
          <a:ln/>
        </p:spPr>
        <p:txBody>
          <a:bodyPr/>
          <a:lstStyle/>
          <a:p>
            <a:endParaRPr lang="en-US"/>
          </a:p>
        </p:txBody>
      </p:sp>
      <p:sp>
        <p:nvSpPr>
          <p:cNvPr id="75" name="Text 71"/>
          <p:cNvSpPr/>
          <p:nvPr/>
        </p:nvSpPr>
        <p:spPr>
          <a:xfrm>
            <a:off x="3481189" y="45180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8.7%</a:t>
            </a:r>
            <a:endParaRPr lang="en-US" sz="1650" dirty="0"/>
          </a:p>
        </p:txBody>
      </p:sp>
      <p:sp>
        <p:nvSpPr>
          <p:cNvPr id="76" name="Shape 72"/>
          <p:cNvSpPr/>
          <p:nvPr/>
        </p:nvSpPr>
        <p:spPr>
          <a:xfrm>
            <a:off x="4428728" y="4432300"/>
            <a:ext cx="852289" cy="425450"/>
          </a:xfrm>
          <a:prstGeom prst="rect">
            <a:avLst/>
          </a:prstGeom>
          <a:solidFill>
            <a:srgbClr val="FAE2C2"/>
          </a:solidFill>
          <a:ln/>
        </p:spPr>
        <p:txBody>
          <a:bodyPr/>
          <a:lstStyle/>
          <a:p>
            <a:endParaRPr lang="en-US"/>
          </a:p>
        </p:txBody>
      </p:sp>
      <p:sp>
        <p:nvSpPr>
          <p:cNvPr id="77" name="Text 73"/>
          <p:cNvSpPr/>
          <p:nvPr/>
        </p:nvSpPr>
        <p:spPr>
          <a:xfrm>
            <a:off x="4390628" y="45180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12.9%</a:t>
            </a:r>
            <a:endParaRPr lang="en-US" sz="1650" dirty="0"/>
          </a:p>
        </p:txBody>
      </p:sp>
      <p:sp>
        <p:nvSpPr>
          <p:cNvPr id="78" name="Shape 74"/>
          <p:cNvSpPr/>
          <p:nvPr/>
        </p:nvSpPr>
        <p:spPr>
          <a:xfrm>
            <a:off x="5338167" y="4432300"/>
            <a:ext cx="852289" cy="425450"/>
          </a:xfrm>
          <a:prstGeom prst="rect">
            <a:avLst/>
          </a:prstGeom>
          <a:solidFill>
            <a:srgbClr val="FAE2C2"/>
          </a:solidFill>
          <a:ln/>
        </p:spPr>
        <p:txBody>
          <a:bodyPr/>
          <a:lstStyle/>
          <a:p>
            <a:endParaRPr lang="en-US"/>
          </a:p>
        </p:txBody>
      </p:sp>
      <p:sp>
        <p:nvSpPr>
          <p:cNvPr id="79" name="Text 75"/>
          <p:cNvSpPr/>
          <p:nvPr/>
        </p:nvSpPr>
        <p:spPr>
          <a:xfrm>
            <a:off x="5300067" y="45180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15.9%</a:t>
            </a:r>
            <a:endParaRPr lang="en-US" sz="1650" dirty="0"/>
          </a:p>
        </p:txBody>
      </p:sp>
      <p:sp>
        <p:nvSpPr>
          <p:cNvPr id="80" name="Shape 76"/>
          <p:cNvSpPr/>
          <p:nvPr/>
        </p:nvSpPr>
        <p:spPr>
          <a:xfrm>
            <a:off x="6247606" y="4432300"/>
            <a:ext cx="852289" cy="425450"/>
          </a:xfrm>
          <a:prstGeom prst="rect">
            <a:avLst/>
          </a:prstGeom>
          <a:solidFill>
            <a:srgbClr val="EDEFD3"/>
          </a:solidFill>
          <a:ln/>
        </p:spPr>
        <p:txBody>
          <a:bodyPr/>
          <a:lstStyle/>
          <a:p>
            <a:endParaRPr lang="en-US"/>
          </a:p>
        </p:txBody>
      </p:sp>
      <p:sp>
        <p:nvSpPr>
          <p:cNvPr id="81" name="Text 77"/>
          <p:cNvSpPr/>
          <p:nvPr/>
        </p:nvSpPr>
        <p:spPr>
          <a:xfrm>
            <a:off x="6209506" y="45180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6.9%</a:t>
            </a:r>
            <a:endParaRPr lang="en-US" sz="1650" dirty="0"/>
          </a:p>
        </p:txBody>
      </p:sp>
      <p:sp>
        <p:nvSpPr>
          <p:cNvPr id="82" name="Shape 78"/>
          <p:cNvSpPr/>
          <p:nvPr/>
        </p:nvSpPr>
        <p:spPr>
          <a:xfrm>
            <a:off x="7157046" y="4432300"/>
            <a:ext cx="852289" cy="425450"/>
          </a:xfrm>
          <a:prstGeom prst="rect">
            <a:avLst/>
          </a:prstGeom>
          <a:solidFill>
            <a:srgbClr val="FAE2C2"/>
          </a:solidFill>
          <a:ln/>
        </p:spPr>
        <p:txBody>
          <a:bodyPr/>
          <a:lstStyle/>
          <a:p>
            <a:endParaRPr lang="en-US"/>
          </a:p>
        </p:txBody>
      </p:sp>
      <p:sp>
        <p:nvSpPr>
          <p:cNvPr id="83" name="Text 79"/>
          <p:cNvSpPr/>
          <p:nvPr/>
        </p:nvSpPr>
        <p:spPr>
          <a:xfrm>
            <a:off x="7118946" y="45180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14.3%</a:t>
            </a:r>
            <a:endParaRPr lang="en-US" sz="1650" dirty="0"/>
          </a:p>
        </p:txBody>
      </p:sp>
      <p:sp>
        <p:nvSpPr>
          <p:cNvPr id="84" name="Text 80"/>
          <p:cNvSpPr/>
          <p:nvPr/>
        </p:nvSpPr>
        <p:spPr>
          <a:xfrm>
            <a:off x="7885509" y="4524375"/>
            <a:ext cx="199072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1A1A1A"/>
                </a:solidFill>
                <a:latin typeface="Calibri" pitchFamily="34" charset="0"/>
                <a:ea typeface="Calibri" pitchFamily="34" charset="-122"/>
                <a:cs typeface="Calibri" pitchFamily="34" charset="-120"/>
              </a:rPr>
              <a:t>923 · </a:t>
            </a:r>
            <a:r>
              <a:rPr lang="en-US" sz="1575" b="1" dirty="0">
                <a:solidFill>
                  <a:srgbClr val="1A1A1A"/>
                </a:solidFill>
                <a:latin typeface="Calibri" pitchFamily="34" charset="0"/>
                <a:ea typeface="Calibri" pitchFamily="34" charset="-122"/>
                <a:cs typeface="Calibri" pitchFamily="34" charset="-120"/>
              </a:rPr>
              <a:t>132</a:t>
            </a:r>
            <a:endParaRPr lang="en-US" sz="1575" dirty="0"/>
          </a:p>
        </p:txBody>
      </p:sp>
      <p:sp>
        <p:nvSpPr>
          <p:cNvPr id="85" name="Text 81"/>
          <p:cNvSpPr/>
          <p:nvPr/>
        </p:nvSpPr>
        <p:spPr>
          <a:xfrm>
            <a:off x="647700" y="4994275"/>
            <a:ext cx="20955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daochu</a:t>
            </a:r>
            <a:endParaRPr lang="en-US" sz="1725" dirty="0"/>
          </a:p>
        </p:txBody>
      </p:sp>
      <p:sp>
        <p:nvSpPr>
          <p:cNvPr id="86" name="Shape 82"/>
          <p:cNvSpPr/>
          <p:nvPr/>
        </p:nvSpPr>
        <p:spPr>
          <a:xfrm>
            <a:off x="2609850" y="4914900"/>
            <a:ext cx="852289" cy="425450"/>
          </a:xfrm>
          <a:prstGeom prst="rect">
            <a:avLst/>
          </a:prstGeom>
          <a:solidFill>
            <a:srgbClr val="DCEBD0"/>
          </a:solidFill>
          <a:ln/>
        </p:spPr>
        <p:txBody>
          <a:bodyPr/>
          <a:lstStyle/>
          <a:p>
            <a:endParaRPr lang="en-US"/>
          </a:p>
        </p:txBody>
      </p:sp>
      <p:sp>
        <p:nvSpPr>
          <p:cNvPr id="87" name="Text 83"/>
          <p:cNvSpPr/>
          <p:nvPr/>
        </p:nvSpPr>
        <p:spPr>
          <a:xfrm>
            <a:off x="2571750" y="50006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4.1%</a:t>
            </a:r>
            <a:endParaRPr lang="en-US" sz="1650" dirty="0"/>
          </a:p>
        </p:txBody>
      </p:sp>
      <p:sp>
        <p:nvSpPr>
          <p:cNvPr id="88" name="Shape 84"/>
          <p:cNvSpPr/>
          <p:nvPr/>
        </p:nvSpPr>
        <p:spPr>
          <a:xfrm>
            <a:off x="3519289" y="4914900"/>
            <a:ext cx="852289" cy="425450"/>
          </a:xfrm>
          <a:prstGeom prst="rect">
            <a:avLst/>
          </a:prstGeom>
          <a:solidFill>
            <a:srgbClr val="DCEBD0"/>
          </a:solidFill>
          <a:ln/>
        </p:spPr>
        <p:txBody>
          <a:bodyPr/>
          <a:lstStyle/>
          <a:p>
            <a:endParaRPr lang="en-US"/>
          </a:p>
        </p:txBody>
      </p:sp>
      <p:sp>
        <p:nvSpPr>
          <p:cNvPr id="89" name="Text 85"/>
          <p:cNvSpPr/>
          <p:nvPr/>
        </p:nvSpPr>
        <p:spPr>
          <a:xfrm>
            <a:off x="3481189" y="50006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2.5%</a:t>
            </a:r>
            <a:endParaRPr lang="en-US" sz="1650" dirty="0"/>
          </a:p>
        </p:txBody>
      </p:sp>
      <p:sp>
        <p:nvSpPr>
          <p:cNvPr id="90" name="Shape 86"/>
          <p:cNvSpPr/>
          <p:nvPr/>
        </p:nvSpPr>
        <p:spPr>
          <a:xfrm>
            <a:off x="4428728" y="4914900"/>
            <a:ext cx="852289" cy="425450"/>
          </a:xfrm>
          <a:prstGeom prst="rect">
            <a:avLst/>
          </a:prstGeom>
          <a:solidFill>
            <a:srgbClr val="EDEFD3"/>
          </a:solidFill>
          <a:ln/>
        </p:spPr>
        <p:txBody>
          <a:bodyPr/>
          <a:lstStyle/>
          <a:p>
            <a:endParaRPr lang="en-US"/>
          </a:p>
        </p:txBody>
      </p:sp>
      <p:sp>
        <p:nvSpPr>
          <p:cNvPr id="91" name="Text 87"/>
          <p:cNvSpPr/>
          <p:nvPr/>
        </p:nvSpPr>
        <p:spPr>
          <a:xfrm>
            <a:off x="4390628" y="50006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8.5%</a:t>
            </a:r>
            <a:endParaRPr lang="en-US" sz="1650" dirty="0"/>
          </a:p>
        </p:txBody>
      </p:sp>
      <p:sp>
        <p:nvSpPr>
          <p:cNvPr id="92" name="Shape 88"/>
          <p:cNvSpPr/>
          <p:nvPr/>
        </p:nvSpPr>
        <p:spPr>
          <a:xfrm>
            <a:off x="5338167" y="4914900"/>
            <a:ext cx="852289" cy="425450"/>
          </a:xfrm>
          <a:prstGeom prst="rect">
            <a:avLst/>
          </a:prstGeom>
          <a:solidFill>
            <a:srgbClr val="FAE2C2"/>
          </a:solidFill>
          <a:ln/>
        </p:spPr>
        <p:txBody>
          <a:bodyPr/>
          <a:lstStyle/>
          <a:p>
            <a:endParaRPr lang="en-US"/>
          </a:p>
        </p:txBody>
      </p:sp>
      <p:sp>
        <p:nvSpPr>
          <p:cNvPr id="93" name="Text 89"/>
          <p:cNvSpPr/>
          <p:nvPr/>
        </p:nvSpPr>
        <p:spPr>
          <a:xfrm>
            <a:off x="5300067" y="50006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19.2%</a:t>
            </a:r>
            <a:endParaRPr lang="en-US" sz="1650" dirty="0"/>
          </a:p>
        </p:txBody>
      </p:sp>
      <p:sp>
        <p:nvSpPr>
          <p:cNvPr id="94" name="Shape 90"/>
          <p:cNvSpPr/>
          <p:nvPr/>
        </p:nvSpPr>
        <p:spPr>
          <a:xfrm>
            <a:off x="6247606" y="4914900"/>
            <a:ext cx="852289" cy="425450"/>
          </a:xfrm>
          <a:prstGeom prst="rect">
            <a:avLst/>
          </a:prstGeom>
          <a:solidFill>
            <a:srgbClr val="F3C7BB"/>
          </a:solidFill>
          <a:ln/>
        </p:spPr>
        <p:txBody>
          <a:bodyPr/>
          <a:lstStyle/>
          <a:p>
            <a:endParaRPr lang="en-US"/>
          </a:p>
        </p:txBody>
      </p:sp>
      <p:sp>
        <p:nvSpPr>
          <p:cNvPr id="95" name="Text 91"/>
          <p:cNvSpPr/>
          <p:nvPr/>
        </p:nvSpPr>
        <p:spPr>
          <a:xfrm>
            <a:off x="6209506" y="50006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27.2%</a:t>
            </a:r>
            <a:endParaRPr lang="en-US" sz="1650" dirty="0"/>
          </a:p>
        </p:txBody>
      </p:sp>
      <p:sp>
        <p:nvSpPr>
          <p:cNvPr id="96" name="Shape 92"/>
          <p:cNvSpPr/>
          <p:nvPr/>
        </p:nvSpPr>
        <p:spPr>
          <a:xfrm>
            <a:off x="7157046" y="4914900"/>
            <a:ext cx="852289" cy="425450"/>
          </a:xfrm>
          <a:prstGeom prst="rect">
            <a:avLst/>
          </a:prstGeom>
          <a:solidFill>
            <a:srgbClr val="FAE2C2"/>
          </a:solidFill>
          <a:ln/>
        </p:spPr>
        <p:txBody>
          <a:bodyPr/>
          <a:lstStyle/>
          <a:p>
            <a:endParaRPr lang="en-US"/>
          </a:p>
        </p:txBody>
      </p:sp>
      <p:sp>
        <p:nvSpPr>
          <p:cNvPr id="97" name="Text 93"/>
          <p:cNvSpPr/>
          <p:nvPr/>
        </p:nvSpPr>
        <p:spPr>
          <a:xfrm>
            <a:off x="7118946" y="50006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19.0%</a:t>
            </a:r>
            <a:endParaRPr lang="en-US" sz="1650" dirty="0"/>
          </a:p>
        </p:txBody>
      </p:sp>
      <p:sp>
        <p:nvSpPr>
          <p:cNvPr id="98" name="Text 94"/>
          <p:cNvSpPr/>
          <p:nvPr/>
        </p:nvSpPr>
        <p:spPr>
          <a:xfrm>
            <a:off x="7885509" y="5006975"/>
            <a:ext cx="199072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1A1A1A"/>
                </a:solidFill>
                <a:latin typeface="Calibri" pitchFamily="34" charset="0"/>
                <a:ea typeface="Calibri" pitchFamily="34" charset="-122"/>
                <a:cs typeface="Calibri" pitchFamily="34" charset="-120"/>
              </a:rPr>
              <a:t>895 · </a:t>
            </a:r>
            <a:r>
              <a:rPr lang="en-US" sz="1575" b="1" dirty="0">
                <a:solidFill>
                  <a:srgbClr val="1A1A1A"/>
                </a:solidFill>
                <a:latin typeface="Calibri" pitchFamily="34" charset="0"/>
                <a:ea typeface="Calibri" pitchFamily="34" charset="-122"/>
                <a:cs typeface="Calibri" pitchFamily="34" charset="-120"/>
              </a:rPr>
              <a:t>170</a:t>
            </a:r>
            <a:endParaRPr lang="en-US" sz="1575" dirty="0"/>
          </a:p>
        </p:txBody>
      </p:sp>
      <p:sp>
        <p:nvSpPr>
          <p:cNvPr id="99" name="Text 95"/>
          <p:cNvSpPr/>
          <p:nvPr/>
        </p:nvSpPr>
        <p:spPr>
          <a:xfrm>
            <a:off x="647700" y="5476875"/>
            <a:ext cx="20955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qtuan</a:t>
            </a:r>
            <a:endParaRPr lang="en-US" sz="1725" dirty="0"/>
          </a:p>
        </p:txBody>
      </p:sp>
      <p:sp>
        <p:nvSpPr>
          <p:cNvPr id="100" name="Shape 96"/>
          <p:cNvSpPr/>
          <p:nvPr/>
        </p:nvSpPr>
        <p:spPr>
          <a:xfrm>
            <a:off x="2609850" y="5397500"/>
            <a:ext cx="852289" cy="425450"/>
          </a:xfrm>
          <a:prstGeom prst="rect">
            <a:avLst/>
          </a:prstGeom>
          <a:solidFill>
            <a:srgbClr val="EDEFD3"/>
          </a:solidFill>
          <a:ln/>
        </p:spPr>
        <p:txBody>
          <a:bodyPr/>
          <a:lstStyle/>
          <a:p>
            <a:endParaRPr lang="en-US"/>
          </a:p>
        </p:txBody>
      </p:sp>
      <p:sp>
        <p:nvSpPr>
          <p:cNvPr id="101" name="Text 97"/>
          <p:cNvSpPr/>
          <p:nvPr/>
        </p:nvSpPr>
        <p:spPr>
          <a:xfrm>
            <a:off x="2571750" y="54832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5.1%</a:t>
            </a:r>
            <a:endParaRPr lang="en-US" sz="1650" dirty="0"/>
          </a:p>
        </p:txBody>
      </p:sp>
      <p:sp>
        <p:nvSpPr>
          <p:cNvPr id="102" name="Shape 98"/>
          <p:cNvSpPr/>
          <p:nvPr/>
        </p:nvSpPr>
        <p:spPr>
          <a:xfrm>
            <a:off x="3519289" y="5397500"/>
            <a:ext cx="852289" cy="425450"/>
          </a:xfrm>
          <a:prstGeom prst="rect">
            <a:avLst/>
          </a:prstGeom>
          <a:solidFill>
            <a:srgbClr val="EDEFD3"/>
          </a:solidFill>
          <a:ln/>
        </p:spPr>
        <p:txBody>
          <a:bodyPr/>
          <a:lstStyle/>
          <a:p>
            <a:endParaRPr lang="en-US"/>
          </a:p>
        </p:txBody>
      </p:sp>
      <p:sp>
        <p:nvSpPr>
          <p:cNvPr id="103" name="Text 99"/>
          <p:cNvSpPr/>
          <p:nvPr/>
        </p:nvSpPr>
        <p:spPr>
          <a:xfrm>
            <a:off x="3481189" y="54832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8.5%</a:t>
            </a:r>
            <a:endParaRPr lang="en-US" sz="1650" dirty="0"/>
          </a:p>
        </p:txBody>
      </p:sp>
      <p:sp>
        <p:nvSpPr>
          <p:cNvPr id="104" name="Shape 100"/>
          <p:cNvSpPr/>
          <p:nvPr/>
        </p:nvSpPr>
        <p:spPr>
          <a:xfrm>
            <a:off x="4428728" y="5397500"/>
            <a:ext cx="852289" cy="425450"/>
          </a:xfrm>
          <a:prstGeom prst="rect">
            <a:avLst/>
          </a:prstGeom>
          <a:solidFill>
            <a:srgbClr val="EDEFD3"/>
          </a:solidFill>
          <a:ln/>
        </p:spPr>
        <p:txBody>
          <a:bodyPr/>
          <a:lstStyle/>
          <a:p>
            <a:endParaRPr lang="en-US"/>
          </a:p>
        </p:txBody>
      </p:sp>
      <p:sp>
        <p:nvSpPr>
          <p:cNvPr id="105" name="Text 101"/>
          <p:cNvSpPr/>
          <p:nvPr/>
        </p:nvSpPr>
        <p:spPr>
          <a:xfrm>
            <a:off x="4390628" y="54832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6.3%</a:t>
            </a:r>
            <a:endParaRPr lang="en-US" sz="1650" dirty="0"/>
          </a:p>
        </p:txBody>
      </p:sp>
      <p:sp>
        <p:nvSpPr>
          <p:cNvPr id="106" name="Shape 102"/>
          <p:cNvSpPr/>
          <p:nvPr/>
        </p:nvSpPr>
        <p:spPr>
          <a:xfrm>
            <a:off x="5338167" y="5397500"/>
            <a:ext cx="852289" cy="425450"/>
          </a:xfrm>
          <a:prstGeom prst="rect">
            <a:avLst/>
          </a:prstGeom>
          <a:solidFill>
            <a:srgbClr val="FAE2C2"/>
          </a:solidFill>
          <a:ln/>
        </p:spPr>
        <p:txBody>
          <a:bodyPr/>
          <a:lstStyle/>
          <a:p>
            <a:endParaRPr lang="en-US"/>
          </a:p>
        </p:txBody>
      </p:sp>
      <p:sp>
        <p:nvSpPr>
          <p:cNvPr id="107" name="Text 103"/>
          <p:cNvSpPr/>
          <p:nvPr/>
        </p:nvSpPr>
        <p:spPr>
          <a:xfrm>
            <a:off x="5300067" y="54832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12.5%</a:t>
            </a:r>
            <a:endParaRPr lang="en-US" sz="1650" dirty="0"/>
          </a:p>
        </p:txBody>
      </p:sp>
      <p:sp>
        <p:nvSpPr>
          <p:cNvPr id="108" name="Shape 104"/>
          <p:cNvSpPr/>
          <p:nvPr/>
        </p:nvSpPr>
        <p:spPr>
          <a:xfrm>
            <a:off x="6247606" y="5397500"/>
            <a:ext cx="852289" cy="425450"/>
          </a:xfrm>
          <a:prstGeom prst="rect">
            <a:avLst/>
          </a:prstGeom>
          <a:solidFill>
            <a:srgbClr val="FAE2C2"/>
          </a:solidFill>
          <a:ln/>
        </p:spPr>
        <p:txBody>
          <a:bodyPr/>
          <a:lstStyle/>
          <a:p>
            <a:endParaRPr lang="en-US"/>
          </a:p>
        </p:txBody>
      </p:sp>
      <p:sp>
        <p:nvSpPr>
          <p:cNvPr id="109" name="Text 105"/>
          <p:cNvSpPr/>
          <p:nvPr/>
        </p:nvSpPr>
        <p:spPr>
          <a:xfrm>
            <a:off x="6209506" y="54832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14.1%</a:t>
            </a:r>
            <a:endParaRPr lang="en-US" sz="1650" dirty="0"/>
          </a:p>
        </p:txBody>
      </p:sp>
      <p:sp>
        <p:nvSpPr>
          <p:cNvPr id="110" name="Shape 106"/>
          <p:cNvSpPr/>
          <p:nvPr/>
        </p:nvSpPr>
        <p:spPr>
          <a:xfrm>
            <a:off x="7157046" y="5397500"/>
            <a:ext cx="852289" cy="425450"/>
          </a:xfrm>
          <a:prstGeom prst="rect">
            <a:avLst/>
          </a:prstGeom>
          <a:solidFill>
            <a:srgbClr val="EDEFD3"/>
          </a:solidFill>
          <a:ln/>
        </p:spPr>
        <p:txBody>
          <a:bodyPr/>
          <a:lstStyle/>
          <a:p>
            <a:endParaRPr lang="en-US"/>
          </a:p>
        </p:txBody>
      </p:sp>
      <p:sp>
        <p:nvSpPr>
          <p:cNvPr id="111" name="Text 107"/>
          <p:cNvSpPr/>
          <p:nvPr/>
        </p:nvSpPr>
        <p:spPr>
          <a:xfrm>
            <a:off x="7118946" y="54832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9.2%</a:t>
            </a:r>
            <a:endParaRPr lang="en-US" sz="1650" dirty="0"/>
          </a:p>
        </p:txBody>
      </p:sp>
      <p:sp>
        <p:nvSpPr>
          <p:cNvPr id="112" name="Text 108"/>
          <p:cNvSpPr/>
          <p:nvPr/>
        </p:nvSpPr>
        <p:spPr>
          <a:xfrm>
            <a:off x="7885509" y="5489575"/>
            <a:ext cx="199072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1A1A1A"/>
                </a:solidFill>
                <a:latin typeface="Calibri" pitchFamily="34" charset="0"/>
                <a:ea typeface="Calibri" pitchFamily="34" charset="-122"/>
                <a:cs typeface="Calibri" pitchFamily="34" charset="-120"/>
              </a:rPr>
              <a:t>861 · </a:t>
            </a:r>
            <a:r>
              <a:rPr lang="en-US" sz="1575" b="1" dirty="0">
                <a:solidFill>
                  <a:srgbClr val="1A1A1A"/>
                </a:solidFill>
                <a:latin typeface="Calibri" pitchFamily="34" charset="0"/>
                <a:ea typeface="Calibri" pitchFamily="34" charset="-122"/>
                <a:cs typeface="Calibri" pitchFamily="34" charset="-120"/>
              </a:rPr>
              <a:t>79</a:t>
            </a:r>
            <a:endParaRPr lang="en-US" sz="1575" dirty="0"/>
          </a:p>
        </p:txBody>
      </p:sp>
      <p:sp>
        <p:nvSpPr>
          <p:cNvPr id="113" name="Text 109"/>
          <p:cNvSpPr/>
          <p:nvPr/>
        </p:nvSpPr>
        <p:spPr>
          <a:xfrm>
            <a:off x="647700" y="5959475"/>
            <a:ext cx="20955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thailong</a:t>
            </a:r>
            <a:endParaRPr lang="en-US" sz="1725" dirty="0"/>
          </a:p>
        </p:txBody>
      </p:sp>
      <p:sp>
        <p:nvSpPr>
          <p:cNvPr id="114" name="Shape 110"/>
          <p:cNvSpPr/>
          <p:nvPr/>
        </p:nvSpPr>
        <p:spPr>
          <a:xfrm>
            <a:off x="2609850" y="5880100"/>
            <a:ext cx="852289" cy="425450"/>
          </a:xfrm>
          <a:prstGeom prst="rect">
            <a:avLst/>
          </a:prstGeom>
          <a:solidFill>
            <a:srgbClr val="DCEBD0"/>
          </a:solidFill>
          <a:ln/>
        </p:spPr>
        <p:txBody>
          <a:bodyPr/>
          <a:lstStyle/>
          <a:p>
            <a:endParaRPr lang="en-US"/>
          </a:p>
        </p:txBody>
      </p:sp>
      <p:sp>
        <p:nvSpPr>
          <p:cNvPr id="115" name="Text 111"/>
          <p:cNvSpPr/>
          <p:nvPr/>
        </p:nvSpPr>
        <p:spPr>
          <a:xfrm>
            <a:off x="2571750" y="59658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4.5%</a:t>
            </a:r>
            <a:endParaRPr lang="en-US" sz="1650" dirty="0"/>
          </a:p>
        </p:txBody>
      </p:sp>
      <p:sp>
        <p:nvSpPr>
          <p:cNvPr id="116" name="Shape 112"/>
          <p:cNvSpPr/>
          <p:nvPr/>
        </p:nvSpPr>
        <p:spPr>
          <a:xfrm>
            <a:off x="3519289" y="5880100"/>
            <a:ext cx="852289" cy="425450"/>
          </a:xfrm>
          <a:prstGeom prst="rect">
            <a:avLst/>
          </a:prstGeom>
          <a:solidFill>
            <a:srgbClr val="EDEFD3"/>
          </a:solidFill>
          <a:ln/>
        </p:spPr>
        <p:txBody>
          <a:bodyPr/>
          <a:lstStyle/>
          <a:p>
            <a:endParaRPr lang="en-US"/>
          </a:p>
        </p:txBody>
      </p:sp>
      <p:sp>
        <p:nvSpPr>
          <p:cNvPr id="117" name="Text 113"/>
          <p:cNvSpPr/>
          <p:nvPr/>
        </p:nvSpPr>
        <p:spPr>
          <a:xfrm>
            <a:off x="3481189" y="59658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7.2%</a:t>
            </a:r>
            <a:endParaRPr lang="en-US" sz="1650" dirty="0"/>
          </a:p>
        </p:txBody>
      </p:sp>
      <p:sp>
        <p:nvSpPr>
          <p:cNvPr id="118" name="Shape 114"/>
          <p:cNvSpPr/>
          <p:nvPr/>
        </p:nvSpPr>
        <p:spPr>
          <a:xfrm>
            <a:off x="4428728" y="5880100"/>
            <a:ext cx="852289" cy="425450"/>
          </a:xfrm>
          <a:prstGeom prst="rect">
            <a:avLst/>
          </a:prstGeom>
          <a:solidFill>
            <a:srgbClr val="FAE2C2"/>
          </a:solidFill>
          <a:ln/>
        </p:spPr>
        <p:txBody>
          <a:bodyPr/>
          <a:lstStyle/>
          <a:p>
            <a:endParaRPr lang="en-US"/>
          </a:p>
        </p:txBody>
      </p:sp>
      <p:sp>
        <p:nvSpPr>
          <p:cNvPr id="119" name="Text 115"/>
          <p:cNvSpPr/>
          <p:nvPr/>
        </p:nvSpPr>
        <p:spPr>
          <a:xfrm>
            <a:off x="4390628" y="59658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10.6%</a:t>
            </a:r>
            <a:endParaRPr lang="en-US" sz="1650" dirty="0"/>
          </a:p>
        </p:txBody>
      </p:sp>
      <p:sp>
        <p:nvSpPr>
          <p:cNvPr id="120" name="Shape 116"/>
          <p:cNvSpPr/>
          <p:nvPr/>
        </p:nvSpPr>
        <p:spPr>
          <a:xfrm>
            <a:off x="5338167" y="5880100"/>
            <a:ext cx="852289" cy="425450"/>
          </a:xfrm>
          <a:prstGeom prst="rect">
            <a:avLst/>
          </a:prstGeom>
          <a:solidFill>
            <a:srgbClr val="FAE2C2"/>
          </a:solidFill>
          <a:ln/>
        </p:spPr>
        <p:txBody>
          <a:bodyPr/>
          <a:lstStyle/>
          <a:p>
            <a:endParaRPr lang="en-US"/>
          </a:p>
        </p:txBody>
      </p:sp>
      <p:sp>
        <p:nvSpPr>
          <p:cNvPr id="121" name="Text 117"/>
          <p:cNvSpPr/>
          <p:nvPr/>
        </p:nvSpPr>
        <p:spPr>
          <a:xfrm>
            <a:off x="5300067" y="59658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14.4%</a:t>
            </a:r>
            <a:endParaRPr lang="en-US" sz="1650" dirty="0"/>
          </a:p>
        </p:txBody>
      </p:sp>
      <p:sp>
        <p:nvSpPr>
          <p:cNvPr id="122" name="Shape 118"/>
          <p:cNvSpPr/>
          <p:nvPr/>
        </p:nvSpPr>
        <p:spPr>
          <a:xfrm>
            <a:off x="6247606" y="5880100"/>
            <a:ext cx="852289" cy="425450"/>
          </a:xfrm>
          <a:prstGeom prst="rect">
            <a:avLst/>
          </a:prstGeom>
          <a:solidFill>
            <a:srgbClr val="FAE2C2"/>
          </a:solidFill>
          <a:ln/>
        </p:spPr>
        <p:txBody>
          <a:bodyPr/>
          <a:lstStyle/>
          <a:p>
            <a:endParaRPr lang="en-US"/>
          </a:p>
        </p:txBody>
      </p:sp>
      <p:sp>
        <p:nvSpPr>
          <p:cNvPr id="123" name="Text 119"/>
          <p:cNvSpPr/>
          <p:nvPr/>
        </p:nvSpPr>
        <p:spPr>
          <a:xfrm>
            <a:off x="6209506" y="59658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11.2%</a:t>
            </a:r>
            <a:endParaRPr lang="en-US" sz="1650" dirty="0"/>
          </a:p>
        </p:txBody>
      </p:sp>
      <p:sp>
        <p:nvSpPr>
          <p:cNvPr id="124" name="Shape 120"/>
          <p:cNvSpPr/>
          <p:nvPr/>
        </p:nvSpPr>
        <p:spPr>
          <a:xfrm>
            <a:off x="7157046" y="5880100"/>
            <a:ext cx="852289" cy="425450"/>
          </a:xfrm>
          <a:prstGeom prst="rect">
            <a:avLst/>
          </a:prstGeom>
          <a:solidFill>
            <a:srgbClr val="FAE2C2"/>
          </a:solidFill>
          <a:ln/>
        </p:spPr>
        <p:txBody>
          <a:bodyPr/>
          <a:lstStyle/>
          <a:p>
            <a:endParaRPr lang="en-US"/>
          </a:p>
        </p:txBody>
      </p:sp>
      <p:sp>
        <p:nvSpPr>
          <p:cNvPr id="125" name="Text 121"/>
          <p:cNvSpPr/>
          <p:nvPr/>
        </p:nvSpPr>
        <p:spPr>
          <a:xfrm>
            <a:off x="7118946" y="59658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12.2%</a:t>
            </a:r>
            <a:endParaRPr lang="en-US" sz="1650" dirty="0"/>
          </a:p>
        </p:txBody>
      </p:sp>
      <p:sp>
        <p:nvSpPr>
          <p:cNvPr id="126" name="Text 122"/>
          <p:cNvSpPr/>
          <p:nvPr/>
        </p:nvSpPr>
        <p:spPr>
          <a:xfrm>
            <a:off x="7885509" y="5972175"/>
            <a:ext cx="199072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1A1A1A"/>
                </a:solidFill>
                <a:latin typeface="Calibri" pitchFamily="34" charset="0"/>
                <a:ea typeface="Calibri" pitchFamily="34" charset="-122"/>
                <a:cs typeface="Calibri" pitchFamily="34" charset="-120"/>
              </a:rPr>
              <a:t>811 · </a:t>
            </a:r>
            <a:r>
              <a:rPr lang="en-US" sz="1575" b="1" dirty="0">
                <a:solidFill>
                  <a:srgbClr val="1A1A1A"/>
                </a:solidFill>
                <a:latin typeface="Calibri" pitchFamily="34" charset="0"/>
                <a:ea typeface="Calibri" pitchFamily="34" charset="-122"/>
                <a:cs typeface="Calibri" pitchFamily="34" charset="-120"/>
              </a:rPr>
              <a:t>99</a:t>
            </a:r>
            <a:endParaRPr lang="en-US" sz="1575" dirty="0"/>
          </a:p>
        </p:txBody>
      </p:sp>
      <p:sp>
        <p:nvSpPr>
          <p:cNvPr id="127" name="Text 123"/>
          <p:cNvSpPr/>
          <p:nvPr/>
        </p:nvSpPr>
        <p:spPr>
          <a:xfrm>
            <a:off x="647700" y="6442075"/>
            <a:ext cx="20955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tienkieu</a:t>
            </a:r>
            <a:endParaRPr lang="en-US" sz="1725" dirty="0"/>
          </a:p>
        </p:txBody>
      </p:sp>
      <p:sp>
        <p:nvSpPr>
          <p:cNvPr id="128" name="Shape 124"/>
          <p:cNvSpPr/>
          <p:nvPr/>
        </p:nvSpPr>
        <p:spPr>
          <a:xfrm>
            <a:off x="2609850" y="6362700"/>
            <a:ext cx="852289" cy="425450"/>
          </a:xfrm>
          <a:prstGeom prst="rect">
            <a:avLst/>
          </a:prstGeom>
          <a:solidFill>
            <a:srgbClr val="DCEBD0"/>
          </a:solidFill>
          <a:ln/>
        </p:spPr>
        <p:txBody>
          <a:bodyPr/>
          <a:lstStyle/>
          <a:p>
            <a:endParaRPr lang="en-US"/>
          </a:p>
        </p:txBody>
      </p:sp>
      <p:sp>
        <p:nvSpPr>
          <p:cNvPr id="129" name="Text 125"/>
          <p:cNvSpPr/>
          <p:nvPr/>
        </p:nvSpPr>
        <p:spPr>
          <a:xfrm>
            <a:off x="2571750" y="64484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2.8%</a:t>
            </a:r>
            <a:endParaRPr lang="en-US" sz="1650" dirty="0"/>
          </a:p>
        </p:txBody>
      </p:sp>
      <p:sp>
        <p:nvSpPr>
          <p:cNvPr id="130" name="Shape 126"/>
          <p:cNvSpPr/>
          <p:nvPr/>
        </p:nvSpPr>
        <p:spPr>
          <a:xfrm>
            <a:off x="3519289" y="6362700"/>
            <a:ext cx="852289" cy="425450"/>
          </a:xfrm>
          <a:prstGeom prst="rect">
            <a:avLst/>
          </a:prstGeom>
          <a:solidFill>
            <a:srgbClr val="DCEBD0"/>
          </a:solidFill>
          <a:ln/>
        </p:spPr>
        <p:txBody>
          <a:bodyPr/>
          <a:lstStyle/>
          <a:p>
            <a:endParaRPr lang="en-US"/>
          </a:p>
        </p:txBody>
      </p:sp>
      <p:sp>
        <p:nvSpPr>
          <p:cNvPr id="131" name="Text 127"/>
          <p:cNvSpPr/>
          <p:nvPr/>
        </p:nvSpPr>
        <p:spPr>
          <a:xfrm>
            <a:off x="3481189" y="64484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1.0%</a:t>
            </a:r>
            <a:endParaRPr lang="en-US" sz="1650" dirty="0"/>
          </a:p>
        </p:txBody>
      </p:sp>
      <p:sp>
        <p:nvSpPr>
          <p:cNvPr id="132" name="Shape 128"/>
          <p:cNvSpPr/>
          <p:nvPr/>
        </p:nvSpPr>
        <p:spPr>
          <a:xfrm>
            <a:off x="4428728" y="6362700"/>
            <a:ext cx="852289" cy="425450"/>
          </a:xfrm>
          <a:prstGeom prst="rect">
            <a:avLst/>
          </a:prstGeom>
          <a:solidFill>
            <a:srgbClr val="DCEBD0"/>
          </a:solidFill>
          <a:ln/>
        </p:spPr>
        <p:txBody>
          <a:bodyPr/>
          <a:lstStyle/>
          <a:p>
            <a:endParaRPr lang="en-US"/>
          </a:p>
        </p:txBody>
      </p:sp>
      <p:sp>
        <p:nvSpPr>
          <p:cNvPr id="133" name="Text 129"/>
          <p:cNvSpPr/>
          <p:nvPr/>
        </p:nvSpPr>
        <p:spPr>
          <a:xfrm>
            <a:off x="4390628" y="64484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4.7%</a:t>
            </a:r>
            <a:endParaRPr lang="en-US" sz="1650" dirty="0"/>
          </a:p>
        </p:txBody>
      </p:sp>
      <p:sp>
        <p:nvSpPr>
          <p:cNvPr id="134" name="Shape 130"/>
          <p:cNvSpPr/>
          <p:nvPr/>
        </p:nvSpPr>
        <p:spPr>
          <a:xfrm>
            <a:off x="5338167" y="6362700"/>
            <a:ext cx="852289" cy="425450"/>
          </a:xfrm>
          <a:prstGeom prst="rect">
            <a:avLst/>
          </a:prstGeom>
          <a:solidFill>
            <a:srgbClr val="FAE2C2"/>
          </a:solidFill>
          <a:ln/>
        </p:spPr>
        <p:txBody>
          <a:bodyPr/>
          <a:lstStyle/>
          <a:p>
            <a:endParaRPr lang="en-US"/>
          </a:p>
        </p:txBody>
      </p:sp>
      <p:sp>
        <p:nvSpPr>
          <p:cNvPr id="135" name="Text 131"/>
          <p:cNvSpPr/>
          <p:nvPr/>
        </p:nvSpPr>
        <p:spPr>
          <a:xfrm>
            <a:off x="5300067" y="64484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14.6%</a:t>
            </a:r>
            <a:endParaRPr lang="en-US" sz="1650" dirty="0"/>
          </a:p>
        </p:txBody>
      </p:sp>
      <p:sp>
        <p:nvSpPr>
          <p:cNvPr id="136" name="Shape 132"/>
          <p:cNvSpPr/>
          <p:nvPr/>
        </p:nvSpPr>
        <p:spPr>
          <a:xfrm>
            <a:off x="6247606" y="6362700"/>
            <a:ext cx="852289" cy="425450"/>
          </a:xfrm>
          <a:prstGeom prst="rect">
            <a:avLst/>
          </a:prstGeom>
          <a:solidFill>
            <a:srgbClr val="FAE2C2"/>
          </a:solidFill>
          <a:ln/>
        </p:spPr>
        <p:txBody>
          <a:bodyPr/>
          <a:lstStyle/>
          <a:p>
            <a:endParaRPr lang="en-US"/>
          </a:p>
        </p:txBody>
      </p:sp>
      <p:sp>
        <p:nvSpPr>
          <p:cNvPr id="137" name="Text 133"/>
          <p:cNvSpPr/>
          <p:nvPr/>
        </p:nvSpPr>
        <p:spPr>
          <a:xfrm>
            <a:off x="6209506" y="64484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11.8%</a:t>
            </a:r>
            <a:endParaRPr lang="en-US" sz="1650" dirty="0"/>
          </a:p>
        </p:txBody>
      </p:sp>
      <p:sp>
        <p:nvSpPr>
          <p:cNvPr id="138" name="Shape 134"/>
          <p:cNvSpPr/>
          <p:nvPr/>
        </p:nvSpPr>
        <p:spPr>
          <a:xfrm>
            <a:off x="7157046" y="6362700"/>
            <a:ext cx="852289" cy="425450"/>
          </a:xfrm>
          <a:prstGeom prst="rect">
            <a:avLst/>
          </a:prstGeom>
          <a:solidFill>
            <a:srgbClr val="FAE2C2"/>
          </a:solidFill>
          <a:ln/>
        </p:spPr>
        <p:txBody>
          <a:bodyPr/>
          <a:lstStyle/>
          <a:p>
            <a:endParaRPr lang="en-US"/>
          </a:p>
        </p:txBody>
      </p:sp>
      <p:sp>
        <p:nvSpPr>
          <p:cNvPr id="139" name="Text 135"/>
          <p:cNvSpPr/>
          <p:nvPr/>
        </p:nvSpPr>
        <p:spPr>
          <a:xfrm>
            <a:off x="7118946" y="6448425"/>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14.8%</a:t>
            </a:r>
            <a:endParaRPr lang="en-US" sz="1650" dirty="0"/>
          </a:p>
        </p:txBody>
      </p:sp>
      <p:sp>
        <p:nvSpPr>
          <p:cNvPr id="140" name="Text 136"/>
          <p:cNvSpPr/>
          <p:nvPr/>
        </p:nvSpPr>
        <p:spPr>
          <a:xfrm>
            <a:off x="7885509" y="6454775"/>
            <a:ext cx="199072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1A1A1A"/>
                </a:solidFill>
                <a:latin typeface="Calibri" pitchFamily="34" charset="0"/>
                <a:ea typeface="Calibri" pitchFamily="34" charset="-122"/>
                <a:cs typeface="Calibri" pitchFamily="34" charset="-120"/>
              </a:rPr>
              <a:t>588 · </a:t>
            </a:r>
            <a:r>
              <a:rPr lang="en-US" sz="1575" b="1" dirty="0">
                <a:solidFill>
                  <a:srgbClr val="1A1A1A"/>
                </a:solidFill>
                <a:latin typeface="Calibri" pitchFamily="34" charset="0"/>
                <a:ea typeface="Calibri" pitchFamily="34" charset="-122"/>
                <a:cs typeface="Calibri" pitchFamily="34" charset="-120"/>
              </a:rPr>
              <a:t>87</a:t>
            </a:r>
            <a:endParaRPr lang="en-US" sz="1575" dirty="0"/>
          </a:p>
        </p:txBody>
      </p:sp>
      <p:sp>
        <p:nvSpPr>
          <p:cNvPr id="141" name="Shape 137"/>
          <p:cNvSpPr/>
          <p:nvPr/>
        </p:nvSpPr>
        <p:spPr>
          <a:xfrm>
            <a:off x="647700" y="6845300"/>
            <a:ext cx="9228534" cy="419100"/>
          </a:xfrm>
          <a:prstGeom prst="rect">
            <a:avLst/>
          </a:prstGeom>
          <a:solidFill>
            <a:srgbClr val="E2EFDA"/>
          </a:solidFill>
          <a:ln/>
        </p:spPr>
        <p:txBody>
          <a:bodyPr/>
          <a:lstStyle/>
          <a:p>
            <a:endParaRPr lang="en-US"/>
          </a:p>
        </p:txBody>
      </p:sp>
      <p:sp>
        <p:nvSpPr>
          <p:cNvPr id="142" name="Text 138"/>
          <p:cNvSpPr/>
          <p:nvPr/>
        </p:nvSpPr>
        <p:spPr>
          <a:xfrm>
            <a:off x="704850" y="6921500"/>
            <a:ext cx="192405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SUM</a:t>
            </a:r>
            <a:endParaRPr lang="en-US" sz="1725" dirty="0"/>
          </a:p>
        </p:txBody>
      </p:sp>
      <p:sp>
        <p:nvSpPr>
          <p:cNvPr id="143" name="Text 139"/>
          <p:cNvSpPr/>
          <p:nvPr/>
        </p:nvSpPr>
        <p:spPr>
          <a:xfrm>
            <a:off x="2571750" y="69278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1A1A1A"/>
                </a:solidFill>
                <a:latin typeface="Calibri" pitchFamily="34" charset="0"/>
                <a:ea typeface="Calibri" pitchFamily="34" charset="-122"/>
                <a:cs typeface="Calibri" pitchFamily="34" charset="-120"/>
              </a:rPr>
              <a:t>4.0%</a:t>
            </a:r>
            <a:endParaRPr lang="en-US" sz="1650" dirty="0"/>
          </a:p>
        </p:txBody>
      </p:sp>
      <p:sp>
        <p:nvSpPr>
          <p:cNvPr id="144" name="Text 140"/>
          <p:cNvSpPr/>
          <p:nvPr/>
        </p:nvSpPr>
        <p:spPr>
          <a:xfrm>
            <a:off x="3481189" y="69278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1A1A1A"/>
                </a:solidFill>
                <a:latin typeface="Calibri" pitchFamily="34" charset="0"/>
                <a:ea typeface="Calibri" pitchFamily="34" charset="-122"/>
                <a:cs typeface="Calibri" pitchFamily="34" charset="-120"/>
              </a:rPr>
              <a:t>6.7%</a:t>
            </a:r>
            <a:endParaRPr lang="en-US" sz="1650" dirty="0"/>
          </a:p>
        </p:txBody>
      </p:sp>
      <p:sp>
        <p:nvSpPr>
          <p:cNvPr id="145" name="Text 141"/>
          <p:cNvSpPr/>
          <p:nvPr/>
        </p:nvSpPr>
        <p:spPr>
          <a:xfrm>
            <a:off x="4390628" y="69278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1A1A1A"/>
                </a:solidFill>
                <a:latin typeface="Calibri" pitchFamily="34" charset="0"/>
                <a:ea typeface="Calibri" pitchFamily="34" charset="-122"/>
                <a:cs typeface="Calibri" pitchFamily="34" charset="-120"/>
              </a:rPr>
              <a:t>7.5%</a:t>
            </a:r>
            <a:endParaRPr lang="en-US" sz="1650" dirty="0"/>
          </a:p>
        </p:txBody>
      </p:sp>
      <p:sp>
        <p:nvSpPr>
          <p:cNvPr id="146" name="Text 142"/>
          <p:cNvSpPr/>
          <p:nvPr/>
        </p:nvSpPr>
        <p:spPr>
          <a:xfrm>
            <a:off x="5300067" y="69278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1A1A1A"/>
                </a:solidFill>
                <a:latin typeface="Calibri" pitchFamily="34" charset="0"/>
                <a:ea typeface="Calibri" pitchFamily="34" charset="-122"/>
                <a:cs typeface="Calibri" pitchFamily="34" charset="-120"/>
              </a:rPr>
              <a:t>12.0%</a:t>
            </a:r>
            <a:endParaRPr lang="en-US" sz="1650" dirty="0"/>
          </a:p>
        </p:txBody>
      </p:sp>
      <p:sp>
        <p:nvSpPr>
          <p:cNvPr id="147" name="Text 143"/>
          <p:cNvSpPr/>
          <p:nvPr/>
        </p:nvSpPr>
        <p:spPr>
          <a:xfrm>
            <a:off x="6209506" y="69278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1A1A1A"/>
                </a:solidFill>
                <a:latin typeface="Calibri" pitchFamily="34" charset="0"/>
                <a:ea typeface="Calibri" pitchFamily="34" charset="-122"/>
                <a:cs typeface="Calibri" pitchFamily="34" charset="-120"/>
              </a:rPr>
              <a:t>13.7%</a:t>
            </a:r>
            <a:endParaRPr lang="en-US" sz="1650" dirty="0"/>
          </a:p>
        </p:txBody>
      </p:sp>
      <p:sp>
        <p:nvSpPr>
          <p:cNvPr id="148" name="Text 144"/>
          <p:cNvSpPr/>
          <p:nvPr/>
        </p:nvSpPr>
        <p:spPr>
          <a:xfrm>
            <a:off x="7118946" y="69278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1A1A1A"/>
                </a:solidFill>
                <a:latin typeface="Calibri" pitchFamily="34" charset="0"/>
                <a:ea typeface="Calibri" pitchFamily="34" charset="-122"/>
                <a:cs typeface="Calibri" pitchFamily="34" charset="-120"/>
              </a:rPr>
              <a:t>10.6%</a:t>
            </a:r>
            <a:endParaRPr lang="en-US" sz="1650" dirty="0"/>
          </a:p>
        </p:txBody>
      </p:sp>
      <p:sp>
        <p:nvSpPr>
          <p:cNvPr id="149" name="Text 145"/>
          <p:cNvSpPr/>
          <p:nvPr/>
        </p:nvSpPr>
        <p:spPr>
          <a:xfrm>
            <a:off x="7885509" y="6934200"/>
            <a:ext cx="1933575" cy="279400"/>
          </a:xfrm>
          <a:prstGeom prst="rect">
            <a:avLst/>
          </a:prstGeom>
          <a:noFill/>
          <a:ln/>
        </p:spPr>
        <p:txBody>
          <a:bodyPr wrap="square" lIns="25400" tIns="25400" rIns="25400" bIns="25400" rtlCol="0" anchor="t">
            <a:normAutofit lnSpcReduction="10000"/>
          </a:bodyPr>
          <a:lstStyle/>
          <a:p>
            <a:pPr marL="0" indent="0" algn="r">
              <a:buNone/>
            </a:pPr>
            <a:r>
              <a:rPr lang="en-US" sz="1575" b="1" dirty="0">
                <a:solidFill>
                  <a:srgbClr val="1A1A1A"/>
                </a:solidFill>
                <a:latin typeface="Calibri" pitchFamily="34" charset="0"/>
                <a:ea typeface="Calibri" pitchFamily="34" charset="-122"/>
                <a:cs typeface="Calibri" pitchFamily="34" charset="-120"/>
              </a:rPr>
              <a:t>11,279 · 1,201</a:t>
            </a:r>
            <a:endParaRPr lang="en-US" sz="1575" dirty="0"/>
          </a:p>
        </p:txBody>
      </p:sp>
      <p:sp>
        <p:nvSpPr>
          <p:cNvPr id="150" name="Text 146"/>
          <p:cNvSpPr/>
          <p:nvPr/>
        </p:nvSpPr>
        <p:spPr>
          <a:xfrm>
            <a:off x="647700" y="7493000"/>
            <a:ext cx="10151388"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2F5597"/>
                </a:solidFill>
                <a:latin typeface="Calibri" pitchFamily="34" charset="0"/>
                <a:ea typeface="Calibri" pitchFamily="34" charset="-122"/>
                <a:cs typeface="Calibri" pitchFamily="34" charset="-120"/>
              </a:rPr>
              <a:t>M6 → M7 change per CSE </a:t>
            </a:r>
            <a:r>
              <a:rPr lang="en-US" sz="1575" dirty="0">
                <a:solidFill>
                  <a:srgbClr val="595959"/>
                </a:solidFill>
                <a:latin typeface="Calibri" pitchFamily="34" charset="0"/>
                <a:ea typeface="Calibri" pitchFamily="34" charset="-122"/>
                <a:cs typeface="Calibri" pitchFamily="34" charset="-120"/>
              </a:rPr>
              <a:t>(hollow = M6, solid = M7; scale 0 – 30%)</a:t>
            </a:r>
            <a:endParaRPr lang="en-US" sz="1875" dirty="0"/>
          </a:p>
        </p:txBody>
      </p:sp>
      <p:sp>
        <p:nvSpPr>
          <p:cNvPr id="151" name="Text 147"/>
          <p:cNvSpPr/>
          <p:nvPr/>
        </p:nvSpPr>
        <p:spPr>
          <a:xfrm>
            <a:off x="647700" y="7918450"/>
            <a:ext cx="2095500" cy="203200"/>
          </a:xfrm>
          <a:prstGeom prst="rect">
            <a:avLst/>
          </a:prstGeom>
          <a:noFill/>
          <a:ln/>
        </p:spPr>
        <p:txBody>
          <a:bodyPr wrap="square" lIns="25400" tIns="25400" rIns="25400" bIns="25400" rtlCol="0" anchor="t">
            <a:normAutofit fontScale="85000" lnSpcReduction="20000"/>
          </a:bodyPr>
          <a:lstStyle/>
          <a:p>
            <a:pPr marL="0" indent="0" algn="l">
              <a:buNone/>
            </a:pPr>
            <a:r>
              <a:rPr lang="en-US" sz="1400" dirty="0">
                <a:solidFill>
                  <a:srgbClr val="1A1A1A"/>
                </a:solidFill>
                <a:latin typeface="Calibri" pitchFamily="34" charset="0"/>
                <a:ea typeface="Calibri" pitchFamily="34" charset="-122"/>
                <a:cs typeface="Calibri" pitchFamily="34" charset="-120"/>
              </a:rPr>
              <a:t>thuanlu</a:t>
            </a:r>
            <a:endParaRPr lang="en-US" sz="1400" dirty="0"/>
          </a:p>
        </p:txBody>
      </p:sp>
      <p:sp>
        <p:nvSpPr>
          <p:cNvPr id="152" name="Shape 148"/>
          <p:cNvSpPr/>
          <p:nvPr/>
        </p:nvSpPr>
        <p:spPr>
          <a:xfrm>
            <a:off x="2667000" y="7956550"/>
            <a:ext cx="3810000" cy="127000"/>
          </a:xfrm>
          <a:prstGeom prst="rect">
            <a:avLst/>
          </a:prstGeom>
          <a:solidFill>
            <a:srgbClr val="F4F6F2"/>
          </a:solidFill>
          <a:ln/>
        </p:spPr>
        <p:txBody>
          <a:bodyPr/>
          <a:lstStyle/>
          <a:p>
            <a:endParaRPr lang="en-US"/>
          </a:p>
        </p:txBody>
      </p:sp>
      <p:sp>
        <p:nvSpPr>
          <p:cNvPr id="153" name="Shape 149"/>
          <p:cNvSpPr/>
          <p:nvPr/>
        </p:nvSpPr>
        <p:spPr>
          <a:xfrm>
            <a:off x="3269853" y="7956550"/>
            <a:ext cx="19050" cy="127000"/>
          </a:xfrm>
          <a:prstGeom prst="rect">
            <a:avLst/>
          </a:prstGeom>
          <a:solidFill>
            <a:srgbClr val="C00000"/>
          </a:solidFill>
          <a:ln/>
        </p:spPr>
        <p:txBody>
          <a:bodyPr/>
          <a:lstStyle/>
          <a:p>
            <a:endParaRPr lang="en-US"/>
          </a:p>
        </p:txBody>
      </p:sp>
      <p:sp>
        <p:nvSpPr>
          <p:cNvPr id="154" name="Shape 150"/>
          <p:cNvSpPr/>
          <p:nvPr/>
        </p:nvSpPr>
        <p:spPr>
          <a:xfrm>
            <a:off x="3701051" y="8010525"/>
            <a:ext cx="194645" cy="19050"/>
          </a:xfrm>
          <a:prstGeom prst="rect">
            <a:avLst/>
          </a:prstGeom>
          <a:solidFill>
            <a:srgbClr val="4E8B2C"/>
          </a:solidFill>
          <a:ln/>
        </p:spPr>
        <p:txBody>
          <a:bodyPr/>
          <a:lstStyle/>
          <a:p>
            <a:endParaRPr lang="en-US"/>
          </a:p>
        </p:txBody>
      </p:sp>
      <p:sp>
        <p:nvSpPr>
          <p:cNvPr id="155" name="Shape 151"/>
          <p:cNvSpPr/>
          <p:nvPr/>
        </p:nvSpPr>
        <p:spPr>
          <a:xfrm>
            <a:off x="3838545" y="7962900"/>
            <a:ext cx="114300" cy="114300"/>
          </a:xfrm>
          <a:prstGeom prst="ellipse">
            <a:avLst/>
          </a:prstGeom>
          <a:solidFill>
            <a:srgbClr val="FFFFFF"/>
          </a:solidFill>
          <a:ln w="12700">
            <a:solidFill>
              <a:srgbClr val="8A8F86"/>
            </a:solidFill>
            <a:prstDash val="solid"/>
          </a:ln>
        </p:spPr>
        <p:txBody>
          <a:bodyPr/>
          <a:lstStyle/>
          <a:p>
            <a:endParaRPr lang="en-US"/>
          </a:p>
        </p:txBody>
      </p:sp>
      <p:sp>
        <p:nvSpPr>
          <p:cNvPr id="156" name="Shape 152"/>
          <p:cNvSpPr/>
          <p:nvPr/>
        </p:nvSpPr>
        <p:spPr>
          <a:xfrm>
            <a:off x="3643901" y="7962900"/>
            <a:ext cx="114300" cy="114300"/>
          </a:xfrm>
          <a:prstGeom prst="ellipse">
            <a:avLst/>
          </a:prstGeom>
          <a:solidFill>
            <a:srgbClr val="4E8B2C"/>
          </a:solidFill>
          <a:ln/>
        </p:spPr>
        <p:txBody>
          <a:bodyPr/>
          <a:lstStyle/>
          <a:p>
            <a:endParaRPr lang="en-US"/>
          </a:p>
        </p:txBody>
      </p:sp>
      <p:sp>
        <p:nvSpPr>
          <p:cNvPr id="157" name="Text 153"/>
          <p:cNvSpPr/>
          <p:nvPr/>
        </p:nvSpPr>
        <p:spPr>
          <a:xfrm>
            <a:off x="6591300" y="7918450"/>
            <a:ext cx="3613428" cy="203200"/>
          </a:xfrm>
          <a:prstGeom prst="rect">
            <a:avLst/>
          </a:prstGeom>
          <a:noFill/>
          <a:ln/>
        </p:spPr>
        <p:txBody>
          <a:bodyPr wrap="square" lIns="25400" tIns="25400" rIns="25400" bIns="25400" rtlCol="0" anchor="t">
            <a:normAutofit fontScale="85000" lnSpcReduction="20000"/>
          </a:bodyPr>
          <a:lstStyle/>
          <a:p>
            <a:pPr marL="0" indent="0" algn="l">
              <a:buNone/>
            </a:pPr>
            <a:r>
              <a:rPr lang="en-US" sz="1400" b="1" dirty="0">
                <a:solidFill>
                  <a:srgbClr val="4E8B2C"/>
                </a:solidFill>
                <a:latin typeface="Calibri" pitchFamily="34" charset="0"/>
                <a:ea typeface="Calibri" pitchFamily="34" charset="-122"/>
                <a:cs typeface="Calibri" pitchFamily="34" charset="-120"/>
              </a:rPr>
              <a:t>10.1% → 8.5% (-1.6pt)</a:t>
            </a:r>
            <a:endParaRPr lang="en-US" sz="1400" dirty="0"/>
          </a:p>
        </p:txBody>
      </p:sp>
      <p:sp>
        <p:nvSpPr>
          <p:cNvPr id="158" name="Text 154"/>
          <p:cNvSpPr/>
          <p:nvPr/>
        </p:nvSpPr>
        <p:spPr>
          <a:xfrm>
            <a:off x="647700" y="8159750"/>
            <a:ext cx="2095500" cy="203200"/>
          </a:xfrm>
          <a:prstGeom prst="rect">
            <a:avLst/>
          </a:prstGeom>
          <a:noFill/>
          <a:ln/>
        </p:spPr>
        <p:txBody>
          <a:bodyPr wrap="square" lIns="25400" tIns="25400" rIns="25400" bIns="25400" rtlCol="0" anchor="t">
            <a:normAutofit fontScale="85000" lnSpcReduction="20000"/>
          </a:bodyPr>
          <a:lstStyle/>
          <a:p>
            <a:pPr marL="0" indent="0" algn="l">
              <a:buNone/>
            </a:pPr>
            <a:r>
              <a:rPr lang="en-US" sz="1400" dirty="0">
                <a:solidFill>
                  <a:srgbClr val="1A1A1A"/>
                </a:solidFill>
                <a:latin typeface="Calibri" pitchFamily="34" charset="0"/>
                <a:ea typeface="Calibri" pitchFamily="34" charset="-122"/>
                <a:cs typeface="Calibri" pitchFamily="34" charset="-120"/>
              </a:rPr>
              <a:t>hungvu</a:t>
            </a:r>
            <a:endParaRPr lang="en-US" sz="1400" dirty="0"/>
          </a:p>
        </p:txBody>
      </p:sp>
      <p:sp>
        <p:nvSpPr>
          <p:cNvPr id="159" name="Shape 155"/>
          <p:cNvSpPr/>
          <p:nvPr/>
        </p:nvSpPr>
        <p:spPr>
          <a:xfrm>
            <a:off x="2667000" y="8197850"/>
            <a:ext cx="3810000" cy="127000"/>
          </a:xfrm>
          <a:prstGeom prst="rect">
            <a:avLst/>
          </a:prstGeom>
          <a:solidFill>
            <a:srgbClr val="F4F6F2"/>
          </a:solidFill>
          <a:ln/>
        </p:spPr>
        <p:txBody>
          <a:bodyPr/>
          <a:lstStyle/>
          <a:p>
            <a:endParaRPr lang="en-US"/>
          </a:p>
        </p:txBody>
      </p:sp>
      <p:sp>
        <p:nvSpPr>
          <p:cNvPr id="160" name="Shape 156"/>
          <p:cNvSpPr/>
          <p:nvPr/>
        </p:nvSpPr>
        <p:spPr>
          <a:xfrm>
            <a:off x="3269853" y="8197850"/>
            <a:ext cx="19050" cy="127000"/>
          </a:xfrm>
          <a:prstGeom prst="rect">
            <a:avLst/>
          </a:prstGeom>
          <a:solidFill>
            <a:srgbClr val="C00000"/>
          </a:solidFill>
          <a:ln/>
        </p:spPr>
        <p:txBody>
          <a:bodyPr/>
          <a:lstStyle/>
          <a:p>
            <a:endParaRPr lang="en-US"/>
          </a:p>
        </p:txBody>
      </p:sp>
      <p:sp>
        <p:nvSpPr>
          <p:cNvPr id="161" name="Shape 157"/>
          <p:cNvSpPr/>
          <p:nvPr/>
        </p:nvSpPr>
        <p:spPr>
          <a:xfrm>
            <a:off x="3092786" y="8251825"/>
            <a:ext cx="900232" cy="19050"/>
          </a:xfrm>
          <a:prstGeom prst="rect">
            <a:avLst/>
          </a:prstGeom>
          <a:solidFill>
            <a:srgbClr val="4E8B2C"/>
          </a:solidFill>
          <a:ln/>
        </p:spPr>
        <p:txBody>
          <a:bodyPr/>
          <a:lstStyle/>
          <a:p>
            <a:endParaRPr lang="en-US"/>
          </a:p>
        </p:txBody>
      </p:sp>
      <p:sp>
        <p:nvSpPr>
          <p:cNvPr id="162" name="Shape 158"/>
          <p:cNvSpPr/>
          <p:nvPr/>
        </p:nvSpPr>
        <p:spPr>
          <a:xfrm>
            <a:off x="3935868" y="8204200"/>
            <a:ext cx="114300" cy="114300"/>
          </a:xfrm>
          <a:prstGeom prst="ellipse">
            <a:avLst/>
          </a:prstGeom>
          <a:solidFill>
            <a:srgbClr val="FFFFFF"/>
          </a:solidFill>
          <a:ln w="12700">
            <a:solidFill>
              <a:srgbClr val="8A8F86"/>
            </a:solidFill>
            <a:prstDash val="solid"/>
          </a:ln>
        </p:spPr>
        <p:txBody>
          <a:bodyPr/>
          <a:lstStyle/>
          <a:p>
            <a:endParaRPr lang="en-US"/>
          </a:p>
        </p:txBody>
      </p:sp>
      <p:sp>
        <p:nvSpPr>
          <p:cNvPr id="163" name="Shape 159"/>
          <p:cNvSpPr/>
          <p:nvPr/>
        </p:nvSpPr>
        <p:spPr>
          <a:xfrm>
            <a:off x="3035636" y="8204200"/>
            <a:ext cx="114300" cy="114300"/>
          </a:xfrm>
          <a:prstGeom prst="ellipse">
            <a:avLst/>
          </a:prstGeom>
          <a:solidFill>
            <a:srgbClr val="4E8B2C"/>
          </a:solidFill>
          <a:ln/>
        </p:spPr>
        <p:txBody>
          <a:bodyPr/>
          <a:lstStyle/>
          <a:p>
            <a:endParaRPr lang="en-US"/>
          </a:p>
        </p:txBody>
      </p:sp>
      <p:sp>
        <p:nvSpPr>
          <p:cNvPr id="164" name="Text 160"/>
          <p:cNvSpPr/>
          <p:nvPr/>
        </p:nvSpPr>
        <p:spPr>
          <a:xfrm>
            <a:off x="6591300" y="8159750"/>
            <a:ext cx="3613428" cy="203200"/>
          </a:xfrm>
          <a:prstGeom prst="rect">
            <a:avLst/>
          </a:prstGeom>
          <a:noFill/>
          <a:ln/>
        </p:spPr>
        <p:txBody>
          <a:bodyPr wrap="square" lIns="25400" tIns="25400" rIns="25400" bIns="25400" rtlCol="0" anchor="t">
            <a:normAutofit fontScale="85000" lnSpcReduction="20000"/>
          </a:bodyPr>
          <a:lstStyle/>
          <a:p>
            <a:pPr marL="0" indent="0" algn="l">
              <a:buNone/>
            </a:pPr>
            <a:r>
              <a:rPr lang="en-US" sz="1400" b="1" dirty="0">
                <a:solidFill>
                  <a:srgbClr val="4E8B2C"/>
                </a:solidFill>
                <a:latin typeface="Calibri" pitchFamily="34" charset="0"/>
                <a:ea typeface="Calibri" pitchFamily="34" charset="-122"/>
                <a:cs typeface="Calibri" pitchFamily="34" charset="-120"/>
              </a:rPr>
              <a:t>10.9% → 3.5% (-7.4pt)</a:t>
            </a:r>
            <a:endParaRPr lang="en-US" sz="1400" dirty="0"/>
          </a:p>
        </p:txBody>
      </p:sp>
      <p:sp>
        <p:nvSpPr>
          <p:cNvPr id="165" name="Text 161"/>
          <p:cNvSpPr/>
          <p:nvPr/>
        </p:nvSpPr>
        <p:spPr>
          <a:xfrm>
            <a:off x="647700" y="8401050"/>
            <a:ext cx="2095500" cy="203200"/>
          </a:xfrm>
          <a:prstGeom prst="rect">
            <a:avLst/>
          </a:prstGeom>
          <a:noFill/>
          <a:ln/>
        </p:spPr>
        <p:txBody>
          <a:bodyPr wrap="square" lIns="25400" tIns="25400" rIns="25400" bIns="25400" rtlCol="0" anchor="t">
            <a:normAutofit fontScale="85000" lnSpcReduction="20000"/>
          </a:bodyPr>
          <a:lstStyle/>
          <a:p>
            <a:pPr marL="0" indent="0" algn="l">
              <a:buNone/>
            </a:pPr>
            <a:r>
              <a:rPr lang="en-US" sz="1400" dirty="0">
                <a:solidFill>
                  <a:srgbClr val="1A1A1A"/>
                </a:solidFill>
                <a:latin typeface="Calibri" pitchFamily="34" charset="0"/>
                <a:ea typeface="Calibri" pitchFamily="34" charset="-122"/>
                <a:cs typeface="Calibri" pitchFamily="34" charset="-120"/>
              </a:rPr>
              <a:t>khiemnguyen</a:t>
            </a:r>
            <a:endParaRPr lang="en-US" sz="1400" dirty="0"/>
          </a:p>
        </p:txBody>
      </p:sp>
      <p:sp>
        <p:nvSpPr>
          <p:cNvPr id="166" name="Shape 162"/>
          <p:cNvSpPr/>
          <p:nvPr/>
        </p:nvSpPr>
        <p:spPr>
          <a:xfrm>
            <a:off x="2667000" y="8439150"/>
            <a:ext cx="3810000" cy="127000"/>
          </a:xfrm>
          <a:prstGeom prst="rect">
            <a:avLst/>
          </a:prstGeom>
          <a:solidFill>
            <a:srgbClr val="F4F6F2"/>
          </a:solidFill>
          <a:ln/>
        </p:spPr>
        <p:txBody>
          <a:bodyPr/>
          <a:lstStyle/>
          <a:p>
            <a:endParaRPr lang="en-US"/>
          </a:p>
        </p:txBody>
      </p:sp>
      <p:sp>
        <p:nvSpPr>
          <p:cNvPr id="167" name="Shape 163"/>
          <p:cNvSpPr/>
          <p:nvPr/>
        </p:nvSpPr>
        <p:spPr>
          <a:xfrm>
            <a:off x="3269853" y="8439150"/>
            <a:ext cx="19050" cy="127000"/>
          </a:xfrm>
          <a:prstGeom prst="rect">
            <a:avLst/>
          </a:prstGeom>
          <a:solidFill>
            <a:srgbClr val="C00000"/>
          </a:solidFill>
          <a:ln/>
        </p:spPr>
        <p:txBody>
          <a:bodyPr/>
          <a:lstStyle/>
          <a:p>
            <a:endParaRPr lang="en-US"/>
          </a:p>
        </p:txBody>
      </p:sp>
      <p:sp>
        <p:nvSpPr>
          <p:cNvPr id="168" name="Shape 164"/>
          <p:cNvSpPr/>
          <p:nvPr/>
        </p:nvSpPr>
        <p:spPr>
          <a:xfrm>
            <a:off x="3956522" y="8493125"/>
            <a:ext cx="1046216" cy="19050"/>
          </a:xfrm>
          <a:prstGeom prst="rect">
            <a:avLst/>
          </a:prstGeom>
          <a:solidFill>
            <a:srgbClr val="4E8B2C"/>
          </a:solidFill>
          <a:ln/>
        </p:spPr>
        <p:txBody>
          <a:bodyPr/>
          <a:lstStyle/>
          <a:p>
            <a:endParaRPr lang="en-US"/>
          </a:p>
        </p:txBody>
      </p:sp>
      <p:sp>
        <p:nvSpPr>
          <p:cNvPr id="169" name="Shape 165"/>
          <p:cNvSpPr/>
          <p:nvPr/>
        </p:nvSpPr>
        <p:spPr>
          <a:xfrm>
            <a:off x="4945588" y="8445500"/>
            <a:ext cx="114300" cy="114300"/>
          </a:xfrm>
          <a:prstGeom prst="ellipse">
            <a:avLst/>
          </a:prstGeom>
          <a:solidFill>
            <a:srgbClr val="FFFFFF"/>
          </a:solidFill>
          <a:ln w="12700">
            <a:solidFill>
              <a:srgbClr val="8A8F86"/>
            </a:solidFill>
            <a:prstDash val="solid"/>
          </a:ln>
        </p:spPr>
        <p:txBody>
          <a:bodyPr/>
          <a:lstStyle/>
          <a:p>
            <a:endParaRPr lang="en-US"/>
          </a:p>
        </p:txBody>
      </p:sp>
      <p:sp>
        <p:nvSpPr>
          <p:cNvPr id="170" name="Shape 166"/>
          <p:cNvSpPr/>
          <p:nvPr/>
        </p:nvSpPr>
        <p:spPr>
          <a:xfrm>
            <a:off x="3899372" y="8445500"/>
            <a:ext cx="114300" cy="114300"/>
          </a:xfrm>
          <a:prstGeom prst="ellipse">
            <a:avLst/>
          </a:prstGeom>
          <a:solidFill>
            <a:srgbClr val="4E8B2C"/>
          </a:solidFill>
          <a:ln/>
        </p:spPr>
        <p:txBody>
          <a:bodyPr/>
          <a:lstStyle/>
          <a:p>
            <a:endParaRPr lang="en-US"/>
          </a:p>
        </p:txBody>
      </p:sp>
      <p:sp>
        <p:nvSpPr>
          <p:cNvPr id="171" name="Text 167"/>
          <p:cNvSpPr/>
          <p:nvPr/>
        </p:nvSpPr>
        <p:spPr>
          <a:xfrm>
            <a:off x="6591300" y="8401050"/>
            <a:ext cx="3613428" cy="203200"/>
          </a:xfrm>
          <a:prstGeom prst="rect">
            <a:avLst/>
          </a:prstGeom>
          <a:noFill/>
          <a:ln/>
        </p:spPr>
        <p:txBody>
          <a:bodyPr wrap="square" lIns="25400" tIns="25400" rIns="25400" bIns="25400" rtlCol="0" anchor="t">
            <a:normAutofit fontScale="85000" lnSpcReduction="20000"/>
          </a:bodyPr>
          <a:lstStyle/>
          <a:p>
            <a:pPr marL="0" indent="0" algn="l">
              <a:buNone/>
            </a:pPr>
            <a:r>
              <a:rPr lang="en-US" sz="1400" b="1" dirty="0">
                <a:solidFill>
                  <a:srgbClr val="4E8B2C"/>
                </a:solidFill>
                <a:latin typeface="Calibri" pitchFamily="34" charset="0"/>
                <a:ea typeface="Calibri" pitchFamily="34" charset="-122"/>
                <a:cs typeface="Calibri" pitchFamily="34" charset="-120"/>
              </a:rPr>
              <a:t>19.2% → 10.6% (-8.6pt)</a:t>
            </a:r>
            <a:endParaRPr lang="en-US" sz="1400" dirty="0"/>
          </a:p>
        </p:txBody>
      </p:sp>
      <p:sp>
        <p:nvSpPr>
          <p:cNvPr id="172" name="Text 168"/>
          <p:cNvSpPr/>
          <p:nvPr/>
        </p:nvSpPr>
        <p:spPr>
          <a:xfrm>
            <a:off x="647700" y="8642350"/>
            <a:ext cx="2095500" cy="203200"/>
          </a:xfrm>
          <a:prstGeom prst="rect">
            <a:avLst/>
          </a:prstGeom>
          <a:noFill/>
          <a:ln/>
        </p:spPr>
        <p:txBody>
          <a:bodyPr wrap="square" lIns="25400" tIns="25400" rIns="25400" bIns="25400" rtlCol="0" anchor="t">
            <a:normAutofit fontScale="85000" lnSpcReduction="20000"/>
          </a:bodyPr>
          <a:lstStyle/>
          <a:p>
            <a:pPr marL="0" indent="0" algn="l">
              <a:buNone/>
            </a:pPr>
            <a:r>
              <a:rPr lang="en-US" sz="1400" dirty="0">
                <a:solidFill>
                  <a:srgbClr val="1A1A1A"/>
                </a:solidFill>
                <a:latin typeface="Calibri" pitchFamily="34" charset="0"/>
                <a:ea typeface="Calibri" pitchFamily="34" charset="-122"/>
                <a:cs typeface="Calibri" pitchFamily="34" charset="-120"/>
              </a:rPr>
              <a:t>dinhnguyen</a:t>
            </a:r>
            <a:endParaRPr lang="en-US" sz="1400" dirty="0"/>
          </a:p>
        </p:txBody>
      </p:sp>
      <p:sp>
        <p:nvSpPr>
          <p:cNvPr id="173" name="Shape 169"/>
          <p:cNvSpPr/>
          <p:nvPr/>
        </p:nvSpPr>
        <p:spPr>
          <a:xfrm>
            <a:off x="2667000" y="8680450"/>
            <a:ext cx="3810000" cy="127000"/>
          </a:xfrm>
          <a:prstGeom prst="rect">
            <a:avLst/>
          </a:prstGeom>
          <a:solidFill>
            <a:srgbClr val="F4F6F2"/>
          </a:solidFill>
          <a:ln/>
        </p:spPr>
        <p:txBody>
          <a:bodyPr/>
          <a:lstStyle/>
          <a:p>
            <a:endParaRPr lang="en-US"/>
          </a:p>
        </p:txBody>
      </p:sp>
      <p:sp>
        <p:nvSpPr>
          <p:cNvPr id="174" name="Shape 170"/>
          <p:cNvSpPr/>
          <p:nvPr/>
        </p:nvSpPr>
        <p:spPr>
          <a:xfrm>
            <a:off x="3269853" y="8680450"/>
            <a:ext cx="19050" cy="127000"/>
          </a:xfrm>
          <a:prstGeom prst="rect">
            <a:avLst/>
          </a:prstGeom>
          <a:solidFill>
            <a:srgbClr val="C00000"/>
          </a:solidFill>
          <a:ln/>
        </p:spPr>
        <p:txBody>
          <a:bodyPr/>
          <a:lstStyle/>
          <a:p>
            <a:endParaRPr lang="en-US"/>
          </a:p>
        </p:txBody>
      </p:sp>
      <p:sp>
        <p:nvSpPr>
          <p:cNvPr id="175" name="Shape 171"/>
          <p:cNvSpPr/>
          <p:nvPr/>
        </p:nvSpPr>
        <p:spPr>
          <a:xfrm>
            <a:off x="4589117" y="8734425"/>
            <a:ext cx="340628" cy="19050"/>
          </a:xfrm>
          <a:prstGeom prst="rect">
            <a:avLst/>
          </a:prstGeom>
          <a:solidFill>
            <a:srgbClr val="4E8B2C"/>
          </a:solidFill>
          <a:ln/>
        </p:spPr>
        <p:txBody>
          <a:bodyPr/>
          <a:lstStyle/>
          <a:p>
            <a:endParaRPr lang="en-US"/>
          </a:p>
        </p:txBody>
      </p:sp>
      <p:sp>
        <p:nvSpPr>
          <p:cNvPr id="176" name="Shape 172"/>
          <p:cNvSpPr/>
          <p:nvPr/>
        </p:nvSpPr>
        <p:spPr>
          <a:xfrm>
            <a:off x="4872596" y="8686800"/>
            <a:ext cx="114300" cy="114300"/>
          </a:xfrm>
          <a:prstGeom prst="ellipse">
            <a:avLst/>
          </a:prstGeom>
          <a:solidFill>
            <a:srgbClr val="FFFFFF"/>
          </a:solidFill>
          <a:ln w="12700">
            <a:solidFill>
              <a:srgbClr val="8A8F86"/>
            </a:solidFill>
            <a:prstDash val="solid"/>
          </a:ln>
        </p:spPr>
        <p:txBody>
          <a:bodyPr/>
          <a:lstStyle/>
          <a:p>
            <a:endParaRPr lang="en-US"/>
          </a:p>
        </p:txBody>
      </p:sp>
      <p:sp>
        <p:nvSpPr>
          <p:cNvPr id="177" name="Shape 173"/>
          <p:cNvSpPr/>
          <p:nvPr/>
        </p:nvSpPr>
        <p:spPr>
          <a:xfrm>
            <a:off x="4531967" y="8686800"/>
            <a:ext cx="114300" cy="114300"/>
          </a:xfrm>
          <a:prstGeom prst="ellipse">
            <a:avLst/>
          </a:prstGeom>
          <a:solidFill>
            <a:srgbClr val="4E8B2C"/>
          </a:solidFill>
          <a:ln/>
        </p:spPr>
        <p:txBody>
          <a:bodyPr/>
          <a:lstStyle/>
          <a:p>
            <a:endParaRPr lang="en-US"/>
          </a:p>
        </p:txBody>
      </p:sp>
      <p:sp>
        <p:nvSpPr>
          <p:cNvPr id="178" name="Text 174"/>
          <p:cNvSpPr/>
          <p:nvPr/>
        </p:nvSpPr>
        <p:spPr>
          <a:xfrm>
            <a:off x="6591300" y="8642350"/>
            <a:ext cx="3613428" cy="203200"/>
          </a:xfrm>
          <a:prstGeom prst="rect">
            <a:avLst/>
          </a:prstGeom>
          <a:noFill/>
          <a:ln/>
        </p:spPr>
        <p:txBody>
          <a:bodyPr wrap="square" lIns="25400" tIns="25400" rIns="25400" bIns="25400" rtlCol="0" anchor="t">
            <a:normAutofit fontScale="85000" lnSpcReduction="20000"/>
          </a:bodyPr>
          <a:lstStyle/>
          <a:p>
            <a:pPr marL="0" indent="0" algn="l">
              <a:buNone/>
            </a:pPr>
            <a:r>
              <a:rPr lang="en-US" sz="1400" b="1" dirty="0">
                <a:solidFill>
                  <a:srgbClr val="4E8B2C"/>
                </a:solidFill>
                <a:latin typeface="Calibri" pitchFamily="34" charset="0"/>
                <a:ea typeface="Calibri" pitchFamily="34" charset="-122"/>
                <a:cs typeface="Calibri" pitchFamily="34" charset="-120"/>
              </a:rPr>
              <a:t>18.6% → 15.8% (-2.8pt)</a:t>
            </a:r>
            <a:endParaRPr lang="en-US" sz="1400" dirty="0"/>
          </a:p>
        </p:txBody>
      </p:sp>
      <p:sp>
        <p:nvSpPr>
          <p:cNvPr id="179" name="Text 175"/>
          <p:cNvSpPr/>
          <p:nvPr/>
        </p:nvSpPr>
        <p:spPr>
          <a:xfrm>
            <a:off x="647700" y="8883650"/>
            <a:ext cx="2095500" cy="203200"/>
          </a:xfrm>
          <a:prstGeom prst="rect">
            <a:avLst/>
          </a:prstGeom>
          <a:noFill/>
          <a:ln/>
        </p:spPr>
        <p:txBody>
          <a:bodyPr wrap="square" lIns="25400" tIns="25400" rIns="25400" bIns="25400" rtlCol="0" anchor="t">
            <a:normAutofit fontScale="85000" lnSpcReduction="20000"/>
          </a:bodyPr>
          <a:lstStyle/>
          <a:p>
            <a:pPr marL="0" indent="0" algn="l">
              <a:buNone/>
            </a:pPr>
            <a:r>
              <a:rPr lang="en-US" sz="1400" dirty="0">
                <a:solidFill>
                  <a:srgbClr val="1A1A1A"/>
                </a:solidFill>
                <a:latin typeface="Calibri" pitchFamily="34" charset="0"/>
                <a:ea typeface="Calibri" pitchFamily="34" charset="-122"/>
                <a:cs typeface="Calibri" pitchFamily="34" charset="-120"/>
              </a:rPr>
              <a:t>chuongpham</a:t>
            </a:r>
            <a:endParaRPr lang="en-US" sz="1400" dirty="0"/>
          </a:p>
        </p:txBody>
      </p:sp>
      <p:sp>
        <p:nvSpPr>
          <p:cNvPr id="180" name="Shape 176"/>
          <p:cNvSpPr/>
          <p:nvPr/>
        </p:nvSpPr>
        <p:spPr>
          <a:xfrm>
            <a:off x="2667000" y="8921750"/>
            <a:ext cx="3810000" cy="127000"/>
          </a:xfrm>
          <a:prstGeom prst="rect">
            <a:avLst/>
          </a:prstGeom>
          <a:solidFill>
            <a:srgbClr val="F4F6F2"/>
          </a:solidFill>
          <a:ln/>
        </p:spPr>
        <p:txBody>
          <a:bodyPr/>
          <a:lstStyle/>
          <a:p>
            <a:endParaRPr lang="en-US"/>
          </a:p>
        </p:txBody>
      </p:sp>
      <p:sp>
        <p:nvSpPr>
          <p:cNvPr id="181" name="Shape 177"/>
          <p:cNvSpPr/>
          <p:nvPr/>
        </p:nvSpPr>
        <p:spPr>
          <a:xfrm>
            <a:off x="3269853" y="8921750"/>
            <a:ext cx="19050" cy="127000"/>
          </a:xfrm>
          <a:prstGeom prst="rect">
            <a:avLst/>
          </a:prstGeom>
          <a:solidFill>
            <a:srgbClr val="C00000"/>
          </a:solidFill>
          <a:ln/>
        </p:spPr>
        <p:txBody>
          <a:bodyPr/>
          <a:lstStyle/>
          <a:p>
            <a:endParaRPr lang="en-US"/>
          </a:p>
        </p:txBody>
      </p:sp>
      <p:sp>
        <p:nvSpPr>
          <p:cNvPr id="182" name="Shape 178"/>
          <p:cNvSpPr/>
          <p:nvPr/>
        </p:nvSpPr>
        <p:spPr>
          <a:xfrm>
            <a:off x="3506406" y="8975725"/>
            <a:ext cx="900232" cy="19050"/>
          </a:xfrm>
          <a:prstGeom prst="rect">
            <a:avLst/>
          </a:prstGeom>
          <a:solidFill>
            <a:srgbClr val="C00000"/>
          </a:solidFill>
          <a:ln/>
        </p:spPr>
        <p:txBody>
          <a:bodyPr/>
          <a:lstStyle/>
          <a:p>
            <a:endParaRPr lang="en-US"/>
          </a:p>
        </p:txBody>
      </p:sp>
      <p:sp>
        <p:nvSpPr>
          <p:cNvPr id="183" name="Shape 179"/>
          <p:cNvSpPr/>
          <p:nvPr/>
        </p:nvSpPr>
        <p:spPr>
          <a:xfrm>
            <a:off x="3449256" y="8928100"/>
            <a:ext cx="114300" cy="114300"/>
          </a:xfrm>
          <a:prstGeom prst="ellipse">
            <a:avLst/>
          </a:prstGeom>
          <a:solidFill>
            <a:srgbClr val="FFFFFF"/>
          </a:solidFill>
          <a:ln w="12700">
            <a:solidFill>
              <a:srgbClr val="8A8F86"/>
            </a:solidFill>
            <a:prstDash val="solid"/>
          </a:ln>
        </p:spPr>
        <p:txBody>
          <a:bodyPr/>
          <a:lstStyle/>
          <a:p>
            <a:endParaRPr lang="en-US"/>
          </a:p>
        </p:txBody>
      </p:sp>
      <p:sp>
        <p:nvSpPr>
          <p:cNvPr id="184" name="Shape 180"/>
          <p:cNvSpPr/>
          <p:nvPr/>
        </p:nvSpPr>
        <p:spPr>
          <a:xfrm>
            <a:off x="4349488" y="8928100"/>
            <a:ext cx="114300" cy="114300"/>
          </a:xfrm>
          <a:prstGeom prst="ellipse">
            <a:avLst/>
          </a:prstGeom>
          <a:solidFill>
            <a:srgbClr val="C00000"/>
          </a:solidFill>
          <a:ln/>
        </p:spPr>
        <p:txBody>
          <a:bodyPr/>
          <a:lstStyle/>
          <a:p>
            <a:endParaRPr lang="en-US"/>
          </a:p>
        </p:txBody>
      </p:sp>
      <p:sp>
        <p:nvSpPr>
          <p:cNvPr id="185" name="Text 181"/>
          <p:cNvSpPr/>
          <p:nvPr/>
        </p:nvSpPr>
        <p:spPr>
          <a:xfrm>
            <a:off x="6591300" y="8883650"/>
            <a:ext cx="3613428" cy="203200"/>
          </a:xfrm>
          <a:prstGeom prst="rect">
            <a:avLst/>
          </a:prstGeom>
          <a:noFill/>
          <a:ln/>
        </p:spPr>
        <p:txBody>
          <a:bodyPr wrap="square" lIns="25400" tIns="25400" rIns="25400" bIns="25400" rtlCol="0" anchor="t">
            <a:normAutofit fontScale="85000" lnSpcReduction="20000"/>
          </a:bodyPr>
          <a:lstStyle/>
          <a:p>
            <a:pPr marL="0" indent="0" algn="l">
              <a:buNone/>
            </a:pPr>
            <a:r>
              <a:rPr lang="en-US" sz="1400" b="1" dirty="0">
                <a:solidFill>
                  <a:srgbClr val="C00000"/>
                </a:solidFill>
                <a:latin typeface="Calibri" pitchFamily="34" charset="0"/>
                <a:ea typeface="Calibri" pitchFamily="34" charset="-122"/>
                <a:cs typeface="Calibri" pitchFamily="34" charset="-120"/>
              </a:rPr>
              <a:t>6.9% → 14.3% (+7.4pt)</a:t>
            </a:r>
            <a:endParaRPr lang="en-US" sz="1400" dirty="0"/>
          </a:p>
        </p:txBody>
      </p:sp>
      <p:sp>
        <p:nvSpPr>
          <p:cNvPr id="186" name="Text 182"/>
          <p:cNvSpPr/>
          <p:nvPr/>
        </p:nvSpPr>
        <p:spPr>
          <a:xfrm>
            <a:off x="647700" y="9124950"/>
            <a:ext cx="2095500" cy="203200"/>
          </a:xfrm>
          <a:prstGeom prst="rect">
            <a:avLst/>
          </a:prstGeom>
          <a:noFill/>
          <a:ln/>
        </p:spPr>
        <p:txBody>
          <a:bodyPr wrap="square" lIns="25400" tIns="25400" rIns="25400" bIns="25400" rtlCol="0" anchor="t">
            <a:normAutofit fontScale="85000" lnSpcReduction="20000"/>
          </a:bodyPr>
          <a:lstStyle/>
          <a:p>
            <a:pPr marL="0" indent="0" algn="l">
              <a:buNone/>
            </a:pPr>
            <a:r>
              <a:rPr lang="en-US" sz="1400" dirty="0">
                <a:solidFill>
                  <a:srgbClr val="1A1A1A"/>
                </a:solidFill>
                <a:latin typeface="Calibri" pitchFamily="34" charset="0"/>
                <a:ea typeface="Calibri" pitchFamily="34" charset="-122"/>
                <a:cs typeface="Calibri" pitchFamily="34" charset="-120"/>
              </a:rPr>
              <a:t>daochu</a:t>
            </a:r>
            <a:endParaRPr lang="en-US" sz="1400" dirty="0"/>
          </a:p>
        </p:txBody>
      </p:sp>
      <p:sp>
        <p:nvSpPr>
          <p:cNvPr id="187" name="Shape 183"/>
          <p:cNvSpPr/>
          <p:nvPr/>
        </p:nvSpPr>
        <p:spPr>
          <a:xfrm>
            <a:off x="2667000" y="9163050"/>
            <a:ext cx="3810000" cy="127000"/>
          </a:xfrm>
          <a:prstGeom prst="rect">
            <a:avLst/>
          </a:prstGeom>
          <a:solidFill>
            <a:srgbClr val="F4F6F2"/>
          </a:solidFill>
          <a:ln/>
        </p:spPr>
        <p:txBody>
          <a:bodyPr/>
          <a:lstStyle/>
          <a:p>
            <a:endParaRPr lang="en-US"/>
          </a:p>
        </p:txBody>
      </p:sp>
      <p:sp>
        <p:nvSpPr>
          <p:cNvPr id="188" name="Shape 184"/>
          <p:cNvSpPr/>
          <p:nvPr/>
        </p:nvSpPr>
        <p:spPr>
          <a:xfrm>
            <a:off x="3269853" y="9163050"/>
            <a:ext cx="19050" cy="127000"/>
          </a:xfrm>
          <a:prstGeom prst="rect">
            <a:avLst/>
          </a:prstGeom>
          <a:solidFill>
            <a:srgbClr val="C00000"/>
          </a:solidFill>
          <a:ln/>
        </p:spPr>
        <p:txBody>
          <a:bodyPr/>
          <a:lstStyle/>
          <a:p>
            <a:endParaRPr lang="en-US"/>
          </a:p>
        </p:txBody>
      </p:sp>
      <p:sp>
        <p:nvSpPr>
          <p:cNvPr id="189" name="Shape 185"/>
          <p:cNvSpPr/>
          <p:nvPr/>
        </p:nvSpPr>
        <p:spPr>
          <a:xfrm>
            <a:off x="4978407" y="9217025"/>
            <a:ext cx="997555" cy="19050"/>
          </a:xfrm>
          <a:prstGeom prst="rect">
            <a:avLst/>
          </a:prstGeom>
          <a:solidFill>
            <a:srgbClr val="4E8B2C"/>
          </a:solidFill>
          <a:ln/>
        </p:spPr>
        <p:txBody>
          <a:bodyPr/>
          <a:lstStyle/>
          <a:p>
            <a:endParaRPr lang="en-US"/>
          </a:p>
        </p:txBody>
      </p:sp>
      <p:sp>
        <p:nvSpPr>
          <p:cNvPr id="190" name="Shape 186"/>
          <p:cNvSpPr/>
          <p:nvPr/>
        </p:nvSpPr>
        <p:spPr>
          <a:xfrm>
            <a:off x="5918812" y="9169400"/>
            <a:ext cx="114300" cy="114300"/>
          </a:xfrm>
          <a:prstGeom prst="ellipse">
            <a:avLst/>
          </a:prstGeom>
          <a:solidFill>
            <a:srgbClr val="FFFFFF"/>
          </a:solidFill>
          <a:ln w="12700">
            <a:solidFill>
              <a:srgbClr val="8A8F86"/>
            </a:solidFill>
            <a:prstDash val="solid"/>
          </a:ln>
        </p:spPr>
        <p:txBody>
          <a:bodyPr/>
          <a:lstStyle/>
          <a:p>
            <a:endParaRPr lang="en-US"/>
          </a:p>
        </p:txBody>
      </p:sp>
      <p:sp>
        <p:nvSpPr>
          <p:cNvPr id="191" name="Shape 187"/>
          <p:cNvSpPr/>
          <p:nvPr/>
        </p:nvSpPr>
        <p:spPr>
          <a:xfrm>
            <a:off x="4921257" y="9169400"/>
            <a:ext cx="114300" cy="114300"/>
          </a:xfrm>
          <a:prstGeom prst="ellipse">
            <a:avLst/>
          </a:prstGeom>
          <a:solidFill>
            <a:srgbClr val="4E8B2C"/>
          </a:solidFill>
          <a:ln/>
        </p:spPr>
        <p:txBody>
          <a:bodyPr/>
          <a:lstStyle/>
          <a:p>
            <a:endParaRPr lang="en-US"/>
          </a:p>
        </p:txBody>
      </p:sp>
      <p:sp>
        <p:nvSpPr>
          <p:cNvPr id="192" name="Text 188"/>
          <p:cNvSpPr/>
          <p:nvPr/>
        </p:nvSpPr>
        <p:spPr>
          <a:xfrm>
            <a:off x="6591300" y="9124950"/>
            <a:ext cx="3613428" cy="203200"/>
          </a:xfrm>
          <a:prstGeom prst="rect">
            <a:avLst/>
          </a:prstGeom>
          <a:noFill/>
          <a:ln/>
        </p:spPr>
        <p:txBody>
          <a:bodyPr wrap="square" lIns="25400" tIns="25400" rIns="25400" bIns="25400" rtlCol="0" anchor="t">
            <a:normAutofit fontScale="85000" lnSpcReduction="20000"/>
          </a:bodyPr>
          <a:lstStyle/>
          <a:p>
            <a:pPr marL="0" indent="0" algn="l">
              <a:buNone/>
            </a:pPr>
            <a:r>
              <a:rPr lang="en-US" sz="1400" b="1" dirty="0">
                <a:solidFill>
                  <a:srgbClr val="4E8B2C"/>
                </a:solidFill>
                <a:latin typeface="Calibri" pitchFamily="34" charset="0"/>
                <a:ea typeface="Calibri" pitchFamily="34" charset="-122"/>
                <a:cs typeface="Calibri" pitchFamily="34" charset="-120"/>
              </a:rPr>
              <a:t>27.2% → 19.0% (-8.2pt)</a:t>
            </a:r>
            <a:endParaRPr lang="en-US" sz="1400" dirty="0"/>
          </a:p>
        </p:txBody>
      </p:sp>
      <p:sp>
        <p:nvSpPr>
          <p:cNvPr id="193" name="Text 189"/>
          <p:cNvSpPr/>
          <p:nvPr/>
        </p:nvSpPr>
        <p:spPr>
          <a:xfrm>
            <a:off x="647700" y="9366250"/>
            <a:ext cx="2095500" cy="203200"/>
          </a:xfrm>
          <a:prstGeom prst="rect">
            <a:avLst/>
          </a:prstGeom>
          <a:noFill/>
          <a:ln/>
        </p:spPr>
        <p:txBody>
          <a:bodyPr wrap="square" lIns="25400" tIns="25400" rIns="25400" bIns="25400" rtlCol="0" anchor="t">
            <a:normAutofit fontScale="85000" lnSpcReduction="20000"/>
          </a:bodyPr>
          <a:lstStyle/>
          <a:p>
            <a:pPr marL="0" indent="0" algn="l">
              <a:buNone/>
            </a:pPr>
            <a:r>
              <a:rPr lang="en-US" sz="1400" dirty="0">
                <a:solidFill>
                  <a:srgbClr val="1A1A1A"/>
                </a:solidFill>
                <a:latin typeface="Calibri" pitchFamily="34" charset="0"/>
                <a:ea typeface="Calibri" pitchFamily="34" charset="-122"/>
                <a:cs typeface="Calibri" pitchFamily="34" charset="-120"/>
              </a:rPr>
              <a:t>qtuan</a:t>
            </a:r>
            <a:endParaRPr lang="en-US" sz="1400" dirty="0"/>
          </a:p>
        </p:txBody>
      </p:sp>
      <p:sp>
        <p:nvSpPr>
          <p:cNvPr id="194" name="Shape 190"/>
          <p:cNvSpPr/>
          <p:nvPr/>
        </p:nvSpPr>
        <p:spPr>
          <a:xfrm>
            <a:off x="2667000" y="9404350"/>
            <a:ext cx="3810000" cy="127000"/>
          </a:xfrm>
          <a:prstGeom prst="rect">
            <a:avLst/>
          </a:prstGeom>
          <a:solidFill>
            <a:srgbClr val="F4F6F2"/>
          </a:solidFill>
          <a:ln/>
        </p:spPr>
        <p:txBody>
          <a:bodyPr/>
          <a:lstStyle/>
          <a:p>
            <a:endParaRPr lang="en-US"/>
          </a:p>
        </p:txBody>
      </p:sp>
      <p:sp>
        <p:nvSpPr>
          <p:cNvPr id="195" name="Shape 191"/>
          <p:cNvSpPr/>
          <p:nvPr/>
        </p:nvSpPr>
        <p:spPr>
          <a:xfrm>
            <a:off x="3269853" y="9404350"/>
            <a:ext cx="19050" cy="127000"/>
          </a:xfrm>
          <a:prstGeom prst="rect">
            <a:avLst/>
          </a:prstGeom>
          <a:solidFill>
            <a:srgbClr val="C00000"/>
          </a:solidFill>
          <a:ln/>
        </p:spPr>
        <p:txBody>
          <a:bodyPr/>
          <a:lstStyle/>
          <a:p>
            <a:endParaRPr lang="en-US"/>
          </a:p>
        </p:txBody>
      </p:sp>
      <p:sp>
        <p:nvSpPr>
          <p:cNvPr id="196" name="Shape 192"/>
          <p:cNvSpPr/>
          <p:nvPr/>
        </p:nvSpPr>
        <p:spPr>
          <a:xfrm>
            <a:off x="3786208" y="9458325"/>
            <a:ext cx="596100" cy="19050"/>
          </a:xfrm>
          <a:prstGeom prst="rect">
            <a:avLst/>
          </a:prstGeom>
          <a:solidFill>
            <a:srgbClr val="4E8B2C"/>
          </a:solidFill>
          <a:ln/>
        </p:spPr>
        <p:txBody>
          <a:bodyPr/>
          <a:lstStyle/>
          <a:p>
            <a:endParaRPr lang="en-US"/>
          </a:p>
        </p:txBody>
      </p:sp>
      <p:sp>
        <p:nvSpPr>
          <p:cNvPr id="197" name="Shape 193"/>
          <p:cNvSpPr/>
          <p:nvPr/>
        </p:nvSpPr>
        <p:spPr>
          <a:xfrm>
            <a:off x="4325157" y="9410700"/>
            <a:ext cx="114300" cy="114300"/>
          </a:xfrm>
          <a:prstGeom prst="ellipse">
            <a:avLst/>
          </a:prstGeom>
          <a:solidFill>
            <a:srgbClr val="FFFFFF"/>
          </a:solidFill>
          <a:ln w="12700">
            <a:solidFill>
              <a:srgbClr val="8A8F86"/>
            </a:solidFill>
            <a:prstDash val="solid"/>
          </a:ln>
        </p:spPr>
        <p:txBody>
          <a:bodyPr/>
          <a:lstStyle/>
          <a:p>
            <a:endParaRPr lang="en-US"/>
          </a:p>
        </p:txBody>
      </p:sp>
      <p:sp>
        <p:nvSpPr>
          <p:cNvPr id="198" name="Shape 194"/>
          <p:cNvSpPr/>
          <p:nvPr/>
        </p:nvSpPr>
        <p:spPr>
          <a:xfrm>
            <a:off x="3729058" y="9410700"/>
            <a:ext cx="114300" cy="114300"/>
          </a:xfrm>
          <a:prstGeom prst="ellipse">
            <a:avLst/>
          </a:prstGeom>
          <a:solidFill>
            <a:srgbClr val="4E8B2C"/>
          </a:solidFill>
          <a:ln/>
        </p:spPr>
        <p:txBody>
          <a:bodyPr/>
          <a:lstStyle/>
          <a:p>
            <a:endParaRPr lang="en-US"/>
          </a:p>
        </p:txBody>
      </p:sp>
      <p:sp>
        <p:nvSpPr>
          <p:cNvPr id="199" name="Text 195"/>
          <p:cNvSpPr/>
          <p:nvPr/>
        </p:nvSpPr>
        <p:spPr>
          <a:xfrm>
            <a:off x="6591300" y="9366250"/>
            <a:ext cx="3613428" cy="203200"/>
          </a:xfrm>
          <a:prstGeom prst="rect">
            <a:avLst/>
          </a:prstGeom>
          <a:noFill/>
          <a:ln/>
        </p:spPr>
        <p:txBody>
          <a:bodyPr wrap="square" lIns="25400" tIns="25400" rIns="25400" bIns="25400" rtlCol="0" anchor="t">
            <a:normAutofit fontScale="85000" lnSpcReduction="20000"/>
          </a:bodyPr>
          <a:lstStyle/>
          <a:p>
            <a:pPr marL="0" indent="0" algn="l">
              <a:buNone/>
            </a:pPr>
            <a:r>
              <a:rPr lang="en-US" sz="1400" b="1" dirty="0">
                <a:solidFill>
                  <a:srgbClr val="4E8B2C"/>
                </a:solidFill>
                <a:latin typeface="Calibri" pitchFamily="34" charset="0"/>
                <a:ea typeface="Calibri" pitchFamily="34" charset="-122"/>
                <a:cs typeface="Calibri" pitchFamily="34" charset="-120"/>
              </a:rPr>
              <a:t>14.1% → 9.2% (-4.9pt)</a:t>
            </a:r>
            <a:endParaRPr lang="en-US" sz="1400" dirty="0"/>
          </a:p>
        </p:txBody>
      </p:sp>
      <p:sp>
        <p:nvSpPr>
          <p:cNvPr id="200" name="Text 196"/>
          <p:cNvSpPr/>
          <p:nvPr/>
        </p:nvSpPr>
        <p:spPr>
          <a:xfrm>
            <a:off x="647700" y="9607550"/>
            <a:ext cx="2095500" cy="203200"/>
          </a:xfrm>
          <a:prstGeom prst="rect">
            <a:avLst/>
          </a:prstGeom>
          <a:noFill/>
          <a:ln/>
        </p:spPr>
        <p:txBody>
          <a:bodyPr wrap="square" lIns="25400" tIns="25400" rIns="25400" bIns="25400" rtlCol="0" anchor="t">
            <a:normAutofit fontScale="85000" lnSpcReduction="20000"/>
          </a:bodyPr>
          <a:lstStyle/>
          <a:p>
            <a:pPr marL="0" indent="0" algn="l">
              <a:buNone/>
            </a:pPr>
            <a:r>
              <a:rPr lang="en-US" sz="1400" dirty="0">
                <a:solidFill>
                  <a:srgbClr val="1A1A1A"/>
                </a:solidFill>
                <a:latin typeface="Calibri" pitchFamily="34" charset="0"/>
                <a:ea typeface="Calibri" pitchFamily="34" charset="-122"/>
                <a:cs typeface="Calibri" pitchFamily="34" charset="-120"/>
              </a:rPr>
              <a:t>thailong</a:t>
            </a:r>
            <a:endParaRPr lang="en-US" sz="1400" dirty="0"/>
          </a:p>
        </p:txBody>
      </p:sp>
      <p:sp>
        <p:nvSpPr>
          <p:cNvPr id="201" name="Shape 197"/>
          <p:cNvSpPr/>
          <p:nvPr/>
        </p:nvSpPr>
        <p:spPr>
          <a:xfrm>
            <a:off x="2667000" y="9645650"/>
            <a:ext cx="3810000" cy="127000"/>
          </a:xfrm>
          <a:prstGeom prst="rect">
            <a:avLst/>
          </a:prstGeom>
          <a:solidFill>
            <a:srgbClr val="F4F6F2"/>
          </a:solidFill>
          <a:ln/>
        </p:spPr>
        <p:txBody>
          <a:bodyPr/>
          <a:lstStyle/>
          <a:p>
            <a:endParaRPr lang="en-US"/>
          </a:p>
        </p:txBody>
      </p:sp>
      <p:sp>
        <p:nvSpPr>
          <p:cNvPr id="202" name="Shape 198"/>
          <p:cNvSpPr/>
          <p:nvPr/>
        </p:nvSpPr>
        <p:spPr>
          <a:xfrm>
            <a:off x="3269853" y="9645650"/>
            <a:ext cx="19050" cy="127000"/>
          </a:xfrm>
          <a:prstGeom prst="rect">
            <a:avLst/>
          </a:prstGeom>
          <a:solidFill>
            <a:srgbClr val="C00000"/>
          </a:solidFill>
          <a:ln/>
        </p:spPr>
        <p:txBody>
          <a:bodyPr/>
          <a:lstStyle/>
          <a:p>
            <a:endParaRPr lang="en-US"/>
          </a:p>
        </p:txBody>
      </p:sp>
      <p:sp>
        <p:nvSpPr>
          <p:cNvPr id="203" name="Shape 199"/>
          <p:cNvSpPr/>
          <p:nvPr/>
        </p:nvSpPr>
        <p:spPr>
          <a:xfrm>
            <a:off x="4029514" y="9699625"/>
            <a:ext cx="121653" cy="19050"/>
          </a:xfrm>
          <a:prstGeom prst="rect">
            <a:avLst/>
          </a:prstGeom>
          <a:solidFill>
            <a:srgbClr val="C00000"/>
          </a:solidFill>
          <a:ln/>
        </p:spPr>
        <p:txBody>
          <a:bodyPr/>
          <a:lstStyle/>
          <a:p>
            <a:endParaRPr lang="en-US"/>
          </a:p>
        </p:txBody>
      </p:sp>
      <p:sp>
        <p:nvSpPr>
          <p:cNvPr id="204" name="Shape 200"/>
          <p:cNvSpPr/>
          <p:nvPr/>
        </p:nvSpPr>
        <p:spPr>
          <a:xfrm>
            <a:off x="3972364" y="9652000"/>
            <a:ext cx="114300" cy="114300"/>
          </a:xfrm>
          <a:prstGeom prst="ellipse">
            <a:avLst/>
          </a:prstGeom>
          <a:solidFill>
            <a:srgbClr val="FFFFFF"/>
          </a:solidFill>
          <a:ln w="12700">
            <a:solidFill>
              <a:srgbClr val="8A8F86"/>
            </a:solidFill>
            <a:prstDash val="solid"/>
          </a:ln>
        </p:spPr>
        <p:txBody>
          <a:bodyPr/>
          <a:lstStyle/>
          <a:p>
            <a:endParaRPr lang="en-US"/>
          </a:p>
        </p:txBody>
      </p:sp>
      <p:sp>
        <p:nvSpPr>
          <p:cNvPr id="205" name="Shape 201"/>
          <p:cNvSpPr/>
          <p:nvPr/>
        </p:nvSpPr>
        <p:spPr>
          <a:xfrm>
            <a:off x="4094017" y="9652000"/>
            <a:ext cx="114300" cy="114300"/>
          </a:xfrm>
          <a:prstGeom prst="ellipse">
            <a:avLst/>
          </a:prstGeom>
          <a:solidFill>
            <a:srgbClr val="C00000"/>
          </a:solidFill>
          <a:ln/>
        </p:spPr>
        <p:txBody>
          <a:bodyPr/>
          <a:lstStyle/>
          <a:p>
            <a:endParaRPr lang="en-US"/>
          </a:p>
        </p:txBody>
      </p:sp>
      <p:sp>
        <p:nvSpPr>
          <p:cNvPr id="206" name="Text 202"/>
          <p:cNvSpPr/>
          <p:nvPr/>
        </p:nvSpPr>
        <p:spPr>
          <a:xfrm>
            <a:off x="6591300" y="9607550"/>
            <a:ext cx="3613428" cy="203200"/>
          </a:xfrm>
          <a:prstGeom prst="rect">
            <a:avLst/>
          </a:prstGeom>
          <a:noFill/>
          <a:ln/>
        </p:spPr>
        <p:txBody>
          <a:bodyPr wrap="square" lIns="25400" tIns="25400" rIns="25400" bIns="25400" rtlCol="0" anchor="t">
            <a:normAutofit fontScale="85000" lnSpcReduction="20000"/>
          </a:bodyPr>
          <a:lstStyle/>
          <a:p>
            <a:pPr marL="0" indent="0" algn="l">
              <a:buNone/>
            </a:pPr>
            <a:r>
              <a:rPr lang="en-US" sz="1400" b="1" dirty="0">
                <a:solidFill>
                  <a:srgbClr val="C00000"/>
                </a:solidFill>
                <a:latin typeface="Calibri" pitchFamily="34" charset="0"/>
                <a:ea typeface="Calibri" pitchFamily="34" charset="-122"/>
                <a:cs typeface="Calibri" pitchFamily="34" charset="-120"/>
              </a:rPr>
              <a:t>11.2% → 12.2% (+1.0pt)</a:t>
            </a:r>
            <a:endParaRPr lang="en-US" sz="1400" dirty="0"/>
          </a:p>
        </p:txBody>
      </p:sp>
      <p:sp>
        <p:nvSpPr>
          <p:cNvPr id="207" name="Text 203"/>
          <p:cNvSpPr/>
          <p:nvPr/>
        </p:nvSpPr>
        <p:spPr>
          <a:xfrm>
            <a:off x="647700" y="9848850"/>
            <a:ext cx="2095500" cy="203200"/>
          </a:xfrm>
          <a:prstGeom prst="rect">
            <a:avLst/>
          </a:prstGeom>
          <a:noFill/>
          <a:ln/>
        </p:spPr>
        <p:txBody>
          <a:bodyPr wrap="square" lIns="25400" tIns="25400" rIns="25400" bIns="25400" rtlCol="0" anchor="t">
            <a:normAutofit fontScale="85000" lnSpcReduction="20000"/>
          </a:bodyPr>
          <a:lstStyle/>
          <a:p>
            <a:pPr marL="0" indent="0" algn="l">
              <a:buNone/>
            </a:pPr>
            <a:r>
              <a:rPr lang="en-US" sz="1400" dirty="0">
                <a:solidFill>
                  <a:srgbClr val="1A1A1A"/>
                </a:solidFill>
                <a:latin typeface="Calibri" pitchFamily="34" charset="0"/>
                <a:ea typeface="Calibri" pitchFamily="34" charset="-122"/>
                <a:cs typeface="Calibri" pitchFamily="34" charset="-120"/>
              </a:rPr>
              <a:t>tienkieu</a:t>
            </a:r>
            <a:endParaRPr lang="en-US" sz="1400" dirty="0"/>
          </a:p>
        </p:txBody>
      </p:sp>
      <p:sp>
        <p:nvSpPr>
          <p:cNvPr id="208" name="Shape 204"/>
          <p:cNvSpPr/>
          <p:nvPr/>
        </p:nvSpPr>
        <p:spPr>
          <a:xfrm>
            <a:off x="2667000" y="9886950"/>
            <a:ext cx="3810000" cy="127000"/>
          </a:xfrm>
          <a:prstGeom prst="rect">
            <a:avLst/>
          </a:prstGeom>
          <a:solidFill>
            <a:srgbClr val="F4F6F2"/>
          </a:solidFill>
          <a:ln/>
        </p:spPr>
        <p:txBody>
          <a:bodyPr/>
          <a:lstStyle/>
          <a:p>
            <a:endParaRPr lang="en-US"/>
          </a:p>
        </p:txBody>
      </p:sp>
      <p:sp>
        <p:nvSpPr>
          <p:cNvPr id="209" name="Shape 205"/>
          <p:cNvSpPr/>
          <p:nvPr/>
        </p:nvSpPr>
        <p:spPr>
          <a:xfrm>
            <a:off x="3269853" y="9886950"/>
            <a:ext cx="19050" cy="127000"/>
          </a:xfrm>
          <a:prstGeom prst="rect">
            <a:avLst/>
          </a:prstGeom>
          <a:solidFill>
            <a:srgbClr val="C00000"/>
          </a:solidFill>
          <a:ln/>
        </p:spPr>
        <p:txBody>
          <a:bodyPr/>
          <a:lstStyle/>
          <a:p>
            <a:endParaRPr lang="en-US"/>
          </a:p>
        </p:txBody>
      </p:sp>
      <p:sp>
        <p:nvSpPr>
          <p:cNvPr id="210" name="Shape 206"/>
          <p:cNvSpPr/>
          <p:nvPr/>
        </p:nvSpPr>
        <p:spPr>
          <a:xfrm>
            <a:off x="4102505" y="9940925"/>
            <a:ext cx="364959" cy="19050"/>
          </a:xfrm>
          <a:prstGeom prst="rect">
            <a:avLst/>
          </a:prstGeom>
          <a:solidFill>
            <a:srgbClr val="C00000"/>
          </a:solidFill>
          <a:ln/>
        </p:spPr>
        <p:txBody>
          <a:bodyPr/>
          <a:lstStyle/>
          <a:p>
            <a:endParaRPr lang="en-US"/>
          </a:p>
        </p:txBody>
      </p:sp>
      <p:sp>
        <p:nvSpPr>
          <p:cNvPr id="211" name="Shape 207"/>
          <p:cNvSpPr/>
          <p:nvPr/>
        </p:nvSpPr>
        <p:spPr>
          <a:xfrm>
            <a:off x="4045355" y="9893300"/>
            <a:ext cx="114300" cy="114300"/>
          </a:xfrm>
          <a:prstGeom prst="ellipse">
            <a:avLst/>
          </a:prstGeom>
          <a:solidFill>
            <a:srgbClr val="FFFFFF"/>
          </a:solidFill>
          <a:ln w="12700">
            <a:solidFill>
              <a:srgbClr val="8A8F86"/>
            </a:solidFill>
            <a:prstDash val="solid"/>
          </a:ln>
        </p:spPr>
        <p:txBody>
          <a:bodyPr/>
          <a:lstStyle/>
          <a:p>
            <a:endParaRPr lang="en-US"/>
          </a:p>
        </p:txBody>
      </p:sp>
      <p:sp>
        <p:nvSpPr>
          <p:cNvPr id="212" name="Shape 208"/>
          <p:cNvSpPr/>
          <p:nvPr/>
        </p:nvSpPr>
        <p:spPr>
          <a:xfrm>
            <a:off x="4410314" y="9893300"/>
            <a:ext cx="114300" cy="114300"/>
          </a:xfrm>
          <a:prstGeom prst="ellipse">
            <a:avLst/>
          </a:prstGeom>
          <a:solidFill>
            <a:srgbClr val="C00000"/>
          </a:solidFill>
          <a:ln/>
        </p:spPr>
        <p:txBody>
          <a:bodyPr/>
          <a:lstStyle/>
          <a:p>
            <a:endParaRPr lang="en-US"/>
          </a:p>
        </p:txBody>
      </p:sp>
      <p:sp>
        <p:nvSpPr>
          <p:cNvPr id="213" name="Text 209"/>
          <p:cNvSpPr/>
          <p:nvPr/>
        </p:nvSpPr>
        <p:spPr>
          <a:xfrm>
            <a:off x="6591300" y="9848850"/>
            <a:ext cx="3613428" cy="203200"/>
          </a:xfrm>
          <a:prstGeom prst="rect">
            <a:avLst/>
          </a:prstGeom>
          <a:noFill/>
          <a:ln/>
        </p:spPr>
        <p:txBody>
          <a:bodyPr wrap="square" lIns="25400" tIns="25400" rIns="25400" bIns="25400" rtlCol="0" anchor="t">
            <a:normAutofit fontScale="85000" lnSpcReduction="20000"/>
          </a:bodyPr>
          <a:lstStyle/>
          <a:p>
            <a:pPr marL="0" indent="0" algn="l">
              <a:buNone/>
            </a:pPr>
            <a:r>
              <a:rPr lang="en-US" sz="1400" b="1" dirty="0">
                <a:solidFill>
                  <a:srgbClr val="C00000"/>
                </a:solidFill>
                <a:latin typeface="Calibri" pitchFamily="34" charset="0"/>
                <a:ea typeface="Calibri" pitchFamily="34" charset="-122"/>
                <a:cs typeface="Calibri" pitchFamily="34" charset="-120"/>
              </a:rPr>
              <a:t>11.8% → 14.8% (+3.0pt)</a:t>
            </a:r>
            <a:endParaRPr lang="en-US" sz="1400" dirty="0"/>
          </a:p>
        </p:txBody>
      </p:sp>
      <p:sp>
        <p:nvSpPr>
          <p:cNvPr id="214" name="Shape 210"/>
          <p:cNvSpPr/>
          <p:nvPr/>
        </p:nvSpPr>
        <p:spPr>
          <a:xfrm>
            <a:off x="10257234" y="1428750"/>
            <a:ext cx="7382867" cy="3433167"/>
          </a:xfrm>
          <a:prstGeom prst="rect">
            <a:avLst/>
          </a:prstGeom>
          <a:solidFill>
            <a:srgbClr val="F1F6F2"/>
          </a:solidFill>
          <a:ln/>
        </p:spPr>
        <p:txBody>
          <a:bodyPr/>
          <a:lstStyle/>
          <a:p>
            <a:endParaRPr lang="en-US"/>
          </a:p>
        </p:txBody>
      </p:sp>
      <p:sp>
        <p:nvSpPr>
          <p:cNvPr id="215" name="Text 211"/>
          <p:cNvSpPr/>
          <p:nvPr/>
        </p:nvSpPr>
        <p:spPr>
          <a:xfrm>
            <a:off x="10523934" y="1657350"/>
            <a:ext cx="7534414"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A1A1A"/>
                </a:solidFill>
                <a:latin typeface="Calibri" pitchFamily="34" charset="0"/>
                <a:ea typeface="Calibri" pitchFamily="34" charset="-122"/>
                <a:cs typeface="Calibri" pitchFamily="34" charset="-120"/>
              </a:rPr>
              <a:t>Data comments:</a:t>
            </a:r>
            <a:endParaRPr lang="en-US" sz="1950" dirty="0"/>
          </a:p>
        </p:txBody>
      </p:sp>
      <p:sp>
        <p:nvSpPr>
          <p:cNvPr id="216" name="Text 212"/>
          <p:cNvSpPr/>
          <p:nvPr/>
        </p:nvSpPr>
        <p:spPr>
          <a:xfrm>
            <a:off x="10523934" y="2076450"/>
            <a:ext cx="7054951" cy="68699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The overdue rate in July came down to </a:t>
            </a:r>
            <a:r>
              <a:rPr lang="en-US" sz="1800" b="1" dirty="0">
                <a:solidFill>
                  <a:srgbClr val="1A1A1A"/>
                </a:solidFill>
                <a:latin typeface="Calibri" pitchFamily="34" charset="0"/>
                <a:ea typeface="Calibri" pitchFamily="34" charset="-122"/>
                <a:cs typeface="Calibri" pitchFamily="34" charset="-120"/>
              </a:rPr>
              <a:t>10.6% </a:t>
            </a:r>
            <a:r>
              <a:rPr lang="en-US" sz="1800" dirty="0">
                <a:solidFill>
                  <a:srgbClr val="1A1A1A"/>
                </a:solidFill>
                <a:latin typeface="Calibri" pitchFamily="34" charset="0"/>
                <a:ea typeface="Calibri" pitchFamily="34" charset="-122"/>
                <a:cs typeface="Calibri" pitchFamily="34" charset="-120"/>
              </a:rPr>
              <a:t>(from 13.7% in June); 6 of 9 CSEs improved.</a:t>
            </a:r>
            <a:endParaRPr lang="en-US" sz="1800" dirty="0"/>
          </a:p>
        </p:txBody>
      </p:sp>
      <p:sp>
        <p:nvSpPr>
          <p:cNvPr id="217" name="Text 213"/>
          <p:cNvSpPr/>
          <p:nvPr/>
        </p:nvSpPr>
        <p:spPr>
          <a:xfrm>
            <a:off x="10523934" y="2820591"/>
            <a:ext cx="7054951" cy="68699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a:t>
            </a:r>
            <a:r>
              <a:rPr lang="en-US" sz="1800" b="1" dirty="0">
                <a:solidFill>
                  <a:srgbClr val="1A1A1A"/>
                </a:solidFill>
                <a:latin typeface="Calibri" pitchFamily="34" charset="0"/>
                <a:ea typeface="Calibri" pitchFamily="34" charset="-122"/>
                <a:cs typeface="Calibri" pitchFamily="34" charset="-120"/>
              </a:rPr>
              <a:t>Worst: daochu 19.0% </a:t>
            </a:r>
            <a:r>
              <a:rPr lang="en-US" sz="1800" dirty="0">
                <a:solidFill>
                  <a:srgbClr val="1A1A1A"/>
                </a:solidFill>
                <a:latin typeface="Calibri" pitchFamily="34" charset="0"/>
                <a:ea typeface="Calibri" pitchFamily="34" charset="-122"/>
                <a:cs typeface="Calibri" pitchFamily="34" charset="-120"/>
              </a:rPr>
              <a:t>(down from 27.2% but still the highest), dinhnguyen 15.8%, tienkieu 14.8%.</a:t>
            </a:r>
            <a:endParaRPr lang="en-US" sz="1800" dirty="0"/>
          </a:p>
        </p:txBody>
      </p:sp>
      <p:sp>
        <p:nvSpPr>
          <p:cNvPr id="218" name="Text 214"/>
          <p:cNvSpPr/>
          <p:nvPr/>
        </p:nvSpPr>
        <p:spPr>
          <a:xfrm>
            <a:off x="10523934" y="3564731"/>
            <a:ext cx="7054951" cy="68699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a:t>
            </a:r>
            <a:r>
              <a:rPr lang="en-US" sz="1800" b="1" dirty="0">
                <a:solidFill>
                  <a:srgbClr val="1A1A1A"/>
                </a:solidFill>
                <a:latin typeface="Calibri" pitchFamily="34" charset="0"/>
                <a:ea typeface="Calibri" pitchFamily="34" charset="-122"/>
                <a:cs typeface="Calibri" pitchFamily="34" charset="-120"/>
              </a:rPr>
              <a:t>Best: hungvu 3.5% </a:t>
            </a:r>
            <a:r>
              <a:rPr lang="en-US" sz="1800" dirty="0">
                <a:solidFill>
                  <a:srgbClr val="1A1A1A"/>
                </a:solidFill>
                <a:latin typeface="Calibri" pitchFamily="34" charset="0"/>
                <a:ea typeface="Calibri" pitchFamily="34" charset="-122"/>
                <a:cs typeface="Calibri" pitchFamily="34" charset="-120"/>
              </a:rPr>
              <a:t>then thuanlu 8.5% on the largest load (2,988 tickets) and qtuan 9.2%.</a:t>
            </a:r>
            <a:endParaRPr lang="en-US" sz="1800" dirty="0"/>
          </a:p>
        </p:txBody>
      </p:sp>
      <p:sp>
        <p:nvSpPr>
          <p:cNvPr id="219" name="Text 215"/>
          <p:cNvSpPr/>
          <p:nvPr/>
        </p:nvSpPr>
        <p:spPr>
          <a:xfrm>
            <a:off x="10523934" y="4308872"/>
            <a:ext cx="7534414" cy="362545"/>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a:t>
            </a:r>
            <a:r>
              <a:rPr lang="en-US" sz="1800" b="1" dirty="0">
                <a:solidFill>
                  <a:srgbClr val="1A1A1A"/>
                </a:solidFill>
                <a:latin typeface="Calibri" pitchFamily="34" charset="0"/>
                <a:ea typeface="Calibri" pitchFamily="34" charset="-122"/>
                <a:cs typeface="Calibri" pitchFamily="34" charset="-120"/>
              </a:rPr>
              <a:t>khiemnguyen improved most </a:t>
            </a:r>
            <a:r>
              <a:rPr lang="en-US" sz="1800" dirty="0">
                <a:solidFill>
                  <a:srgbClr val="1A1A1A"/>
                </a:solidFill>
                <a:latin typeface="Calibri" pitchFamily="34" charset="0"/>
                <a:ea typeface="Calibri" pitchFamily="34" charset="-122"/>
                <a:cs typeface="Calibri" pitchFamily="34" charset="-120"/>
              </a:rPr>
              <a:t>— 10.6% from 19.2% in June.</a:t>
            </a:r>
            <a:endParaRPr lang="en-US" sz="1800" dirty="0"/>
          </a:p>
        </p:txBody>
      </p:sp>
      <p:sp>
        <p:nvSpPr>
          <p:cNvPr id="220" name="Shape 216"/>
          <p:cNvSpPr/>
          <p:nvPr/>
        </p:nvSpPr>
        <p:spPr>
          <a:xfrm>
            <a:off x="10257234" y="5014317"/>
            <a:ext cx="7382867" cy="1944886"/>
          </a:xfrm>
          <a:prstGeom prst="rect">
            <a:avLst/>
          </a:prstGeom>
          <a:solidFill>
            <a:srgbClr val="F1F6F2"/>
          </a:solidFill>
          <a:ln/>
        </p:spPr>
        <p:txBody>
          <a:bodyPr/>
          <a:lstStyle/>
          <a:p>
            <a:endParaRPr lang="en-US"/>
          </a:p>
        </p:txBody>
      </p:sp>
      <p:sp>
        <p:nvSpPr>
          <p:cNvPr id="221" name="Shape 217"/>
          <p:cNvSpPr/>
          <p:nvPr/>
        </p:nvSpPr>
        <p:spPr>
          <a:xfrm>
            <a:off x="10257234" y="5014317"/>
            <a:ext cx="38100" cy="1944886"/>
          </a:xfrm>
          <a:prstGeom prst="rect">
            <a:avLst/>
          </a:prstGeom>
          <a:solidFill>
            <a:srgbClr val="C0504D"/>
          </a:solidFill>
          <a:ln/>
        </p:spPr>
        <p:txBody>
          <a:bodyPr/>
          <a:lstStyle/>
          <a:p>
            <a:endParaRPr lang="en-US"/>
          </a:p>
        </p:txBody>
      </p:sp>
      <p:sp>
        <p:nvSpPr>
          <p:cNvPr id="222" name="Text 218"/>
          <p:cNvSpPr/>
          <p:nvPr/>
        </p:nvSpPr>
        <p:spPr>
          <a:xfrm>
            <a:off x="10562034" y="5242917"/>
            <a:ext cx="7492504"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A1A1A"/>
                </a:solidFill>
                <a:latin typeface="Calibri" pitchFamily="34" charset="0"/>
                <a:ea typeface="Calibri" pitchFamily="34" charset="-122"/>
                <a:cs typeface="Calibri" pitchFamily="34" charset="-120"/>
              </a:rPr>
              <a:t>Causes:</a:t>
            </a:r>
            <a:endParaRPr lang="en-US" sz="1950" dirty="0"/>
          </a:p>
        </p:txBody>
      </p:sp>
      <p:sp>
        <p:nvSpPr>
          <p:cNvPr id="223" name="Text 219"/>
          <p:cNvSpPr/>
          <p:nvPr/>
        </p:nvSpPr>
        <p:spPr>
          <a:xfrm>
            <a:off x="10562034" y="5662017"/>
            <a:ext cx="7015708" cy="68699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Weak ASP management &amp; ticket allocation → new tickets become overdue almost immediately.</a:t>
            </a:r>
            <a:endParaRPr lang="en-US" sz="1800" dirty="0"/>
          </a:p>
        </p:txBody>
      </p:sp>
      <p:sp>
        <p:nvSpPr>
          <p:cNvPr id="224" name="Text 220"/>
          <p:cNvSpPr/>
          <p:nvPr/>
        </p:nvSpPr>
        <p:spPr>
          <a:xfrm>
            <a:off x="10562034" y="6406158"/>
            <a:ext cx="7492504" cy="362545"/>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Heavy workload + not enough ASP staff → team overloaded.</a:t>
            </a:r>
            <a:endParaRPr lang="en-US" sz="1800" dirty="0"/>
          </a:p>
        </p:txBody>
      </p:sp>
      <p:sp>
        <p:nvSpPr>
          <p:cNvPr id="225" name="Shape 221"/>
          <p:cNvSpPr/>
          <p:nvPr/>
        </p:nvSpPr>
        <p:spPr>
          <a:xfrm>
            <a:off x="10257234" y="7112000"/>
            <a:ext cx="7382867" cy="2857500"/>
          </a:xfrm>
          <a:prstGeom prst="rect">
            <a:avLst/>
          </a:prstGeom>
          <a:solidFill>
            <a:srgbClr val="E2EFDA"/>
          </a:solidFill>
          <a:ln/>
        </p:spPr>
        <p:txBody>
          <a:bodyPr/>
          <a:lstStyle/>
          <a:p>
            <a:endParaRPr lang="en-US"/>
          </a:p>
        </p:txBody>
      </p:sp>
      <p:sp>
        <p:nvSpPr>
          <p:cNvPr id="226" name="Text 222"/>
          <p:cNvSpPr/>
          <p:nvPr/>
        </p:nvSpPr>
        <p:spPr>
          <a:xfrm>
            <a:off x="10523934" y="7340203"/>
            <a:ext cx="7534414"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A1A1A"/>
                </a:solidFill>
                <a:latin typeface="Calibri" pitchFamily="34" charset="0"/>
                <a:ea typeface="Calibri" pitchFamily="34" charset="-122"/>
                <a:cs typeface="Calibri" pitchFamily="34" charset="-120"/>
              </a:rPr>
              <a:t>Actions:</a:t>
            </a:r>
            <a:endParaRPr lang="en-US" sz="1950" dirty="0"/>
          </a:p>
        </p:txBody>
      </p:sp>
      <p:sp>
        <p:nvSpPr>
          <p:cNvPr id="227" name="Text 223"/>
          <p:cNvSpPr/>
          <p:nvPr/>
        </p:nvSpPr>
        <p:spPr>
          <a:xfrm>
            <a:off x="10523934" y="7759303"/>
            <a:ext cx="7054951" cy="1011436"/>
          </a:xfrm>
          <a:prstGeom prst="rect">
            <a:avLst/>
          </a:prstGeom>
          <a:noFill/>
          <a:ln/>
        </p:spPr>
        <p:txBody>
          <a:bodyPr wrap="square" lIns="25400" tIns="25400" rIns="25400" bIns="25400" rtlCol="0" anchor="t">
            <a:normAutofit fontScale="92500"/>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a:t>
            </a:r>
            <a:r>
              <a:rPr lang="en-US" sz="1800" b="1" dirty="0">
                <a:solidFill>
                  <a:srgbClr val="1A1A1A"/>
                </a:solidFill>
                <a:latin typeface="Calibri" pitchFamily="34" charset="0"/>
                <a:ea typeface="Calibri" pitchFamily="34" charset="-122"/>
                <a:cs typeface="Calibri" pitchFamily="34" charset="-120"/>
              </a:rPr>
              <a:t>On-site quality inspections (audits): </a:t>
            </a:r>
            <a:r>
              <a:rPr lang="en-US" sz="1800" dirty="0">
                <a:solidFill>
                  <a:srgbClr val="1A1A1A"/>
                </a:solidFill>
                <a:latin typeface="Calibri" pitchFamily="34" charset="0"/>
                <a:ea typeface="Calibri" pitchFamily="34" charset="-122"/>
                <a:cs typeface="Calibri" pitchFamily="34" charset="-120"/>
              </a:rPr>
              <a:t>each CSE audits ≥5 stations per week using the SOP checklist, worst stations first. The overdue rate may rise at first, but fixing the root cause gives a lasting improvement. </a:t>
            </a:r>
            <a:r>
              <a:rPr lang="en-US" sz="1800" i="1" dirty="0">
                <a:solidFill>
                  <a:srgbClr val="1A1A1A"/>
                </a:solidFill>
                <a:latin typeface="Calibri" pitchFamily="34" charset="0"/>
                <a:ea typeface="Calibri" pitchFamily="34" charset="-122"/>
                <a:cs typeface="Calibri" pitchFamily="34" charset="-120"/>
              </a:rPr>
              <a:t>[Ongoing by CSE]</a:t>
            </a:r>
            <a:endParaRPr lang="en-US" sz="1800" dirty="0"/>
          </a:p>
        </p:txBody>
      </p:sp>
      <p:sp>
        <p:nvSpPr>
          <p:cNvPr id="228" name="Text 224"/>
          <p:cNvSpPr/>
          <p:nvPr/>
        </p:nvSpPr>
        <p:spPr>
          <a:xfrm>
            <a:off x="10523934" y="8827889"/>
            <a:ext cx="7054951" cy="68699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a:t>
            </a:r>
            <a:r>
              <a:rPr lang="en-US" sz="1800" b="1" dirty="0">
                <a:solidFill>
                  <a:srgbClr val="1A1A1A"/>
                </a:solidFill>
                <a:latin typeface="Calibri" pitchFamily="34" charset="0"/>
                <a:ea typeface="Calibri" pitchFamily="34" charset="-122"/>
                <a:cs typeface="Calibri" pitchFamily="34" charset="-120"/>
              </a:rPr>
              <a:t>daochu </a:t>
            </a:r>
            <a:r>
              <a:rPr lang="en-US" sz="1800" dirty="0">
                <a:solidFill>
                  <a:srgbClr val="1A1A1A"/>
                </a:solidFill>
                <a:latin typeface="Calibri" pitchFamily="34" charset="0"/>
                <a:ea typeface="Calibri" pitchFamily="34" charset="-122"/>
                <a:cs typeface="Calibri" pitchFamily="34" charset="-120"/>
              </a:rPr>
              <a:t>needs a dedicated review this month — 19.0% is still the highest rate of all CSEs.</a:t>
            </a:r>
            <a:endParaRPr lang="en-US" sz="1800" dirty="0"/>
          </a:p>
        </p:txBody>
      </p:sp>
    </p:spTree>
    <p:extLst>
      <p:ext uri="{BB962C8B-B14F-4D97-AF65-F5344CB8AC3E}">
        <p14:creationId xmlns:p14="http://schemas.microsoft.com/office/powerpoint/2010/main" val="2692801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114300" y="342900"/>
            <a:ext cx="571500" cy="571500"/>
          </a:xfrm>
          <a:prstGeom prst="rect">
            <a:avLst/>
          </a:prstGeom>
        </p:spPr>
      </p:pic>
      <p:pic>
        <p:nvPicPr>
          <p:cNvPr id="3" name="Image 1" descr="preencoded.png"/>
          <p:cNvPicPr>
            <a:picLocks noChangeAspect="1"/>
          </p:cNvPicPr>
          <p:nvPr/>
        </p:nvPicPr>
        <p:blipFill>
          <a:blip r:embed="rId4"/>
          <a:srcRect t="49" b="49"/>
          <a:stretch/>
        </p:blipFill>
        <p:spPr>
          <a:xfrm>
            <a:off x="14001750" y="114300"/>
            <a:ext cx="4114800" cy="914400"/>
          </a:xfrm>
          <a:prstGeom prst="rect">
            <a:avLst/>
          </a:prstGeom>
        </p:spPr>
      </p:pic>
      <p:sp>
        <p:nvSpPr>
          <p:cNvPr id="4" name="Text 0"/>
          <p:cNvSpPr/>
          <p:nvPr/>
        </p:nvSpPr>
        <p:spPr>
          <a:xfrm>
            <a:off x="876300" y="419100"/>
            <a:ext cx="5788601" cy="508000"/>
          </a:xfrm>
          <a:prstGeom prst="rect">
            <a:avLst/>
          </a:prstGeom>
          <a:noFill/>
          <a:ln/>
        </p:spPr>
        <p:txBody>
          <a:bodyPr wrap="square" lIns="25400" tIns="25400" rIns="25400" bIns="25400" rtlCol="0" anchor="t">
            <a:normAutofit/>
          </a:bodyPr>
          <a:lstStyle/>
          <a:p>
            <a:pPr marL="0" indent="0" algn="l">
              <a:buNone/>
            </a:pPr>
            <a:r>
              <a:rPr lang="en-US" sz="3000" b="1" dirty="0">
                <a:solidFill>
                  <a:srgbClr val="1A1A1A"/>
                </a:solidFill>
                <a:latin typeface="Calibri" pitchFamily="34" charset="0"/>
                <a:ea typeface="Calibri" pitchFamily="34" charset="-122"/>
                <a:cs typeface="Calibri" pitchFamily="34" charset="-120"/>
              </a:rPr>
              <a:t>1.5. SLA performance by CSE: BSS</a:t>
            </a:r>
            <a:endParaRPr lang="en-US" sz="3000" dirty="0"/>
          </a:p>
        </p:txBody>
      </p:sp>
      <p:sp>
        <p:nvSpPr>
          <p:cNvPr id="5" name="Shape 1"/>
          <p:cNvSpPr/>
          <p:nvPr/>
        </p:nvSpPr>
        <p:spPr>
          <a:xfrm>
            <a:off x="0" y="1152525"/>
            <a:ext cx="18288000" cy="19050"/>
          </a:xfrm>
          <a:prstGeom prst="rect">
            <a:avLst/>
          </a:prstGeom>
          <a:solidFill>
            <a:srgbClr val="A6A6A6"/>
          </a:solidFill>
          <a:ln/>
        </p:spPr>
        <p:txBody>
          <a:bodyPr/>
          <a:lstStyle/>
          <a:p>
            <a:endParaRPr lang="en-US"/>
          </a:p>
        </p:txBody>
      </p:sp>
      <p:sp>
        <p:nvSpPr>
          <p:cNvPr id="6" name="Text 2"/>
          <p:cNvSpPr/>
          <p:nvPr/>
        </p:nvSpPr>
        <p:spPr>
          <a:xfrm>
            <a:off x="647700" y="1428750"/>
            <a:ext cx="10151388"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2F5597"/>
                </a:solidFill>
                <a:latin typeface="Calibri" pitchFamily="34" charset="0"/>
                <a:ea typeface="Calibri" pitchFamily="34" charset="-122"/>
                <a:cs typeface="Calibri" pitchFamily="34" charset="-120"/>
              </a:rPr>
              <a:t>Overdue rate by CSE — M2 → M7 (sorted by M7 ticket volume)</a:t>
            </a:r>
            <a:endParaRPr lang="en-US" sz="1875" dirty="0"/>
          </a:p>
        </p:txBody>
      </p:sp>
      <p:sp>
        <p:nvSpPr>
          <p:cNvPr id="8" name="Text 4"/>
          <p:cNvSpPr/>
          <p:nvPr/>
        </p:nvSpPr>
        <p:spPr>
          <a:xfrm>
            <a:off x="2571750" y="2216150"/>
            <a:ext cx="928489" cy="266700"/>
          </a:xfrm>
          <a:prstGeom prst="rect">
            <a:avLst/>
          </a:prstGeom>
          <a:noFill/>
          <a:ln/>
        </p:spPr>
        <p:txBody>
          <a:bodyPr wrap="square" lIns="25400" tIns="25400" rIns="25400" bIns="25400" rtlCol="0" anchor="t">
            <a:normAutofit lnSpcReduction="10000"/>
          </a:bodyPr>
          <a:lstStyle/>
          <a:p>
            <a:pPr marL="0" indent="0" algn="ctr">
              <a:buNone/>
            </a:pPr>
            <a:r>
              <a:rPr lang="en-US" sz="1500" dirty="0">
                <a:solidFill>
                  <a:srgbClr val="595959"/>
                </a:solidFill>
                <a:latin typeface="Calibri" pitchFamily="34" charset="0"/>
                <a:ea typeface="Calibri" pitchFamily="34" charset="-122"/>
                <a:cs typeface="Calibri" pitchFamily="34" charset="-120"/>
              </a:rPr>
              <a:t>M2</a:t>
            </a:r>
            <a:endParaRPr lang="en-US" sz="1500" dirty="0"/>
          </a:p>
        </p:txBody>
      </p:sp>
      <p:sp>
        <p:nvSpPr>
          <p:cNvPr id="9" name="Text 5"/>
          <p:cNvSpPr/>
          <p:nvPr/>
        </p:nvSpPr>
        <p:spPr>
          <a:xfrm>
            <a:off x="3481189" y="2216150"/>
            <a:ext cx="928489" cy="266700"/>
          </a:xfrm>
          <a:prstGeom prst="rect">
            <a:avLst/>
          </a:prstGeom>
          <a:noFill/>
          <a:ln/>
        </p:spPr>
        <p:txBody>
          <a:bodyPr wrap="square" lIns="25400" tIns="25400" rIns="25400" bIns="25400" rtlCol="0" anchor="t">
            <a:normAutofit lnSpcReduction="10000"/>
          </a:bodyPr>
          <a:lstStyle/>
          <a:p>
            <a:pPr marL="0" indent="0" algn="ctr">
              <a:buNone/>
            </a:pPr>
            <a:r>
              <a:rPr lang="en-US" sz="1500" dirty="0">
                <a:solidFill>
                  <a:srgbClr val="595959"/>
                </a:solidFill>
                <a:latin typeface="Calibri" pitchFamily="34" charset="0"/>
                <a:ea typeface="Calibri" pitchFamily="34" charset="-122"/>
                <a:cs typeface="Calibri" pitchFamily="34" charset="-120"/>
              </a:rPr>
              <a:t>M3</a:t>
            </a:r>
            <a:endParaRPr lang="en-US" sz="1500" dirty="0"/>
          </a:p>
        </p:txBody>
      </p:sp>
      <p:sp>
        <p:nvSpPr>
          <p:cNvPr id="10" name="Text 6"/>
          <p:cNvSpPr/>
          <p:nvPr/>
        </p:nvSpPr>
        <p:spPr>
          <a:xfrm>
            <a:off x="4390628" y="2216150"/>
            <a:ext cx="928489" cy="266700"/>
          </a:xfrm>
          <a:prstGeom prst="rect">
            <a:avLst/>
          </a:prstGeom>
          <a:noFill/>
          <a:ln/>
        </p:spPr>
        <p:txBody>
          <a:bodyPr wrap="square" lIns="25400" tIns="25400" rIns="25400" bIns="25400" rtlCol="0" anchor="t">
            <a:normAutofit lnSpcReduction="10000"/>
          </a:bodyPr>
          <a:lstStyle/>
          <a:p>
            <a:pPr marL="0" indent="0" algn="ctr">
              <a:buNone/>
            </a:pPr>
            <a:r>
              <a:rPr lang="en-US" sz="1500" dirty="0">
                <a:solidFill>
                  <a:srgbClr val="595959"/>
                </a:solidFill>
                <a:latin typeface="Calibri" pitchFamily="34" charset="0"/>
                <a:ea typeface="Calibri" pitchFamily="34" charset="-122"/>
                <a:cs typeface="Calibri" pitchFamily="34" charset="-120"/>
              </a:rPr>
              <a:t>M4</a:t>
            </a:r>
            <a:endParaRPr lang="en-US" sz="1500" dirty="0"/>
          </a:p>
        </p:txBody>
      </p:sp>
      <p:sp>
        <p:nvSpPr>
          <p:cNvPr id="11" name="Text 7"/>
          <p:cNvSpPr/>
          <p:nvPr/>
        </p:nvSpPr>
        <p:spPr>
          <a:xfrm>
            <a:off x="5300067" y="2216150"/>
            <a:ext cx="928489" cy="266700"/>
          </a:xfrm>
          <a:prstGeom prst="rect">
            <a:avLst/>
          </a:prstGeom>
          <a:noFill/>
          <a:ln/>
        </p:spPr>
        <p:txBody>
          <a:bodyPr wrap="square" lIns="25400" tIns="25400" rIns="25400" bIns="25400" rtlCol="0" anchor="t">
            <a:normAutofit lnSpcReduction="10000"/>
          </a:bodyPr>
          <a:lstStyle/>
          <a:p>
            <a:pPr marL="0" indent="0" algn="ctr">
              <a:buNone/>
            </a:pPr>
            <a:r>
              <a:rPr lang="en-US" sz="1500" dirty="0">
                <a:solidFill>
                  <a:srgbClr val="595959"/>
                </a:solidFill>
                <a:latin typeface="Calibri" pitchFamily="34" charset="0"/>
                <a:ea typeface="Calibri" pitchFamily="34" charset="-122"/>
                <a:cs typeface="Calibri" pitchFamily="34" charset="-120"/>
              </a:rPr>
              <a:t>M5</a:t>
            </a:r>
            <a:endParaRPr lang="en-US" sz="1500" dirty="0"/>
          </a:p>
        </p:txBody>
      </p:sp>
      <p:sp>
        <p:nvSpPr>
          <p:cNvPr id="12" name="Text 8"/>
          <p:cNvSpPr/>
          <p:nvPr/>
        </p:nvSpPr>
        <p:spPr>
          <a:xfrm>
            <a:off x="6209506" y="2216150"/>
            <a:ext cx="928489" cy="266700"/>
          </a:xfrm>
          <a:prstGeom prst="rect">
            <a:avLst/>
          </a:prstGeom>
          <a:noFill/>
          <a:ln/>
        </p:spPr>
        <p:txBody>
          <a:bodyPr wrap="square" lIns="25400" tIns="25400" rIns="25400" bIns="25400" rtlCol="0" anchor="t">
            <a:normAutofit lnSpcReduction="10000"/>
          </a:bodyPr>
          <a:lstStyle/>
          <a:p>
            <a:pPr marL="0" indent="0" algn="ctr">
              <a:buNone/>
            </a:pPr>
            <a:r>
              <a:rPr lang="en-US" sz="1500" dirty="0">
                <a:solidFill>
                  <a:srgbClr val="595959"/>
                </a:solidFill>
                <a:latin typeface="Calibri" pitchFamily="34" charset="0"/>
                <a:ea typeface="Calibri" pitchFamily="34" charset="-122"/>
                <a:cs typeface="Calibri" pitchFamily="34" charset="-120"/>
              </a:rPr>
              <a:t>M6</a:t>
            </a:r>
            <a:endParaRPr lang="en-US" sz="1500" dirty="0"/>
          </a:p>
        </p:txBody>
      </p:sp>
      <p:sp>
        <p:nvSpPr>
          <p:cNvPr id="13" name="Text 9"/>
          <p:cNvSpPr/>
          <p:nvPr/>
        </p:nvSpPr>
        <p:spPr>
          <a:xfrm>
            <a:off x="7118946" y="2216150"/>
            <a:ext cx="928489" cy="266700"/>
          </a:xfrm>
          <a:prstGeom prst="rect">
            <a:avLst/>
          </a:prstGeom>
          <a:noFill/>
          <a:ln/>
        </p:spPr>
        <p:txBody>
          <a:bodyPr wrap="square" lIns="25400" tIns="25400" rIns="25400" bIns="25400" rtlCol="0" anchor="t">
            <a:normAutofit lnSpcReduction="10000"/>
          </a:bodyPr>
          <a:lstStyle/>
          <a:p>
            <a:pPr marL="0" indent="0" algn="ctr">
              <a:buNone/>
            </a:pPr>
            <a:r>
              <a:rPr lang="en-US" sz="1500" dirty="0">
                <a:solidFill>
                  <a:srgbClr val="595959"/>
                </a:solidFill>
                <a:latin typeface="Calibri" pitchFamily="34" charset="0"/>
                <a:ea typeface="Calibri" pitchFamily="34" charset="-122"/>
                <a:cs typeface="Calibri" pitchFamily="34" charset="-120"/>
              </a:rPr>
              <a:t>M7</a:t>
            </a:r>
            <a:endParaRPr lang="en-US" sz="1500" dirty="0"/>
          </a:p>
        </p:txBody>
      </p:sp>
      <p:sp>
        <p:nvSpPr>
          <p:cNvPr id="14" name="Text 10"/>
          <p:cNvSpPr/>
          <p:nvPr/>
        </p:nvSpPr>
        <p:spPr>
          <a:xfrm>
            <a:off x="7885509" y="2216150"/>
            <a:ext cx="1990725" cy="266700"/>
          </a:xfrm>
          <a:prstGeom prst="rect">
            <a:avLst/>
          </a:prstGeom>
          <a:noFill/>
          <a:ln/>
        </p:spPr>
        <p:txBody>
          <a:bodyPr wrap="square" lIns="25400" tIns="25400" rIns="25400" bIns="25400" rtlCol="0" anchor="t">
            <a:normAutofit lnSpcReduction="10000"/>
          </a:bodyPr>
          <a:lstStyle/>
          <a:p>
            <a:pPr marL="0" indent="0" algn="r">
              <a:buNone/>
            </a:pPr>
            <a:r>
              <a:rPr lang="en-US" sz="1500" dirty="0">
                <a:solidFill>
                  <a:srgbClr val="595959"/>
                </a:solidFill>
                <a:latin typeface="Calibri" pitchFamily="34" charset="0"/>
                <a:ea typeface="Calibri" pitchFamily="34" charset="-122"/>
                <a:cs typeface="Calibri" pitchFamily="34" charset="-120"/>
              </a:rPr>
              <a:t>M7 total · ovd</a:t>
            </a:r>
            <a:endParaRPr lang="en-US" sz="1500" dirty="0"/>
          </a:p>
        </p:txBody>
      </p:sp>
      <p:sp>
        <p:nvSpPr>
          <p:cNvPr id="15" name="Text 11"/>
          <p:cNvSpPr/>
          <p:nvPr/>
        </p:nvSpPr>
        <p:spPr>
          <a:xfrm>
            <a:off x="647700" y="2571750"/>
            <a:ext cx="20955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thuanlu</a:t>
            </a:r>
            <a:endParaRPr lang="en-US" sz="1725" dirty="0"/>
          </a:p>
        </p:txBody>
      </p:sp>
      <p:sp>
        <p:nvSpPr>
          <p:cNvPr id="16" name="Shape 12"/>
          <p:cNvSpPr/>
          <p:nvPr/>
        </p:nvSpPr>
        <p:spPr>
          <a:xfrm>
            <a:off x="2609850" y="2501900"/>
            <a:ext cx="852289" cy="406400"/>
          </a:xfrm>
          <a:prstGeom prst="rect">
            <a:avLst/>
          </a:prstGeom>
          <a:solidFill>
            <a:srgbClr val="F0F1EE"/>
          </a:solidFill>
          <a:ln/>
        </p:spPr>
        <p:txBody>
          <a:bodyPr/>
          <a:lstStyle/>
          <a:p>
            <a:endParaRPr lang="en-US"/>
          </a:p>
        </p:txBody>
      </p:sp>
      <p:sp>
        <p:nvSpPr>
          <p:cNvPr id="17" name="Text 13"/>
          <p:cNvSpPr/>
          <p:nvPr/>
        </p:nvSpPr>
        <p:spPr>
          <a:xfrm>
            <a:off x="2571750" y="25781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18" name="Shape 14"/>
          <p:cNvSpPr/>
          <p:nvPr/>
        </p:nvSpPr>
        <p:spPr>
          <a:xfrm>
            <a:off x="3519289" y="2501900"/>
            <a:ext cx="852289" cy="406400"/>
          </a:xfrm>
          <a:prstGeom prst="rect">
            <a:avLst/>
          </a:prstGeom>
          <a:solidFill>
            <a:srgbClr val="F0F1EE"/>
          </a:solidFill>
          <a:ln/>
        </p:spPr>
        <p:txBody>
          <a:bodyPr/>
          <a:lstStyle/>
          <a:p>
            <a:endParaRPr lang="en-US"/>
          </a:p>
        </p:txBody>
      </p:sp>
      <p:sp>
        <p:nvSpPr>
          <p:cNvPr id="19" name="Text 15"/>
          <p:cNvSpPr/>
          <p:nvPr/>
        </p:nvSpPr>
        <p:spPr>
          <a:xfrm>
            <a:off x="3481189" y="25781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20" name="Shape 16"/>
          <p:cNvSpPr/>
          <p:nvPr/>
        </p:nvSpPr>
        <p:spPr>
          <a:xfrm>
            <a:off x="4428728" y="2501900"/>
            <a:ext cx="852289" cy="406400"/>
          </a:xfrm>
          <a:prstGeom prst="rect">
            <a:avLst/>
          </a:prstGeom>
          <a:solidFill>
            <a:srgbClr val="F0F1EE"/>
          </a:solidFill>
          <a:ln/>
        </p:spPr>
        <p:txBody>
          <a:bodyPr/>
          <a:lstStyle/>
          <a:p>
            <a:endParaRPr lang="en-US"/>
          </a:p>
        </p:txBody>
      </p:sp>
      <p:sp>
        <p:nvSpPr>
          <p:cNvPr id="21" name="Text 17"/>
          <p:cNvSpPr/>
          <p:nvPr/>
        </p:nvSpPr>
        <p:spPr>
          <a:xfrm>
            <a:off x="4390628" y="25781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22" name="Shape 18"/>
          <p:cNvSpPr/>
          <p:nvPr/>
        </p:nvSpPr>
        <p:spPr>
          <a:xfrm>
            <a:off x="5338167" y="2501900"/>
            <a:ext cx="852289" cy="406400"/>
          </a:xfrm>
          <a:prstGeom prst="rect">
            <a:avLst/>
          </a:prstGeom>
          <a:solidFill>
            <a:srgbClr val="DCEBD0"/>
          </a:solidFill>
          <a:ln/>
        </p:spPr>
        <p:txBody>
          <a:bodyPr/>
          <a:lstStyle/>
          <a:p>
            <a:endParaRPr lang="en-US"/>
          </a:p>
        </p:txBody>
      </p:sp>
      <p:sp>
        <p:nvSpPr>
          <p:cNvPr id="23" name="Text 19"/>
          <p:cNvSpPr/>
          <p:nvPr/>
        </p:nvSpPr>
        <p:spPr>
          <a:xfrm>
            <a:off x="5300067" y="25781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0.7%</a:t>
            </a:r>
            <a:endParaRPr lang="en-US" sz="1650" dirty="0"/>
          </a:p>
        </p:txBody>
      </p:sp>
      <p:sp>
        <p:nvSpPr>
          <p:cNvPr id="24" name="Shape 20"/>
          <p:cNvSpPr/>
          <p:nvPr/>
        </p:nvSpPr>
        <p:spPr>
          <a:xfrm>
            <a:off x="6247606" y="2501900"/>
            <a:ext cx="852289" cy="406400"/>
          </a:xfrm>
          <a:prstGeom prst="rect">
            <a:avLst/>
          </a:prstGeom>
          <a:solidFill>
            <a:srgbClr val="DCEBD0"/>
          </a:solidFill>
          <a:ln/>
        </p:spPr>
        <p:txBody>
          <a:bodyPr/>
          <a:lstStyle/>
          <a:p>
            <a:endParaRPr lang="en-US"/>
          </a:p>
        </p:txBody>
      </p:sp>
      <p:sp>
        <p:nvSpPr>
          <p:cNvPr id="25" name="Text 21"/>
          <p:cNvSpPr/>
          <p:nvPr/>
        </p:nvSpPr>
        <p:spPr>
          <a:xfrm>
            <a:off x="6209506" y="25781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2F5F1F"/>
                </a:solidFill>
                <a:latin typeface="Calibri" pitchFamily="34" charset="0"/>
                <a:ea typeface="Calibri" pitchFamily="34" charset="-122"/>
                <a:cs typeface="Calibri" pitchFamily="34" charset="-120"/>
              </a:rPr>
              <a:t>2.8%</a:t>
            </a:r>
            <a:endParaRPr lang="en-US" sz="1650" dirty="0"/>
          </a:p>
        </p:txBody>
      </p:sp>
      <p:sp>
        <p:nvSpPr>
          <p:cNvPr id="26" name="Shape 22"/>
          <p:cNvSpPr/>
          <p:nvPr/>
        </p:nvSpPr>
        <p:spPr>
          <a:xfrm>
            <a:off x="7157046" y="2501900"/>
            <a:ext cx="852289" cy="406400"/>
          </a:xfrm>
          <a:prstGeom prst="rect">
            <a:avLst/>
          </a:prstGeom>
          <a:solidFill>
            <a:srgbClr val="FAE2C2"/>
          </a:solidFill>
          <a:ln/>
        </p:spPr>
        <p:txBody>
          <a:bodyPr/>
          <a:lstStyle/>
          <a:p>
            <a:endParaRPr lang="en-US"/>
          </a:p>
        </p:txBody>
      </p:sp>
      <p:sp>
        <p:nvSpPr>
          <p:cNvPr id="27" name="Text 23"/>
          <p:cNvSpPr/>
          <p:nvPr/>
        </p:nvSpPr>
        <p:spPr>
          <a:xfrm>
            <a:off x="7118946" y="25781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14.6%</a:t>
            </a:r>
            <a:endParaRPr lang="en-US" sz="1650" dirty="0"/>
          </a:p>
        </p:txBody>
      </p:sp>
      <p:sp>
        <p:nvSpPr>
          <p:cNvPr id="28" name="Text 24"/>
          <p:cNvSpPr/>
          <p:nvPr/>
        </p:nvSpPr>
        <p:spPr>
          <a:xfrm>
            <a:off x="7885509" y="2584450"/>
            <a:ext cx="199072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1A1A1A"/>
                </a:solidFill>
                <a:latin typeface="Calibri" pitchFamily="34" charset="0"/>
                <a:ea typeface="Calibri" pitchFamily="34" charset="-122"/>
                <a:cs typeface="Calibri" pitchFamily="34" charset="-120"/>
              </a:rPr>
              <a:t>3,028 · </a:t>
            </a:r>
            <a:r>
              <a:rPr lang="en-US" sz="1575" b="1" dirty="0">
                <a:solidFill>
                  <a:srgbClr val="1A1A1A"/>
                </a:solidFill>
                <a:latin typeface="Calibri" pitchFamily="34" charset="0"/>
                <a:ea typeface="Calibri" pitchFamily="34" charset="-122"/>
                <a:cs typeface="Calibri" pitchFamily="34" charset="-120"/>
              </a:rPr>
              <a:t>443</a:t>
            </a:r>
            <a:endParaRPr lang="en-US" sz="1575" dirty="0"/>
          </a:p>
        </p:txBody>
      </p:sp>
      <p:sp>
        <p:nvSpPr>
          <p:cNvPr id="29" name="Text 25"/>
          <p:cNvSpPr/>
          <p:nvPr/>
        </p:nvSpPr>
        <p:spPr>
          <a:xfrm>
            <a:off x="647700" y="3035300"/>
            <a:ext cx="20955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chuongpham</a:t>
            </a:r>
            <a:endParaRPr lang="en-US" sz="1725" dirty="0"/>
          </a:p>
        </p:txBody>
      </p:sp>
      <p:sp>
        <p:nvSpPr>
          <p:cNvPr id="30" name="Shape 26"/>
          <p:cNvSpPr/>
          <p:nvPr/>
        </p:nvSpPr>
        <p:spPr>
          <a:xfrm>
            <a:off x="2609850" y="2965450"/>
            <a:ext cx="852289" cy="406400"/>
          </a:xfrm>
          <a:prstGeom prst="rect">
            <a:avLst/>
          </a:prstGeom>
          <a:solidFill>
            <a:srgbClr val="F0F1EE"/>
          </a:solidFill>
          <a:ln/>
        </p:spPr>
        <p:txBody>
          <a:bodyPr/>
          <a:lstStyle/>
          <a:p>
            <a:endParaRPr lang="en-US"/>
          </a:p>
        </p:txBody>
      </p:sp>
      <p:sp>
        <p:nvSpPr>
          <p:cNvPr id="31" name="Text 27"/>
          <p:cNvSpPr/>
          <p:nvPr/>
        </p:nvSpPr>
        <p:spPr>
          <a:xfrm>
            <a:off x="2571750" y="30416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32" name="Shape 28"/>
          <p:cNvSpPr/>
          <p:nvPr/>
        </p:nvSpPr>
        <p:spPr>
          <a:xfrm>
            <a:off x="3519289" y="2965450"/>
            <a:ext cx="852289" cy="406400"/>
          </a:xfrm>
          <a:prstGeom prst="rect">
            <a:avLst/>
          </a:prstGeom>
          <a:solidFill>
            <a:srgbClr val="F0F1EE"/>
          </a:solidFill>
          <a:ln/>
        </p:spPr>
        <p:txBody>
          <a:bodyPr/>
          <a:lstStyle/>
          <a:p>
            <a:endParaRPr lang="en-US"/>
          </a:p>
        </p:txBody>
      </p:sp>
      <p:sp>
        <p:nvSpPr>
          <p:cNvPr id="33" name="Text 29"/>
          <p:cNvSpPr/>
          <p:nvPr/>
        </p:nvSpPr>
        <p:spPr>
          <a:xfrm>
            <a:off x="3481189" y="30416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34" name="Shape 30"/>
          <p:cNvSpPr/>
          <p:nvPr/>
        </p:nvSpPr>
        <p:spPr>
          <a:xfrm>
            <a:off x="4428728" y="2965450"/>
            <a:ext cx="852289" cy="406400"/>
          </a:xfrm>
          <a:prstGeom prst="rect">
            <a:avLst/>
          </a:prstGeom>
          <a:solidFill>
            <a:srgbClr val="F0F1EE"/>
          </a:solidFill>
          <a:ln/>
        </p:spPr>
        <p:txBody>
          <a:bodyPr/>
          <a:lstStyle/>
          <a:p>
            <a:endParaRPr lang="en-US"/>
          </a:p>
        </p:txBody>
      </p:sp>
      <p:sp>
        <p:nvSpPr>
          <p:cNvPr id="35" name="Text 31"/>
          <p:cNvSpPr/>
          <p:nvPr/>
        </p:nvSpPr>
        <p:spPr>
          <a:xfrm>
            <a:off x="4390628" y="30416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36" name="Shape 32"/>
          <p:cNvSpPr/>
          <p:nvPr/>
        </p:nvSpPr>
        <p:spPr>
          <a:xfrm>
            <a:off x="5338167" y="2965450"/>
            <a:ext cx="852289" cy="406400"/>
          </a:xfrm>
          <a:prstGeom prst="rect">
            <a:avLst/>
          </a:prstGeom>
          <a:solidFill>
            <a:srgbClr val="DE9285"/>
          </a:solidFill>
          <a:ln/>
        </p:spPr>
        <p:txBody>
          <a:bodyPr/>
          <a:lstStyle/>
          <a:p>
            <a:endParaRPr lang="en-US"/>
          </a:p>
        </p:txBody>
      </p:sp>
      <p:sp>
        <p:nvSpPr>
          <p:cNvPr id="37" name="Text 33"/>
          <p:cNvSpPr/>
          <p:nvPr/>
        </p:nvSpPr>
        <p:spPr>
          <a:xfrm>
            <a:off x="5300067" y="30416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5A1A12"/>
                </a:solidFill>
                <a:latin typeface="Calibri" pitchFamily="34" charset="0"/>
                <a:ea typeface="Calibri" pitchFamily="34" charset="-122"/>
                <a:cs typeface="Calibri" pitchFamily="34" charset="-120"/>
              </a:rPr>
              <a:t>53.1%</a:t>
            </a:r>
            <a:endParaRPr lang="en-US" sz="1650" dirty="0"/>
          </a:p>
        </p:txBody>
      </p:sp>
      <p:sp>
        <p:nvSpPr>
          <p:cNvPr id="38" name="Shape 34"/>
          <p:cNvSpPr/>
          <p:nvPr/>
        </p:nvSpPr>
        <p:spPr>
          <a:xfrm>
            <a:off x="6247606" y="2965450"/>
            <a:ext cx="852289" cy="406400"/>
          </a:xfrm>
          <a:prstGeom prst="rect">
            <a:avLst/>
          </a:prstGeom>
          <a:solidFill>
            <a:srgbClr val="F3C7BB"/>
          </a:solidFill>
          <a:ln/>
        </p:spPr>
        <p:txBody>
          <a:bodyPr/>
          <a:lstStyle/>
          <a:p>
            <a:endParaRPr lang="en-US"/>
          </a:p>
        </p:txBody>
      </p:sp>
      <p:sp>
        <p:nvSpPr>
          <p:cNvPr id="39" name="Text 35"/>
          <p:cNvSpPr/>
          <p:nvPr/>
        </p:nvSpPr>
        <p:spPr>
          <a:xfrm>
            <a:off x="6209506" y="30416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21.4%</a:t>
            </a:r>
            <a:endParaRPr lang="en-US" sz="1650" dirty="0"/>
          </a:p>
        </p:txBody>
      </p:sp>
      <p:sp>
        <p:nvSpPr>
          <p:cNvPr id="40" name="Shape 36"/>
          <p:cNvSpPr/>
          <p:nvPr/>
        </p:nvSpPr>
        <p:spPr>
          <a:xfrm>
            <a:off x="7157046" y="2965450"/>
            <a:ext cx="852289" cy="406400"/>
          </a:xfrm>
          <a:prstGeom prst="rect">
            <a:avLst/>
          </a:prstGeom>
          <a:solidFill>
            <a:srgbClr val="F3C7BB"/>
          </a:solidFill>
          <a:ln/>
        </p:spPr>
        <p:txBody>
          <a:bodyPr/>
          <a:lstStyle/>
          <a:p>
            <a:endParaRPr lang="en-US"/>
          </a:p>
        </p:txBody>
      </p:sp>
      <p:sp>
        <p:nvSpPr>
          <p:cNvPr id="41" name="Text 37"/>
          <p:cNvSpPr/>
          <p:nvPr/>
        </p:nvSpPr>
        <p:spPr>
          <a:xfrm>
            <a:off x="7118946" y="30416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29.4%</a:t>
            </a:r>
            <a:endParaRPr lang="en-US" sz="1650" dirty="0"/>
          </a:p>
        </p:txBody>
      </p:sp>
      <p:sp>
        <p:nvSpPr>
          <p:cNvPr id="42" name="Text 38"/>
          <p:cNvSpPr/>
          <p:nvPr/>
        </p:nvSpPr>
        <p:spPr>
          <a:xfrm>
            <a:off x="7885509" y="3048000"/>
            <a:ext cx="199072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1A1A1A"/>
                </a:solidFill>
                <a:latin typeface="Calibri" pitchFamily="34" charset="0"/>
                <a:ea typeface="Calibri" pitchFamily="34" charset="-122"/>
                <a:cs typeface="Calibri" pitchFamily="34" charset="-120"/>
              </a:rPr>
              <a:t>2,018 · </a:t>
            </a:r>
            <a:r>
              <a:rPr lang="en-US" sz="1575" b="1" dirty="0">
                <a:solidFill>
                  <a:srgbClr val="1A1A1A"/>
                </a:solidFill>
                <a:latin typeface="Calibri" pitchFamily="34" charset="0"/>
                <a:ea typeface="Calibri" pitchFamily="34" charset="-122"/>
                <a:cs typeface="Calibri" pitchFamily="34" charset="-120"/>
              </a:rPr>
              <a:t>594</a:t>
            </a:r>
            <a:endParaRPr lang="en-US" sz="1575" dirty="0"/>
          </a:p>
        </p:txBody>
      </p:sp>
      <p:sp>
        <p:nvSpPr>
          <p:cNvPr id="43" name="Text 39"/>
          <p:cNvSpPr/>
          <p:nvPr/>
        </p:nvSpPr>
        <p:spPr>
          <a:xfrm>
            <a:off x="647700" y="3498850"/>
            <a:ext cx="20955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hungvu</a:t>
            </a:r>
            <a:endParaRPr lang="en-US" sz="1725" dirty="0"/>
          </a:p>
        </p:txBody>
      </p:sp>
      <p:sp>
        <p:nvSpPr>
          <p:cNvPr id="44" name="Shape 40"/>
          <p:cNvSpPr/>
          <p:nvPr/>
        </p:nvSpPr>
        <p:spPr>
          <a:xfrm>
            <a:off x="2609850" y="3429000"/>
            <a:ext cx="852289" cy="406400"/>
          </a:xfrm>
          <a:prstGeom prst="rect">
            <a:avLst/>
          </a:prstGeom>
          <a:solidFill>
            <a:srgbClr val="F0F1EE"/>
          </a:solidFill>
          <a:ln/>
        </p:spPr>
        <p:txBody>
          <a:bodyPr/>
          <a:lstStyle/>
          <a:p>
            <a:endParaRPr lang="en-US"/>
          </a:p>
        </p:txBody>
      </p:sp>
      <p:sp>
        <p:nvSpPr>
          <p:cNvPr id="45" name="Text 41"/>
          <p:cNvSpPr/>
          <p:nvPr/>
        </p:nvSpPr>
        <p:spPr>
          <a:xfrm>
            <a:off x="2571750" y="35052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46" name="Shape 42"/>
          <p:cNvSpPr/>
          <p:nvPr/>
        </p:nvSpPr>
        <p:spPr>
          <a:xfrm>
            <a:off x="3519289" y="3429000"/>
            <a:ext cx="852289" cy="406400"/>
          </a:xfrm>
          <a:prstGeom prst="rect">
            <a:avLst/>
          </a:prstGeom>
          <a:solidFill>
            <a:srgbClr val="F0F1EE"/>
          </a:solidFill>
          <a:ln/>
        </p:spPr>
        <p:txBody>
          <a:bodyPr/>
          <a:lstStyle/>
          <a:p>
            <a:endParaRPr lang="en-US"/>
          </a:p>
        </p:txBody>
      </p:sp>
      <p:sp>
        <p:nvSpPr>
          <p:cNvPr id="47" name="Text 43"/>
          <p:cNvSpPr/>
          <p:nvPr/>
        </p:nvSpPr>
        <p:spPr>
          <a:xfrm>
            <a:off x="3481189" y="35052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48" name="Shape 44"/>
          <p:cNvSpPr/>
          <p:nvPr/>
        </p:nvSpPr>
        <p:spPr>
          <a:xfrm>
            <a:off x="4428728" y="3429000"/>
            <a:ext cx="852289" cy="406400"/>
          </a:xfrm>
          <a:prstGeom prst="rect">
            <a:avLst/>
          </a:prstGeom>
          <a:solidFill>
            <a:srgbClr val="F0F1EE"/>
          </a:solidFill>
          <a:ln/>
        </p:spPr>
        <p:txBody>
          <a:bodyPr/>
          <a:lstStyle/>
          <a:p>
            <a:endParaRPr lang="en-US"/>
          </a:p>
        </p:txBody>
      </p:sp>
      <p:sp>
        <p:nvSpPr>
          <p:cNvPr id="49" name="Text 45"/>
          <p:cNvSpPr/>
          <p:nvPr/>
        </p:nvSpPr>
        <p:spPr>
          <a:xfrm>
            <a:off x="4390628" y="35052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50" name="Shape 46"/>
          <p:cNvSpPr/>
          <p:nvPr/>
        </p:nvSpPr>
        <p:spPr>
          <a:xfrm>
            <a:off x="5338167" y="3429000"/>
            <a:ext cx="852289" cy="406400"/>
          </a:xfrm>
          <a:prstGeom prst="rect">
            <a:avLst/>
          </a:prstGeom>
          <a:solidFill>
            <a:srgbClr val="FAE2C2"/>
          </a:solidFill>
          <a:ln/>
        </p:spPr>
        <p:txBody>
          <a:bodyPr/>
          <a:lstStyle/>
          <a:p>
            <a:endParaRPr lang="en-US"/>
          </a:p>
        </p:txBody>
      </p:sp>
      <p:sp>
        <p:nvSpPr>
          <p:cNvPr id="51" name="Text 47"/>
          <p:cNvSpPr/>
          <p:nvPr/>
        </p:nvSpPr>
        <p:spPr>
          <a:xfrm>
            <a:off x="5300067" y="35052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15.5%</a:t>
            </a:r>
            <a:endParaRPr lang="en-US" sz="1650" dirty="0"/>
          </a:p>
        </p:txBody>
      </p:sp>
      <p:sp>
        <p:nvSpPr>
          <p:cNvPr id="52" name="Shape 48"/>
          <p:cNvSpPr/>
          <p:nvPr/>
        </p:nvSpPr>
        <p:spPr>
          <a:xfrm>
            <a:off x="6247606" y="3429000"/>
            <a:ext cx="852289" cy="406400"/>
          </a:xfrm>
          <a:prstGeom prst="rect">
            <a:avLst/>
          </a:prstGeom>
          <a:solidFill>
            <a:srgbClr val="FAE2C2"/>
          </a:solidFill>
          <a:ln/>
        </p:spPr>
        <p:txBody>
          <a:bodyPr/>
          <a:lstStyle/>
          <a:p>
            <a:endParaRPr lang="en-US"/>
          </a:p>
        </p:txBody>
      </p:sp>
      <p:sp>
        <p:nvSpPr>
          <p:cNvPr id="53" name="Text 49"/>
          <p:cNvSpPr/>
          <p:nvPr/>
        </p:nvSpPr>
        <p:spPr>
          <a:xfrm>
            <a:off x="6209506" y="35052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17.4%</a:t>
            </a:r>
            <a:endParaRPr lang="en-US" sz="1650" dirty="0"/>
          </a:p>
        </p:txBody>
      </p:sp>
      <p:sp>
        <p:nvSpPr>
          <p:cNvPr id="54" name="Shape 50"/>
          <p:cNvSpPr/>
          <p:nvPr/>
        </p:nvSpPr>
        <p:spPr>
          <a:xfrm>
            <a:off x="7157046" y="3429000"/>
            <a:ext cx="852289" cy="406400"/>
          </a:xfrm>
          <a:prstGeom prst="rect">
            <a:avLst/>
          </a:prstGeom>
          <a:solidFill>
            <a:srgbClr val="FAE2C2"/>
          </a:solidFill>
          <a:ln/>
        </p:spPr>
        <p:txBody>
          <a:bodyPr/>
          <a:lstStyle/>
          <a:p>
            <a:endParaRPr lang="en-US"/>
          </a:p>
        </p:txBody>
      </p:sp>
      <p:sp>
        <p:nvSpPr>
          <p:cNvPr id="55" name="Text 51"/>
          <p:cNvSpPr/>
          <p:nvPr/>
        </p:nvSpPr>
        <p:spPr>
          <a:xfrm>
            <a:off x="7118946" y="35052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12.8%</a:t>
            </a:r>
            <a:endParaRPr lang="en-US" sz="1650" dirty="0"/>
          </a:p>
        </p:txBody>
      </p:sp>
      <p:sp>
        <p:nvSpPr>
          <p:cNvPr id="56" name="Text 52"/>
          <p:cNvSpPr/>
          <p:nvPr/>
        </p:nvSpPr>
        <p:spPr>
          <a:xfrm>
            <a:off x="7885509" y="3511550"/>
            <a:ext cx="199072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1A1A1A"/>
                </a:solidFill>
                <a:latin typeface="Calibri" pitchFamily="34" charset="0"/>
                <a:ea typeface="Calibri" pitchFamily="34" charset="-122"/>
                <a:cs typeface="Calibri" pitchFamily="34" charset="-120"/>
              </a:rPr>
              <a:t>1,833 · </a:t>
            </a:r>
            <a:r>
              <a:rPr lang="en-US" sz="1575" b="1" dirty="0">
                <a:solidFill>
                  <a:srgbClr val="1A1A1A"/>
                </a:solidFill>
                <a:latin typeface="Calibri" pitchFamily="34" charset="0"/>
                <a:ea typeface="Calibri" pitchFamily="34" charset="-122"/>
                <a:cs typeface="Calibri" pitchFamily="34" charset="-120"/>
              </a:rPr>
              <a:t>234</a:t>
            </a:r>
            <a:endParaRPr lang="en-US" sz="1575" dirty="0"/>
          </a:p>
        </p:txBody>
      </p:sp>
      <p:sp>
        <p:nvSpPr>
          <p:cNvPr id="57" name="Text 53"/>
          <p:cNvSpPr/>
          <p:nvPr/>
        </p:nvSpPr>
        <p:spPr>
          <a:xfrm>
            <a:off x="647700" y="3962400"/>
            <a:ext cx="20955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khiemnguyen</a:t>
            </a:r>
            <a:endParaRPr lang="en-US" sz="1725" dirty="0"/>
          </a:p>
        </p:txBody>
      </p:sp>
      <p:sp>
        <p:nvSpPr>
          <p:cNvPr id="58" name="Shape 54"/>
          <p:cNvSpPr/>
          <p:nvPr/>
        </p:nvSpPr>
        <p:spPr>
          <a:xfrm>
            <a:off x="2609850" y="3892550"/>
            <a:ext cx="852289" cy="406400"/>
          </a:xfrm>
          <a:prstGeom prst="rect">
            <a:avLst/>
          </a:prstGeom>
          <a:solidFill>
            <a:srgbClr val="F0F1EE"/>
          </a:solidFill>
          <a:ln/>
        </p:spPr>
        <p:txBody>
          <a:bodyPr/>
          <a:lstStyle/>
          <a:p>
            <a:endParaRPr lang="en-US"/>
          </a:p>
        </p:txBody>
      </p:sp>
      <p:sp>
        <p:nvSpPr>
          <p:cNvPr id="59" name="Text 55"/>
          <p:cNvSpPr/>
          <p:nvPr/>
        </p:nvSpPr>
        <p:spPr>
          <a:xfrm>
            <a:off x="2571750" y="39687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60" name="Shape 56"/>
          <p:cNvSpPr/>
          <p:nvPr/>
        </p:nvSpPr>
        <p:spPr>
          <a:xfrm>
            <a:off x="3519289" y="3892550"/>
            <a:ext cx="852289" cy="406400"/>
          </a:xfrm>
          <a:prstGeom prst="rect">
            <a:avLst/>
          </a:prstGeom>
          <a:solidFill>
            <a:srgbClr val="F0F1EE"/>
          </a:solidFill>
          <a:ln/>
        </p:spPr>
        <p:txBody>
          <a:bodyPr/>
          <a:lstStyle/>
          <a:p>
            <a:endParaRPr lang="en-US"/>
          </a:p>
        </p:txBody>
      </p:sp>
      <p:sp>
        <p:nvSpPr>
          <p:cNvPr id="61" name="Text 57"/>
          <p:cNvSpPr/>
          <p:nvPr/>
        </p:nvSpPr>
        <p:spPr>
          <a:xfrm>
            <a:off x="3481189" y="39687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62" name="Shape 58"/>
          <p:cNvSpPr/>
          <p:nvPr/>
        </p:nvSpPr>
        <p:spPr>
          <a:xfrm>
            <a:off x="4428728" y="3892550"/>
            <a:ext cx="852289" cy="406400"/>
          </a:xfrm>
          <a:prstGeom prst="rect">
            <a:avLst/>
          </a:prstGeom>
          <a:solidFill>
            <a:srgbClr val="F0F1EE"/>
          </a:solidFill>
          <a:ln/>
        </p:spPr>
        <p:txBody>
          <a:bodyPr/>
          <a:lstStyle/>
          <a:p>
            <a:endParaRPr lang="en-US"/>
          </a:p>
        </p:txBody>
      </p:sp>
      <p:sp>
        <p:nvSpPr>
          <p:cNvPr id="63" name="Text 59"/>
          <p:cNvSpPr/>
          <p:nvPr/>
        </p:nvSpPr>
        <p:spPr>
          <a:xfrm>
            <a:off x="4390628" y="39687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64" name="Shape 60"/>
          <p:cNvSpPr/>
          <p:nvPr/>
        </p:nvSpPr>
        <p:spPr>
          <a:xfrm>
            <a:off x="5338167" y="3892550"/>
            <a:ext cx="852289" cy="406400"/>
          </a:xfrm>
          <a:prstGeom prst="rect">
            <a:avLst/>
          </a:prstGeom>
          <a:solidFill>
            <a:srgbClr val="DE9285"/>
          </a:solidFill>
          <a:ln/>
        </p:spPr>
        <p:txBody>
          <a:bodyPr/>
          <a:lstStyle/>
          <a:p>
            <a:endParaRPr lang="en-US"/>
          </a:p>
        </p:txBody>
      </p:sp>
      <p:sp>
        <p:nvSpPr>
          <p:cNvPr id="65" name="Text 61"/>
          <p:cNvSpPr/>
          <p:nvPr/>
        </p:nvSpPr>
        <p:spPr>
          <a:xfrm>
            <a:off x="5300067" y="39687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5A1A12"/>
                </a:solidFill>
                <a:latin typeface="Calibri" pitchFamily="34" charset="0"/>
                <a:ea typeface="Calibri" pitchFamily="34" charset="-122"/>
                <a:cs typeface="Calibri" pitchFamily="34" charset="-120"/>
              </a:rPr>
              <a:t>82.5%</a:t>
            </a:r>
            <a:endParaRPr lang="en-US" sz="1650" dirty="0"/>
          </a:p>
        </p:txBody>
      </p:sp>
      <p:sp>
        <p:nvSpPr>
          <p:cNvPr id="66" name="Shape 62"/>
          <p:cNvSpPr/>
          <p:nvPr/>
        </p:nvSpPr>
        <p:spPr>
          <a:xfrm>
            <a:off x="6247606" y="3892550"/>
            <a:ext cx="852289" cy="406400"/>
          </a:xfrm>
          <a:prstGeom prst="rect">
            <a:avLst/>
          </a:prstGeom>
          <a:solidFill>
            <a:srgbClr val="F3C7BB"/>
          </a:solidFill>
          <a:ln/>
        </p:spPr>
        <p:txBody>
          <a:bodyPr/>
          <a:lstStyle/>
          <a:p>
            <a:endParaRPr lang="en-US"/>
          </a:p>
        </p:txBody>
      </p:sp>
      <p:sp>
        <p:nvSpPr>
          <p:cNvPr id="67" name="Text 63"/>
          <p:cNvSpPr/>
          <p:nvPr/>
        </p:nvSpPr>
        <p:spPr>
          <a:xfrm>
            <a:off x="6209506" y="39687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33.9%</a:t>
            </a:r>
            <a:endParaRPr lang="en-US" sz="1650" dirty="0"/>
          </a:p>
        </p:txBody>
      </p:sp>
      <p:sp>
        <p:nvSpPr>
          <p:cNvPr id="68" name="Shape 64"/>
          <p:cNvSpPr/>
          <p:nvPr/>
        </p:nvSpPr>
        <p:spPr>
          <a:xfrm>
            <a:off x="7157046" y="3892550"/>
            <a:ext cx="852289" cy="406400"/>
          </a:xfrm>
          <a:prstGeom prst="rect">
            <a:avLst/>
          </a:prstGeom>
          <a:solidFill>
            <a:srgbClr val="EDEFD3"/>
          </a:solidFill>
          <a:ln/>
        </p:spPr>
        <p:txBody>
          <a:bodyPr/>
          <a:lstStyle/>
          <a:p>
            <a:endParaRPr lang="en-US"/>
          </a:p>
        </p:txBody>
      </p:sp>
      <p:sp>
        <p:nvSpPr>
          <p:cNvPr id="69" name="Text 65"/>
          <p:cNvSpPr/>
          <p:nvPr/>
        </p:nvSpPr>
        <p:spPr>
          <a:xfrm>
            <a:off x="7118946" y="39687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4A5A1E"/>
                </a:solidFill>
                <a:latin typeface="Calibri" pitchFamily="34" charset="0"/>
                <a:ea typeface="Calibri" pitchFamily="34" charset="-122"/>
                <a:cs typeface="Calibri" pitchFamily="34" charset="-120"/>
              </a:rPr>
              <a:t>9.7%</a:t>
            </a:r>
            <a:endParaRPr lang="en-US" sz="1650" dirty="0"/>
          </a:p>
        </p:txBody>
      </p:sp>
      <p:sp>
        <p:nvSpPr>
          <p:cNvPr id="70" name="Text 66"/>
          <p:cNvSpPr/>
          <p:nvPr/>
        </p:nvSpPr>
        <p:spPr>
          <a:xfrm>
            <a:off x="7885509" y="3975100"/>
            <a:ext cx="199072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1A1A1A"/>
                </a:solidFill>
                <a:latin typeface="Calibri" pitchFamily="34" charset="0"/>
                <a:ea typeface="Calibri" pitchFamily="34" charset="-122"/>
                <a:cs typeface="Calibri" pitchFamily="34" charset="-120"/>
              </a:rPr>
              <a:t>1,689 · </a:t>
            </a:r>
            <a:r>
              <a:rPr lang="en-US" sz="1575" b="1" dirty="0">
                <a:solidFill>
                  <a:srgbClr val="1A1A1A"/>
                </a:solidFill>
                <a:latin typeface="Calibri" pitchFamily="34" charset="0"/>
                <a:ea typeface="Calibri" pitchFamily="34" charset="-122"/>
                <a:cs typeface="Calibri" pitchFamily="34" charset="-120"/>
              </a:rPr>
              <a:t>164</a:t>
            </a:r>
            <a:endParaRPr lang="en-US" sz="1575" dirty="0"/>
          </a:p>
        </p:txBody>
      </p:sp>
      <p:sp>
        <p:nvSpPr>
          <p:cNvPr id="71" name="Text 67"/>
          <p:cNvSpPr/>
          <p:nvPr/>
        </p:nvSpPr>
        <p:spPr>
          <a:xfrm>
            <a:off x="647700" y="4425950"/>
            <a:ext cx="20955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qtuan</a:t>
            </a:r>
            <a:endParaRPr lang="en-US" sz="1725" dirty="0"/>
          </a:p>
        </p:txBody>
      </p:sp>
      <p:sp>
        <p:nvSpPr>
          <p:cNvPr id="72" name="Shape 68"/>
          <p:cNvSpPr/>
          <p:nvPr/>
        </p:nvSpPr>
        <p:spPr>
          <a:xfrm>
            <a:off x="2609850" y="4356100"/>
            <a:ext cx="852289" cy="406400"/>
          </a:xfrm>
          <a:prstGeom prst="rect">
            <a:avLst/>
          </a:prstGeom>
          <a:solidFill>
            <a:srgbClr val="F0F1EE"/>
          </a:solidFill>
          <a:ln/>
        </p:spPr>
        <p:txBody>
          <a:bodyPr/>
          <a:lstStyle/>
          <a:p>
            <a:endParaRPr lang="en-US"/>
          </a:p>
        </p:txBody>
      </p:sp>
      <p:sp>
        <p:nvSpPr>
          <p:cNvPr id="73" name="Text 69"/>
          <p:cNvSpPr/>
          <p:nvPr/>
        </p:nvSpPr>
        <p:spPr>
          <a:xfrm>
            <a:off x="2571750" y="44323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74" name="Shape 70"/>
          <p:cNvSpPr/>
          <p:nvPr/>
        </p:nvSpPr>
        <p:spPr>
          <a:xfrm>
            <a:off x="3519289" y="4356100"/>
            <a:ext cx="852289" cy="406400"/>
          </a:xfrm>
          <a:prstGeom prst="rect">
            <a:avLst/>
          </a:prstGeom>
          <a:solidFill>
            <a:srgbClr val="F0F1EE"/>
          </a:solidFill>
          <a:ln/>
        </p:spPr>
        <p:txBody>
          <a:bodyPr/>
          <a:lstStyle/>
          <a:p>
            <a:endParaRPr lang="en-US"/>
          </a:p>
        </p:txBody>
      </p:sp>
      <p:sp>
        <p:nvSpPr>
          <p:cNvPr id="75" name="Text 71"/>
          <p:cNvSpPr/>
          <p:nvPr/>
        </p:nvSpPr>
        <p:spPr>
          <a:xfrm>
            <a:off x="3481189" y="44323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76" name="Shape 72"/>
          <p:cNvSpPr/>
          <p:nvPr/>
        </p:nvSpPr>
        <p:spPr>
          <a:xfrm>
            <a:off x="4428728" y="4356100"/>
            <a:ext cx="852289" cy="406400"/>
          </a:xfrm>
          <a:prstGeom prst="rect">
            <a:avLst/>
          </a:prstGeom>
          <a:solidFill>
            <a:srgbClr val="F0F1EE"/>
          </a:solidFill>
          <a:ln/>
        </p:spPr>
        <p:txBody>
          <a:bodyPr/>
          <a:lstStyle/>
          <a:p>
            <a:endParaRPr lang="en-US"/>
          </a:p>
        </p:txBody>
      </p:sp>
      <p:sp>
        <p:nvSpPr>
          <p:cNvPr id="77" name="Text 73"/>
          <p:cNvSpPr/>
          <p:nvPr/>
        </p:nvSpPr>
        <p:spPr>
          <a:xfrm>
            <a:off x="4390628" y="44323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78" name="Shape 74"/>
          <p:cNvSpPr/>
          <p:nvPr/>
        </p:nvSpPr>
        <p:spPr>
          <a:xfrm>
            <a:off x="5338167" y="4356100"/>
            <a:ext cx="852289" cy="406400"/>
          </a:xfrm>
          <a:prstGeom prst="rect">
            <a:avLst/>
          </a:prstGeom>
          <a:solidFill>
            <a:srgbClr val="F3C7BB"/>
          </a:solidFill>
          <a:ln/>
        </p:spPr>
        <p:txBody>
          <a:bodyPr/>
          <a:lstStyle/>
          <a:p>
            <a:endParaRPr lang="en-US"/>
          </a:p>
        </p:txBody>
      </p:sp>
      <p:sp>
        <p:nvSpPr>
          <p:cNvPr id="79" name="Text 75"/>
          <p:cNvSpPr/>
          <p:nvPr/>
        </p:nvSpPr>
        <p:spPr>
          <a:xfrm>
            <a:off x="5300067" y="44323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28.8%</a:t>
            </a:r>
            <a:endParaRPr lang="en-US" sz="1650" dirty="0"/>
          </a:p>
        </p:txBody>
      </p:sp>
      <p:sp>
        <p:nvSpPr>
          <p:cNvPr id="80" name="Shape 76"/>
          <p:cNvSpPr/>
          <p:nvPr/>
        </p:nvSpPr>
        <p:spPr>
          <a:xfrm>
            <a:off x="6247606" y="4356100"/>
            <a:ext cx="852289" cy="406400"/>
          </a:xfrm>
          <a:prstGeom prst="rect">
            <a:avLst/>
          </a:prstGeom>
          <a:solidFill>
            <a:srgbClr val="F3C7BB"/>
          </a:solidFill>
          <a:ln/>
        </p:spPr>
        <p:txBody>
          <a:bodyPr/>
          <a:lstStyle/>
          <a:p>
            <a:endParaRPr lang="en-US"/>
          </a:p>
        </p:txBody>
      </p:sp>
      <p:sp>
        <p:nvSpPr>
          <p:cNvPr id="81" name="Text 77"/>
          <p:cNvSpPr/>
          <p:nvPr/>
        </p:nvSpPr>
        <p:spPr>
          <a:xfrm>
            <a:off x="6209506" y="44323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26.0%</a:t>
            </a:r>
            <a:endParaRPr lang="en-US" sz="1650" dirty="0"/>
          </a:p>
        </p:txBody>
      </p:sp>
      <p:sp>
        <p:nvSpPr>
          <p:cNvPr id="82" name="Shape 78"/>
          <p:cNvSpPr/>
          <p:nvPr/>
        </p:nvSpPr>
        <p:spPr>
          <a:xfrm>
            <a:off x="7157046" y="4356100"/>
            <a:ext cx="852289" cy="406400"/>
          </a:xfrm>
          <a:prstGeom prst="rect">
            <a:avLst/>
          </a:prstGeom>
          <a:solidFill>
            <a:srgbClr val="FAE2C2"/>
          </a:solidFill>
          <a:ln/>
        </p:spPr>
        <p:txBody>
          <a:bodyPr/>
          <a:lstStyle/>
          <a:p>
            <a:endParaRPr lang="en-US"/>
          </a:p>
        </p:txBody>
      </p:sp>
      <p:sp>
        <p:nvSpPr>
          <p:cNvPr id="83" name="Text 79"/>
          <p:cNvSpPr/>
          <p:nvPr/>
        </p:nvSpPr>
        <p:spPr>
          <a:xfrm>
            <a:off x="7118946" y="44323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8A5A12"/>
                </a:solidFill>
                <a:latin typeface="Calibri" pitchFamily="34" charset="0"/>
                <a:ea typeface="Calibri" pitchFamily="34" charset="-122"/>
                <a:cs typeface="Calibri" pitchFamily="34" charset="-120"/>
              </a:rPr>
              <a:t>18.5%</a:t>
            </a:r>
            <a:endParaRPr lang="en-US" sz="1650" dirty="0"/>
          </a:p>
        </p:txBody>
      </p:sp>
      <p:sp>
        <p:nvSpPr>
          <p:cNvPr id="84" name="Text 80"/>
          <p:cNvSpPr/>
          <p:nvPr/>
        </p:nvSpPr>
        <p:spPr>
          <a:xfrm>
            <a:off x="7885509" y="4438650"/>
            <a:ext cx="199072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1A1A1A"/>
                </a:solidFill>
                <a:latin typeface="Calibri" pitchFamily="34" charset="0"/>
                <a:ea typeface="Calibri" pitchFamily="34" charset="-122"/>
                <a:cs typeface="Calibri" pitchFamily="34" charset="-120"/>
              </a:rPr>
              <a:t>1,582 · </a:t>
            </a:r>
            <a:r>
              <a:rPr lang="en-US" sz="1575" b="1" dirty="0">
                <a:solidFill>
                  <a:srgbClr val="1A1A1A"/>
                </a:solidFill>
                <a:latin typeface="Calibri" pitchFamily="34" charset="0"/>
                <a:ea typeface="Calibri" pitchFamily="34" charset="-122"/>
                <a:cs typeface="Calibri" pitchFamily="34" charset="-120"/>
              </a:rPr>
              <a:t>292</a:t>
            </a:r>
            <a:endParaRPr lang="en-US" sz="1575" dirty="0"/>
          </a:p>
        </p:txBody>
      </p:sp>
      <p:sp>
        <p:nvSpPr>
          <p:cNvPr id="85" name="Text 81"/>
          <p:cNvSpPr/>
          <p:nvPr/>
        </p:nvSpPr>
        <p:spPr>
          <a:xfrm>
            <a:off x="647700" y="4889500"/>
            <a:ext cx="20955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dinhnguyen</a:t>
            </a:r>
            <a:endParaRPr lang="en-US" sz="1725" dirty="0"/>
          </a:p>
        </p:txBody>
      </p:sp>
      <p:sp>
        <p:nvSpPr>
          <p:cNvPr id="86" name="Shape 82"/>
          <p:cNvSpPr/>
          <p:nvPr/>
        </p:nvSpPr>
        <p:spPr>
          <a:xfrm>
            <a:off x="2609850" y="4819650"/>
            <a:ext cx="852289" cy="406400"/>
          </a:xfrm>
          <a:prstGeom prst="rect">
            <a:avLst/>
          </a:prstGeom>
          <a:solidFill>
            <a:srgbClr val="F0F1EE"/>
          </a:solidFill>
          <a:ln/>
        </p:spPr>
        <p:txBody>
          <a:bodyPr/>
          <a:lstStyle/>
          <a:p>
            <a:endParaRPr lang="en-US"/>
          </a:p>
        </p:txBody>
      </p:sp>
      <p:sp>
        <p:nvSpPr>
          <p:cNvPr id="87" name="Text 83"/>
          <p:cNvSpPr/>
          <p:nvPr/>
        </p:nvSpPr>
        <p:spPr>
          <a:xfrm>
            <a:off x="2571750" y="48958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88" name="Shape 84"/>
          <p:cNvSpPr/>
          <p:nvPr/>
        </p:nvSpPr>
        <p:spPr>
          <a:xfrm>
            <a:off x="3519289" y="4819650"/>
            <a:ext cx="852289" cy="406400"/>
          </a:xfrm>
          <a:prstGeom prst="rect">
            <a:avLst/>
          </a:prstGeom>
          <a:solidFill>
            <a:srgbClr val="F0F1EE"/>
          </a:solidFill>
          <a:ln/>
        </p:spPr>
        <p:txBody>
          <a:bodyPr/>
          <a:lstStyle/>
          <a:p>
            <a:endParaRPr lang="en-US"/>
          </a:p>
        </p:txBody>
      </p:sp>
      <p:sp>
        <p:nvSpPr>
          <p:cNvPr id="89" name="Text 85"/>
          <p:cNvSpPr/>
          <p:nvPr/>
        </p:nvSpPr>
        <p:spPr>
          <a:xfrm>
            <a:off x="3481189" y="48958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90" name="Shape 86"/>
          <p:cNvSpPr/>
          <p:nvPr/>
        </p:nvSpPr>
        <p:spPr>
          <a:xfrm>
            <a:off x="4428728" y="4819650"/>
            <a:ext cx="852289" cy="406400"/>
          </a:xfrm>
          <a:prstGeom prst="rect">
            <a:avLst/>
          </a:prstGeom>
          <a:solidFill>
            <a:srgbClr val="F0F1EE"/>
          </a:solidFill>
          <a:ln/>
        </p:spPr>
        <p:txBody>
          <a:bodyPr/>
          <a:lstStyle/>
          <a:p>
            <a:endParaRPr lang="en-US"/>
          </a:p>
        </p:txBody>
      </p:sp>
      <p:sp>
        <p:nvSpPr>
          <p:cNvPr id="91" name="Text 87"/>
          <p:cNvSpPr/>
          <p:nvPr/>
        </p:nvSpPr>
        <p:spPr>
          <a:xfrm>
            <a:off x="4390628" y="48958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92" name="Shape 88"/>
          <p:cNvSpPr/>
          <p:nvPr/>
        </p:nvSpPr>
        <p:spPr>
          <a:xfrm>
            <a:off x="5338167" y="4819650"/>
            <a:ext cx="852289" cy="406400"/>
          </a:xfrm>
          <a:prstGeom prst="rect">
            <a:avLst/>
          </a:prstGeom>
          <a:solidFill>
            <a:srgbClr val="DE9285"/>
          </a:solidFill>
          <a:ln/>
        </p:spPr>
        <p:txBody>
          <a:bodyPr/>
          <a:lstStyle/>
          <a:p>
            <a:endParaRPr lang="en-US"/>
          </a:p>
        </p:txBody>
      </p:sp>
      <p:sp>
        <p:nvSpPr>
          <p:cNvPr id="93" name="Text 89"/>
          <p:cNvSpPr/>
          <p:nvPr/>
        </p:nvSpPr>
        <p:spPr>
          <a:xfrm>
            <a:off x="5300067" y="48958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5A1A12"/>
                </a:solidFill>
                <a:latin typeface="Calibri" pitchFamily="34" charset="0"/>
                <a:ea typeface="Calibri" pitchFamily="34" charset="-122"/>
                <a:cs typeface="Calibri" pitchFamily="34" charset="-120"/>
              </a:rPr>
              <a:t>72.0%</a:t>
            </a:r>
            <a:endParaRPr lang="en-US" sz="1650" dirty="0"/>
          </a:p>
        </p:txBody>
      </p:sp>
      <p:sp>
        <p:nvSpPr>
          <p:cNvPr id="94" name="Shape 90"/>
          <p:cNvSpPr/>
          <p:nvPr/>
        </p:nvSpPr>
        <p:spPr>
          <a:xfrm>
            <a:off x="6247606" y="4819650"/>
            <a:ext cx="852289" cy="406400"/>
          </a:xfrm>
          <a:prstGeom prst="rect">
            <a:avLst/>
          </a:prstGeom>
          <a:solidFill>
            <a:srgbClr val="DE9285"/>
          </a:solidFill>
          <a:ln/>
        </p:spPr>
        <p:txBody>
          <a:bodyPr/>
          <a:lstStyle/>
          <a:p>
            <a:endParaRPr lang="en-US"/>
          </a:p>
        </p:txBody>
      </p:sp>
      <p:sp>
        <p:nvSpPr>
          <p:cNvPr id="95" name="Text 91"/>
          <p:cNvSpPr/>
          <p:nvPr/>
        </p:nvSpPr>
        <p:spPr>
          <a:xfrm>
            <a:off x="6209506" y="48958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5A1A12"/>
                </a:solidFill>
                <a:latin typeface="Calibri" pitchFamily="34" charset="0"/>
                <a:ea typeface="Calibri" pitchFamily="34" charset="-122"/>
                <a:cs typeface="Calibri" pitchFamily="34" charset="-120"/>
              </a:rPr>
              <a:t>41.2%</a:t>
            </a:r>
            <a:endParaRPr lang="en-US" sz="1650" dirty="0"/>
          </a:p>
        </p:txBody>
      </p:sp>
      <p:sp>
        <p:nvSpPr>
          <p:cNvPr id="96" name="Shape 92"/>
          <p:cNvSpPr/>
          <p:nvPr/>
        </p:nvSpPr>
        <p:spPr>
          <a:xfrm>
            <a:off x="7157046" y="4819650"/>
            <a:ext cx="852289" cy="406400"/>
          </a:xfrm>
          <a:prstGeom prst="rect">
            <a:avLst/>
          </a:prstGeom>
          <a:solidFill>
            <a:srgbClr val="F3C7BB"/>
          </a:solidFill>
          <a:ln/>
        </p:spPr>
        <p:txBody>
          <a:bodyPr/>
          <a:lstStyle/>
          <a:p>
            <a:endParaRPr lang="en-US"/>
          </a:p>
        </p:txBody>
      </p:sp>
      <p:sp>
        <p:nvSpPr>
          <p:cNvPr id="97" name="Text 93"/>
          <p:cNvSpPr/>
          <p:nvPr/>
        </p:nvSpPr>
        <p:spPr>
          <a:xfrm>
            <a:off x="7118946" y="48958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33.4%</a:t>
            </a:r>
            <a:endParaRPr lang="en-US" sz="1650" dirty="0"/>
          </a:p>
        </p:txBody>
      </p:sp>
      <p:sp>
        <p:nvSpPr>
          <p:cNvPr id="98" name="Text 94"/>
          <p:cNvSpPr/>
          <p:nvPr/>
        </p:nvSpPr>
        <p:spPr>
          <a:xfrm>
            <a:off x="7885509" y="4902200"/>
            <a:ext cx="199072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1A1A1A"/>
                </a:solidFill>
                <a:latin typeface="Calibri" pitchFamily="34" charset="0"/>
                <a:ea typeface="Calibri" pitchFamily="34" charset="-122"/>
                <a:cs typeface="Calibri" pitchFamily="34" charset="-120"/>
              </a:rPr>
              <a:t>1,446 · </a:t>
            </a:r>
            <a:r>
              <a:rPr lang="en-US" sz="1575" b="1" dirty="0">
                <a:solidFill>
                  <a:srgbClr val="1A1A1A"/>
                </a:solidFill>
                <a:latin typeface="Calibri" pitchFamily="34" charset="0"/>
                <a:ea typeface="Calibri" pitchFamily="34" charset="-122"/>
                <a:cs typeface="Calibri" pitchFamily="34" charset="-120"/>
              </a:rPr>
              <a:t>483</a:t>
            </a:r>
            <a:endParaRPr lang="en-US" sz="1575" dirty="0"/>
          </a:p>
        </p:txBody>
      </p:sp>
      <p:sp>
        <p:nvSpPr>
          <p:cNvPr id="99" name="Text 95"/>
          <p:cNvSpPr/>
          <p:nvPr/>
        </p:nvSpPr>
        <p:spPr>
          <a:xfrm>
            <a:off x="647700" y="5353050"/>
            <a:ext cx="20955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tienkieu</a:t>
            </a:r>
            <a:endParaRPr lang="en-US" sz="1725" dirty="0"/>
          </a:p>
        </p:txBody>
      </p:sp>
      <p:sp>
        <p:nvSpPr>
          <p:cNvPr id="100" name="Shape 96"/>
          <p:cNvSpPr/>
          <p:nvPr/>
        </p:nvSpPr>
        <p:spPr>
          <a:xfrm>
            <a:off x="2609850" y="5283200"/>
            <a:ext cx="852289" cy="406400"/>
          </a:xfrm>
          <a:prstGeom prst="rect">
            <a:avLst/>
          </a:prstGeom>
          <a:solidFill>
            <a:srgbClr val="F0F1EE"/>
          </a:solidFill>
          <a:ln/>
        </p:spPr>
        <p:txBody>
          <a:bodyPr/>
          <a:lstStyle/>
          <a:p>
            <a:endParaRPr lang="en-US"/>
          </a:p>
        </p:txBody>
      </p:sp>
      <p:sp>
        <p:nvSpPr>
          <p:cNvPr id="101" name="Text 97"/>
          <p:cNvSpPr/>
          <p:nvPr/>
        </p:nvSpPr>
        <p:spPr>
          <a:xfrm>
            <a:off x="2571750" y="53594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102" name="Shape 98"/>
          <p:cNvSpPr/>
          <p:nvPr/>
        </p:nvSpPr>
        <p:spPr>
          <a:xfrm>
            <a:off x="3519289" y="5283200"/>
            <a:ext cx="852289" cy="406400"/>
          </a:xfrm>
          <a:prstGeom prst="rect">
            <a:avLst/>
          </a:prstGeom>
          <a:solidFill>
            <a:srgbClr val="F0F1EE"/>
          </a:solidFill>
          <a:ln/>
        </p:spPr>
        <p:txBody>
          <a:bodyPr/>
          <a:lstStyle/>
          <a:p>
            <a:endParaRPr lang="en-US"/>
          </a:p>
        </p:txBody>
      </p:sp>
      <p:sp>
        <p:nvSpPr>
          <p:cNvPr id="103" name="Text 99"/>
          <p:cNvSpPr/>
          <p:nvPr/>
        </p:nvSpPr>
        <p:spPr>
          <a:xfrm>
            <a:off x="3481189" y="53594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104" name="Shape 100"/>
          <p:cNvSpPr/>
          <p:nvPr/>
        </p:nvSpPr>
        <p:spPr>
          <a:xfrm>
            <a:off x="4428728" y="5283200"/>
            <a:ext cx="852289" cy="406400"/>
          </a:xfrm>
          <a:prstGeom prst="rect">
            <a:avLst/>
          </a:prstGeom>
          <a:solidFill>
            <a:srgbClr val="F0F1EE"/>
          </a:solidFill>
          <a:ln/>
        </p:spPr>
        <p:txBody>
          <a:bodyPr/>
          <a:lstStyle/>
          <a:p>
            <a:endParaRPr lang="en-US"/>
          </a:p>
        </p:txBody>
      </p:sp>
      <p:sp>
        <p:nvSpPr>
          <p:cNvPr id="105" name="Text 101"/>
          <p:cNvSpPr/>
          <p:nvPr/>
        </p:nvSpPr>
        <p:spPr>
          <a:xfrm>
            <a:off x="4390628" y="53594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106" name="Shape 102"/>
          <p:cNvSpPr/>
          <p:nvPr/>
        </p:nvSpPr>
        <p:spPr>
          <a:xfrm>
            <a:off x="5338167" y="5283200"/>
            <a:ext cx="852289" cy="406400"/>
          </a:xfrm>
          <a:prstGeom prst="rect">
            <a:avLst/>
          </a:prstGeom>
          <a:solidFill>
            <a:srgbClr val="DE9285"/>
          </a:solidFill>
          <a:ln/>
        </p:spPr>
        <p:txBody>
          <a:bodyPr/>
          <a:lstStyle/>
          <a:p>
            <a:endParaRPr lang="en-US"/>
          </a:p>
        </p:txBody>
      </p:sp>
      <p:sp>
        <p:nvSpPr>
          <p:cNvPr id="107" name="Text 103"/>
          <p:cNvSpPr/>
          <p:nvPr/>
        </p:nvSpPr>
        <p:spPr>
          <a:xfrm>
            <a:off x="5300067" y="53594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5A1A12"/>
                </a:solidFill>
                <a:latin typeface="Calibri" pitchFamily="34" charset="0"/>
                <a:ea typeface="Calibri" pitchFamily="34" charset="-122"/>
                <a:cs typeface="Calibri" pitchFamily="34" charset="-120"/>
              </a:rPr>
              <a:t>75.8%</a:t>
            </a:r>
            <a:endParaRPr lang="en-US" sz="1650" dirty="0"/>
          </a:p>
        </p:txBody>
      </p:sp>
      <p:sp>
        <p:nvSpPr>
          <p:cNvPr id="108" name="Shape 104"/>
          <p:cNvSpPr/>
          <p:nvPr/>
        </p:nvSpPr>
        <p:spPr>
          <a:xfrm>
            <a:off x="6247606" y="5283200"/>
            <a:ext cx="852289" cy="406400"/>
          </a:xfrm>
          <a:prstGeom prst="rect">
            <a:avLst/>
          </a:prstGeom>
          <a:solidFill>
            <a:srgbClr val="F3C7BB"/>
          </a:solidFill>
          <a:ln/>
        </p:spPr>
        <p:txBody>
          <a:bodyPr/>
          <a:lstStyle/>
          <a:p>
            <a:endParaRPr lang="en-US"/>
          </a:p>
        </p:txBody>
      </p:sp>
      <p:sp>
        <p:nvSpPr>
          <p:cNvPr id="109" name="Text 105"/>
          <p:cNvSpPr/>
          <p:nvPr/>
        </p:nvSpPr>
        <p:spPr>
          <a:xfrm>
            <a:off x="6209506" y="53594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34.6%</a:t>
            </a:r>
            <a:endParaRPr lang="en-US" sz="1650" dirty="0"/>
          </a:p>
        </p:txBody>
      </p:sp>
      <p:sp>
        <p:nvSpPr>
          <p:cNvPr id="110" name="Shape 106"/>
          <p:cNvSpPr/>
          <p:nvPr/>
        </p:nvSpPr>
        <p:spPr>
          <a:xfrm>
            <a:off x="7157046" y="5283200"/>
            <a:ext cx="852289" cy="406400"/>
          </a:xfrm>
          <a:prstGeom prst="rect">
            <a:avLst/>
          </a:prstGeom>
          <a:solidFill>
            <a:srgbClr val="F3C7BB"/>
          </a:solidFill>
          <a:ln/>
        </p:spPr>
        <p:txBody>
          <a:bodyPr/>
          <a:lstStyle/>
          <a:p>
            <a:endParaRPr lang="en-US"/>
          </a:p>
        </p:txBody>
      </p:sp>
      <p:sp>
        <p:nvSpPr>
          <p:cNvPr id="111" name="Text 107"/>
          <p:cNvSpPr/>
          <p:nvPr/>
        </p:nvSpPr>
        <p:spPr>
          <a:xfrm>
            <a:off x="7118946" y="53594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23.4%</a:t>
            </a:r>
            <a:endParaRPr lang="en-US" sz="1650" dirty="0"/>
          </a:p>
        </p:txBody>
      </p:sp>
      <p:sp>
        <p:nvSpPr>
          <p:cNvPr id="112" name="Text 108"/>
          <p:cNvSpPr/>
          <p:nvPr/>
        </p:nvSpPr>
        <p:spPr>
          <a:xfrm>
            <a:off x="7885509" y="5365750"/>
            <a:ext cx="199072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1A1A1A"/>
                </a:solidFill>
                <a:latin typeface="Calibri" pitchFamily="34" charset="0"/>
                <a:ea typeface="Calibri" pitchFamily="34" charset="-122"/>
                <a:cs typeface="Calibri" pitchFamily="34" charset="-120"/>
              </a:rPr>
              <a:t>1,169 · </a:t>
            </a:r>
            <a:r>
              <a:rPr lang="en-US" sz="1575" b="1" dirty="0">
                <a:solidFill>
                  <a:srgbClr val="1A1A1A"/>
                </a:solidFill>
                <a:latin typeface="Calibri" pitchFamily="34" charset="0"/>
                <a:ea typeface="Calibri" pitchFamily="34" charset="-122"/>
                <a:cs typeface="Calibri" pitchFamily="34" charset="-120"/>
              </a:rPr>
              <a:t>274</a:t>
            </a:r>
            <a:endParaRPr lang="en-US" sz="1575" dirty="0"/>
          </a:p>
        </p:txBody>
      </p:sp>
      <p:sp>
        <p:nvSpPr>
          <p:cNvPr id="113" name="Text 109"/>
          <p:cNvSpPr/>
          <p:nvPr/>
        </p:nvSpPr>
        <p:spPr>
          <a:xfrm>
            <a:off x="647700" y="5816600"/>
            <a:ext cx="20955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daochu</a:t>
            </a:r>
            <a:endParaRPr lang="en-US" sz="1725" dirty="0"/>
          </a:p>
        </p:txBody>
      </p:sp>
      <p:sp>
        <p:nvSpPr>
          <p:cNvPr id="114" name="Shape 110"/>
          <p:cNvSpPr/>
          <p:nvPr/>
        </p:nvSpPr>
        <p:spPr>
          <a:xfrm>
            <a:off x="2609850" y="5746750"/>
            <a:ext cx="852289" cy="406400"/>
          </a:xfrm>
          <a:prstGeom prst="rect">
            <a:avLst/>
          </a:prstGeom>
          <a:solidFill>
            <a:srgbClr val="F0F1EE"/>
          </a:solidFill>
          <a:ln/>
        </p:spPr>
        <p:txBody>
          <a:bodyPr/>
          <a:lstStyle/>
          <a:p>
            <a:endParaRPr lang="en-US"/>
          </a:p>
        </p:txBody>
      </p:sp>
      <p:sp>
        <p:nvSpPr>
          <p:cNvPr id="115" name="Text 111"/>
          <p:cNvSpPr/>
          <p:nvPr/>
        </p:nvSpPr>
        <p:spPr>
          <a:xfrm>
            <a:off x="2571750" y="58229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116" name="Shape 112"/>
          <p:cNvSpPr/>
          <p:nvPr/>
        </p:nvSpPr>
        <p:spPr>
          <a:xfrm>
            <a:off x="3519289" y="5746750"/>
            <a:ext cx="852289" cy="406400"/>
          </a:xfrm>
          <a:prstGeom prst="rect">
            <a:avLst/>
          </a:prstGeom>
          <a:solidFill>
            <a:srgbClr val="F0F1EE"/>
          </a:solidFill>
          <a:ln/>
        </p:spPr>
        <p:txBody>
          <a:bodyPr/>
          <a:lstStyle/>
          <a:p>
            <a:endParaRPr lang="en-US"/>
          </a:p>
        </p:txBody>
      </p:sp>
      <p:sp>
        <p:nvSpPr>
          <p:cNvPr id="117" name="Text 113"/>
          <p:cNvSpPr/>
          <p:nvPr/>
        </p:nvSpPr>
        <p:spPr>
          <a:xfrm>
            <a:off x="3481189" y="58229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118" name="Shape 114"/>
          <p:cNvSpPr/>
          <p:nvPr/>
        </p:nvSpPr>
        <p:spPr>
          <a:xfrm>
            <a:off x="4428728" y="5746750"/>
            <a:ext cx="852289" cy="406400"/>
          </a:xfrm>
          <a:prstGeom prst="rect">
            <a:avLst/>
          </a:prstGeom>
          <a:solidFill>
            <a:srgbClr val="F0F1EE"/>
          </a:solidFill>
          <a:ln/>
        </p:spPr>
        <p:txBody>
          <a:bodyPr/>
          <a:lstStyle/>
          <a:p>
            <a:endParaRPr lang="en-US"/>
          </a:p>
        </p:txBody>
      </p:sp>
      <p:sp>
        <p:nvSpPr>
          <p:cNvPr id="119" name="Text 115"/>
          <p:cNvSpPr/>
          <p:nvPr/>
        </p:nvSpPr>
        <p:spPr>
          <a:xfrm>
            <a:off x="4390628" y="58229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120" name="Shape 116"/>
          <p:cNvSpPr/>
          <p:nvPr/>
        </p:nvSpPr>
        <p:spPr>
          <a:xfrm>
            <a:off x="5338167" y="5746750"/>
            <a:ext cx="852289" cy="406400"/>
          </a:xfrm>
          <a:prstGeom prst="rect">
            <a:avLst/>
          </a:prstGeom>
          <a:solidFill>
            <a:srgbClr val="DE9285"/>
          </a:solidFill>
          <a:ln/>
        </p:spPr>
        <p:txBody>
          <a:bodyPr/>
          <a:lstStyle/>
          <a:p>
            <a:endParaRPr lang="en-US"/>
          </a:p>
        </p:txBody>
      </p:sp>
      <p:sp>
        <p:nvSpPr>
          <p:cNvPr id="121" name="Text 117"/>
          <p:cNvSpPr/>
          <p:nvPr/>
        </p:nvSpPr>
        <p:spPr>
          <a:xfrm>
            <a:off x="5300067" y="58229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5A1A12"/>
                </a:solidFill>
                <a:latin typeface="Calibri" pitchFamily="34" charset="0"/>
                <a:ea typeface="Calibri" pitchFamily="34" charset="-122"/>
                <a:cs typeface="Calibri" pitchFamily="34" charset="-120"/>
              </a:rPr>
              <a:t>50.0%</a:t>
            </a:r>
            <a:endParaRPr lang="en-US" sz="1650" dirty="0"/>
          </a:p>
        </p:txBody>
      </p:sp>
      <p:sp>
        <p:nvSpPr>
          <p:cNvPr id="122" name="Shape 118"/>
          <p:cNvSpPr/>
          <p:nvPr/>
        </p:nvSpPr>
        <p:spPr>
          <a:xfrm>
            <a:off x="6247606" y="5746750"/>
            <a:ext cx="852289" cy="406400"/>
          </a:xfrm>
          <a:prstGeom prst="rect">
            <a:avLst/>
          </a:prstGeom>
          <a:solidFill>
            <a:srgbClr val="DE9285"/>
          </a:solidFill>
          <a:ln/>
        </p:spPr>
        <p:txBody>
          <a:bodyPr/>
          <a:lstStyle/>
          <a:p>
            <a:endParaRPr lang="en-US"/>
          </a:p>
        </p:txBody>
      </p:sp>
      <p:sp>
        <p:nvSpPr>
          <p:cNvPr id="123" name="Text 119"/>
          <p:cNvSpPr/>
          <p:nvPr/>
        </p:nvSpPr>
        <p:spPr>
          <a:xfrm>
            <a:off x="6209506" y="58229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5A1A12"/>
                </a:solidFill>
                <a:latin typeface="Calibri" pitchFamily="34" charset="0"/>
                <a:ea typeface="Calibri" pitchFamily="34" charset="-122"/>
                <a:cs typeface="Calibri" pitchFamily="34" charset="-120"/>
              </a:rPr>
              <a:t>75.9%</a:t>
            </a:r>
            <a:endParaRPr lang="en-US" sz="1650" dirty="0"/>
          </a:p>
        </p:txBody>
      </p:sp>
      <p:sp>
        <p:nvSpPr>
          <p:cNvPr id="124" name="Shape 120"/>
          <p:cNvSpPr/>
          <p:nvPr/>
        </p:nvSpPr>
        <p:spPr>
          <a:xfrm>
            <a:off x="7157046" y="5746750"/>
            <a:ext cx="852289" cy="406400"/>
          </a:xfrm>
          <a:prstGeom prst="rect">
            <a:avLst/>
          </a:prstGeom>
          <a:solidFill>
            <a:srgbClr val="F3C7BB"/>
          </a:solidFill>
          <a:ln/>
        </p:spPr>
        <p:txBody>
          <a:bodyPr/>
          <a:lstStyle/>
          <a:p>
            <a:endParaRPr lang="en-US"/>
          </a:p>
        </p:txBody>
      </p:sp>
      <p:sp>
        <p:nvSpPr>
          <p:cNvPr id="125" name="Text 121"/>
          <p:cNvSpPr/>
          <p:nvPr/>
        </p:nvSpPr>
        <p:spPr>
          <a:xfrm>
            <a:off x="7118946" y="58229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39.2%</a:t>
            </a:r>
            <a:endParaRPr lang="en-US" sz="1650" dirty="0"/>
          </a:p>
        </p:txBody>
      </p:sp>
      <p:sp>
        <p:nvSpPr>
          <p:cNvPr id="126" name="Text 122"/>
          <p:cNvSpPr/>
          <p:nvPr/>
        </p:nvSpPr>
        <p:spPr>
          <a:xfrm>
            <a:off x="7885509" y="5829300"/>
            <a:ext cx="199072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1A1A1A"/>
                </a:solidFill>
                <a:latin typeface="Calibri" pitchFamily="34" charset="0"/>
                <a:ea typeface="Calibri" pitchFamily="34" charset="-122"/>
                <a:cs typeface="Calibri" pitchFamily="34" charset="-120"/>
              </a:rPr>
              <a:t>868 · </a:t>
            </a:r>
            <a:r>
              <a:rPr lang="en-US" sz="1575" b="1" dirty="0">
                <a:solidFill>
                  <a:srgbClr val="1A1A1A"/>
                </a:solidFill>
                <a:latin typeface="Calibri" pitchFamily="34" charset="0"/>
                <a:ea typeface="Calibri" pitchFamily="34" charset="-122"/>
                <a:cs typeface="Calibri" pitchFamily="34" charset="-120"/>
              </a:rPr>
              <a:t>340</a:t>
            </a:r>
            <a:endParaRPr lang="en-US" sz="1575" dirty="0"/>
          </a:p>
        </p:txBody>
      </p:sp>
      <p:sp>
        <p:nvSpPr>
          <p:cNvPr id="127" name="Text 123"/>
          <p:cNvSpPr/>
          <p:nvPr/>
        </p:nvSpPr>
        <p:spPr>
          <a:xfrm>
            <a:off x="647700" y="6280150"/>
            <a:ext cx="20955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duynguyen</a:t>
            </a:r>
            <a:endParaRPr lang="en-US" sz="1725" dirty="0"/>
          </a:p>
        </p:txBody>
      </p:sp>
      <p:sp>
        <p:nvSpPr>
          <p:cNvPr id="128" name="Shape 124"/>
          <p:cNvSpPr/>
          <p:nvPr/>
        </p:nvSpPr>
        <p:spPr>
          <a:xfrm>
            <a:off x="2609850" y="6210300"/>
            <a:ext cx="852289" cy="406400"/>
          </a:xfrm>
          <a:prstGeom prst="rect">
            <a:avLst/>
          </a:prstGeom>
          <a:solidFill>
            <a:srgbClr val="F0F1EE"/>
          </a:solidFill>
          <a:ln/>
        </p:spPr>
        <p:txBody>
          <a:bodyPr/>
          <a:lstStyle/>
          <a:p>
            <a:endParaRPr lang="en-US"/>
          </a:p>
        </p:txBody>
      </p:sp>
      <p:sp>
        <p:nvSpPr>
          <p:cNvPr id="129" name="Text 125"/>
          <p:cNvSpPr/>
          <p:nvPr/>
        </p:nvSpPr>
        <p:spPr>
          <a:xfrm>
            <a:off x="2571750" y="62865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130" name="Shape 126"/>
          <p:cNvSpPr/>
          <p:nvPr/>
        </p:nvSpPr>
        <p:spPr>
          <a:xfrm>
            <a:off x="3519289" y="6210300"/>
            <a:ext cx="852289" cy="406400"/>
          </a:xfrm>
          <a:prstGeom prst="rect">
            <a:avLst/>
          </a:prstGeom>
          <a:solidFill>
            <a:srgbClr val="F0F1EE"/>
          </a:solidFill>
          <a:ln/>
        </p:spPr>
        <p:txBody>
          <a:bodyPr/>
          <a:lstStyle/>
          <a:p>
            <a:endParaRPr lang="en-US"/>
          </a:p>
        </p:txBody>
      </p:sp>
      <p:sp>
        <p:nvSpPr>
          <p:cNvPr id="131" name="Text 127"/>
          <p:cNvSpPr/>
          <p:nvPr/>
        </p:nvSpPr>
        <p:spPr>
          <a:xfrm>
            <a:off x="3481189" y="62865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132" name="Shape 128"/>
          <p:cNvSpPr/>
          <p:nvPr/>
        </p:nvSpPr>
        <p:spPr>
          <a:xfrm>
            <a:off x="4428728" y="6210300"/>
            <a:ext cx="852289" cy="406400"/>
          </a:xfrm>
          <a:prstGeom prst="rect">
            <a:avLst/>
          </a:prstGeom>
          <a:solidFill>
            <a:srgbClr val="F0F1EE"/>
          </a:solidFill>
          <a:ln/>
        </p:spPr>
        <p:txBody>
          <a:bodyPr/>
          <a:lstStyle/>
          <a:p>
            <a:endParaRPr lang="en-US"/>
          </a:p>
        </p:txBody>
      </p:sp>
      <p:sp>
        <p:nvSpPr>
          <p:cNvPr id="133" name="Text 129"/>
          <p:cNvSpPr/>
          <p:nvPr/>
        </p:nvSpPr>
        <p:spPr>
          <a:xfrm>
            <a:off x="4390628" y="62865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134" name="Shape 130"/>
          <p:cNvSpPr/>
          <p:nvPr/>
        </p:nvSpPr>
        <p:spPr>
          <a:xfrm>
            <a:off x="5338167" y="6210300"/>
            <a:ext cx="852289" cy="406400"/>
          </a:xfrm>
          <a:prstGeom prst="rect">
            <a:avLst/>
          </a:prstGeom>
          <a:solidFill>
            <a:srgbClr val="F3C7BB"/>
          </a:solidFill>
          <a:ln/>
        </p:spPr>
        <p:txBody>
          <a:bodyPr/>
          <a:lstStyle/>
          <a:p>
            <a:endParaRPr lang="en-US"/>
          </a:p>
        </p:txBody>
      </p:sp>
      <p:sp>
        <p:nvSpPr>
          <p:cNvPr id="135" name="Text 131"/>
          <p:cNvSpPr/>
          <p:nvPr/>
        </p:nvSpPr>
        <p:spPr>
          <a:xfrm>
            <a:off x="5300067" y="62865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23.8%</a:t>
            </a:r>
            <a:endParaRPr lang="en-US" sz="1650" dirty="0"/>
          </a:p>
        </p:txBody>
      </p:sp>
      <p:sp>
        <p:nvSpPr>
          <p:cNvPr id="136" name="Shape 132"/>
          <p:cNvSpPr/>
          <p:nvPr/>
        </p:nvSpPr>
        <p:spPr>
          <a:xfrm>
            <a:off x="6247606" y="6210300"/>
            <a:ext cx="852289" cy="406400"/>
          </a:xfrm>
          <a:prstGeom prst="rect">
            <a:avLst/>
          </a:prstGeom>
          <a:solidFill>
            <a:srgbClr val="DE9285"/>
          </a:solidFill>
          <a:ln/>
        </p:spPr>
        <p:txBody>
          <a:bodyPr/>
          <a:lstStyle/>
          <a:p>
            <a:endParaRPr lang="en-US"/>
          </a:p>
        </p:txBody>
      </p:sp>
      <p:sp>
        <p:nvSpPr>
          <p:cNvPr id="137" name="Text 133"/>
          <p:cNvSpPr/>
          <p:nvPr/>
        </p:nvSpPr>
        <p:spPr>
          <a:xfrm>
            <a:off x="6209506" y="62865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5A1A12"/>
                </a:solidFill>
                <a:latin typeface="Calibri" pitchFamily="34" charset="0"/>
                <a:ea typeface="Calibri" pitchFamily="34" charset="-122"/>
                <a:cs typeface="Calibri" pitchFamily="34" charset="-120"/>
              </a:rPr>
              <a:t>50.0%</a:t>
            </a:r>
            <a:endParaRPr lang="en-US" sz="1650" dirty="0"/>
          </a:p>
        </p:txBody>
      </p:sp>
      <p:sp>
        <p:nvSpPr>
          <p:cNvPr id="138" name="Shape 134"/>
          <p:cNvSpPr/>
          <p:nvPr/>
        </p:nvSpPr>
        <p:spPr>
          <a:xfrm>
            <a:off x="7157046" y="6210300"/>
            <a:ext cx="852289" cy="406400"/>
          </a:xfrm>
          <a:prstGeom prst="rect">
            <a:avLst/>
          </a:prstGeom>
          <a:solidFill>
            <a:srgbClr val="F3C7BB"/>
          </a:solidFill>
          <a:ln/>
        </p:spPr>
        <p:txBody>
          <a:bodyPr/>
          <a:lstStyle/>
          <a:p>
            <a:endParaRPr lang="en-US"/>
          </a:p>
        </p:txBody>
      </p:sp>
      <p:sp>
        <p:nvSpPr>
          <p:cNvPr id="139" name="Text 135"/>
          <p:cNvSpPr/>
          <p:nvPr/>
        </p:nvSpPr>
        <p:spPr>
          <a:xfrm>
            <a:off x="7118946" y="628650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21.4%</a:t>
            </a:r>
            <a:endParaRPr lang="en-US" sz="1650" dirty="0"/>
          </a:p>
        </p:txBody>
      </p:sp>
      <p:sp>
        <p:nvSpPr>
          <p:cNvPr id="140" name="Text 136"/>
          <p:cNvSpPr/>
          <p:nvPr/>
        </p:nvSpPr>
        <p:spPr>
          <a:xfrm>
            <a:off x="7885509" y="6292850"/>
            <a:ext cx="199072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1A1A1A"/>
                </a:solidFill>
                <a:latin typeface="Calibri" pitchFamily="34" charset="0"/>
                <a:ea typeface="Calibri" pitchFamily="34" charset="-122"/>
                <a:cs typeface="Calibri" pitchFamily="34" charset="-120"/>
              </a:rPr>
              <a:t>1,124 · </a:t>
            </a:r>
            <a:r>
              <a:rPr lang="en-US" sz="1575" b="1" dirty="0">
                <a:solidFill>
                  <a:srgbClr val="1A1A1A"/>
                </a:solidFill>
                <a:latin typeface="Calibri" pitchFamily="34" charset="0"/>
                <a:ea typeface="Calibri" pitchFamily="34" charset="-122"/>
                <a:cs typeface="Calibri" pitchFamily="34" charset="-120"/>
              </a:rPr>
              <a:t>241</a:t>
            </a:r>
            <a:endParaRPr lang="en-US" sz="1575" dirty="0"/>
          </a:p>
        </p:txBody>
      </p:sp>
      <p:sp>
        <p:nvSpPr>
          <p:cNvPr id="141" name="Text 137"/>
          <p:cNvSpPr/>
          <p:nvPr/>
        </p:nvSpPr>
        <p:spPr>
          <a:xfrm>
            <a:off x="647700" y="6743700"/>
            <a:ext cx="209550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thailong</a:t>
            </a:r>
            <a:endParaRPr lang="en-US" sz="1725" dirty="0"/>
          </a:p>
        </p:txBody>
      </p:sp>
      <p:sp>
        <p:nvSpPr>
          <p:cNvPr id="142" name="Shape 138"/>
          <p:cNvSpPr/>
          <p:nvPr/>
        </p:nvSpPr>
        <p:spPr>
          <a:xfrm>
            <a:off x="2609850" y="6673850"/>
            <a:ext cx="852289" cy="406400"/>
          </a:xfrm>
          <a:prstGeom prst="rect">
            <a:avLst/>
          </a:prstGeom>
          <a:solidFill>
            <a:srgbClr val="F0F1EE"/>
          </a:solidFill>
          <a:ln/>
        </p:spPr>
        <p:txBody>
          <a:bodyPr/>
          <a:lstStyle/>
          <a:p>
            <a:endParaRPr lang="en-US"/>
          </a:p>
        </p:txBody>
      </p:sp>
      <p:sp>
        <p:nvSpPr>
          <p:cNvPr id="143" name="Text 139"/>
          <p:cNvSpPr/>
          <p:nvPr/>
        </p:nvSpPr>
        <p:spPr>
          <a:xfrm>
            <a:off x="2571750" y="67500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144" name="Shape 140"/>
          <p:cNvSpPr/>
          <p:nvPr/>
        </p:nvSpPr>
        <p:spPr>
          <a:xfrm>
            <a:off x="3519289" y="6673850"/>
            <a:ext cx="852289" cy="406400"/>
          </a:xfrm>
          <a:prstGeom prst="rect">
            <a:avLst/>
          </a:prstGeom>
          <a:solidFill>
            <a:srgbClr val="F0F1EE"/>
          </a:solidFill>
          <a:ln/>
        </p:spPr>
        <p:txBody>
          <a:bodyPr/>
          <a:lstStyle/>
          <a:p>
            <a:endParaRPr lang="en-US"/>
          </a:p>
        </p:txBody>
      </p:sp>
      <p:sp>
        <p:nvSpPr>
          <p:cNvPr id="145" name="Text 141"/>
          <p:cNvSpPr/>
          <p:nvPr/>
        </p:nvSpPr>
        <p:spPr>
          <a:xfrm>
            <a:off x="3481189" y="67500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146" name="Shape 142"/>
          <p:cNvSpPr/>
          <p:nvPr/>
        </p:nvSpPr>
        <p:spPr>
          <a:xfrm>
            <a:off x="4428728" y="6673850"/>
            <a:ext cx="852289" cy="406400"/>
          </a:xfrm>
          <a:prstGeom prst="rect">
            <a:avLst/>
          </a:prstGeom>
          <a:solidFill>
            <a:srgbClr val="F0F1EE"/>
          </a:solidFill>
          <a:ln/>
        </p:spPr>
        <p:txBody>
          <a:bodyPr/>
          <a:lstStyle/>
          <a:p>
            <a:endParaRPr lang="en-US"/>
          </a:p>
        </p:txBody>
      </p:sp>
      <p:sp>
        <p:nvSpPr>
          <p:cNvPr id="147" name="Text 143"/>
          <p:cNvSpPr/>
          <p:nvPr/>
        </p:nvSpPr>
        <p:spPr>
          <a:xfrm>
            <a:off x="4390628" y="67500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A8ADA4"/>
                </a:solidFill>
                <a:latin typeface="Calibri" pitchFamily="34" charset="0"/>
                <a:ea typeface="Calibri" pitchFamily="34" charset="-122"/>
                <a:cs typeface="Calibri" pitchFamily="34" charset="-120"/>
              </a:rPr>
              <a:t>–</a:t>
            </a:r>
            <a:endParaRPr lang="en-US" sz="1650" dirty="0"/>
          </a:p>
        </p:txBody>
      </p:sp>
      <p:sp>
        <p:nvSpPr>
          <p:cNvPr id="148" name="Shape 144"/>
          <p:cNvSpPr/>
          <p:nvPr/>
        </p:nvSpPr>
        <p:spPr>
          <a:xfrm>
            <a:off x="5338167" y="6673850"/>
            <a:ext cx="852289" cy="406400"/>
          </a:xfrm>
          <a:prstGeom prst="rect">
            <a:avLst/>
          </a:prstGeom>
          <a:solidFill>
            <a:srgbClr val="DE9285"/>
          </a:solidFill>
          <a:ln/>
        </p:spPr>
        <p:txBody>
          <a:bodyPr/>
          <a:lstStyle/>
          <a:p>
            <a:endParaRPr lang="en-US"/>
          </a:p>
        </p:txBody>
      </p:sp>
      <p:sp>
        <p:nvSpPr>
          <p:cNvPr id="149" name="Text 145"/>
          <p:cNvSpPr/>
          <p:nvPr/>
        </p:nvSpPr>
        <p:spPr>
          <a:xfrm>
            <a:off x="5300067" y="67500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5A1A12"/>
                </a:solidFill>
                <a:latin typeface="Calibri" pitchFamily="34" charset="0"/>
                <a:ea typeface="Calibri" pitchFamily="34" charset="-122"/>
                <a:cs typeface="Calibri" pitchFamily="34" charset="-120"/>
              </a:rPr>
              <a:t>65.6%</a:t>
            </a:r>
            <a:endParaRPr lang="en-US" sz="1650" dirty="0"/>
          </a:p>
        </p:txBody>
      </p:sp>
      <p:sp>
        <p:nvSpPr>
          <p:cNvPr id="150" name="Shape 146"/>
          <p:cNvSpPr/>
          <p:nvPr/>
        </p:nvSpPr>
        <p:spPr>
          <a:xfrm>
            <a:off x="6247606" y="6673850"/>
            <a:ext cx="852289" cy="406400"/>
          </a:xfrm>
          <a:prstGeom prst="rect">
            <a:avLst/>
          </a:prstGeom>
          <a:solidFill>
            <a:srgbClr val="DE9285"/>
          </a:solidFill>
          <a:ln/>
        </p:spPr>
        <p:txBody>
          <a:bodyPr/>
          <a:lstStyle/>
          <a:p>
            <a:endParaRPr lang="en-US"/>
          </a:p>
        </p:txBody>
      </p:sp>
      <p:sp>
        <p:nvSpPr>
          <p:cNvPr id="151" name="Text 147"/>
          <p:cNvSpPr/>
          <p:nvPr/>
        </p:nvSpPr>
        <p:spPr>
          <a:xfrm>
            <a:off x="6209506" y="67500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5A1A12"/>
                </a:solidFill>
                <a:latin typeface="Calibri" pitchFamily="34" charset="0"/>
                <a:ea typeface="Calibri" pitchFamily="34" charset="-122"/>
                <a:cs typeface="Calibri" pitchFamily="34" charset="-120"/>
              </a:rPr>
              <a:t>46.8%</a:t>
            </a:r>
            <a:endParaRPr lang="en-US" sz="1650" dirty="0"/>
          </a:p>
        </p:txBody>
      </p:sp>
      <p:sp>
        <p:nvSpPr>
          <p:cNvPr id="152" name="Shape 148"/>
          <p:cNvSpPr/>
          <p:nvPr/>
        </p:nvSpPr>
        <p:spPr>
          <a:xfrm>
            <a:off x="7157046" y="6673850"/>
            <a:ext cx="852289" cy="406400"/>
          </a:xfrm>
          <a:prstGeom prst="rect">
            <a:avLst/>
          </a:prstGeom>
          <a:solidFill>
            <a:srgbClr val="F3C7BB"/>
          </a:solidFill>
          <a:ln/>
        </p:spPr>
        <p:txBody>
          <a:bodyPr/>
          <a:lstStyle/>
          <a:p>
            <a:endParaRPr lang="en-US"/>
          </a:p>
        </p:txBody>
      </p:sp>
      <p:sp>
        <p:nvSpPr>
          <p:cNvPr id="153" name="Text 149"/>
          <p:cNvSpPr/>
          <p:nvPr/>
        </p:nvSpPr>
        <p:spPr>
          <a:xfrm>
            <a:off x="7118946" y="67500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96382A"/>
                </a:solidFill>
                <a:latin typeface="Calibri" pitchFamily="34" charset="0"/>
                <a:ea typeface="Calibri" pitchFamily="34" charset="-122"/>
                <a:cs typeface="Calibri" pitchFamily="34" charset="-120"/>
              </a:rPr>
              <a:t>24.0%</a:t>
            </a:r>
            <a:endParaRPr lang="en-US" sz="1650" dirty="0"/>
          </a:p>
        </p:txBody>
      </p:sp>
      <p:sp>
        <p:nvSpPr>
          <p:cNvPr id="154" name="Text 150"/>
          <p:cNvSpPr/>
          <p:nvPr/>
        </p:nvSpPr>
        <p:spPr>
          <a:xfrm>
            <a:off x="7885509" y="6756400"/>
            <a:ext cx="1990725" cy="279400"/>
          </a:xfrm>
          <a:prstGeom prst="rect">
            <a:avLst/>
          </a:prstGeom>
          <a:noFill/>
          <a:ln/>
        </p:spPr>
        <p:txBody>
          <a:bodyPr wrap="square" lIns="25400" tIns="25400" rIns="25400" bIns="25400" rtlCol="0" anchor="t">
            <a:normAutofit lnSpcReduction="10000"/>
          </a:bodyPr>
          <a:lstStyle/>
          <a:p>
            <a:pPr marL="0" indent="0" algn="r">
              <a:buNone/>
            </a:pPr>
            <a:r>
              <a:rPr lang="en-US" sz="1575" dirty="0">
                <a:solidFill>
                  <a:srgbClr val="1A1A1A"/>
                </a:solidFill>
                <a:latin typeface="Calibri" pitchFamily="34" charset="0"/>
                <a:ea typeface="Calibri" pitchFamily="34" charset="-122"/>
                <a:cs typeface="Calibri" pitchFamily="34" charset="-120"/>
              </a:rPr>
              <a:t>1,055 · </a:t>
            </a:r>
            <a:r>
              <a:rPr lang="en-US" sz="1575" b="1" dirty="0">
                <a:solidFill>
                  <a:srgbClr val="1A1A1A"/>
                </a:solidFill>
                <a:latin typeface="Calibri" pitchFamily="34" charset="0"/>
                <a:ea typeface="Calibri" pitchFamily="34" charset="-122"/>
                <a:cs typeface="Calibri" pitchFamily="34" charset="-120"/>
              </a:rPr>
              <a:t>253</a:t>
            </a:r>
            <a:endParaRPr lang="en-US" sz="1575" dirty="0"/>
          </a:p>
        </p:txBody>
      </p:sp>
      <p:sp>
        <p:nvSpPr>
          <p:cNvPr id="155" name="Shape 151"/>
          <p:cNvSpPr/>
          <p:nvPr/>
        </p:nvSpPr>
        <p:spPr>
          <a:xfrm>
            <a:off x="647700" y="7137400"/>
            <a:ext cx="9228534" cy="419100"/>
          </a:xfrm>
          <a:prstGeom prst="rect">
            <a:avLst/>
          </a:prstGeom>
          <a:solidFill>
            <a:srgbClr val="E2EFDA"/>
          </a:solidFill>
          <a:ln/>
        </p:spPr>
        <p:txBody>
          <a:bodyPr/>
          <a:lstStyle/>
          <a:p>
            <a:endParaRPr lang="en-US"/>
          </a:p>
        </p:txBody>
      </p:sp>
      <p:sp>
        <p:nvSpPr>
          <p:cNvPr id="156" name="Text 152"/>
          <p:cNvSpPr/>
          <p:nvPr/>
        </p:nvSpPr>
        <p:spPr>
          <a:xfrm>
            <a:off x="704850" y="7213600"/>
            <a:ext cx="1924050"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A1A1A"/>
                </a:solidFill>
                <a:latin typeface="Calibri" pitchFamily="34" charset="0"/>
                <a:ea typeface="Calibri" pitchFamily="34" charset="-122"/>
                <a:cs typeface="Calibri" pitchFamily="34" charset="-120"/>
              </a:rPr>
              <a:t>SUM</a:t>
            </a:r>
            <a:endParaRPr lang="en-US" sz="1725" dirty="0"/>
          </a:p>
        </p:txBody>
      </p:sp>
      <p:sp>
        <p:nvSpPr>
          <p:cNvPr id="157" name="Text 153"/>
          <p:cNvSpPr/>
          <p:nvPr/>
        </p:nvSpPr>
        <p:spPr>
          <a:xfrm>
            <a:off x="2571750" y="72199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1A1A1A"/>
                </a:solidFill>
                <a:latin typeface="Calibri" pitchFamily="34" charset="0"/>
                <a:ea typeface="Calibri" pitchFamily="34" charset="-122"/>
                <a:cs typeface="Calibri" pitchFamily="34" charset="-120"/>
              </a:rPr>
              <a:t>–</a:t>
            </a:r>
            <a:endParaRPr lang="en-US" sz="1650" dirty="0"/>
          </a:p>
        </p:txBody>
      </p:sp>
      <p:sp>
        <p:nvSpPr>
          <p:cNvPr id="158" name="Text 154"/>
          <p:cNvSpPr/>
          <p:nvPr/>
        </p:nvSpPr>
        <p:spPr>
          <a:xfrm>
            <a:off x="3481189" y="72199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1A1A1A"/>
                </a:solidFill>
                <a:latin typeface="Calibri" pitchFamily="34" charset="0"/>
                <a:ea typeface="Calibri" pitchFamily="34" charset="-122"/>
                <a:cs typeface="Calibri" pitchFamily="34" charset="-120"/>
              </a:rPr>
              <a:t>–</a:t>
            </a:r>
            <a:endParaRPr lang="en-US" sz="1650" dirty="0"/>
          </a:p>
        </p:txBody>
      </p:sp>
      <p:sp>
        <p:nvSpPr>
          <p:cNvPr id="159" name="Text 155"/>
          <p:cNvSpPr/>
          <p:nvPr/>
        </p:nvSpPr>
        <p:spPr>
          <a:xfrm>
            <a:off x="4390628" y="72199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1A1A1A"/>
                </a:solidFill>
                <a:latin typeface="Calibri" pitchFamily="34" charset="0"/>
                <a:ea typeface="Calibri" pitchFamily="34" charset="-122"/>
                <a:cs typeface="Calibri" pitchFamily="34" charset="-120"/>
              </a:rPr>
              <a:t>–</a:t>
            </a:r>
            <a:endParaRPr lang="en-US" sz="1650" dirty="0"/>
          </a:p>
        </p:txBody>
      </p:sp>
      <p:sp>
        <p:nvSpPr>
          <p:cNvPr id="160" name="Text 156"/>
          <p:cNvSpPr/>
          <p:nvPr/>
        </p:nvSpPr>
        <p:spPr>
          <a:xfrm>
            <a:off x="5300067" y="72199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1A1A1A"/>
                </a:solidFill>
                <a:latin typeface="Calibri" pitchFamily="34" charset="0"/>
                <a:ea typeface="Calibri" pitchFamily="34" charset="-122"/>
                <a:cs typeface="Calibri" pitchFamily="34" charset="-120"/>
              </a:rPr>
              <a:t>38.9%</a:t>
            </a:r>
            <a:endParaRPr lang="en-US" sz="1650" dirty="0"/>
          </a:p>
        </p:txBody>
      </p:sp>
      <p:sp>
        <p:nvSpPr>
          <p:cNvPr id="161" name="Text 157"/>
          <p:cNvSpPr/>
          <p:nvPr/>
        </p:nvSpPr>
        <p:spPr>
          <a:xfrm>
            <a:off x="6209506" y="72199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1A1A1A"/>
                </a:solidFill>
                <a:latin typeface="Calibri" pitchFamily="34" charset="0"/>
                <a:ea typeface="Calibri" pitchFamily="34" charset="-122"/>
                <a:cs typeface="Calibri" pitchFamily="34" charset="-120"/>
              </a:rPr>
              <a:t>30.6%</a:t>
            </a:r>
            <a:endParaRPr lang="en-US" sz="1650" dirty="0"/>
          </a:p>
        </p:txBody>
      </p:sp>
      <p:sp>
        <p:nvSpPr>
          <p:cNvPr id="162" name="Text 158"/>
          <p:cNvSpPr/>
          <p:nvPr/>
        </p:nvSpPr>
        <p:spPr>
          <a:xfrm>
            <a:off x="7118946" y="7219950"/>
            <a:ext cx="928489" cy="2921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1A1A1A"/>
                </a:solidFill>
                <a:latin typeface="Calibri" pitchFamily="34" charset="0"/>
                <a:ea typeface="Calibri" pitchFamily="34" charset="-122"/>
                <a:cs typeface="Calibri" pitchFamily="34" charset="-120"/>
              </a:rPr>
              <a:t>21.0%</a:t>
            </a:r>
            <a:endParaRPr lang="en-US" sz="1650" dirty="0"/>
          </a:p>
        </p:txBody>
      </p:sp>
      <p:sp>
        <p:nvSpPr>
          <p:cNvPr id="163" name="Text 159"/>
          <p:cNvSpPr/>
          <p:nvPr/>
        </p:nvSpPr>
        <p:spPr>
          <a:xfrm>
            <a:off x="7885509" y="7226300"/>
            <a:ext cx="1933575" cy="279400"/>
          </a:xfrm>
          <a:prstGeom prst="rect">
            <a:avLst/>
          </a:prstGeom>
          <a:noFill/>
          <a:ln/>
        </p:spPr>
        <p:txBody>
          <a:bodyPr wrap="square" lIns="25400" tIns="25400" rIns="25400" bIns="25400" rtlCol="0" anchor="t">
            <a:normAutofit lnSpcReduction="10000"/>
          </a:bodyPr>
          <a:lstStyle/>
          <a:p>
            <a:pPr marL="0" indent="0" algn="r">
              <a:buNone/>
            </a:pPr>
            <a:r>
              <a:rPr lang="en-US" sz="1575" b="1" dirty="0">
                <a:solidFill>
                  <a:srgbClr val="1A1A1A"/>
                </a:solidFill>
                <a:latin typeface="Calibri" pitchFamily="34" charset="0"/>
                <a:ea typeface="Calibri" pitchFamily="34" charset="-122"/>
                <a:cs typeface="Calibri" pitchFamily="34" charset="-120"/>
              </a:rPr>
              <a:t>15,814 · 3,318</a:t>
            </a:r>
            <a:endParaRPr lang="en-US" sz="1575" dirty="0"/>
          </a:p>
        </p:txBody>
      </p:sp>
      <p:sp>
        <p:nvSpPr>
          <p:cNvPr id="164" name="Text 160"/>
          <p:cNvSpPr/>
          <p:nvPr/>
        </p:nvSpPr>
        <p:spPr>
          <a:xfrm>
            <a:off x="647700" y="7785100"/>
            <a:ext cx="10151388" cy="3302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2F5597"/>
                </a:solidFill>
                <a:latin typeface="Calibri" pitchFamily="34" charset="0"/>
                <a:ea typeface="Calibri" pitchFamily="34" charset="-122"/>
                <a:cs typeface="Calibri" pitchFamily="34" charset="-120"/>
              </a:rPr>
              <a:t>M6 → M7 change per CSE </a:t>
            </a:r>
            <a:r>
              <a:rPr lang="en-US" sz="1575" dirty="0">
                <a:solidFill>
                  <a:srgbClr val="595959"/>
                </a:solidFill>
                <a:latin typeface="Calibri" pitchFamily="34" charset="0"/>
                <a:ea typeface="Calibri" pitchFamily="34" charset="-122"/>
                <a:cs typeface="Calibri" pitchFamily="34" charset="-120"/>
              </a:rPr>
              <a:t>(hollow = June, solid = July; scale 0 – 80%)</a:t>
            </a:r>
            <a:endParaRPr lang="en-US" sz="1875" dirty="0"/>
          </a:p>
        </p:txBody>
      </p:sp>
      <p:sp>
        <p:nvSpPr>
          <p:cNvPr id="165" name="Text 161"/>
          <p:cNvSpPr/>
          <p:nvPr/>
        </p:nvSpPr>
        <p:spPr>
          <a:xfrm>
            <a:off x="647700" y="8140700"/>
            <a:ext cx="2095500" cy="190500"/>
          </a:xfrm>
          <a:prstGeom prst="rect">
            <a:avLst/>
          </a:prstGeom>
          <a:noFill/>
          <a:ln/>
        </p:spPr>
        <p:txBody>
          <a:bodyPr wrap="square" lIns="25400" tIns="25400" rIns="25400" bIns="25400" rtlCol="0" anchor="t">
            <a:normAutofit fontScale="85000" lnSpcReduction="20000"/>
          </a:bodyPr>
          <a:lstStyle/>
          <a:p>
            <a:pPr marL="0" indent="0" algn="l">
              <a:buNone/>
            </a:pPr>
            <a:r>
              <a:rPr lang="en-US" sz="1300" dirty="0">
                <a:solidFill>
                  <a:srgbClr val="1A1A1A"/>
                </a:solidFill>
                <a:latin typeface="Calibri" pitchFamily="34" charset="0"/>
                <a:ea typeface="Calibri" pitchFamily="34" charset="-122"/>
                <a:cs typeface="Calibri" pitchFamily="34" charset="-120"/>
              </a:rPr>
              <a:t>thuanlu</a:t>
            </a:r>
            <a:endParaRPr lang="en-US" sz="1300" dirty="0"/>
          </a:p>
        </p:txBody>
      </p:sp>
      <p:sp>
        <p:nvSpPr>
          <p:cNvPr id="166" name="Shape 162"/>
          <p:cNvSpPr/>
          <p:nvPr/>
        </p:nvSpPr>
        <p:spPr>
          <a:xfrm>
            <a:off x="2667000" y="8166100"/>
            <a:ext cx="3810000" cy="127000"/>
          </a:xfrm>
          <a:prstGeom prst="rect">
            <a:avLst/>
          </a:prstGeom>
          <a:solidFill>
            <a:srgbClr val="F4F6F2"/>
          </a:solidFill>
          <a:ln/>
        </p:spPr>
        <p:txBody>
          <a:bodyPr/>
          <a:lstStyle/>
          <a:p>
            <a:endParaRPr lang="en-US"/>
          </a:p>
        </p:txBody>
      </p:sp>
      <p:sp>
        <p:nvSpPr>
          <p:cNvPr id="167" name="Shape 163"/>
          <p:cNvSpPr/>
          <p:nvPr/>
        </p:nvSpPr>
        <p:spPr>
          <a:xfrm>
            <a:off x="2893616" y="8166100"/>
            <a:ext cx="19050" cy="127000"/>
          </a:xfrm>
          <a:prstGeom prst="rect">
            <a:avLst/>
          </a:prstGeom>
          <a:solidFill>
            <a:srgbClr val="C00000"/>
          </a:solidFill>
          <a:ln/>
        </p:spPr>
        <p:txBody>
          <a:bodyPr/>
          <a:lstStyle/>
          <a:p>
            <a:endParaRPr lang="en-US"/>
          </a:p>
        </p:txBody>
      </p:sp>
      <p:sp>
        <p:nvSpPr>
          <p:cNvPr id="168" name="Shape 164"/>
          <p:cNvSpPr/>
          <p:nvPr/>
        </p:nvSpPr>
        <p:spPr>
          <a:xfrm>
            <a:off x="2794134" y="8223250"/>
            <a:ext cx="535779" cy="19050"/>
          </a:xfrm>
          <a:prstGeom prst="rect">
            <a:avLst/>
          </a:prstGeom>
          <a:solidFill>
            <a:srgbClr val="C00000"/>
          </a:solidFill>
          <a:ln/>
        </p:spPr>
        <p:txBody>
          <a:bodyPr/>
          <a:lstStyle/>
          <a:p>
            <a:endParaRPr lang="en-US"/>
          </a:p>
        </p:txBody>
      </p:sp>
      <p:sp>
        <p:nvSpPr>
          <p:cNvPr id="169" name="Shape 165"/>
          <p:cNvSpPr/>
          <p:nvPr/>
        </p:nvSpPr>
        <p:spPr>
          <a:xfrm>
            <a:off x="2736984" y="8178800"/>
            <a:ext cx="114300" cy="114300"/>
          </a:xfrm>
          <a:prstGeom prst="ellipse">
            <a:avLst/>
          </a:prstGeom>
          <a:solidFill>
            <a:srgbClr val="FFFFFF"/>
          </a:solidFill>
          <a:ln w="12700">
            <a:solidFill>
              <a:srgbClr val="8A8F86"/>
            </a:solidFill>
            <a:prstDash val="solid"/>
          </a:ln>
        </p:spPr>
        <p:txBody>
          <a:bodyPr/>
          <a:lstStyle/>
          <a:p>
            <a:endParaRPr lang="en-US"/>
          </a:p>
        </p:txBody>
      </p:sp>
      <p:sp>
        <p:nvSpPr>
          <p:cNvPr id="170" name="Shape 166"/>
          <p:cNvSpPr/>
          <p:nvPr/>
        </p:nvSpPr>
        <p:spPr>
          <a:xfrm>
            <a:off x="3272763" y="8178800"/>
            <a:ext cx="114300" cy="114300"/>
          </a:xfrm>
          <a:prstGeom prst="ellipse">
            <a:avLst/>
          </a:prstGeom>
          <a:solidFill>
            <a:srgbClr val="C00000"/>
          </a:solidFill>
          <a:ln/>
        </p:spPr>
        <p:txBody>
          <a:bodyPr/>
          <a:lstStyle/>
          <a:p>
            <a:endParaRPr lang="en-US"/>
          </a:p>
        </p:txBody>
      </p:sp>
      <p:sp>
        <p:nvSpPr>
          <p:cNvPr id="171" name="Text 167"/>
          <p:cNvSpPr/>
          <p:nvPr/>
        </p:nvSpPr>
        <p:spPr>
          <a:xfrm>
            <a:off x="6591300" y="8140700"/>
            <a:ext cx="3613428" cy="190500"/>
          </a:xfrm>
          <a:prstGeom prst="rect">
            <a:avLst/>
          </a:prstGeom>
          <a:noFill/>
          <a:ln/>
        </p:spPr>
        <p:txBody>
          <a:bodyPr wrap="square" lIns="25400" tIns="25400" rIns="25400" bIns="25400" rtlCol="0" anchor="t">
            <a:normAutofit fontScale="85000" lnSpcReduction="20000"/>
          </a:bodyPr>
          <a:lstStyle/>
          <a:p>
            <a:pPr marL="0" indent="0" algn="l">
              <a:buNone/>
            </a:pPr>
            <a:r>
              <a:rPr lang="en-US" sz="1300" b="1" dirty="0">
                <a:solidFill>
                  <a:srgbClr val="C00000"/>
                </a:solidFill>
                <a:latin typeface="Calibri" pitchFamily="34" charset="0"/>
                <a:ea typeface="Calibri" pitchFamily="34" charset="-122"/>
                <a:cs typeface="Calibri" pitchFamily="34" charset="-120"/>
              </a:rPr>
              <a:t>2.8% → 14.6% (+11.8pt)</a:t>
            </a:r>
            <a:endParaRPr lang="en-US" sz="1300" dirty="0"/>
          </a:p>
        </p:txBody>
      </p:sp>
      <p:sp>
        <p:nvSpPr>
          <p:cNvPr id="172" name="Text 168"/>
          <p:cNvSpPr/>
          <p:nvPr/>
        </p:nvSpPr>
        <p:spPr>
          <a:xfrm>
            <a:off x="647700" y="8343900"/>
            <a:ext cx="2095500" cy="190500"/>
          </a:xfrm>
          <a:prstGeom prst="rect">
            <a:avLst/>
          </a:prstGeom>
          <a:noFill/>
          <a:ln/>
        </p:spPr>
        <p:txBody>
          <a:bodyPr wrap="square" lIns="25400" tIns="25400" rIns="25400" bIns="25400" rtlCol="0" anchor="t">
            <a:normAutofit fontScale="85000" lnSpcReduction="20000"/>
          </a:bodyPr>
          <a:lstStyle/>
          <a:p>
            <a:pPr marL="0" indent="0" algn="l">
              <a:buNone/>
            </a:pPr>
            <a:r>
              <a:rPr lang="en-US" sz="1300" dirty="0">
                <a:solidFill>
                  <a:srgbClr val="1A1A1A"/>
                </a:solidFill>
                <a:latin typeface="Calibri" pitchFamily="34" charset="0"/>
                <a:ea typeface="Calibri" pitchFamily="34" charset="-122"/>
                <a:cs typeface="Calibri" pitchFamily="34" charset="-120"/>
              </a:rPr>
              <a:t>chuongpham</a:t>
            </a:r>
            <a:endParaRPr lang="en-US" sz="1300" dirty="0"/>
          </a:p>
        </p:txBody>
      </p:sp>
      <p:sp>
        <p:nvSpPr>
          <p:cNvPr id="173" name="Shape 169"/>
          <p:cNvSpPr/>
          <p:nvPr/>
        </p:nvSpPr>
        <p:spPr>
          <a:xfrm>
            <a:off x="2667000" y="8369300"/>
            <a:ext cx="3810000" cy="127000"/>
          </a:xfrm>
          <a:prstGeom prst="rect">
            <a:avLst/>
          </a:prstGeom>
          <a:solidFill>
            <a:srgbClr val="F4F6F2"/>
          </a:solidFill>
          <a:ln/>
        </p:spPr>
        <p:txBody>
          <a:bodyPr/>
          <a:lstStyle/>
          <a:p>
            <a:endParaRPr lang="en-US"/>
          </a:p>
        </p:txBody>
      </p:sp>
      <p:sp>
        <p:nvSpPr>
          <p:cNvPr id="174" name="Shape 170"/>
          <p:cNvSpPr/>
          <p:nvPr/>
        </p:nvSpPr>
        <p:spPr>
          <a:xfrm>
            <a:off x="2893616" y="8369300"/>
            <a:ext cx="19050" cy="127000"/>
          </a:xfrm>
          <a:prstGeom prst="rect">
            <a:avLst/>
          </a:prstGeom>
          <a:solidFill>
            <a:srgbClr val="C00000"/>
          </a:solidFill>
          <a:ln/>
        </p:spPr>
        <p:txBody>
          <a:bodyPr/>
          <a:lstStyle/>
          <a:p>
            <a:endParaRPr lang="en-US"/>
          </a:p>
        </p:txBody>
      </p:sp>
      <p:sp>
        <p:nvSpPr>
          <p:cNvPr id="175" name="Shape 171"/>
          <p:cNvSpPr/>
          <p:nvPr/>
        </p:nvSpPr>
        <p:spPr>
          <a:xfrm>
            <a:off x="3638667" y="8426450"/>
            <a:ext cx="363240" cy="19050"/>
          </a:xfrm>
          <a:prstGeom prst="rect">
            <a:avLst/>
          </a:prstGeom>
          <a:solidFill>
            <a:srgbClr val="C00000"/>
          </a:solidFill>
          <a:ln/>
        </p:spPr>
        <p:txBody>
          <a:bodyPr/>
          <a:lstStyle/>
          <a:p>
            <a:endParaRPr lang="en-US"/>
          </a:p>
        </p:txBody>
      </p:sp>
      <p:sp>
        <p:nvSpPr>
          <p:cNvPr id="176" name="Shape 172"/>
          <p:cNvSpPr/>
          <p:nvPr/>
        </p:nvSpPr>
        <p:spPr>
          <a:xfrm>
            <a:off x="3581517" y="8382000"/>
            <a:ext cx="114300" cy="114300"/>
          </a:xfrm>
          <a:prstGeom prst="ellipse">
            <a:avLst/>
          </a:prstGeom>
          <a:solidFill>
            <a:srgbClr val="FFFFFF"/>
          </a:solidFill>
          <a:ln w="12700">
            <a:solidFill>
              <a:srgbClr val="8A8F86"/>
            </a:solidFill>
            <a:prstDash val="solid"/>
          </a:ln>
        </p:spPr>
        <p:txBody>
          <a:bodyPr/>
          <a:lstStyle/>
          <a:p>
            <a:endParaRPr lang="en-US"/>
          </a:p>
        </p:txBody>
      </p:sp>
      <p:sp>
        <p:nvSpPr>
          <p:cNvPr id="177" name="Shape 173"/>
          <p:cNvSpPr/>
          <p:nvPr/>
        </p:nvSpPr>
        <p:spPr>
          <a:xfrm>
            <a:off x="3944757" y="8382000"/>
            <a:ext cx="114300" cy="114300"/>
          </a:xfrm>
          <a:prstGeom prst="ellipse">
            <a:avLst/>
          </a:prstGeom>
          <a:solidFill>
            <a:srgbClr val="C00000"/>
          </a:solidFill>
          <a:ln/>
        </p:spPr>
        <p:txBody>
          <a:bodyPr/>
          <a:lstStyle/>
          <a:p>
            <a:endParaRPr lang="en-US"/>
          </a:p>
        </p:txBody>
      </p:sp>
      <p:sp>
        <p:nvSpPr>
          <p:cNvPr id="178" name="Text 174"/>
          <p:cNvSpPr/>
          <p:nvPr/>
        </p:nvSpPr>
        <p:spPr>
          <a:xfrm>
            <a:off x="6591300" y="8343900"/>
            <a:ext cx="3613428" cy="190500"/>
          </a:xfrm>
          <a:prstGeom prst="rect">
            <a:avLst/>
          </a:prstGeom>
          <a:noFill/>
          <a:ln/>
        </p:spPr>
        <p:txBody>
          <a:bodyPr wrap="square" lIns="25400" tIns="25400" rIns="25400" bIns="25400" rtlCol="0" anchor="t">
            <a:normAutofit fontScale="85000" lnSpcReduction="20000"/>
          </a:bodyPr>
          <a:lstStyle/>
          <a:p>
            <a:pPr marL="0" indent="0" algn="l">
              <a:buNone/>
            </a:pPr>
            <a:r>
              <a:rPr lang="en-US" sz="1300" b="1" dirty="0">
                <a:solidFill>
                  <a:srgbClr val="C00000"/>
                </a:solidFill>
                <a:latin typeface="Calibri" pitchFamily="34" charset="0"/>
                <a:ea typeface="Calibri" pitchFamily="34" charset="-122"/>
                <a:cs typeface="Calibri" pitchFamily="34" charset="-120"/>
              </a:rPr>
              <a:t>21.4% → 29.4% (+8.0pt)</a:t>
            </a:r>
            <a:endParaRPr lang="en-US" sz="1300" dirty="0"/>
          </a:p>
        </p:txBody>
      </p:sp>
      <p:sp>
        <p:nvSpPr>
          <p:cNvPr id="179" name="Text 175"/>
          <p:cNvSpPr/>
          <p:nvPr/>
        </p:nvSpPr>
        <p:spPr>
          <a:xfrm>
            <a:off x="647700" y="8547100"/>
            <a:ext cx="2095500" cy="190500"/>
          </a:xfrm>
          <a:prstGeom prst="rect">
            <a:avLst/>
          </a:prstGeom>
          <a:noFill/>
          <a:ln/>
        </p:spPr>
        <p:txBody>
          <a:bodyPr wrap="square" lIns="25400" tIns="25400" rIns="25400" bIns="25400" rtlCol="0" anchor="t">
            <a:normAutofit fontScale="85000" lnSpcReduction="20000"/>
          </a:bodyPr>
          <a:lstStyle/>
          <a:p>
            <a:pPr marL="0" indent="0" algn="l">
              <a:buNone/>
            </a:pPr>
            <a:r>
              <a:rPr lang="en-US" sz="1300" dirty="0">
                <a:solidFill>
                  <a:srgbClr val="1A1A1A"/>
                </a:solidFill>
                <a:latin typeface="Calibri" pitchFamily="34" charset="0"/>
                <a:ea typeface="Calibri" pitchFamily="34" charset="-122"/>
                <a:cs typeface="Calibri" pitchFamily="34" charset="-120"/>
              </a:rPr>
              <a:t>hungvu</a:t>
            </a:r>
            <a:endParaRPr lang="en-US" sz="1300" dirty="0"/>
          </a:p>
        </p:txBody>
      </p:sp>
      <p:sp>
        <p:nvSpPr>
          <p:cNvPr id="180" name="Shape 176"/>
          <p:cNvSpPr/>
          <p:nvPr/>
        </p:nvSpPr>
        <p:spPr>
          <a:xfrm>
            <a:off x="2667000" y="8572500"/>
            <a:ext cx="3810000" cy="127000"/>
          </a:xfrm>
          <a:prstGeom prst="rect">
            <a:avLst/>
          </a:prstGeom>
          <a:solidFill>
            <a:srgbClr val="F4F6F2"/>
          </a:solidFill>
          <a:ln/>
        </p:spPr>
        <p:txBody>
          <a:bodyPr/>
          <a:lstStyle/>
          <a:p>
            <a:endParaRPr lang="en-US"/>
          </a:p>
        </p:txBody>
      </p:sp>
      <p:sp>
        <p:nvSpPr>
          <p:cNvPr id="181" name="Shape 177"/>
          <p:cNvSpPr/>
          <p:nvPr/>
        </p:nvSpPr>
        <p:spPr>
          <a:xfrm>
            <a:off x="2893616" y="8572500"/>
            <a:ext cx="19050" cy="127000"/>
          </a:xfrm>
          <a:prstGeom prst="rect">
            <a:avLst/>
          </a:prstGeom>
          <a:solidFill>
            <a:srgbClr val="C00000"/>
          </a:solidFill>
          <a:ln/>
        </p:spPr>
        <p:txBody>
          <a:bodyPr/>
          <a:lstStyle/>
          <a:p>
            <a:endParaRPr lang="en-US"/>
          </a:p>
        </p:txBody>
      </p:sp>
      <p:sp>
        <p:nvSpPr>
          <p:cNvPr id="182" name="Shape 178"/>
          <p:cNvSpPr/>
          <p:nvPr/>
        </p:nvSpPr>
        <p:spPr>
          <a:xfrm>
            <a:off x="3248184" y="8629650"/>
            <a:ext cx="208863" cy="19050"/>
          </a:xfrm>
          <a:prstGeom prst="rect">
            <a:avLst/>
          </a:prstGeom>
          <a:solidFill>
            <a:srgbClr val="4E8B2C"/>
          </a:solidFill>
          <a:ln/>
        </p:spPr>
        <p:txBody>
          <a:bodyPr/>
          <a:lstStyle/>
          <a:p>
            <a:endParaRPr lang="en-US"/>
          </a:p>
        </p:txBody>
      </p:sp>
      <p:sp>
        <p:nvSpPr>
          <p:cNvPr id="183" name="Shape 179"/>
          <p:cNvSpPr/>
          <p:nvPr/>
        </p:nvSpPr>
        <p:spPr>
          <a:xfrm>
            <a:off x="3399897" y="8585200"/>
            <a:ext cx="114300" cy="114300"/>
          </a:xfrm>
          <a:prstGeom prst="ellipse">
            <a:avLst/>
          </a:prstGeom>
          <a:solidFill>
            <a:srgbClr val="FFFFFF"/>
          </a:solidFill>
          <a:ln w="12700">
            <a:solidFill>
              <a:srgbClr val="8A8F86"/>
            </a:solidFill>
            <a:prstDash val="solid"/>
          </a:ln>
        </p:spPr>
        <p:txBody>
          <a:bodyPr/>
          <a:lstStyle/>
          <a:p>
            <a:endParaRPr lang="en-US"/>
          </a:p>
        </p:txBody>
      </p:sp>
      <p:sp>
        <p:nvSpPr>
          <p:cNvPr id="184" name="Shape 180"/>
          <p:cNvSpPr/>
          <p:nvPr/>
        </p:nvSpPr>
        <p:spPr>
          <a:xfrm>
            <a:off x="3191034" y="8585200"/>
            <a:ext cx="114300" cy="114300"/>
          </a:xfrm>
          <a:prstGeom prst="ellipse">
            <a:avLst/>
          </a:prstGeom>
          <a:solidFill>
            <a:srgbClr val="4E8B2C"/>
          </a:solidFill>
          <a:ln/>
        </p:spPr>
        <p:txBody>
          <a:bodyPr/>
          <a:lstStyle/>
          <a:p>
            <a:endParaRPr lang="en-US"/>
          </a:p>
        </p:txBody>
      </p:sp>
      <p:sp>
        <p:nvSpPr>
          <p:cNvPr id="185" name="Text 181"/>
          <p:cNvSpPr/>
          <p:nvPr/>
        </p:nvSpPr>
        <p:spPr>
          <a:xfrm>
            <a:off x="6591300" y="8547100"/>
            <a:ext cx="3613428" cy="190500"/>
          </a:xfrm>
          <a:prstGeom prst="rect">
            <a:avLst/>
          </a:prstGeom>
          <a:noFill/>
          <a:ln/>
        </p:spPr>
        <p:txBody>
          <a:bodyPr wrap="square" lIns="25400" tIns="25400" rIns="25400" bIns="25400" rtlCol="0" anchor="t">
            <a:normAutofit fontScale="85000" lnSpcReduction="20000"/>
          </a:bodyPr>
          <a:lstStyle/>
          <a:p>
            <a:pPr marL="0" indent="0" algn="l">
              <a:buNone/>
            </a:pPr>
            <a:r>
              <a:rPr lang="en-US" sz="1300" b="1" dirty="0">
                <a:solidFill>
                  <a:srgbClr val="4E8B2C"/>
                </a:solidFill>
                <a:latin typeface="Calibri" pitchFamily="34" charset="0"/>
                <a:ea typeface="Calibri" pitchFamily="34" charset="-122"/>
                <a:cs typeface="Calibri" pitchFamily="34" charset="-120"/>
              </a:rPr>
              <a:t>17.4% → 12.8% (-4.6pt)</a:t>
            </a:r>
            <a:endParaRPr lang="en-US" sz="1300" dirty="0"/>
          </a:p>
        </p:txBody>
      </p:sp>
      <p:sp>
        <p:nvSpPr>
          <p:cNvPr id="186" name="Text 182"/>
          <p:cNvSpPr/>
          <p:nvPr/>
        </p:nvSpPr>
        <p:spPr>
          <a:xfrm>
            <a:off x="647700" y="8750300"/>
            <a:ext cx="2095500" cy="190500"/>
          </a:xfrm>
          <a:prstGeom prst="rect">
            <a:avLst/>
          </a:prstGeom>
          <a:noFill/>
          <a:ln/>
        </p:spPr>
        <p:txBody>
          <a:bodyPr wrap="square" lIns="25400" tIns="25400" rIns="25400" bIns="25400" rtlCol="0" anchor="t">
            <a:normAutofit fontScale="85000" lnSpcReduction="20000"/>
          </a:bodyPr>
          <a:lstStyle/>
          <a:p>
            <a:pPr marL="0" indent="0" algn="l">
              <a:buNone/>
            </a:pPr>
            <a:r>
              <a:rPr lang="en-US" sz="1300" dirty="0">
                <a:solidFill>
                  <a:srgbClr val="1A1A1A"/>
                </a:solidFill>
                <a:latin typeface="Calibri" pitchFamily="34" charset="0"/>
                <a:ea typeface="Calibri" pitchFamily="34" charset="-122"/>
                <a:cs typeface="Calibri" pitchFamily="34" charset="-120"/>
              </a:rPr>
              <a:t>khiemnguyen</a:t>
            </a:r>
            <a:endParaRPr lang="en-US" sz="1300" dirty="0"/>
          </a:p>
        </p:txBody>
      </p:sp>
      <p:sp>
        <p:nvSpPr>
          <p:cNvPr id="187" name="Shape 183"/>
          <p:cNvSpPr/>
          <p:nvPr/>
        </p:nvSpPr>
        <p:spPr>
          <a:xfrm>
            <a:off x="2667000" y="8775700"/>
            <a:ext cx="3810000" cy="127000"/>
          </a:xfrm>
          <a:prstGeom prst="rect">
            <a:avLst/>
          </a:prstGeom>
          <a:solidFill>
            <a:srgbClr val="F4F6F2"/>
          </a:solidFill>
          <a:ln/>
        </p:spPr>
        <p:txBody>
          <a:bodyPr/>
          <a:lstStyle/>
          <a:p>
            <a:endParaRPr lang="en-US"/>
          </a:p>
        </p:txBody>
      </p:sp>
      <p:sp>
        <p:nvSpPr>
          <p:cNvPr id="188" name="Shape 184"/>
          <p:cNvSpPr/>
          <p:nvPr/>
        </p:nvSpPr>
        <p:spPr>
          <a:xfrm>
            <a:off x="2893616" y="8775700"/>
            <a:ext cx="19050" cy="127000"/>
          </a:xfrm>
          <a:prstGeom prst="rect">
            <a:avLst/>
          </a:prstGeom>
          <a:solidFill>
            <a:srgbClr val="C00000"/>
          </a:solidFill>
          <a:ln/>
        </p:spPr>
        <p:txBody>
          <a:bodyPr/>
          <a:lstStyle/>
          <a:p>
            <a:endParaRPr lang="en-US"/>
          </a:p>
        </p:txBody>
      </p:sp>
      <p:sp>
        <p:nvSpPr>
          <p:cNvPr id="189" name="Shape 185"/>
          <p:cNvSpPr/>
          <p:nvPr/>
        </p:nvSpPr>
        <p:spPr>
          <a:xfrm>
            <a:off x="3107429" y="8832850"/>
            <a:ext cx="1098801" cy="19050"/>
          </a:xfrm>
          <a:prstGeom prst="rect">
            <a:avLst/>
          </a:prstGeom>
          <a:solidFill>
            <a:srgbClr val="4E8B2C"/>
          </a:solidFill>
          <a:ln/>
        </p:spPr>
        <p:txBody>
          <a:bodyPr/>
          <a:lstStyle/>
          <a:p>
            <a:endParaRPr lang="en-US"/>
          </a:p>
        </p:txBody>
      </p:sp>
      <p:sp>
        <p:nvSpPr>
          <p:cNvPr id="190" name="Shape 186"/>
          <p:cNvSpPr/>
          <p:nvPr/>
        </p:nvSpPr>
        <p:spPr>
          <a:xfrm>
            <a:off x="4149080" y="8788400"/>
            <a:ext cx="114300" cy="114300"/>
          </a:xfrm>
          <a:prstGeom prst="ellipse">
            <a:avLst/>
          </a:prstGeom>
          <a:solidFill>
            <a:srgbClr val="FFFFFF"/>
          </a:solidFill>
          <a:ln w="12700">
            <a:solidFill>
              <a:srgbClr val="8A8F86"/>
            </a:solidFill>
            <a:prstDash val="solid"/>
          </a:ln>
        </p:spPr>
        <p:txBody>
          <a:bodyPr/>
          <a:lstStyle/>
          <a:p>
            <a:endParaRPr lang="en-US"/>
          </a:p>
        </p:txBody>
      </p:sp>
      <p:sp>
        <p:nvSpPr>
          <p:cNvPr id="191" name="Shape 187"/>
          <p:cNvSpPr/>
          <p:nvPr/>
        </p:nvSpPr>
        <p:spPr>
          <a:xfrm>
            <a:off x="3050279" y="8788400"/>
            <a:ext cx="114300" cy="114300"/>
          </a:xfrm>
          <a:prstGeom prst="ellipse">
            <a:avLst/>
          </a:prstGeom>
          <a:solidFill>
            <a:srgbClr val="4E8B2C"/>
          </a:solidFill>
          <a:ln/>
        </p:spPr>
        <p:txBody>
          <a:bodyPr/>
          <a:lstStyle/>
          <a:p>
            <a:endParaRPr lang="en-US"/>
          </a:p>
        </p:txBody>
      </p:sp>
      <p:sp>
        <p:nvSpPr>
          <p:cNvPr id="192" name="Text 188"/>
          <p:cNvSpPr/>
          <p:nvPr/>
        </p:nvSpPr>
        <p:spPr>
          <a:xfrm>
            <a:off x="6591300" y="8750300"/>
            <a:ext cx="3613428" cy="190500"/>
          </a:xfrm>
          <a:prstGeom prst="rect">
            <a:avLst/>
          </a:prstGeom>
          <a:noFill/>
          <a:ln/>
        </p:spPr>
        <p:txBody>
          <a:bodyPr wrap="square" lIns="25400" tIns="25400" rIns="25400" bIns="25400" rtlCol="0" anchor="t">
            <a:normAutofit fontScale="85000" lnSpcReduction="20000"/>
          </a:bodyPr>
          <a:lstStyle/>
          <a:p>
            <a:pPr marL="0" indent="0" algn="l">
              <a:buNone/>
            </a:pPr>
            <a:r>
              <a:rPr lang="en-US" sz="1300" b="1" dirty="0">
                <a:solidFill>
                  <a:srgbClr val="4E8B2C"/>
                </a:solidFill>
                <a:latin typeface="Calibri" pitchFamily="34" charset="0"/>
                <a:ea typeface="Calibri" pitchFamily="34" charset="-122"/>
                <a:cs typeface="Calibri" pitchFamily="34" charset="-120"/>
              </a:rPr>
              <a:t>33.9% → 9.7% (-24.2pt)</a:t>
            </a:r>
            <a:endParaRPr lang="en-US" sz="1300" dirty="0"/>
          </a:p>
        </p:txBody>
      </p:sp>
      <p:sp>
        <p:nvSpPr>
          <p:cNvPr id="193" name="Text 189"/>
          <p:cNvSpPr/>
          <p:nvPr/>
        </p:nvSpPr>
        <p:spPr>
          <a:xfrm>
            <a:off x="647700" y="8953500"/>
            <a:ext cx="2095500" cy="190500"/>
          </a:xfrm>
          <a:prstGeom prst="rect">
            <a:avLst/>
          </a:prstGeom>
          <a:noFill/>
          <a:ln/>
        </p:spPr>
        <p:txBody>
          <a:bodyPr wrap="square" lIns="25400" tIns="25400" rIns="25400" bIns="25400" rtlCol="0" anchor="t">
            <a:normAutofit fontScale="85000" lnSpcReduction="20000"/>
          </a:bodyPr>
          <a:lstStyle/>
          <a:p>
            <a:pPr marL="0" indent="0" algn="l">
              <a:buNone/>
            </a:pPr>
            <a:r>
              <a:rPr lang="en-US" sz="1300" dirty="0">
                <a:solidFill>
                  <a:srgbClr val="1A1A1A"/>
                </a:solidFill>
                <a:latin typeface="Calibri" pitchFamily="34" charset="0"/>
                <a:ea typeface="Calibri" pitchFamily="34" charset="-122"/>
                <a:cs typeface="Calibri" pitchFamily="34" charset="-120"/>
              </a:rPr>
              <a:t>qtuan</a:t>
            </a:r>
            <a:endParaRPr lang="en-US" sz="1300" dirty="0"/>
          </a:p>
        </p:txBody>
      </p:sp>
      <p:sp>
        <p:nvSpPr>
          <p:cNvPr id="194" name="Shape 190"/>
          <p:cNvSpPr/>
          <p:nvPr/>
        </p:nvSpPr>
        <p:spPr>
          <a:xfrm>
            <a:off x="2667000" y="8978900"/>
            <a:ext cx="3810000" cy="127000"/>
          </a:xfrm>
          <a:prstGeom prst="rect">
            <a:avLst/>
          </a:prstGeom>
          <a:solidFill>
            <a:srgbClr val="F4F6F2"/>
          </a:solidFill>
          <a:ln/>
        </p:spPr>
        <p:txBody>
          <a:bodyPr/>
          <a:lstStyle/>
          <a:p>
            <a:endParaRPr lang="en-US"/>
          </a:p>
        </p:txBody>
      </p:sp>
      <p:sp>
        <p:nvSpPr>
          <p:cNvPr id="195" name="Shape 191"/>
          <p:cNvSpPr/>
          <p:nvPr/>
        </p:nvSpPr>
        <p:spPr>
          <a:xfrm>
            <a:off x="2893616" y="8978900"/>
            <a:ext cx="19050" cy="127000"/>
          </a:xfrm>
          <a:prstGeom prst="rect">
            <a:avLst/>
          </a:prstGeom>
          <a:solidFill>
            <a:srgbClr val="C00000"/>
          </a:solidFill>
          <a:ln/>
        </p:spPr>
        <p:txBody>
          <a:bodyPr/>
          <a:lstStyle/>
          <a:p>
            <a:endParaRPr lang="en-US"/>
          </a:p>
        </p:txBody>
      </p:sp>
      <p:sp>
        <p:nvSpPr>
          <p:cNvPr id="196" name="Shape 192"/>
          <p:cNvSpPr/>
          <p:nvPr/>
        </p:nvSpPr>
        <p:spPr>
          <a:xfrm>
            <a:off x="3506993" y="9036050"/>
            <a:ext cx="340538" cy="19050"/>
          </a:xfrm>
          <a:prstGeom prst="rect">
            <a:avLst/>
          </a:prstGeom>
          <a:solidFill>
            <a:srgbClr val="4E8B2C"/>
          </a:solidFill>
          <a:ln/>
        </p:spPr>
        <p:txBody>
          <a:bodyPr/>
          <a:lstStyle/>
          <a:p>
            <a:endParaRPr lang="en-US"/>
          </a:p>
        </p:txBody>
      </p:sp>
      <p:sp>
        <p:nvSpPr>
          <p:cNvPr id="197" name="Shape 193"/>
          <p:cNvSpPr/>
          <p:nvPr/>
        </p:nvSpPr>
        <p:spPr>
          <a:xfrm>
            <a:off x="3790380" y="8991600"/>
            <a:ext cx="114300" cy="114300"/>
          </a:xfrm>
          <a:prstGeom prst="ellipse">
            <a:avLst/>
          </a:prstGeom>
          <a:solidFill>
            <a:srgbClr val="FFFFFF"/>
          </a:solidFill>
          <a:ln w="12700">
            <a:solidFill>
              <a:srgbClr val="8A8F86"/>
            </a:solidFill>
            <a:prstDash val="solid"/>
          </a:ln>
        </p:spPr>
        <p:txBody>
          <a:bodyPr/>
          <a:lstStyle/>
          <a:p>
            <a:endParaRPr lang="en-US"/>
          </a:p>
        </p:txBody>
      </p:sp>
      <p:sp>
        <p:nvSpPr>
          <p:cNvPr id="198" name="Shape 194"/>
          <p:cNvSpPr/>
          <p:nvPr/>
        </p:nvSpPr>
        <p:spPr>
          <a:xfrm>
            <a:off x="3449843" y="8991600"/>
            <a:ext cx="114300" cy="114300"/>
          </a:xfrm>
          <a:prstGeom prst="ellipse">
            <a:avLst/>
          </a:prstGeom>
          <a:solidFill>
            <a:srgbClr val="4E8B2C"/>
          </a:solidFill>
          <a:ln/>
        </p:spPr>
        <p:txBody>
          <a:bodyPr/>
          <a:lstStyle/>
          <a:p>
            <a:endParaRPr lang="en-US"/>
          </a:p>
        </p:txBody>
      </p:sp>
      <p:sp>
        <p:nvSpPr>
          <p:cNvPr id="199" name="Text 195"/>
          <p:cNvSpPr/>
          <p:nvPr/>
        </p:nvSpPr>
        <p:spPr>
          <a:xfrm>
            <a:off x="6591300" y="8953500"/>
            <a:ext cx="3613428" cy="190500"/>
          </a:xfrm>
          <a:prstGeom prst="rect">
            <a:avLst/>
          </a:prstGeom>
          <a:noFill/>
          <a:ln/>
        </p:spPr>
        <p:txBody>
          <a:bodyPr wrap="square" lIns="25400" tIns="25400" rIns="25400" bIns="25400" rtlCol="0" anchor="t">
            <a:normAutofit fontScale="85000" lnSpcReduction="20000"/>
          </a:bodyPr>
          <a:lstStyle/>
          <a:p>
            <a:pPr marL="0" indent="0" algn="l">
              <a:buNone/>
            </a:pPr>
            <a:r>
              <a:rPr lang="en-US" sz="1300" b="1" dirty="0">
                <a:solidFill>
                  <a:srgbClr val="4E8B2C"/>
                </a:solidFill>
                <a:latin typeface="Calibri" pitchFamily="34" charset="0"/>
                <a:ea typeface="Calibri" pitchFamily="34" charset="-122"/>
                <a:cs typeface="Calibri" pitchFamily="34" charset="-120"/>
              </a:rPr>
              <a:t>26.0% → 18.5% (-7.5pt)</a:t>
            </a:r>
            <a:endParaRPr lang="en-US" sz="1300" dirty="0"/>
          </a:p>
        </p:txBody>
      </p:sp>
      <p:sp>
        <p:nvSpPr>
          <p:cNvPr id="200" name="Text 196"/>
          <p:cNvSpPr/>
          <p:nvPr/>
        </p:nvSpPr>
        <p:spPr>
          <a:xfrm>
            <a:off x="647700" y="9156700"/>
            <a:ext cx="2095500" cy="190500"/>
          </a:xfrm>
          <a:prstGeom prst="rect">
            <a:avLst/>
          </a:prstGeom>
          <a:noFill/>
          <a:ln/>
        </p:spPr>
        <p:txBody>
          <a:bodyPr wrap="square" lIns="25400" tIns="25400" rIns="25400" bIns="25400" rtlCol="0" anchor="t">
            <a:normAutofit fontScale="85000" lnSpcReduction="20000"/>
          </a:bodyPr>
          <a:lstStyle/>
          <a:p>
            <a:pPr marL="0" indent="0" algn="l">
              <a:buNone/>
            </a:pPr>
            <a:r>
              <a:rPr lang="en-US" sz="1300" dirty="0">
                <a:solidFill>
                  <a:srgbClr val="1A1A1A"/>
                </a:solidFill>
                <a:latin typeface="Calibri" pitchFamily="34" charset="0"/>
                <a:ea typeface="Calibri" pitchFamily="34" charset="-122"/>
                <a:cs typeface="Calibri" pitchFamily="34" charset="-120"/>
              </a:rPr>
              <a:t>dinhnguyen</a:t>
            </a:r>
            <a:endParaRPr lang="en-US" sz="1300" dirty="0"/>
          </a:p>
        </p:txBody>
      </p:sp>
      <p:sp>
        <p:nvSpPr>
          <p:cNvPr id="201" name="Shape 197"/>
          <p:cNvSpPr/>
          <p:nvPr/>
        </p:nvSpPr>
        <p:spPr>
          <a:xfrm>
            <a:off x="2667000" y="9182100"/>
            <a:ext cx="3810000" cy="127000"/>
          </a:xfrm>
          <a:prstGeom prst="rect">
            <a:avLst/>
          </a:prstGeom>
          <a:solidFill>
            <a:srgbClr val="F4F6F2"/>
          </a:solidFill>
          <a:ln/>
        </p:spPr>
        <p:txBody>
          <a:bodyPr/>
          <a:lstStyle/>
          <a:p>
            <a:endParaRPr lang="en-US"/>
          </a:p>
        </p:txBody>
      </p:sp>
      <p:sp>
        <p:nvSpPr>
          <p:cNvPr id="202" name="Shape 198"/>
          <p:cNvSpPr/>
          <p:nvPr/>
        </p:nvSpPr>
        <p:spPr>
          <a:xfrm>
            <a:off x="2893616" y="9182100"/>
            <a:ext cx="19050" cy="127000"/>
          </a:xfrm>
          <a:prstGeom prst="rect">
            <a:avLst/>
          </a:prstGeom>
          <a:solidFill>
            <a:srgbClr val="C00000"/>
          </a:solidFill>
          <a:ln/>
        </p:spPr>
        <p:txBody>
          <a:bodyPr/>
          <a:lstStyle/>
          <a:p>
            <a:endParaRPr lang="en-US"/>
          </a:p>
        </p:txBody>
      </p:sp>
      <p:sp>
        <p:nvSpPr>
          <p:cNvPr id="203" name="Shape 199"/>
          <p:cNvSpPr/>
          <p:nvPr/>
        </p:nvSpPr>
        <p:spPr>
          <a:xfrm>
            <a:off x="4183527" y="9239250"/>
            <a:ext cx="354159" cy="19050"/>
          </a:xfrm>
          <a:prstGeom prst="rect">
            <a:avLst/>
          </a:prstGeom>
          <a:solidFill>
            <a:srgbClr val="4E8B2C"/>
          </a:solidFill>
          <a:ln/>
        </p:spPr>
        <p:txBody>
          <a:bodyPr/>
          <a:lstStyle/>
          <a:p>
            <a:endParaRPr lang="en-US"/>
          </a:p>
        </p:txBody>
      </p:sp>
      <p:sp>
        <p:nvSpPr>
          <p:cNvPr id="204" name="Shape 200"/>
          <p:cNvSpPr/>
          <p:nvPr/>
        </p:nvSpPr>
        <p:spPr>
          <a:xfrm>
            <a:off x="4480536" y="9194800"/>
            <a:ext cx="114300" cy="114300"/>
          </a:xfrm>
          <a:prstGeom prst="ellipse">
            <a:avLst/>
          </a:prstGeom>
          <a:solidFill>
            <a:srgbClr val="FFFFFF"/>
          </a:solidFill>
          <a:ln w="12700">
            <a:solidFill>
              <a:srgbClr val="8A8F86"/>
            </a:solidFill>
            <a:prstDash val="solid"/>
          </a:ln>
        </p:spPr>
        <p:txBody>
          <a:bodyPr/>
          <a:lstStyle/>
          <a:p>
            <a:endParaRPr lang="en-US"/>
          </a:p>
        </p:txBody>
      </p:sp>
      <p:sp>
        <p:nvSpPr>
          <p:cNvPr id="205" name="Shape 201"/>
          <p:cNvSpPr/>
          <p:nvPr/>
        </p:nvSpPr>
        <p:spPr>
          <a:xfrm>
            <a:off x="4126377" y="9194800"/>
            <a:ext cx="114300" cy="114300"/>
          </a:xfrm>
          <a:prstGeom prst="ellipse">
            <a:avLst/>
          </a:prstGeom>
          <a:solidFill>
            <a:srgbClr val="4E8B2C"/>
          </a:solidFill>
          <a:ln/>
        </p:spPr>
        <p:txBody>
          <a:bodyPr/>
          <a:lstStyle/>
          <a:p>
            <a:endParaRPr lang="en-US"/>
          </a:p>
        </p:txBody>
      </p:sp>
      <p:sp>
        <p:nvSpPr>
          <p:cNvPr id="206" name="Text 202"/>
          <p:cNvSpPr/>
          <p:nvPr/>
        </p:nvSpPr>
        <p:spPr>
          <a:xfrm>
            <a:off x="6591300" y="9156700"/>
            <a:ext cx="3613428" cy="190500"/>
          </a:xfrm>
          <a:prstGeom prst="rect">
            <a:avLst/>
          </a:prstGeom>
          <a:noFill/>
          <a:ln/>
        </p:spPr>
        <p:txBody>
          <a:bodyPr wrap="square" lIns="25400" tIns="25400" rIns="25400" bIns="25400" rtlCol="0" anchor="t">
            <a:normAutofit fontScale="85000" lnSpcReduction="20000"/>
          </a:bodyPr>
          <a:lstStyle/>
          <a:p>
            <a:pPr marL="0" indent="0" algn="l">
              <a:buNone/>
            </a:pPr>
            <a:r>
              <a:rPr lang="en-US" sz="1300" b="1" dirty="0">
                <a:solidFill>
                  <a:srgbClr val="4E8B2C"/>
                </a:solidFill>
                <a:latin typeface="Calibri" pitchFamily="34" charset="0"/>
                <a:ea typeface="Calibri" pitchFamily="34" charset="-122"/>
                <a:cs typeface="Calibri" pitchFamily="34" charset="-120"/>
              </a:rPr>
              <a:t>41.2% → 33.4% (-7.8pt)</a:t>
            </a:r>
            <a:endParaRPr lang="en-US" sz="1300" dirty="0"/>
          </a:p>
        </p:txBody>
      </p:sp>
      <p:sp>
        <p:nvSpPr>
          <p:cNvPr id="207" name="Text 203"/>
          <p:cNvSpPr/>
          <p:nvPr/>
        </p:nvSpPr>
        <p:spPr>
          <a:xfrm>
            <a:off x="647700" y="9359900"/>
            <a:ext cx="2095500" cy="190500"/>
          </a:xfrm>
          <a:prstGeom prst="rect">
            <a:avLst/>
          </a:prstGeom>
          <a:noFill/>
          <a:ln/>
        </p:spPr>
        <p:txBody>
          <a:bodyPr wrap="square" lIns="25400" tIns="25400" rIns="25400" bIns="25400" rtlCol="0" anchor="t">
            <a:normAutofit fontScale="85000" lnSpcReduction="20000"/>
          </a:bodyPr>
          <a:lstStyle/>
          <a:p>
            <a:pPr marL="0" indent="0" algn="l">
              <a:buNone/>
            </a:pPr>
            <a:r>
              <a:rPr lang="en-US" sz="1300" dirty="0">
                <a:solidFill>
                  <a:srgbClr val="1A1A1A"/>
                </a:solidFill>
                <a:latin typeface="Calibri" pitchFamily="34" charset="0"/>
                <a:ea typeface="Calibri" pitchFamily="34" charset="-122"/>
                <a:cs typeface="Calibri" pitchFamily="34" charset="-120"/>
              </a:rPr>
              <a:t>tienkieu</a:t>
            </a:r>
            <a:endParaRPr lang="en-US" sz="1300" dirty="0"/>
          </a:p>
        </p:txBody>
      </p:sp>
      <p:sp>
        <p:nvSpPr>
          <p:cNvPr id="208" name="Shape 204"/>
          <p:cNvSpPr/>
          <p:nvPr/>
        </p:nvSpPr>
        <p:spPr>
          <a:xfrm>
            <a:off x="2667000" y="9385300"/>
            <a:ext cx="3810000" cy="127000"/>
          </a:xfrm>
          <a:prstGeom prst="rect">
            <a:avLst/>
          </a:prstGeom>
          <a:solidFill>
            <a:srgbClr val="F4F6F2"/>
          </a:solidFill>
          <a:ln/>
        </p:spPr>
        <p:txBody>
          <a:bodyPr/>
          <a:lstStyle/>
          <a:p>
            <a:endParaRPr lang="en-US"/>
          </a:p>
        </p:txBody>
      </p:sp>
      <p:sp>
        <p:nvSpPr>
          <p:cNvPr id="209" name="Shape 205"/>
          <p:cNvSpPr/>
          <p:nvPr/>
        </p:nvSpPr>
        <p:spPr>
          <a:xfrm>
            <a:off x="2893616" y="9385300"/>
            <a:ext cx="19050" cy="127000"/>
          </a:xfrm>
          <a:prstGeom prst="rect">
            <a:avLst/>
          </a:prstGeom>
          <a:solidFill>
            <a:srgbClr val="C00000"/>
          </a:solidFill>
          <a:ln/>
        </p:spPr>
        <p:txBody>
          <a:bodyPr/>
          <a:lstStyle/>
          <a:p>
            <a:endParaRPr lang="en-US"/>
          </a:p>
        </p:txBody>
      </p:sp>
      <p:sp>
        <p:nvSpPr>
          <p:cNvPr id="210" name="Shape 206"/>
          <p:cNvSpPr/>
          <p:nvPr/>
        </p:nvSpPr>
        <p:spPr>
          <a:xfrm>
            <a:off x="3729477" y="9442450"/>
            <a:ext cx="508536" cy="19050"/>
          </a:xfrm>
          <a:prstGeom prst="rect">
            <a:avLst/>
          </a:prstGeom>
          <a:solidFill>
            <a:srgbClr val="4E8B2C"/>
          </a:solidFill>
          <a:ln/>
        </p:spPr>
        <p:txBody>
          <a:bodyPr/>
          <a:lstStyle/>
          <a:p>
            <a:endParaRPr lang="en-US"/>
          </a:p>
        </p:txBody>
      </p:sp>
      <p:sp>
        <p:nvSpPr>
          <p:cNvPr id="211" name="Shape 207"/>
          <p:cNvSpPr/>
          <p:nvPr/>
        </p:nvSpPr>
        <p:spPr>
          <a:xfrm>
            <a:off x="4180863" y="9398000"/>
            <a:ext cx="114300" cy="114300"/>
          </a:xfrm>
          <a:prstGeom prst="ellipse">
            <a:avLst/>
          </a:prstGeom>
          <a:solidFill>
            <a:srgbClr val="FFFFFF"/>
          </a:solidFill>
          <a:ln w="12700">
            <a:solidFill>
              <a:srgbClr val="8A8F86"/>
            </a:solidFill>
            <a:prstDash val="solid"/>
          </a:ln>
        </p:spPr>
        <p:txBody>
          <a:bodyPr/>
          <a:lstStyle/>
          <a:p>
            <a:endParaRPr lang="en-US"/>
          </a:p>
        </p:txBody>
      </p:sp>
      <p:sp>
        <p:nvSpPr>
          <p:cNvPr id="212" name="Shape 208"/>
          <p:cNvSpPr/>
          <p:nvPr/>
        </p:nvSpPr>
        <p:spPr>
          <a:xfrm>
            <a:off x="3672327" y="9398000"/>
            <a:ext cx="114300" cy="114300"/>
          </a:xfrm>
          <a:prstGeom prst="ellipse">
            <a:avLst/>
          </a:prstGeom>
          <a:solidFill>
            <a:srgbClr val="4E8B2C"/>
          </a:solidFill>
          <a:ln/>
        </p:spPr>
        <p:txBody>
          <a:bodyPr/>
          <a:lstStyle/>
          <a:p>
            <a:endParaRPr lang="en-US"/>
          </a:p>
        </p:txBody>
      </p:sp>
      <p:sp>
        <p:nvSpPr>
          <p:cNvPr id="213" name="Text 209"/>
          <p:cNvSpPr/>
          <p:nvPr/>
        </p:nvSpPr>
        <p:spPr>
          <a:xfrm>
            <a:off x="6591300" y="9359900"/>
            <a:ext cx="3613428" cy="190500"/>
          </a:xfrm>
          <a:prstGeom prst="rect">
            <a:avLst/>
          </a:prstGeom>
          <a:noFill/>
          <a:ln/>
        </p:spPr>
        <p:txBody>
          <a:bodyPr wrap="square" lIns="25400" tIns="25400" rIns="25400" bIns="25400" rtlCol="0" anchor="t">
            <a:normAutofit fontScale="85000" lnSpcReduction="20000"/>
          </a:bodyPr>
          <a:lstStyle/>
          <a:p>
            <a:pPr marL="0" indent="0" algn="l">
              <a:buNone/>
            </a:pPr>
            <a:r>
              <a:rPr lang="en-US" sz="1300" b="1" dirty="0">
                <a:solidFill>
                  <a:srgbClr val="4E8B2C"/>
                </a:solidFill>
                <a:latin typeface="Calibri" pitchFamily="34" charset="0"/>
                <a:ea typeface="Calibri" pitchFamily="34" charset="-122"/>
                <a:cs typeface="Calibri" pitchFamily="34" charset="-120"/>
              </a:rPr>
              <a:t>34.6% → 23.4% (-11.2pt)</a:t>
            </a:r>
            <a:endParaRPr lang="en-US" sz="1300" dirty="0"/>
          </a:p>
        </p:txBody>
      </p:sp>
      <p:sp>
        <p:nvSpPr>
          <p:cNvPr id="214" name="Text 210"/>
          <p:cNvSpPr/>
          <p:nvPr/>
        </p:nvSpPr>
        <p:spPr>
          <a:xfrm>
            <a:off x="647700" y="9563100"/>
            <a:ext cx="2095500" cy="190500"/>
          </a:xfrm>
          <a:prstGeom prst="rect">
            <a:avLst/>
          </a:prstGeom>
          <a:noFill/>
          <a:ln/>
        </p:spPr>
        <p:txBody>
          <a:bodyPr wrap="square" lIns="25400" tIns="25400" rIns="25400" bIns="25400" rtlCol="0" anchor="t">
            <a:normAutofit fontScale="85000" lnSpcReduction="20000"/>
          </a:bodyPr>
          <a:lstStyle/>
          <a:p>
            <a:pPr marL="0" indent="0" algn="l">
              <a:buNone/>
            </a:pPr>
            <a:r>
              <a:rPr lang="en-US" sz="1300" dirty="0">
                <a:solidFill>
                  <a:srgbClr val="1A1A1A"/>
                </a:solidFill>
                <a:latin typeface="Calibri" pitchFamily="34" charset="0"/>
                <a:ea typeface="Calibri" pitchFamily="34" charset="-122"/>
                <a:cs typeface="Calibri" pitchFamily="34" charset="-120"/>
              </a:rPr>
              <a:t>daochu</a:t>
            </a:r>
            <a:endParaRPr lang="en-US" sz="1300" dirty="0"/>
          </a:p>
        </p:txBody>
      </p:sp>
      <p:sp>
        <p:nvSpPr>
          <p:cNvPr id="215" name="Shape 211"/>
          <p:cNvSpPr/>
          <p:nvPr/>
        </p:nvSpPr>
        <p:spPr>
          <a:xfrm>
            <a:off x="2667000" y="9588500"/>
            <a:ext cx="3810000" cy="127000"/>
          </a:xfrm>
          <a:prstGeom prst="rect">
            <a:avLst/>
          </a:prstGeom>
          <a:solidFill>
            <a:srgbClr val="F4F6F2"/>
          </a:solidFill>
          <a:ln/>
        </p:spPr>
        <p:txBody>
          <a:bodyPr/>
          <a:lstStyle/>
          <a:p>
            <a:endParaRPr lang="en-US"/>
          </a:p>
        </p:txBody>
      </p:sp>
      <p:sp>
        <p:nvSpPr>
          <p:cNvPr id="216" name="Shape 212"/>
          <p:cNvSpPr/>
          <p:nvPr/>
        </p:nvSpPr>
        <p:spPr>
          <a:xfrm>
            <a:off x="2893616" y="9588500"/>
            <a:ext cx="19050" cy="127000"/>
          </a:xfrm>
          <a:prstGeom prst="rect">
            <a:avLst/>
          </a:prstGeom>
          <a:solidFill>
            <a:srgbClr val="C00000"/>
          </a:solidFill>
          <a:ln/>
        </p:spPr>
        <p:txBody>
          <a:bodyPr/>
          <a:lstStyle/>
          <a:p>
            <a:endParaRPr lang="en-US"/>
          </a:p>
        </p:txBody>
      </p:sp>
      <p:sp>
        <p:nvSpPr>
          <p:cNvPr id="217" name="Shape 213"/>
          <p:cNvSpPr/>
          <p:nvPr/>
        </p:nvSpPr>
        <p:spPr>
          <a:xfrm>
            <a:off x="4446876" y="9645650"/>
            <a:ext cx="1666364" cy="19050"/>
          </a:xfrm>
          <a:prstGeom prst="rect">
            <a:avLst/>
          </a:prstGeom>
          <a:solidFill>
            <a:srgbClr val="4E8B2C"/>
          </a:solidFill>
          <a:ln/>
        </p:spPr>
        <p:txBody>
          <a:bodyPr/>
          <a:lstStyle/>
          <a:p>
            <a:endParaRPr lang="en-US"/>
          </a:p>
        </p:txBody>
      </p:sp>
      <p:sp>
        <p:nvSpPr>
          <p:cNvPr id="218" name="Shape 214"/>
          <p:cNvSpPr/>
          <p:nvPr/>
        </p:nvSpPr>
        <p:spPr>
          <a:xfrm>
            <a:off x="6056090" y="9601200"/>
            <a:ext cx="114300" cy="114300"/>
          </a:xfrm>
          <a:prstGeom prst="ellipse">
            <a:avLst/>
          </a:prstGeom>
          <a:solidFill>
            <a:srgbClr val="FFFFFF"/>
          </a:solidFill>
          <a:ln w="12700">
            <a:solidFill>
              <a:srgbClr val="8A8F86"/>
            </a:solidFill>
            <a:prstDash val="solid"/>
          </a:ln>
        </p:spPr>
        <p:txBody>
          <a:bodyPr/>
          <a:lstStyle/>
          <a:p>
            <a:endParaRPr lang="en-US"/>
          </a:p>
        </p:txBody>
      </p:sp>
      <p:sp>
        <p:nvSpPr>
          <p:cNvPr id="219" name="Shape 215"/>
          <p:cNvSpPr/>
          <p:nvPr/>
        </p:nvSpPr>
        <p:spPr>
          <a:xfrm>
            <a:off x="4389726" y="9601200"/>
            <a:ext cx="114300" cy="114300"/>
          </a:xfrm>
          <a:prstGeom prst="ellipse">
            <a:avLst/>
          </a:prstGeom>
          <a:solidFill>
            <a:srgbClr val="4E8B2C"/>
          </a:solidFill>
          <a:ln/>
        </p:spPr>
        <p:txBody>
          <a:bodyPr/>
          <a:lstStyle/>
          <a:p>
            <a:endParaRPr lang="en-US"/>
          </a:p>
        </p:txBody>
      </p:sp>
      <p:sp>
        <p:nvSpPr>
          <p:cNvPr id="220" name="Text 216"/>
          <p:cNvSpPr/>
          <p:nvPr/>
        </p:nvSpPr>
        <p:spPr>
          <a:xfrm>
            <a:off x="6591300" y="9563100"/>
            <a:ext cx="3613428" cy="190500"/>
          </a:xfrm>
          <a:prstGeom prst="rect">
            <a:avLst/>
          </a:prstGeom>
          <a:noFill/>
          <a:ln/>
        </p:spPr>
        <p:txBody>
          <a:bodyPr wrap="square" lIns="25400" tIns="25400" rIns="25400" bIns="25400" rtlCol="0" anchor="t">
            <a:normAutofit fontScale="85000" lnSpcReduction="20000"/>
          </a:bodyPr>
          <a:lstStyle/>
          <a:p>
            <a:pPr marL="0" indent="0" algn="l">
              <a:buNone/>
            </a:pPr>
            <a:r>
              <a:rPr lang="en-US" sz="1300" b="1" dirty="0">
                <a:solidFill>
                  <a:srgbClr val="4E8B2C"/>
                </a:solidFill>
                <a:latin typeface="Calibri" pitchFamily="34" charset="0"/>
                <a:ea typeface="Calibri" pitchFamily="34" charset="-122"/>
                <a:cs typeface="Calibri" pitchFamily="34" charset="-120"/>
              </a:rPr>
              <a:t>75.9% → 39.2% (-36.7pt)</a:t>
            </a:r>
            <a:endParaRPr lang="en-US" sz="1300" dirty="0"/>
          </a:p>
        </p:txBody>
      </p:sp>
      <p:sp>
        <p:nvSpPr>
          <p:cNvPr id="221" name="Text 217"/>
          <p:cNvSpPr/>
          <p:nvPr/>
        </p:nvSpPr>
        <p:spPr>
          <a:xfrm>
            <a:off x="647700" y="9766300"/>
            <a:ext cx="2095500" cy="190500"/>
          </a:xfrm>
          <a:prstGeom prst="rect">
            <a:avLst/>
          </a:prstGeom>
          <a:noFill/>
          <a:ln/>
        </p:spPr>
        <p:txBody>
          <a:bodyPr wrap="square" lIns="25400" tIns="25400" rIns="25400" bIns="25400" rtlCol="0" anchor="t">
            <a:normAutofit fontScale="85000" lnSpcReduction="20000"/>
          </a:bodyPr>
          <a:lstStyle/>
          <a:p>
            <a:pPr marL="0" indent="0" algn="l">
              <a:buNone/>
            </a:pPr>
            <a:r>
              <a:rPr lang="en-US" sz="1300" dirty="0">
                <a:solidFill>
                  <a:srgbClr val="1A1A1A"/>
                </a:solidFill>
                <a:latin typeface="Calibri" pitchFamily="34" charset="0"/>
                <a:ea typeface="Calibri" pitchFamily="34" charset="-122"/>
                <a:cs typeface="Calibri" pitchFamily="34" charset="-120"/>
              </a:rPr>
              <a:t>duynguyen</a:t>
            </a:r>
            <a:endParaRPr lang="en-US" sz="1300" dirty="0"/>
          </a:p>
        </p:txBody>
      </p:sp>
      <p:sp>
        <p:nvSpPr>
          <p:cNvPr id="222" name="Shape 218"/>
          <p:cNvSpPr/>
          <p:nvPr/>
        </p:nvSpPr>
        <p:spPr>
          <a:xfrm>
            <a:off x="2667000" y="9791700"/>
            <a:ext cx="3810000" cy="127000"/>
          </a:xfrm>
          <a:prstGeom prst="rect">
            <a:avLst/>
          </a:prstGeom>
          <a:solidFill>
            <a:srgbClr val="F4F6F2"/>
          </a:solidFill>
          <a:ln/>
        </p:spPr>
        <p:txBody>
          <a:bodyPr/>
          <a:lstStyle/>
          <a:p>
            <a:endParaRPr lang="en-US"/>
          </a:p>
        </p:txBody>
      </p:sp>
      <p:sp>
        <p:nvSpPr>
          <p:cNvPr id="223" name="Shape 219"/>
          <p:cNvSpPr/>
          <p:nvPr/>
        </p:nvSpPr>
        <p:spPr>
          <a:xfrm>
            <a:off x="2893616" y="9791700"/>
            <a:ext cx="19050" cy="127000"/>
          </a:xfrm>
          <a:prstGeom prst="rect">
            <a:avLst/>
          </a:prstGeom>
          <a:solidFill>
            <a:srgbClr val="C00000"/>
          </a:solidFill>
          <a:ln/>
        </p:spPr>
        <p:txBody>
          <a:bodyPr/>
          <a:lstStyle/>
          <a:p>
            <a:endParaRPr lang="en-US"/>
          </a:p>
        </p:txBody>
      </p:sp>
      <p:sp>
        <p:nvSpPr>
          <p:cNvPr id="224" name="Shape 220"/>
          <p:cNvSpPr/>
          <p:nvPr/>
        </p:nvSpPr>
        <p:spPr>
          <a:xfrm>
            <a:off x="3638667" y="9848850"/>
            <a:ext cx="1298583" cy="19050"/>
          </a:xfrm>
          <a:prstGeom prst="rect">
            <a:avLst/>
          </a:prstGeom>
          <a:solidFill>
            <a:srgbClr val="4E8B2C"/>
          </a:solidFill>
          <a:ln/>
        </p:spPr>
        <p:txBody>
          <a:bodyPr/>
          <a:lstStyle/>
          <a:p>
            <a:endParaRPr lang="en-US"/>
          </a:p>
        </p:txBody>
      </p:sp>
      <p:sp>
        <p:nvSpPr>
          <p:cNvPr id="225" name="Shape 221"/>
          <p:cNvSpPr/>
          <p:nvPr/>
        </p:nvSpPr>
        <p:spPr>
          <a:xfrm>
            <a:off x="4880100" y="9804400"/>
            <a:ext cx="114300" cy="114300"/>
          </a:xfrm>
          <a:prstGeom prst="ellipse">
            <a:avLst/>
          </a:prstGeom>
          <a:solidFill>
            <a:srgbClr val="FFFFFF"/>
          </a:solidFill>
          <a:ln w="12700">
            <a:solidFill>
              <a:srgbClr val="8A8F86"/>
            </a:solidFill>
            <a:prstDash val="solid"/>
          </a:ln>
        </p:spPr>
        <p:txBody>
          <a:bodyPr/>
          <a:lstStyle/>
          <a:p>
            <a:endParaRPr lang="en-US"/>
          </a:p>
        </p:txBody>
      </p:sp>
      <p:sp>
        <p:nvSpPr>
          <p:cNvPr id="226" name="Shape 222"/>
          <p:cNvSpPr/>
          <p:nvPr/>
        </p:nvSpPr>
        <p:spPr>
          <a:xfrm>
            <a:off x="3581517" y="9804400"/>
            <a:ext cx="114300" cy="114300"/>
          </a:xfrm>
          <a:prstGeom prst="ellipse">
            <a:avLst/>
          </a:prstGeom>
          <a:solidFill>
            <a:srgbClr val="4E8B2C"/>
          </a:solidFill>
          <a:ln/>
        </p:spPr>
        <p:txBody>
          <a:bodyPr/>
          <a:lstStyle/>
          <a:p>
            <a:endParaRPr lang="en-US"/>
          </a:p>
        </p:txBody>
      </p:sp>
      <p:sp>
        <p:nvSpPr>
          <p:cNvPr id="227" name="Text 223"/>
          <p:cNvSpPr/>
          <p:nvPr/>
        </p:nvSpPr>
        <p:spPr>
          <a:xfrm>
            <a:off x="6591300" y="9766300"/>
            <a:ext cx="3613428" cy="190500"/>
          </a:xfrm>
          <a:prstGeom prst="rect">
            <a:avLst/>
          </a:prstGeom>
          <a:noFill/>
          <a:ln/>
        </p:spPr>
        <p:txBody>
          <a:bodyPr wrap="square" lIns="25400" tIns="25400" rIns="25400" bIns="25400" rtlCol="0" anchor="t">
            <a:normAutofit fontScale="85000" lnSpcReduction="20000"/>
          </a:bodyPr>
          <a:lstStyle/>
          <a:p>
            <a:pPr marL="0" indent="0" algn="l">
              <a:buNone/>
            </a:pPr>
            <a:r>
              <a:rPr lang="en-US" sz="1300" b="1" dirty="0">
                <a:solidFill>
                  <a:srgbClr val="4E8B2C"/>
                </a:solidFill>
                <a:latin typeface="Calibri" pitchFamily="34" charset="0"/>
                <a:ea typeface="Calibri" pitchFamily="34" charset="-122"/>
                <a:cs typeface="Calibri" pitchFamily="34" charset="-120"/>
              </a:rPr>
              <a:t>50.0% → 21.4% (-28.6pt)</a:t>
            </a:r>
            <a:endParaRPr lang="en-US" sz="1300" dirty="0"/>
          </a:p>
        </p:txBody>
      </p:sp>
      <p:sp>
        <p:nvSpPr>
          <p:cNvPr id="228" name="Text 224"/>
          <p:cNvSpPr/>
          <p:nvPr/>
        </p:nvSpPr>
        <p:spPr>
          <a:xfrm>
            <a:off x="647700" y="9969500"/>
            <a:ext cx="2095500" cy="190500"/>
          </a:xfrm>
          <a:prstGeom prst="rect">
            <a:avLst/>
          </a:prstGeom>
          <a:noFill/>
          <a:ln/>
        </p:spPr>
        <p:txBody>
          <a:bodyPr wrap="square" lIns="25400" tIns="25400" rIns="25400" bIns="25400" rtlCol="0" anchor="t">
            <a:normAutofit fontScale="85000" lnSpcReduction="20000"/>
          </a:bodyPr>
          <a:lstStyle/>
          <a:p>
            <a:pPr marL="0" indent="0" algn="l">
              <a:buNone/>
            </a:pPr>
            <a:r>
              <a:rPr lang="en-US" sz="1300" dirty="0">
                <a:solidFill>
                  <a:srgbClr val="1A1A1A"/>
                </a:solidFill>
                <a:latin typeface="Calibri" pitchFamily="34" charset="0"/>
                <a:ea typeface="Calibri" pitchFamily="34" charset="-122"/>
                <a:cs typeface="Calibri" pitchFamily="34" charset="-120"/>
              </a:rPr>
              <a:t>thailong</a:t>
            </a:r>
            <a:endParaRPr lang="en-US" sz="1300" dirty="0"/>
          </a:p>
        </p:txBody>
      </p:sp>
      <p:sp>
        <p:nvSpPr>
          <p:cNvPr id="229" name="Shape 225"/>
          <p:cNvSpPr/>
          <p:nvPr/>
        </p:nvSpPr>
        <p:spPr>
          <a:xfrm>
            <a:off x="2667000" y="9994900"/>
            <a:ext cx="3810000" cy="127000"/>
          </a:xfrm>
          <a:prstGeom prst="rect">
            <a:avLst/>
          </a:prstGeom>
          <a:solidFill>
            <a:srgbClr val="F4F6F2"/>
          </a:solidFill>
          <a:ln/>
        </p:spPr>
        <p:txBody>
          <a:bodyPr/>
          <a:lstStyle/>
          <a:p>
            <a:endParaRPr lang="en-US"/>
          </a:p>
        </p:txBody>
      </p:sp>
      <p:sp>
        <p:nvSpPr>
          <p:cNvPr id="230" name="Shape 226"/>
          <p:cNvSpPr/>
          <p:nvPr/>
        </p:nvSpPr>
        <p:spPr>
          <a:xfrm>
            <a:off x="2893616" y="9994900"/>
            <a:ext cx="19050" cy="127000"/>
          </a:xfrm>
          <a:prstGeom prst="rect">
            <a:avLst/>
          </a:prstGeom>
          <a:solidFill>
            <a:srgbClr val="C00000"/>
          </a:solidFill>
          <a:ln/>
        </p:spPr>
        <p:txBody>
          <a:bodyPr/>
          <a:lstStyle/>
          <a:p>
            <a:endParaRPr lang="en-US"/>
          </a:p>
        </p:txBody>
      </p:sp>
      <p:sp>
        <p:nvSpPr>
          <p:cNvPr id="231" name="Shape 227"/>
          <p:cNvSpPr/>
          <p:nvPr/>
        </p:nvSpPr>
        <p:spPr>
          <a:xfrm>
            <a:off x="3756720" y="10052050"/>
            <a:ext cx="1035234" cy="19050"/>
          </a:xfrm>
          <a:prstGeom prst="rect">
            <a:avLst/>
          </a:prstGeom>
          <a:solidFill>
            <a:srgbClr val="4E8B2C"/>
          </a:solidFill>
          <a:ln/>
        </p:spPr>
        <p:txBody>
          <a:bodyPr/>
          <a:lstStyle/>
          <a:p>
            <a:endParaRPr lang="en-US"/>
          </a:p>
        </p:txBody>
      </p:sp>
      <p:sp>
        <p:nvSpPr>
          <p:cNvPr id="232" name="Shape 228"/>
          <p:cNvSpPr/>
          <p:nvPr/>
        </p:nvSpPr>
        <p:spPr>
          <a:xfrm>
            <a:off x="4734804" y="10007600"/>
            <a:ext cx="114300" cy="114300"/>
          </a:xfrm>
          <a:prstGeom prst="ellipse">
            <a:avLst/>
          </a:prstGeom>
          <a:solidFill>
            <a:srgbClr val="FFFFFF"/>
          </a:solidFill>
          <a:ln w="12700">
            <a:solidFill>
              <a:srgbClr val="8A8F86"/>
            </a:solidFill>
            <a:prstDash val="solid"/>
          </a:ln>
        </p:spPr>
        <p:txBody>
          <a:bodyPr/>
          <a:lstStyle/>
          <a:p>
            <a:endParaRPr lang="en-US"/>
          </a:p>
        </p:txBody>
      </p:sp>
      <p:sp>
        <p:nvSpPr>
          <p:cNvPr id="233" name="Shape 229"/>
          <p:cNvSpPr/>
          <p:nvPr/>
        </p:nvSpPr>
        <p:spPr>
          <a:xfrm>
            <a:off x="3699570" y="10007600"/>
            <a:ext cx="114300" cy="114300"/>
          </a:xfrm>
          <a:prstGeom prst="ellipse">
            <a:avLst/>
          </a:prstGeom>
          <a:solidFill>
            <a:srgbClr val="4E8B2C"/>
          </a:solidFill>
          <a:ln/>
        </p:spPr>
        <p:txBody>
          <a:bodyPr/>
          <a:lstStyle/>
          <a:p>
            <a:endParaRPr lang="en-US"/>
          </a:p>
        </p:txBody>
      </p:sp>
      <p:sp>
        <p:nvSpPr>
          <p:cNvPr id="234" name="Text 230"/>
          <p:cNvSpPr/>
          <p:nvPr/>
        </p:nvSpPr>
        <p:spPr>
          <a:xfrm>
            <a:off x="6591300" y="9969500"/>
            <a:ext cx="3613428" cy="190500"/>
          </a:xfrm>
          <a:prstGeom prst="rect">
            <a:avLst/>
          </a:prstGeom>
          <a:noFill/>
          <a:ln/>
        </p:spPr>
        <p:txBody>
          <a:bodyPr wrap="square" lIns="25400" tIns="25400" rIns="25400" bIns="25400" rtlCol="0" anchor="t">
            <a:normAutofit fontScale="85000" lnSpcReduction="20000"/>
          </a:bodyPr>
          <a:lstStyle/>
          <a:p>
            <a:pPr marL="0" indent="0" algn="l">
              <a:buNone/>
            </a:pPr>
            <a:r>
              <a:rPr lang="en-US" sz="1300" b="1" dirty="0">
                <a:solidFill>
                  <a:srgbClr val="4E8B2C"/>
                </a:solidFill>
                <a:latin typeface="Calibri" pitchFamily="34" charset="0"/>
                <a:ea typeface="Calibri" pitchFamily="34" charset="-122"/>
                <a:cs typeface="Calibri" pitchFamily="34" charset="-120"/>
              </a:rPr>
              <a:t>46.8% → 24.0% (-22.8pt)</a:t>
            </a:r>
            <a:endParaRPr lang="en-US" sz="1300" dirty="0"/>
          </a:p>
        </p:txBody>
      </p:sp>
      <p:sp>
        <p:nvSpPr>
          <p:cNvPr id="235" name="Shape 231"/>
          <p:cNvSpPr/>
          <p:nvPr/>
        </p:nvSpPr>
        <p:spPr>
          <a:xfrm>
            <a:off x="10257234" y="1428750"/>
            <a:ext cx="7382867" cy="3757613"/>
          </a:xfrm>
          <a:prstGeom prst="rect">
            <a:avLst/>
          </a:prstGeom>
          <a:solidFill>
            <a:srgbClr val="F1F6F2"/>
          </a:solidFill>
          <a:ln/>
        </p:spPr>
        <p:txBody>
          <a:bodyPr/>
          <a:lstStyle/>
          <a:p>
            <a:endParaRPr lang="en-US"/>
          </a:p>
        </p:txBody>
      </p:sp>
      <p:sp>
        <p:nvSpPr>
          <p:cNvPr id="236" name="Text 232"/>
          <p:cNvSpPr/>
          <p:nvPr/>
        </p:nvSpPr>
        <p:spPr>
          <a:xfrm>
            <a:off x="10523934" y="1657350"/>
            <a:ext cx="7534414"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A1A1A"/>
                </a:solidFill>
                <a:latin typeface="Calibri" pitchFamily="34" charset="0"/>
                <a:ea typeface="Calibri" pitchFamily="34" charset="-122"/>
                <a:cs typeface="Calibri" pitchFamily="34" charset="-120"/>
              </a:rPr>
              <a:t>Data comments:</a:t>
            </a:r>
            <a:endParaRPr lang="en-US" sz="1950" dirty="0"/>
          </a:p>
        </p:txBody>
      </p:sp>
      <p:sp>
        <p:nvSpPr>
          <p:cNvPr id="237" name="Text 233"/>
          <p:cNvSpPr/>
          <p:nvPr/>
        </p:nvSpPr>
        <p:spPr>
          <a:xfrm>
            <a:off x="10523934" y="2076450"/>
            <a:ext cx="7054951" cy="68699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The overdue rate came down to </a:t>
            </a:r>
            <a:r>
              <a:rPr lang="en-US" sz="1800" b="1" dirty="0">
                <a:solidFill>
                  <a:srgbClr val="1A1A1A"/>
                </a:solidFill>
                <a:latin typeface="Calibri" pitchFamily="34" charset="0"/>
                <a:ea typeface="Calibri" pitchFamily="34" charset="-122"/>
                <a:cs typeface="Calibri" pitchFamily="34" charset="-120"/>
              </a:rPr>
              <a:t>21.0% </a:t>
            </a:r>
            <a:r>
              <a:rPr lang="en-US" sz="1800" dirty="0">
                <a:solidFill>
                  <a:srgbClr val="1A1A1A"/>
                </a:solidFill>
                <a:latin typeface="Calibri" pitchFamily="34" charset="0"/>
                <a:ea typeface="Calibri" pitchFamily="34" charset="-122"/>
                <a:cs typeface="Calibri" pitchFamily="34" charset="-120"/>
              </a:rPr>
              <a:t>in July (from 30.6% in M6) while volume jumped from 3,411 to 15,814 tickets.</a:t>
            </a:r>
            <a:endParaRPr lang="en-US" sz="1800" dirty="0"/>
          </a:p>
        </p:txBody>
      </p:sp>
      <p:sp>
        <p:nvSpPr>
          <p:cNvPr id="238" name="Text 234"/>
          <p:cNvSpPr/>
          <p:nvPr/>
        </p:nvSpPr>
        <p:spPr>
          <a:xfrm>
            <a:off x="10523934" y="2820591"/>
            <a:ext cx="7054951" cy="68699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a:t>
            </a:r>
            <a:r>
              <a:rPr lang="en-US" sz="1800" b="1" dirty="0">
                <a:solidFill>
                  <a:srgbClr val="1A1A1A"/>
                </a:solidFill>
                <a:latin typeface="Calibri" pitchFamily="34" charset="0"/>
                <a:ea typeface="Calibri" pitchFamily="34" charset="-122"/>
                <a:cs typeface="Calibri" pitchFamily="34" charset="-120"/>
              </a:rPr>
              <a:t>Worst: daochu 39.2% </a:t>
            </a:r>
            <a:r>
              <a:rPr lang="en-US" sz="1800" dirty="0">
                <a:solidFill>
                  <a:srgbClr val="1A1A1A"/>
                </a:solidFill>
                <a:latin typeface="Calibri" pitchFamily="34" charset="0"/>
                <a:ea typeface="Calibri" pitchFamily="34" charset="-122"/>
                <a:cs typeface="Calibri" pitchFamily="34" charset="-120"/>
              </a:rPr>
              <a:t>(340 overdue), dinhnguyen 33.4% (483), chuongpham 29.4% (594 — the largest overdue count).</a:t>
            </a:r>
            <a:endParaRPr lang="en-US" sz="1800" dirty="0"/>
          </a:p>
        </p:txBody>
      </p:sp>
      <p:sp>
        <p:nvSpPr>
          <p:cNvPr id="239" name="Text 235"/>
          <p:cNvSpPr/>
          <p:nvPr/>
        </p:nvSpPr>
        <p:spPr>
          <a:xfrm>
            <a:off x="10523934" y="3564731"/>
            <a:ext cx="7054951" cy="68699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a:t>
            </a:r>
            <a:r>
              <a:rPr lang="en-US" sz="1800" b="1" dirty="0">
                <a:solidFill>
                  <a:srgbClr val="1A1A1A"/>
                </a:solidFill>
                <a:latin typeface="Calibri" pitchFamily="34" charset="0"/>
                <a:ea typeface="Calibri" pitchFamily="34" charset="-122"/>
                <a:cs typeface="Calibri" pitchFamily="34" charset="-120"/>
              </a:rPr>
              <a:t>Best: khiemnguyen 9.7% </a:t>
            </a:r>
            <a:r>
              <a:rPr lang="en-US" sz="1800" dirty="0">
                <a:solidFill>
                  <a:srgbClr val="1A1A1A"/>
                </a:solidFill>
                <a:latin typeface="Calibri" pitchFamily="34" charset="0"/>
                <a:ea typeface="Calibri" pitchFamily="34" charset="-122"/>
                <a:cs typeface="Calibri" pitchFamily="34" charset="-120"/>
              </a:rPr>
              <a:t>then hungvu 12.8%, and thuanlu 14.6% on the largest load (3,028 tickets).</a:t>
            </a:r>
            <a:endParaRPr lang="en-US" sz="1800" dirty="0"/>
          </a:p>
        </p:txBody>
      </p:sp>
      <p:sp>
        <p:nvSpPr>
          <p:cNvPr id="240" name="Text 236"/>
          <p:cNvSpPr/>
          <p:nvPr/>
        </p:nvSpPr>
        <p:spPr>
          <a:xfrm>
            <a:off x="10523934" y="4308872"/>
            <a:ext cx="7054951" cy="68699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a:t>
            </a:r>
            <a:r>
              <a:rPr lang="en-US" sz="1800" b="1" dirty="0">
                <a:solidFill>
                  <a:srgbClr val="1A1A1A"/>
                </a:solidFill>
                <a:latin typeface="Calibri" pitchFamily="34" charset="0"/>
                <a:ea typeface="Calibri" pitchFamily="34" charset="-122"/>
                <a:cs typeface="Calibri" pitchFamily="34" charset="-120"/>
              </a:rPr>
              <a:t>thuanlu got worse the most </a:t>
            </a:r>
            <a:r>
              <a:rPr lang="en-US" sz="1800" dirty="0">
                <a:solidFill>
                  <a:srgbClr val="1A1A1A"/>
                </a:solidFill>
                <a:latin typeface="Calibri" pitchFamily="34" charset="0"/>
                <a:ea typeface="Calibri" pitchFamily="34" charset="-122"/>
                <a:cs typeface="Calibri" pitchFamily="34" charset="-120"/>
              </a:rPr>
              <a:t>— 14.6% from 2.8% in June, on 5× the volume.</a:t>
            </a:r>
            <a:endParaRPr lang="en-US" sz="1800" dirty="0"/>
          </a:p>
        </p:txBody>
      </p:sp>
      <p:sp>
        <p:nvSpPr>
          <p:cNvPr id="241" name="Shape 237"/>
          <p:cNvSpPr/>
          <p:nvPr/>
        </p:nvSpPr>
        <p:spPr>
          <a:xfrm>
            <a:off x="10257234" y="5338763"/>
            <a:ext cx="7382867" cy="1849636"/>
          </a:xfrm>
          <a:prstGeom prst="rect">
            <a:avLst/>
          </a:prstGeom>
          <a:solidFill>
            <a:srgbClr val="F1F6F2"/>
          </a:solidFill>
          <a:ln/>
        </p:spPr>
        <p:txBody>
          <a:bodyPr/>
          <a:lstStyle/>
          <a:p>
            <a:endParaRPr lang="en-US"/>
          </a:p>
        </p:txBody>
      </p:sp>
      <p:sp>
        <p:nvSpPr>
          <p:cNvPr id="242" name="Shape 238"/>
          <p:cNvSpPr/>
          <p:nvPr/>
        </p:nvSpPr>
        <p:spPr>
          <a:xfrm>
            <a:off x="10257234" y="5338763"/>
            <a:ext cx="38100" cy="1849636"/>
          </a:xfrm>
          <a:prstGeom prst="rect">
            <a:avLst/>
          </a:prstGeom>
          <a:solidFill>
            <a:srgbClr val="C0504D"/>
          </a:solidFill>
          <a:ln/>
        </p:spPr>
        <p:txBody>
          <a:bodyPr/>
          <a:lstStyle/>
          <a:p>
            <a:endParaRPr lang="en-US"/>
          </a:p>
        </p:txBody>
      </p:sp>
      <p:sp>
        <p:nvSpPr>
          <p:cNvPr id="243" name="Text 239"/>
          <p:cNvSpPr/>
          <p:nvPr/>
        </p:nvSpPr>
        <p:spPr>
          <a:xfrm>
            <a:off x="10562034" y="5567363"/>
            <a:ext cx="7492504"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A1A1A"/>
                </a:solidFill>
                <a:latin typeface="Calibri" pitchFamily="34" charset="0"/>
                <a:ea typeface="Calibri" pitchFamily="34" charset="-122"/>
                <a:cs typeface="Calibri" pitchFamily="34" charset="-120"/>
              </a:rPr>
              <a:t>Causes:</a:t>
            </a:r>
            <a:endParaRPr lang="en-US" sz="1950" dirty="0"/>
          </a:p>
        </p:txBody>
      </p:sp>
      <p:sp>
        <p:nvSpPr>
          <p:cNvPr id="244" name="Text 240"/>
          <p:cNvSpPr/>
          <p:nvPr/>
        </p:nvSpPr>
        <p:spPr>
          <a:xfrm>
            <a:off x="10562034" y="5986463"/>
            <a:ext cx="7015708" cy="1011436"/>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Same as the EVCS analysis — weak ASP allocation and not enough staff. On BSS this is worse, because ticket volume jumped when automatic ticket dispatch went live.</a:t>
            </a:r>
            <a:endParaRPr lang="en-US" sz="1800" dirty="0"/>
          </a:p>
        </p:txBody>
      </p:sp>
      <p:sp>
        <p:nvSpPr>
          <p:cNvPr id="245" name="Shape 241"/>
          <p:cNvSpPr/>
          <p:nvPr/>
        </p:nvSpPr>
        <p:spPr>
          <a:xfrm>
            <a:off x="10257234" y="7340798"/>
            <a:ext cx="7382867" cy="2819400"/>
          </a:xfrm>
          <a:prstGeom prst="rect">
            <a:avLst/>
          </a:prstGeom>
          <a:solidFill>
            <a:srgbClr val="E2EFDA"/>
          </a:solidFill>
          <a:ln/>
        </p:spPr>
        <p:txBody>
          <a:bodyPr/>
          <a:lstStyle/>
          <a:p>
            <a:endParaRPr lang="en-US"/>
          </a:p>
        </p:txBody>
      </p:sp>
      <p:sp>
        <p:nvSpPr>
          <p:cNvPr id="246" name="Text 242"/>
          <p:cNvSpPr/>
          <p:nvPr/>
        </p:nvSpPr>
        <p:spPr>
          <a:xfrm>
            <a:off x="10523934" y="7569398"/>
            <a:ext cx="7534414"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A1A1A"/>
                </a:solidFill>
                <a:latin typeface="Calibri" pitchFamily="34" charset="0"/>
                <a:ea typeface="Calibri" pitchFamily="34" charset="-122"/>
                <a:cs typeface="Calibri" pitchFamily="34" charset="-120"/>
              </a:rPr>
              <a:t>Actions:</a:t>
            </a:r>
            <a:endParaRPr lang="en-US" sz="1950" dirty="0"/>
          </a:p>
        </p:txBody>
      </p:sp>
      <p:sp>
        <p:nvSpPr>
          <p:cNvPr id="247" name="Text 243"/>
          <p:cNvSpPr/>
          <p:nvPr/>
        </p:nvSpPr>
        <p:spPr>
          <a:xfrm>
            <a:off x="10523934" y="7988498"/>
            <a:ext cx="7054951" cy="133588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Same as EVCS: set a clear repair-and-recheck plan, and find out why faults come back after repair. The overdue rate may go up at first as old faults are found, but fixing the real cause will bring it down for good. </a:t>
            </a:r>
            <a:r>
              <a:rPr lang="en-US" sz="1800" i="1" dirty="0">
                <a:solidFill>
                  <a:srgbClr val="1A1A1A"/>
                </a:solidFill>
                <a:latin typeface="Calibri" pitchFamily="34" charset="0"/>
                <a:ea typeface="Calibri" pitchFamily="34" charset="-122"/>
                <a:cs typeface="Calibri" pitchFamily="34" charset="-120"/>
              </a:rPr>
              <a:t>[Ongoing by CSE]</a:t>
            </a:r>
            <a:endParaRPr lang="en-US" sz="1800" dirty="0"/>
          </a:p>
        </p:txBody>
      </p:sp>
      <p:sp>
        <p:nvSpPr>
          <p:cNvPr id="248" name="Text 244"/>
          <p:cNvSpPr/>
          <p:nvPr/>
        </p:nvSpPr>
        <p:spPr>
          <a:xfrm>
            <a:off x="10523934" y="9381530"/>
            <a:ext cx="7054951" cy="686991"/>
          </a:xfrm>
          <a:prstGeom prst="rect">
            <a:avLst/>
          </a:prstGeom>
          <a:noFill/>
          <a:ln/>
        </p:spPr>
        <p:txBody>
          <a:bodyPr wrap="square" lIns="25400" tIns="25400" rIns="25400" bIns="25400" rtlCol="0" anchor="t">
            <a:normAutofit/>
          </a:bodyPr>
          <a:lstStyle/>
          <a:p>
            <a:pPr marL="0" indent="0" algn="l">
              <a:lnSpc>
                <a:spcPct val="116182"/>
              </a:lnSpc>
              <a:buNone/>
            </a:pPr>
            <a:r>
              <a:rPr lang="en-US" sz="1800" dirty="0">
                <a:solidFill>
                  <a:srgbClr val="1A1A1A"/>
                </a:solidFill>
                <a:latin typeface="Calibri" pitchFamily="34" charset="0"/>
                <a:ea typeface="Calibri" pitchFamily="34" charset="-122"/>
                <a:cs typeface="Calibri" pitchFamily="34" charset="-120"/>
              </a:rPr>
              <a:t>· Rebalance the BSS load away from daochu and dinhnguyen until their rates are back under 30%.</a:t>
            </a:r>
            <a:endParaRPr lang="en-US" sz="1800" dirty="0"/>
          </a:p>
        </p:txBody>
      </p:sp>
    </p:spTree>
    <p:extLst>
      <p:ext uri="{BB962C8B-B14F-4D97-AF65-F5344CB8AC3E}">
        <p14:creationId xmlns:p14="http://schemas.microsoft.com/office/powerpoint/2010/main" val="33805586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4300" y="342900"/>
            <a:ext cx="571500" cy="571500"/>
          </a:xfrm>
          <a:prstGeom prst="rect">
            <a:avLst/>
          </a:prstGeom>
        </p:spPr>
      </p:pic>
      <p:pic>
        <p:nvPicPr>
          <p:cNvPr id="3" name="Image 1" descr="preencoded.png"/>
          <p:cNvPicPr>
            <a:picLocks noChangeAspect="1"/>
          </p:cNvPicPr>
          <p:nvPr/>
        </p:nvPicPr>
        <p:blipFill>
          <a:blip r:embed="rId4"/>
          <a:stretch>
            <a:fillRect/>
          </a:stretch>
        </p:blipFill>
        <p:spPr>
          <a:xfrm>
            <a:off x="14001750" y="114300"/>
            <a:ext cx="4114800" cy="914400"/>
          </a:xfrm>
          <a:prstGeom prst="rect">
            <a:avLst/>
          </a:prstGeom>
        </p:spPr>
      </p:pic>
      <p:sp>
        <p:nvSpPr>
          <p:cNvPr id="5" name="Shape 1"/>
          <p:cNvSpPr/>
          <p:nvPr/>
        </p:nvSpPr>
        <p:spPr>
          <a:xfrm>
            <a:off x="0" y="1152525"/>
            <a:ext cx="18288000" cy="19050"/>
          </a:xfrm>
          <a:prstGeom prst="rect">
            <a:avLst/>
          </a:prstGeom>
          <a:solidFill>
            <a:srgbClr val="A6A6A6"/>
          </a:solidFill>
          <a:ln/>
        </p:spPr>
        <p:txBody>
          <a:bodyPr/>
          <a:lstStyle/>
          <a:p>
            <a:endParaRPr lang="en-US"/>
          </a:p>
        </p:txBody>
      </p:sp>
      <p:sp>
        <p:nvSpPr>
          <p:cNvPr id="6" name="Text 2"/>
          <p:cNvSpPr/>
          <p:nvPr/>
        </p:nvSpPr>
        <p:spPr>
          <a:xfrm>
            <a:off x="647700" y="1390650"/>
            <a:ext cx="5178668"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45" dirty="0">
                <a:solidFill>
                  <a:srgbClr val="595959"/>
                </a:solidFill>
                <a:latin typeface="Arial" pitchFamily="34" charset="0"/>
                <a:ea typeface="Arial" pitchFamily="34" charset="-122"/>
                <a:cs typeface="Arial" pitchFamily="34" charset="-120"/>
              </a:rPr>
              <a:t>MONTHLY SERVICE COST — M1 → M7 (USD)</a:t>
            </a:r>
            <a:endParaRPr lang="en-US" sz="1650" dirty="0"/>
          </a:p>
        </p:txBody>
      </p:sp>
      <p:sp>
        <p:nvSpPr>
          <p:cNvPr id="7" name="Text 3"/>
          <p:cNvSpPr/>
          <p:nvPr/>
        </p:nvSpPr>
        <p:spPr>
          <a:xfrm>
            <a:off x="13150751" y="1409700"/>
            <a:ext cx="4938504" cy="257175"/>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595959"/>
                </a:solidFill>
                <a:latin typeface="Arial" pitchFamily="34" charset="0"/>
                <a:ea typeface="Arial" pitchFamily="34" charset="-122"/>
                <a:cs typeface="Arial" pitchFamily="34" charset="-120"/>
              </a:rPr>
              <a:t>Excluding payment for BSS (pending) · M7 estimated</a:t>
            </a:r>
            <a:endParaRPr lang="en-US" sz="1500" dirty="0"/>
          </a:p>
        </p:txBody>
      </p:sp>
      <p:sp>
        <p:nvSpPr>
          <p:cNvPr id="8" name="Shape 4"/>
          <p:cNvSpPr/>
          <p:nvPr/>
        </p:nvSpPr>
        <p:spPr>
          <a:xfrm>
            <a:off x="647700" y="1771650"/>
            <a:ext cx="16992600" cy="433388"/>
          </a:xfrm>
          <a:prstGeom prst="rect">
            <a:avLst/>
          </a:prstGeom>
          <a:solidFill>
            <a:srgbClr val="EDEFEA"/>
          </a:solidFill>
          <a:ln/>
        </p:spPr>
        <p:txBody>
          <a:bodyPr/>
          <a:lstStyle/>
          <a:p>
            <a:endParaRPr lang="en-US"/>
          </a:p>
        </p:txBody>
      </p:sp>
      <p:sp>
        <p:nvSpPr>
          <p:cNvPr id="9" name="Shape 5"/>
          <p:cNvSpPr/>
          <p:nvPr/>
        </p:nvSpPr>
        <p:spPr>
          <a:xfrm>
            <a:off x="647700" y="2195513"/>
            <a:ext cx="4963418" cy="9525"/>
          </a:xfrm>
          <a:prstGeom prst="rect">
            <a:avLst/>
          </a:prstGeom>
          <a:solidFill>
            <a:srgbClr val="A8ADA4"/>
          </a:solidFill>
          <a:ln/>
        </p:spPr>
        <p:txBody>
          <a:bodyPr/>
          <a:lstStyle/>
          <a:p>
            <a:endParaRPr lang="en-US"/>
          </a:p>
        </p:txBody>
      </p:sp>
      <p:sp>
        <p:nvSpPr>
          <p:cNvPr id="10" name="Text 6"/>
          <p:cNvSpPr/>
          <p:nvPr/>
        </p:nvSpPr>
        <p:spPr>
          <a:xfrm>
            <a:off x="800100" y="1876425"/>
            <a:ext cx="4807521" cy="252412"/>
          </a:xfrm>
          <a:prstGeom prst="rect">
            <a:avLst/>
          </a:prstGeom>
          <a:noFill/>
          <a:ln/>
        </p:spPr>
        <p:txBody>
          <a:bodyPr wrap="square" lIns="25400" tIns="25400" rIns="25400" bIns="25400" rtlCol="0" anchor="ctr">
            <a:normAutofit fontScale="92500" lnSpcReduction="10000"/>
          </a:bodyPr>
          <a:lstStyle/>
          <a:p>
            <a:pPr marL="0" indent="0" algn="l">
              <a:buNone/>
            </a:pPr>
            <a:r>
              <a:rPr lang="en-US" sz="1500" b="1" dirty="0">
                <a:solidFill>
                  <a:srgbClr val="404040"/>
                </a:solidFill>
                <a:latin typeface="Arial" pitchFamily="34" charset="0"/>
                <a:ea typeface="Arial" pitchFamily="34" charset="-122"/>
                <a:cs typeface="Arial" pitchFamily="34" charset="-120"/>
              </a:rPr>
              <a:t>Description</a:t>
            </a:r>
            <a:endParaRPr lang="en-US" sz="1500" dirty="0"/>
          </a:p>
        </p:txBody>
      </p:sp>
      <p:sp>
        <p:nvSpPr>
          <p:cNvPr id="11" name="Shape 7"/>
          <p:cNvSpPr/>
          <p:nvPr/>
        </p:nvSpPr>
        <p:spPr>
          <a:xfrm>
            <a:off x="5611118" y="2195513"/>
            <a:ext cx="1534418" cy="9525"/>
          </a:xfrm>
          <a:prstGeom prst="rect">
            <a:avLst/>
          </a:prstGeom>
          <a:solidFill>
            <a:srgbClr val="A8ADA4"/>
          </a:solidFill>
          <a:ln/>
        </p:spPr>
        <p:txBody>
          <a:bodyPr/>
          <a:lstStyle/>
          <a:p>
            <a:endParaRPr lang="en-US"/>
          </a:p>
        </p:txBody>
      </p:sp>
      <p:sp>
        <p:nvSpPr>
          <p:cNvPr id="12" name="Text 8"/>
          <p:cNvSpPr/>
          <p:nvPr/>
        </p:nvSpPr>
        <p:spPr>
          <a:xfrm>
            <a:off x="5687318" y="1876425"/>
            <a:ext cx="1305818" cy="252412"/>
          </a:xfrm>
          <a:prstGeom prst="rect">
            <a:avLst/>
          </a:prstGeom>
          <a:noFill/>
          <a:ln/>
        </p:spPr>
        <p:txBody>
          <a:bodyPr wrap="square" lIns="25400" tIns="25400" rIns="25400" bIns="25400" rtlCol="0" anchor="ctr">
            <a:normAutofit fontScale="92500" lnSpcReduction="10000"/>
          </a:bodyPr>
          <a:lstStyle/>
          <a:p>
            <a:pPr marL="0" indent="0" algn="r">
              <a:buNone/>
            </a:pPr>
            <a:r>
              <a:rPr lang="en-US" sz="1500" b="1" dirty="0">
                <a:solidFill>
                  <a:srgbClr val="404040"/>
                </a:solidFill>
                <a:latin typeface="Arial" pitchFamily="34" charset="0"/>
                <a:ea typeface="Arial" pitchFamily="34" charset="-122"/>
                <a:cs typeface="Arial" pitchFamily="34" charset="-120"/>
              </a:rPr>
              <a:t>M1</a:t>
            </a:r>
            <a:endParaRPr lang="en-US" sz="1500" dirty="0"/>
          </a:p>
        </p:txBody>
      </p:sp>
      <p:sp>
        <p:nvSpPr>
          <p:cNvPr id="13" name="Shape 9"/>
          <p:cNvSpPr/>
          <p:nvPr/>
        </p:nvSpPr>
        <p:spPr>
          <a:xfrm>
            <a:off x="7145536" y="2195513"/>
            <a:ext cx="1534418" cy="9525"/>
          </a:xfrm>
          <a:prstGeom prst="rect">
            <a:avLst/>
          </a:prstGeom>
          <a:solidFill>
            <a:srgbClr val="A8ADA4"/>
          </a:solidFill>
          <a:ln/>
        </p:spPr>
        <p:txBody>
          <a:bodyPr/>
          <a:lstStyle/>
          <a:p>
            <a:endParaRPr lang="en-US"/>
          </a:p>
        </p:txBody>
      </p:sp>
      <p:sp>
        <p:nvSpPr>
          <p:cNvPr id="14" name="Text 10"/>
          <p:cNvSpPr/>
          <p:nvPr/>
        </p:nvSpPr>
        <p:spPr>
          <a:xfrm>
            <a:off x="7221736" y="1876425"/>
            <a:ext cx="1305818" cy="252412"/>
          </a:xfrm>
          <a:prstGeom prst="rect">
            <a:avLst/>
          </a:prstGeom>
          <a:noFill/>
          <a:ln/>
        </p:spPr>
        <p:txBody>
          <a:bodyPr wrap="square" lIns="25400" tIns="25400" rIns="25400" bIns="25400" rtlCol="0" anchor="ctr">
            <a:normAutofit fontScale="92500" lnSpcReduction="10000"/>
          </a:bodyPr>
          <a:lstStyle/>
          <a:p>
            <a:pPr marL="0" indent="0" algn="r">
              <a:buNone/>
            </a:pPr>
            <a:r>
              <a:rPr lang="en-US" sz="1500" b="1" dirty="0">
                <a:solidFill>
                  <a:srgbClr val="404040"/>
                </a:solidFill>
                <a:latin typeface="Arial" pitchFamily="34" charset="0"/>
                <a:ea typeface="Arial" pitchFamily="34" charset="-122"/>
                <a:cs typeface="Arial" pitchFamily="34" charset="-120"/>
              </a:rPr>
              <a:t>M2</a:t>
            </a:r>
            <a:endParaRPr lang="en-US" sz="1500" dirty="0"/>
          </a:p>
        </p:txBody>
      </p:sp>
      <p:sp>
        <p:nvSpPr>
          <p:cNvPr id="15" name="Shape 11"/>
          <p:cNvSpPr/>
          <p:nvPr/>
        </p:nvSpPr>
        <p:spPr>
          <a:xfrm>
            <a:off x="8679954" y="2195513"/>
            <a:ext cx="1534418" cy="9525"/>
          </a:xfrm>
          <a:prstGeom prst="rect">
            <a:avLst/>
          </a:prstGeom>
          <a:solidFill>
            <a:srgbClr val="A8ADA4"/>
          </a:solidFill>
          <a:ln/>
        </p:spPr>
        <p:txBody>
          <a:bodyPr/>
          <a:lstStyle/>
          <a:p>
            <a:endParaRPr lang="en-US"/>
          </a:p>
        </p:txBody>
      </p:sp>
      <p:sp>
        <p:nvSpPr>
          <p:cNvPr id="16" name="Text 12"/>
          <p:cNvSpPr/>
          <p:nvPr/>
        </p:nvSpPr>
        <p:spPr>
          <a:xfrm>
            <a:off x="8756154" y="1876425"/>
            <a:ext cx="1305818" cy="252412"/>
          </a:xfrm>
          <a:prstGeom prst="rect">
            <a:avLst/>
          </a:prstGeom>
          <a:noFill/>
          <a:ln/>
        </p:spPr>
        <p:txBody>
          <a:bodyPr wrap="square" lIns="25400" tIns="25400" rIns="25400" bIns="25400" rtlCol="0" anchor="ctr">
            <a:normAutofit fontScale="92500" lnSpcReduction="10000"/>
          </a:bodyPr>
          <a:lstStyle/>
          <a:p>
            <a:pPr marL="0" indent="0" algn="r">
              <a:buNone/>
            </a:pPr>
            <a:r>
              <a:rPr lang="en-US" sz="1500" b="1" dirty="0">
                <a:solidFill>
                  <a:srgbClr val="404040"/>
                </a:solidFill>
                <a:latin typeface="Arial" pitchFamily="34" charset="0"/>
                <a:ea typeface="Arial" pitchFamily="34" charset="-122"/>
                <a:cs typeface="Arial" pitchFamily="34" charset="-120"/>
              </a:rPr>
              <a:t>M3</a:t>
            </a:r>
            <a:endParaRPr lang="en-US" sz="1500" dirty="0"/>
          </a:p>
        </p:txBody>
      </p:sp>
      <p:sp>
        <p:nvSpPr>
          <p:cNvPr id="17" name="Shape 13"/>
          <p:cNvSpPr/>
          <p:nvPr/>
        </p:nvSpPr>
        <p:spPr>
          <a:xfrm>
            <a:off x="10214372" y="2195513"/>
            <a:ext cx="1534418" cy="9525"/>
          </a:xfrm>
          <a:prstGeom prst="rect">
            <a:avLst/>
          </a:prstGeom>
          <a:solidFill>
            <a:srgbClr val="A8ADA4"/>
          </a:solidFill>
          <a:ln/>
        </p:spPr>
        <p:txBody>
          <a:bodyPr/>
          <a:lstStyle/>
          <a:p>
            <a:endParaRPr lang="en-US"/>
          </a:p>
        </p:txBody>
      </p:sp>
      <p:sp>
        <p:nvSpPr>
          <p:cNvPr id="18" name="Text 14"/>
          <p:cNvSpPr/>
          <p:nvPr/>
        </p:nvSpPr>
        <p:spPr>
          <a:xfrm>
            <a:off x="10290572" y="1876425"/>
            <a:ext cx="1305818" cy="252412"/>
          </a:xfrm>
          <a:prstGeom prst="rect">
            <a:avLst/>
          </a:prstGeom>
          <a:noFill/>
          <a:ln/>
        </p:spPr>
        <p:txBody>
          <a:bodyPr wrap="square" lIns="25400" tIns="25400" rIns="25400" bIns="25400" rtlCol="0" anchor="ctr">
            <a:normAutofit fontScale="92500" lnSpcReduction="10000"/>
          </a:bodyPr>
          <a:lstStyle/>
          <a:p>
            <a:pPr marL="0" indent="0" algn="r">
              <a:buNone/>
            </a:pPr>
            <a:r>
              <a:rPr lang="en-US" sz="1500" b="1" dirty="0">
                <a:solidFill>
                  <a:srgbClr val="404040"/>
                </a:solidFill>
                <a:latin typeface="Arial" pitchFamily="34" charset="0"/>
                <a:ea typeface="Arial" pitchFamily="34" charset="-122"/>
                <a:cs typeface="Arial" pitchFamily="34" charset="-120"/>
              </a:rPr>
              <a:t>M4</a:t>
            </a:r>
            <a:endParaRPr lang="en-US" sz="1500" dirty="0"/>
          </a:p>
        </p:txBody>
      </p:sp>
      <p:sp>
        <p:nvSpPr>
          <p:cNvPr id="19" name="Shape 15"/>
          <p:cNvSpPr/>
          <p:nvPr/>
        </p:nvSpPr>
        <p:spPr>
          <a:xfrm>
            <a:off x="11748790" y="2195513"/>
            <a:ext cx="1534418" cy="9525"/>
          </a:xfrm>
          <a:prstGeom prst="rect">
            <a:avLst/>
          </a:prstGeom>
          <a:solidFill>
            <a:srgbClr val="A8ADA4"/>
          </a:solidFill>
          <a:ln/>
        </p:spPr>
        <p:txBody>
          <a:bodyPr/>
          <a:lstStyle/>
          <a:p>
            <a:endParaRPr lang="en-US"/>
          </a:p>
        </p:txBody>
      </p:sp>
      <p:sp>
        <p:nvSpPr>
          <p:cNvPr id="20" name="Text 16"/>
          <p:cNvSpPr/>
          <p:nvPr/>
        </p:nvSpPr>
        <p:spPr>
          <a:xfrm>
            <a:off x="11824990" y="1876425"/>
            <a:ext cx="1305818" cy="252412"/>
          </a:xfrm>
          <a:prstGeom prst="rect">
            <a:avLst/>
          </a:prstGeom>
          <a:noFill/>
          <a:ln/>
        </p:spPr>
        <p:txBody>
          <a:bodyPr wrap="square" lIns="25400" tIns="25400" rIns="25400" bIns="25400" rtlCol="0" anchor="ctr">
            <a:normAutofit fontScale="92500" lnSpcReduction="10000"/>
          </a:bodyPr>
          <a:lstStyle/>
          <a:p>
            <a:pPr marL="0" indent="0" algn="r">
              <a:buNone/>
            </a:pPr>
            <a:r>
              <a:rPr lang="en-US" sz="1500" b="1" dirty="0">
                <a:solidFill>
                  <a:srgbClr val="404040"/>
                </a:solidFill>
                <a:latin typeface="Arial" pitchFamily="34" charset="0"/>
                <a:ea typeface="Arial" pitchFamily="34" charset="-122"/>
                <a:cs typeface="Arial" pitchFamily="34" charset="-120"/>
              </a:rPr>
              <a:t>M5</a:t>
            </a:r>
            <a:endParaRPr lang="en-US" sz="1500" dirty="0"/>
          </a:p>
        </p:txBody>
      </p:sp>
      <p:sp>
        <p:nvSpPr>
          <p:cNvPr id="21" name="Shape 17"/>
          <p:cNvSpPr/>
          <p:nvPr/>
        </p:nvSpPr>
        <p:spPr>
          <a:xfrm>
            <a:off x="13283208" y="2195513"/>
            <a:ext cx="1534418" cy="9525"/>
          </a:xfrm>
          <a:prstGeom prst="rect">
            <a:avLst/>
          </a:prstGeom>
          <a:solidFill>
            <a:srgbClr val="A8ADA4"/>
          </a:solidFill>
          <a:ln/>
        </p:spPr>
        <p:txBody>
          <a:bodyPr/>
          <a:lstStyle/>
          <a:p>
            <a:endParaRPr lang="en-US"/>
          </a:p>
        </p:txBody>
      </p:sp>
      <p:sp>
        <p:nvSpPr>
          <p:cNvPr id="22" name="Text 18"/>
          <p:cNvSpPr/>
          <p:nvPr/>
        </p:nvSpPr>
        <p:spPr>
          <a:xfrm>
            <a:off x="13359408" y="1876425"/>
            <a:ext cx="1305818" cy="252412"/>
          </a:xfrm>
          <a:prstGeom prst="rect">
            <a:avLst/>
          </a:prstGeom>
          <a:noFill/>
          <a:ln/>
        </p:spPr>
        <p:txBody>
          <a:bodyPr wrap="square" lIns="25400" tIns="25400" rIns="25400" bIns="25400" rtlCol="0" anchor="ctr">
            <a:normAutofit fontScale="92500" lnSpcReduction="10000"/>
          </a:bodyPr>
          <a:lstStyle/>
          <a:p>
            <a:pPr marL="0" indent="0" algn="r">
              <a:buNone/>
            </a:pPr>
            <a:r>
              <a:rPr lang="en-US" sz="1500" b="1" dirty="0">
                <a:solidFill>
                  <a:srgbClr val="404040"/>
                </a:solidFill>
                <a:latin typeface="Arial" pitchFamily="34" charset="0"/>
                <a:ea typeface="Arial" pitchFamily="34" charset="-122"/>
                <a:cs typeface="Arial" pitchFamily="34" charset="-120"/>
              </a:rPr>
              <a:t>M6</a:t>
            </a:r>
            <a:endParaRPr lang="en-US" sz="1500" dirty="0"/>
          </a:p>
        </p:txBody>
      </p:sp>
      <p:sp>
        <p:nvSpPr>
          <p:cNvPr id="23" name="Shape 19"/>
          <p:cNvSpPr/>
          <p:nvPr/>
        </p:nvSpPr>
        <p:spPr>
          <a:xfrm>
            <a:off x="14817626" y="1771650"/>
            <a:ext cx="2822674" cy="433388"/>
          </a:xfrm>
          <a:prstGeom prst="rect">
            <a:avLst/>
          </a:prstGeom>
          <a:solidFill>
            <a:srgbClr val="E2EFDA"/>
          </a:solidFill>
          <a:ln/>
        </p:spPr>
        <p:txBody>
          <a:bodyPr/>
          <a:lstStyle/>
          <a:p>
            <a:endParaRPr lang="en-US"/>
          </a:p>
        </p:txBody>
      </p:sp>
      <p:sp>
        <p:nvSpPr>
          <p:cNvPr id="24" name="Shape 20"/>
          <p:cNvSpPr/>
          <p:nvPr/>
        </p:nvSpPr>
        <p:spPr>
          <a:xfrm>
            <a:off x="14817626" y="2195513"/>
            <a:ext cx="2822674" cy="9525"/>
          </a:xfrm>
          <a:prstGeom prst="rect">
            <a:avLst/>
          </a:prstGeom>
          <a:solidFill>
            <a:srgbClr val="A8ADA4"/>
          </a:solidFill>
          <a:ln/>
        </p:spPr>
        <p:txBody>
          <a:bodyPr/>
          <a:lstStyle/>
          <a:p>
            <a:endParaRPr lang="en-US"/>
          </a:p>
        </p:txBody>
      </p:sp>
      <p:sp>
        <p:nvSpPr>
          <p:cNvPr id="25" name="Text 21"/>
          <p:cNvSpPr/>
          <p:nvPr/>
        </p:nvSpPr>
        <p:spPr>
          <a:xfrm>
            <a:off x="14885346" y="1876425"/>
            <a:ext cx="2602554" cy="252412"/>
          </a:xfrm>
          <a:prstGeom prst="rect">
            <a:avLst/>
          </a:prstGeom>
          <a:noFill/>
          <a:ln/>
        </p:spPr>
        <p:txBody>
          <a:bodyPr wrap="square" lIns="25400" tIns="25400" rIns="25400" bIns="25400" rtlCol="0" anchor="ctr">
            <a:normAutofit fontScale="92500" lnSpcReduction="10000"/>
          </a:bodyPr>
          <a:lstStyle/>
          <a:p>
            <a:pPr marL="0" indent="0" algn="r">
              <a:buNone/>
            </a:pPr>
            <a:r>
              <a:rPr lang="en-US" sz="1500" b="1" dirty="0">
                <a:solidFill>
                  <a:srgbClr val="1A1A1A"/>
                </a:solidFill>
                <a:latin typeface="Arial" pitchFamily="34" charset="0"/>
                <a:ea typeface="Arial" pitchFamily="34" charset="-122"/>
                <a:cs typeface="Arial" pitchFamily="34" charset="-120"/>
              </a:rPr>
              <a:t>M7 (Est.)</a:t>
            </a:r>
            <a:endParaRPr lang="en-US" sz="1500" dirty="0"/>
          </a:p>
        </p:txBody>
      </p:sp>
      <p:sp>
        <p:nvSpPr>
          <p:cNvPr id="26" name="Shape 22"/>
          <p:cNvSpPr/>
          <p:nvPr/>
        </p:nvSpPr>
        <p:spPr>
          <a:xfrm>
            <a:off x="647700" y="2205038"/>
            <a:ext cx="16992600" cy="366713"/>
          </a:xfrm>
          <a:prstGeom prst="rect">
            <a:avLst/>
          </a:prstGeom>
          <a:solidFill>
            <a:srgbClr val="F1F5EC"/>
          </a:solidFill>
          <a:ln/>
        </p:spPr>
        <p:txBody>
          <a:bodyPr/>
          <a:lstStyle/>
          <a:p>
            <a:endParaRPr lang="en-US"/>
          </a:p>
        </p:txBody>
      </p:sp>
      <p:sp>
        <p:nvSpPr>
          <p:cNvPr id="27" name="Text 23"/>
          <p:cNvSpPr/>
          <p:nvPr/>
        </p:nvSpPr>
        <p:spPr>
          <a:xfrm>
            <a:off x="800100" y="2281238"/>
            <a:ext cx="17197578" cy="252413"/>
          </a:xfrm>
          <a:prstGeom prst="rect">
            <a:avLst/>
          </a:prstGeom>
          <a:noFill/>
          <a:ln/>
        </p:spPr>
        <p:txBody>
          <a:bodyPr wrap="square" lIns="25400" tIns="25400" rIns="25400" bIns="25400" rtlCol="0" anchor="ctr">
            <a:normAutofit lnSpcReduction="10000"/>
          </a:bodyPr>
          <a:lstStyle/>
          <a:p>
            <a:pPr marL="0" indent="0" algn="l">
              <a:buNone/>
            </a:pPr>
            <a:r>
              <a:rPr lang="en-US" sz="1425" b="1" kern="0" spc="30" dirty="0">
                <a:solidFill>
                  <a:srgbClr val="4A5A1E"/>
                </a:solidFill>
                <a:latin typeface="Arial" pitchFamily="34" charset="0"/>
                <a:ea typeface="Arial" pitchFamily="34" charset="-122"/>
                <a:cs typeface="Arial" pitchFamily="34" charset="-120"/>
              </a:rPr>
              <a:t>I. COST COMPONENTS</a:t>
            </a:r>
            <a:endParaRPr lang="en-US" sz="1425" dirty="0"/>
          </a:p>
        </p:txBody>
      </p:sp>
      <p:sp>
        <p:nvSpPr>
          <p:cNvPr id="28" name="Shape 24"/>
          <p:cNvSpPr/>
          <p:nvPr/>
        </p:nvSpPr>
        <p:spPr>
          <a:xfrm>
            <a:off x="647700" y="2986088"/>
            <a:ext cx="4963418" cy="9525"/>
          </a:xfrm>
          <a:prstGeom prst="rect">
            <a:avLst/>
          </a:prstGeom>
          <a:solidFill>
            <a:srgbClr val="EDEFEA"/>
          </a:solidFill>
          <a:ln/>
        </p:spPr>
        <p:txBody>
          <a:bodyPr/>
          <a:lstStyle/>
          <a:p>
            <a:endParaRPr lang="en-US"/>
          </a:p>
        </p:txBody>
      </p:sp>
      <p:sp>
        <p:nvSpPr>
          <p:cNvPr id="29" name="Text 25"/>
          <p:cNvSpPr/>
          <p:nvPr/>
        </p:nvSpPr>
        <p:spPr>
          <a:xfrm>
            <a:off x="800100" y="2667000"/>
            <a:ext cx="4807521" cy="261938"/>
          </a:xfrm>
          <a:prstGeom prst="rect">
            <a:avLst/>
          </a:prstGeom>
          <a:noFill/>
          <a:ln/>
        </p:spPr>
        <p:txBody>
          <a:bodyPr wrap="square" lIns="25400" tIns="25400" rIns="25400" bIns="25400" rtlCol="0" anchor="ctr">
            <a:normAutofit fontScale="92500" lnSpcReduction="10000"/>
          </a:bodyPr>
          <a:lstStyle/>
          <a:p>
            <a:pPr marL="0" indent="0" algn="l">
              <a:buNone/>
            </a:pPr>
            <a:r>
              <a:rPr lang="en-US" sz="1575" dirty="0">
                <a:solidFill>
                  <a:srgbClr val="1A1A1A"/>
                </a:solidFill>
                <a:latin typeface="Arial" pitchFamily="34" charset="0"/>
                <a:ea typeface="Arial" pitchFamily="34" charset="-122"/>
                <a:cs typeface="Arial" pitchFamily="34" charset="-120"/>
              </a:rPr>
              <a:t>Spare parts</a:t>
            </a:r>
            <a:endParaRPr lang="en-US" sz="1575" dirty="0"/>
          </a:p>
        </p:txBody>
      </p:sp>
      <p:sp>
        <p:nvSpPr>
          <p:cNvPr id="30" name="Shape 26"/>
          <p:cNvSpPr/>
          <p:nvPr/>
        </p:nvSpPr>
        <p:spPr>
          <a:xfrm>
            <a:off x="5611118" y="2986088"/>
            <a:ext cx="1534418" cy="9525"/>
          </a:xfrm>
          <a:prstGeom prst="rect">
            <a:avLst/>
          </a:prstGeom>
          <a:solidFill>
            <a:srgbClr val="EDEFEA"/>
          </a:solidFill>
          <a:ln/>
        </p:spPr>
        <p:txBody>
          <a:bodyPr/>
          <a:lstStyle/>
          <a:p>
            <a:endParaRPr lang="en-US"/>
          </a:p>
        </p:txBody>
      </p:sp>
      <p:sp>
        <p:nvSpPr>
          <p:cNvPr id="31" name="Text 27"/>
          <p:cNvSpPr/>
          <p:nvPr/>
        </p:nvSpPr>
        <p:spPr>
          <a:xfrm>
            <a:off x="5687318" y="2667000"/>
            <a:ext cx="1305818" cy="261938"/>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1A1A1A"/>
                </a:solidFill>
                <a:latin typeface="Arial" pitchFamily="34" charset="0"/>
                <a:ea typeface="Arial" pitchFamily="34" charset="-122"/>
                <a:cs typeface="Arial" pitchFamily="34" charset="-120"/>
              </a:rPr>
              <a:t>166,084</a:t>
            </a:r>
            <a:endParaRPr lang="en-US" sz="1575" dirty="0"/>
          </a:p>
        </p:txBody>
      </p:sp>
      <p:sp>
        <p:nvSpPr>
          <p:cNvPr id="32" name="Shape 28"/>
          <p:cNvSpPr/>
          <p:nvPr/>
        </p:nvSpPr>
        <p:spPr>
          <a:xfrm>
            <a:off x="7145536" y="2986088"/>
            <a:ext cx="1534418" cy="9525"/>
          </a:xfrm>
          <a:prstGeom prst="rect">
            <a:avLst/>
          </a:prstGeom>
          <a:solidFill>
            <a:srgbClr val="EDEFEA"/>
          </a:solidFill>
          <a:ln/>
        </p:spPr>
        <p:txBody>
          <a:bodyPr/>
          <a:lstStyle/>
          <a:p>
            <a:endParaRPr lang="en-US"/>
          </a:p>
        </p:txBody>
      </p:sp>
      <p:sp>
        <p:nvSpPr>
          <p:cNvPr id="33" name="Text 29"/>
          <p:cNvSpPr/>
          <p:nvPr/>
        </p:nvSpPr>
        <p:spPr>
          <a:xfrm>
            <a:off x="7221736" y="2667000"/>
            <a:ext cx="1305818" cy="261938"/>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1A1A1A"/>
                </a:solidFill>
                <a:latin typeface="Arial" pitchFamily="34" charset="0"/>
                <a:ea typeface="Arial" pitchFamily="34" charset="-122"/>
                <a:cs typeface="Arial" pitchFamily="34" charset="-120"/>
              </a:rPr>
              <a:t>151,470</a:t>
            </a:r>
            <a:endParaRPr lang="en-US" sz="1575" dirty="0"/>
          </a:p>
        </p:txBody>
      </p:sp>
      <p:sp>
        <p:nvSpPr>
          <p:cNvPr id="34" name="Shape 30"/>
          <p:cNvSpPr/>
          <p:nvPr/>
        </p:nvSpPr>
        <p:spPr>
          <a:xfrm>
            <a:off x="8679954" y="2986088"/>
            <a:ext cx="1534418" cy="9525"/>
          </a:xfrm>
          <a:prstGeom prst="rect">
            <a:avLst/>
          </a:prstGeom>
          <a:solidFill>
            <a:srgbClr val="EDEFEA"/>
          </a:solidFill>
          <a:ln/>
        </p:spPr>
        <p:txBody>
          <a:bodyPr/>
          <a:lstStyle/>
          <a:p>
            <a:endParaRPr lang="en-US"/>
          </a:p>
        </p:txBody>
      </p:sp>
      <p:sp>
        <p:nvSpPr>
          <p:cNvPr id="35" name="Text 31"/>
          <p:cNvSpPr/>
          <p:nvPr/>
        </p:nvSpPr>
        <p:spPr>
          <a:xfrm>
            <a:off x="8756154" y="2667000"/>
            <a:ext cx="1305818" cy="261938"/>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1A1A1A"/>
                </a:solidFill>
                <a:latin typeface="Arial" pitchFamily="34" charset="0"/>
                <a:ea typeface="Arial" pitchFamily="34" charset="-122"/>
                <a:cs typeface="Arial" pitchFamily="34" charset="-120"/>
              </a:rPr>
              <a:t>214,359</a:t>
            </a:r>
            <a:endParaRPr lang="en-US" sz="1575" dirty="0"/>
          </a:p>
        </p:txBody>
      </p:sp>
      <p:sp>
        <p:nvSpPr>
          <p:cNvPr id="36" name="Shape 32"/>
          <p:cNvSpPr/>
          <p:nvPr/>
        </p:nvSpPr>
        <p:spPr>
          <a:xfrm>
            <a:off x="10214372" y="2986088"/>
            <a:ext cx="1534418" cy="9525"/>
          </a:xfrm>
          <a:prstGeom prst="rect">
            <a:avLst/>
          </a:prstGeom>
          <a:solidFill>
            <a:srgbClr val="EDEFEA"/>
          </a:solidFill>
          <a:ln/>
        </p:spPr>
        <p:txBody>
          <a:bodyPr/>
          <a:lstStyle/>
          <a:p>
            <a:endParaRPr lang="en-US"/>
          </a:p>
        </p:txBody>
      </p:sp>
      <p:sp>
        <p:nvSpPr>
          <p:cNvPr id="37" name="Text 33"/>
          <p:cNvSpPr/>
          <p:nvPr/>
        </p:nvSpPr>
        <p:spPr>
          <a:xfrm>
            <a:off x="10290572" y="2667000"/>
            <a:ext cx="1305818" cy="261938"/>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1A1A1A"/>
                </a:solidFill>
                <a:latin typeface="Arial" pitchFamily="34" charset="0"/>
                <a:ea typeface="Arial" pitchFamily="34" charset="-122"/>
                <a:cs typeface="Arial" pitchFamily="34" charset="-120"/>
              </a:rPr>
              <a:t>250,301</a:t>
            </a:r>
            <a:endParaRPr lang="en-US" sz="1575" dirty="0"/>
          </a:p>
        </p:txBody>
      </p:sp>
      <p:sp>
        <p:nvSpPr>
          <p:cNvPr id="38" name="Shape 34"/>
          <p:cNvSpPr/>
          <p:nvPr/>
        </p:nvSpPr>
        <p:spPr>
          <a:xfrm>
            <a:off x="11748790" y="2986088"/>
            <a:ext cx="1534418" cy="9525"/>
          </a:xfrm>
          <a:prstGeom prst="rect">
            <a:avLst/>
          </a:prstGeom>
          <a:solidFill>
            <a:srgbClr val="EDEFEA"/>
          </a:solidFill>
          <a:ln/>
        </p:spPr>
        <p:txBody>
          <a:bodyPr/>
          <a:lstStyle/>
          <a:p>
            <a:endParaRPr lang="en-US"/>
          </a:p>
        </p:txBody>
      </p:sp>
      <p:sp>
        <p:nvSpPr>
          <p:cNvPr id="39" name="Text 35"/>
          <p:cNvSpPr/>
          <p:nvPr/>
        </p:nvSpPr>
        <p:spPr>
          <a:xfrm>
            <a:off x="11824990" y="2667000"/>
            <a:ext cx="1305818" cy="261938"/>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1A1A1A"/>
                </a:solidFill>
                <a:latin typeface="Arial" pitchFamily="34" charset="0"/>
                <a:ea typeface="Arial" pitchFamily="34" charset="-122"/>
                <a:cs typeface="Arial" pitchFamily="34" charset="-120"/>
              </a:rPr>
              <a:t>234,757</a:t>
            </a:r>
            <a:endParaRPr lang="en-US" sz="1575" dirty="0"/>
          </a:p>
        </p:txBody>
      </p:sp>
      <p:sp>
        <p:nvSpPr>
          <p:cNvPr id="40" name="Shape 36"/>
          <p:cNvSpPr/>
          <p:nvPr/>
        </p:nvSpPr>
        <p:spPr>
          <a:xfrm>
            <a:off x="13283208" y="2986088"/>
            <a:ext cx="1534418" cy="9525"/>
          </a:xfrm>
          <a:prstGeom prst="rect">
            <a:avLst/>
          </a:prstGeom>
          <a:solidFill>
            <a:srgbClr val="EDEFEA"/>
          </a:solidFill>
          <a:ln/>
        </p:spPr>
        <p:txBody>
          <a:bodyPr/>
          <a:lstStyle/>
          <a:p>
            <a:endParaRPr lang="en-US"/>
          </a:p>
        </p:txBody>
      </p:sp>
      <p:sp>
        <p:nvSpPr>
          <p:cNvPr id="41" name="Text 37"/>
          <p:cNvSpPr/>
          <p:nvPr/>
        </p:nvSpPr>
        <p:spPr>
          <a:xfrm>
            <a:off x="13359408" y="2667000"/>
            <a:ext cx="1305818" cy="261938"/>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1A1A1A"/>
                </a:solidFill>
                <a:latin typeface="Arial" pitchFamily="34" charset="0"/>
                <a:ea typeface="Arial" pitchFamily="34" charset="-122"/>
                <a:cs typeface="Arial" pitchFamily="34" charset="-120"/>
              </a:rPr>
              <a:t>357,447</a:t>
            </a:r>
            <a:endParaRPr lang="en-US" sz="1575" dirty="0"/>
          </a:p>
        </p:txBody>
      </p:sp>
      <p:sp>
        <p:nvSpPr>
          <p:cNvPr id="42" name="Shape 38"/>
          <p:cNvSpPr/>
          <p:nvPr/>
        </p:nvSpPr>
        <p:spPr>
          <a:xfrm>
            <a:off x="14817626" y="2571750"/>
            <a:ext cx="2822674" cy="423863"/>
          </a:xfrm>
          <a:prstGeom prst="rect">
            <a:avLst/>
          </a:prstGeom>
          <a:solidFill>
            <a:srgbClr val="F1F6F2"/>
          </a:solidFill>
          <a:ln/>
        </p:spPr>
        <p:txBody>
          <a:bodyPr/>
          <a:lstStyle/>
          <a:p>
            <a:endParaRPr lang="en-US"/>
          </a:p>
        </p:txBody>
      </p:sp>
      <p:sp>
        <p:nvSpPr>
          <p:cNvPr id="43" name="Shape 39"/>
          <p:cNvSpPr/>
          <p:nvPr/>
        </p:nvSpPr>
        <p:spPr>
          <a:xfrm>
            <a:off x="14817626" y="2986088"/>
            <a:ext cx="2822674" cy="9525"/>
          </a:xfrm>
          <a:prstGeom prst="rect">
            <a:avLst/>
          </a:prstGeom>
          <a:solidFill>
            <a:srgbClr val="EDEFEA"/>
          </a:solidFill>
          <a:ln/>
        </p:spPr>
        <p:txBody>
          <a:bodyPr/>
          <a:lstStyle/>
          <a:p>
            <a:endParaRPr lang="en-US"/>
          </a:p>
        </p:txBody>
      </p:sp>
      <p:sp>
        <p:nvSpPr>
          <p:cNvPr id="44" name="Text 40"/>
          <p:cNvSpPr/>
          <p:nvPr/>
        </p:nvSpPr>
        <p:spPr>
          <a:xfrm>
            <a:off x="14885346" y="2667000"/>
            <a:ext cx="2602554" cy="261938"/>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1A1A1A"/>
                </a:solidFill>
                <a:latin typeface="Arial" pitchFamily="34" charset="0"/>
                <a:ea typeface="Arial" pitchFamily="34" charset="-122"/>
                <a:cs typeface="Arial" pitchFamily="34" charset="-120"/>
              </a:rPr>
              <a:t>325,889</a:t>
            </a:r>
            <a:endParaRPr lang="en-US" sz="1575" dirty="0"/>
          </a:p>
        </p:txBody>
      </p:sp>
      <p:sp>
        <p:nvSpPr>
          <p:cNvPr id="45" name="Shape 41"/>
          <p:cNvSpPr/>
          <p:nvPr/>
        </p:nvSpPr>
        <p:spPr>
          <a:xfrm>
            <a:off x="647700" y="3414713"/>
            <a:ext cx="4963418" cy="9525"/>
          </a:xfrm>
          <a:prstGeom prst="rect">
            <a:avLst/>
          </a:prstGeom>
          <a:solidFill>
            <a:srgbClr val="EDEFEA"/>
          </a:solidFill>
          <a:ln/>
        </p:spPr>
        <p:txBody>
          <a:bodyPr/>
          <a:lstStyle/>
          <a:p>
            <a:endParaRPr lang="en-US"/>
          </a:p>
        </p:txBody>
      </p:sp>
      <p:sp>
        <p:nvSpPr>
          <p:cNvPr id="46" name="Text 42"/>
          <p:cNvSpPr/>
          <p:nvPr/>
        </p:nvSpPr>
        <p:spPr>
          <a:xfrm>
            <a:off x="800100" y="3090862"/>
            <a:ext cx="4807521" cy="266700"/>
          </a:xfrm>
          <a:prstGeom prst="rect">
            <a:avLst/>
          </a:prstGeom>
          <a:noFill/>
          <a:ln/>
        </p:spPr>
        <p:txBody>
          <a:bodyPr wrap="square" lIns="25400" tIns="25400" rIns="25400" bIns="25400" rtlCol="0" anchor="ctr">
            <a:normAutofit fontScale="92500" lnSpcReduction="10000"/>
          </a:bodyPr>
          <a:lstStyle/>
          <a:p>
            <a:pPr marL="0" indent="0" algn="l">
              <a:buNone/>
            </a:pPr>
            <a:r>
              <a:rPr lang="en-US" sz="1575" dirty="0">
                <a:solidFill>
                  <a:srgbClr val="1A1A1A"/>
                </a:solidFill>
                <a:latin typeface="Arial" pitchFamily="34" charset="0"/>
                <a:ea typeface="Arial" pitchFamily="34" charset="-122"/>
                <a:cs typeface="Arial" pitchFamily="34" charset="-120"/>
              </a:rPr>
              <a:t>Cost for ASP </a:t>
            </a:r>
            <a:r>
              <a:rPr lang="en-US" sz="1575" dirty="0">
                <a:solidFill>
                  <a:srgbClr val="8A8F86"/>
                </a:solidFill>
                <a:latin typeface="Arial" pitchFamily="34" charset="0"/>
                <a:ea typeface="Arial" pitchFamily="34" charset="-122"/>
                <a:cs typeface="Arial" pitchFamily="34" charset="-120"/>
              </a:rPr>
              <a:t>(excl. BSS payment)</a:t>
            </a:r>
            <a:endParaRPr lang="en-US" sz="1575" dirty="0"/>
          </a:p>
        </p:txBody>
      </p:sp>
      <p:sp>
        <p:nvSpPr>
          <p:cNvPr id="47" name="Shape 43"/>
          <p:cNvSpPr/>
          <p:nvPr/>
        </p:nvSpPr>
        <p:spPr>
          <a:xfrm>
            <a:off x="5611118" y="3414713"/>
            <a:ext cx="1534418" cy="9525"/>
          </a:xfrm>
          <a:prstGeom prst="rect">
            <a:avLst/>
          </a:prstGeom>
          <a:solidFill>
            <a:srgbClr val="EDEFEA"/>
          </a:solidFill>
          <a:ln/>
        </p:spPr>
        <p:txBody>
          <a:bodyPr/>
          <a:lstStyle/>
          <a:p>
            <a:endParaRPr lang="en-US"/>
          </a:p>
        </p:txBody>
      </p:sp>
      <p:sp>
        <p:nvSpPr>
          <p:cNvPr id="48" name="Text 44"/>
          <p:cNvSpPr/>
          <p:nvPr/>
        </p:nvSpPr>
        <p:spPr>
          <a:xfrm>
            <a:off x="5687318" y="3090862"/>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1A1A1A"/>
                </a:solidFill>
                <a:latin typeface="Arial" pitchFamily="34" charset="0"/>
                <a:ea typeface="Arial" pitchFamily="34" charset="-122"/>
                <a:cs typeface="Arial" pitchFamily="34" charset="-120"/>
              </a:rPr>
              <a:t>106,963</a:t>
            </a:r>
            <a:endParaRPr lang="en-US" sz="1575" dirty="0"/>
          </a:p>
        </p:txBody>
      </p:sp>
      <p:sp>
        <p:nvSpPr>
          <p:cNvPr id="49" name="Shape 45"/>
          <p:cNvSpPr/>
          <p:nvPr/>
        </p:nvSpPr>
        <p:spPr>
          <a:xfrm>
            <a:off x="7145536" y="3414713"/>
            <a:ext cx="1534418" cy="9525"/>
          </a:xfrm>
          <a:prstGeom prst="rect">
            <a:avLst/>
          </a:prstGeom>
          <a:solidFill>
            <a:srgbClr val="EDEFEA"/>
          </a:solidFill>
          <a:ln/>
        </p:spPr>
        <p:txBody>
          <a:bodyPr/>
          <a:lstStyle/>
          <a:p>
            <a:endParaRPr lang="en-US"/>
          </a:p>
        </p:txBody>
      </p:sp>
      <p:sp>
        <p:nvSpPr>
          <p:cNvPr id="50" name="Text 46"/>
          <p:cNvSpPr/>
          <p:nvPr/>
        </p:nvSpPr>
        <p:spPr>
          <a:xfrm>
            <a:off x="7221736" y="3090862"/>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1A1A1A"/>
                </a:solidFill>
                <a:latin typeface="Arial" pitchFamily="34" charset="0"/>
                <a:ea typeface="Arial" pitchFamily="34" charset="-122"/>
                <a:cs typeface="Arial" pitchFamily="34" charset="-120"/>
              </a:rPr>
              <a:t>109,106</a:t>
            </a:r>
            <a:endParaRPr lang="en-US" sz="1575" dirty="0"/>
          </a:p>
        </p:txBody>
      </p:sp>
      <p:sp>
        <p:nvSpPr>
          <p:cNvPr id="51" name="Shape 47"/>
          <p:cNvSpPr/>
          <p:nvPr/>
        </p:nvSpPr>
        <p:spPr>
          <a:xfrm>
            <a:off x="8679954" y="3414713"/>
            <a:ext cx="1534418" cy="9525"/>
          </a:xfrm>
          <a:prstGeom prst="rect">
            <a:avLst/>
          </a:prstGeom>
          <a:solidFill>
            <a:srgbClr val="EDEFEA"/>
          </a:solidFill>
          <a:ln/>
        </p:spPr>
        <p:txBody>
          <a:bodyPr/>
          <a:lstStyle/>
          <a:p>
            <a:endParaRPr lang="en-US"/>
          </a:p>
        </p:txBody>
      </p:sp>
      <p:sp>
        <p:nvSpPr>
          <p:cNvPr id="52" name="Text 48"/>
          <p:cNvSpPr/>
          <p:nvPr/>
        </p:nvSpPr>
        <p:spPr>
          <a:xfrm>
            <a:off x="8756154" y="3090862"/>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1A1A1A"/>
                </a:solidFill>
                <a:latin typeface="Arial" pitchFamily="34" charset="0"/>
                <a:ea typeface="Arial" pitchFamily="34" charset="-122"/>
                <a:cs typeface="Arial" pitchFamily="34" charset="-120"/>
              </a:rPr>
              <a:t>88,856</a:t>
            </a:r>
            <a:endParaRPr lang="en-US" sz="1575" dirty="0"/>
          </a:p>
        </p:txBody>
      </p:sp>
      <p:sp>
        <p:nvSpPr>
          <p:cNvPr id="53" name="Shape 49"/>
          <p:cNvSpPr/>
          <p:nvPr/>
        </p:nvSpPr>
        <p:spPr>
          <a:xfrm>
            <a:off x="10214372" y="3414713"/>
            <a:ext cx="1534418" cy="9525"/>
          </a:xfrm>
          <a:prstGeom prst="rect">
            <a:avLst/>
          </a:prstGeom>
          <a:solidFill>
            <a:srgbClr val="EDEFEA"/>
          </a:solidFill>
          <a:ln/>
        </p:spPr>
        <p:txBody>
          <a:bodyPr/>
          <a:lstStyle/>
          <a:p>
            <a:endParaRPr lang="en-US"/>
          </a:p>
        </p:txBody>
      </p:sp>
      <p:sp>
        <p:nvSpPr>
          <p:cNvPr id="54" name="Text 50"/>
          <p:cNvSpPr/>
          <p:nvPr/>
        </p:nvSpPr>
        <p:spPr>
          <a:xfrm>
            <a:off x="10290572" y="3090862"/>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1A1A1A"/>
                </a:solidFill>
                <a:latin typeface="Arial" pitchFamily="34" charset="0"/>
                <a:ea typeface="Arial" pitchFamily="34" charset="-122"/>
                <a:cs typeface="Arial" pitchFamily="34" charset="-120"/>
              </a:rPr>
              <a:t>99,833</a:t>
            </a:r>
            <a:endParaRPr lang="en-US" sz="1575" dirty="0"/>
          </a:p>
        </p:txBody>
      </p:sp>
      <p:sp>
        <p:nvSpPr>
          <p:cNvPr id="55" name="Shape 51"/>
          <p:cNvSpPr/>
          <p:nvPr/>
        </p:nvSpPr>
        <p:spPr>
          <a:xfrm>
            <a:off x="11748790" y="3414713"/>
            <a:ext cx="1534418" cy="9525"/>
          </a:xfrm>
          <a:prstGeom prst="rect">
            <a:avLst/>
          </a:prstGeom>
          <a:solidFill>
            <a:srgbClr val="EDEFEA"/>
          </a:solidFill>
          <a:ln/>
        </p:spPr>
        <p:txBody>
          <a:bodyPr/>
          <a:lstStyle/>
          <a:p>
            <a:endParaRPr lang="en-US"/>
          </a:p>
        </p:txBody>
      </p:sp>
      <p:sp>
        <p:nvSpPr>
          <p:cNvPr id="56" name="Text 52"/>
          <p:cNvSpPr/>
          <p:nvPr/>
        </p:nvSpPr>
        <p:spPr>
          <a:xfrm>
            <a:off x="11824990" y="3090862"/>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1A1A1A"/>
                </a:solidFill>
                <a:latin typeface="Arial" pitchFamily="34" charset="0"/>
                <a:ea typeface="Arial" pitchFamily="34" charset="-122"/>
                <a:cs typeface="Arial" pitchFamily="34" charset="-120"/>
              </a:rPr>
              <a:t>109,995</a:t>
            </a:r>
            <a:endParaRPr lang="en-US" sz="1575" dirty="0"/>
          </a:p>
        </p:txBody>
      </p:sp>
      <p:sp>
        <p:nvSpPr>
          <p:cNvPr id="57" name="Shape 53"/>
          <p:cNvSpPr/>
          <p:nvPr/>
        </p:nvSpPr>
        <p:spPr>
          <a:xfrm>
            <a:off x="13283208" y="3414713"/>
            <a:ext cx="1534418" cy="9525"/>
          </a:xfrm>
          <a:prstGeom prst="rect">
            <a:avLst/>
          </a:prstGeom>
          <a:solidFill>
            <a:srgbClr val="EDEFEA"/>
          </a:solidFill>
          <a:ln/>
        </p:spPr>
        <p:txBody>
          <a:bodyPr/>
          <a:lstStyle/>
          <a:p>
            <a:endParaRPr lang="en-US"/>
          </a:p>
        </p:txBody>
      </p:sp>
      <p:sp>
        <p:nvSpPr>
          <p:cNvPr id="58" name="Text 54"/>
          <p:cNvSpPr/>
          <p:nvPr/>
        </p:nvSpPr>
        <p:spPr>
          <a:xfrm>
            <a:off x="13359408" y="3090862"/>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1A1A1A"/>
                </a:solidFill>
                <a:latin typeface="Arial" pitchFamily="34" charset="0"/>
                <a:ea typeface="Arial" pitchFamily="34" charset="-122"/>
                <a:cs typeface="Arial" pitchFamily="34" charset="-120"/>
              </a:rPr>
              <a:t>112,758</a:t>
            </a:r>
            <a:endParaRPr lang="en-US" sz="1575" dirty="0"/>
          </a:p>
        </p:txBody>
      </p:sp>
      <p:sp>
        <p:nvSpPr>
          <p:cNvPr id="59" name="Shape 55"/>
          <p:cNvSpPr/>
          <p:nvPr/>
        </p:nvSpPr>
        <p:spPr>
          <a:xfrm>
            <a:off x="14817626" y="2995613"/>
            <a:ext cx="2822674" cy="428625"/>
          </a:xfrm>
          <a:prstGeom prst="rect">
            <a:avLst/>
          </a:prstGeom>
          <a:solidFill>
            <a:srgbClr val="F1F6F2"/>
          </a:solidFill>
          <a:ln/>
        </p:spPr>
        <p:txBody>
          <a:bodyPr/>
          <a:lstStyle/>
          <a:p>
            <a:endParaRPr lang="en-US"/>
          </a:p>
        </p:txBody>
      </p:sp>
      <p:sp>
        <p:nvSpPr>
          <p:cNvPr id="60" name="Shape 56"/>
          <p:cNvSpPr/>
          <p:nvPr/>
        </p:nvSpPr>
        <p:spPr>
          <a:xfrm>
            <a:off x="14817626" y="3414713"/>
            <a:ext cx="2822674" cy="9525"/>
          </a:xfrm>
          <a:prstGeom prst="rect">
            <a:avLst/>
          </a:prstGeom>
          <a:solidFill>
            <a:srgbClr val="EDEFEA"/>
          </a:solidFill>
          <a:ln/>
        </p:spPr>
        <p:txBody>
          <a:bodyPr/>
          <a:lstStyle/>
          <a:p>
            <a:endParaRPr lang="en-US"/>
          </a:p>
        </p:txBody>
      </p:sp>
      <p:sp>
        <p:nvSpPr>
          <p:cNvPr id="61" name="Text 57"/>
          <p:cNvSpPr/>
          <p:nvPr/>
        </p:nvSpPr>
        <p:spPr>
          <a:xfrm>
            <a:off x="14885346" y="3090862"/>
            <a:ext cx="2602554"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1A1A1A"/>
                </a:solidFill>
                <a:latin typeface="Arial" pitchFamily="34" charset="0"/>
                <a:ea typeface="Arial" pitchFamily="34" charset="-122"/>
                <a:cs typeface="Arial" pitchFamily="34" charset="-120"/>
              </a:rPr>
              <a:t>122,590</a:t>
            </a:r>
            <a:endParaRPr lang="en-US" sz="1575" dirty="0"/>
          </a:p>
        </p:txBody>
      </p:sp>
      <p:sp>
        <p:nvSpPr>
          <p:cNvPr id="62" name="Shape 58"/>
          <p:cNvSpPr/>
          <p:nvPr/>
        </p:nvSpPr>
        <p:spPr>
          <a:xfrm>
            <a:off x="647700" y="3843338"/>
            <a:ext cx="4963418" cy="9525"/>
          </a:xfrm>
          <a:prstGeom prst="rect">
            <a:avLst/>
          </a:prstGeom>
          <a:solidFill>
            <a:srgbClr val="EDEFEA"/>
          </a:solidFill>
          <a:ln/>
        </p:spPr>
        <p:txBody>
          <a:bodyPr/>
          <a:lstStyle/>
          <a:p>
            <a:endParaRPr lang="en-US"/>
          </a:p>
        </p:txBody>
      </p:sp>
      <p:sp>
        <p:nvSpPr>
          <p:cNvPr id="63" name="Text 59"/>
          <p:cNvSpPr/>
          <p:nvPr/>
        </p:nvSpPr>
        <p:spPr>
          <a:xfrm>
            <a:off x="800100" y="3519487"/>
            <a:ext cx="4807521" cy="266700"/>
          </a:xfrm>
          <a:prstGeom prst="rect">
            <a:avLst/>
          </a:prstGeom>
          <a:noFill/>
          <a:ln/>
        </p:spPr>
        <p:txBody>
          <a:bodyPr wrap="square" lIns="25400" tIns="25400" rIns="25400" bIns="25400" rtlCol="0" anchor="ctr">
            <a:normAutofit fontScale="92500" lnSpcReduction="10000"/>
          </a:bodyPr>
          <a:lstStyle/>
          <a:p>
            <a:pPr marL="0" indent="0" algn="l">
              <a:buNone/>
            </a:pPr>
            <a:r>
              <a:rPr lang="en-US" sz="1575" dirty="0">
                <a:solidFill>
                  <a:srgbClr val="1A1A1A"/>
                </a:solidFill>
                <a:latin typeface="Arial" pitchFamily="34" charset="0"/>
                <a:ea typeface="Arial" pitchFamily="34" charset="-122"/>
                <a:cs typeface="Arial" pitchFamily="34" charset="-120"/>
              </a:rPr>
              <a:t>Salary for SE</a:t>
            </a:r>
            <a:endParaRPr lang="en-US" sz="1575" dirty="0"/>
          </a:p>
        </p:txBody>
      </p:sp>
      <p:sp>
        <p:nvSpPr>
          <p:cNvPr id="64" name="Shape 60"/>
          <p:cNvSpPr/>
          <p:nvPr/>
        </p:nvSpPr>
        <p:spPr>
          <a:xfrm>
            <a:off x="5611118" y="3843338"/>
            <a:ext cx="1534418" cy="9525"/>
          </a:xfrm>
          <a:prstGeom prst="rect">
            <a:avLst/>
          </a:prstGeom>
          <a:solidFill>
            <a:srgbClr val="EDEFEA"/>
          </a:solidFill>
          <a:ln/>
        </p:spPr>
        <p:txBody>
          <a:bodyPr/>
          <a:lstStyle/>
          <a:p>
            <a:endParaRPr lang="en-US"/>
          </a:p>
        </p:txBody>
      </p:sp>
      <p:sp>
        <p:nvSpPr>
          <p:cNvPr id="65" name="Text 61"/>
          <p:cNvSpPr/>
          <p:nvPr/>
        </p:nvSpPr>
        <p:spPr>
          <a:xfrm>
            <a:off x="5687318" y="3519487"/>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A8ADA4"/>
                </a:solidFill>
                <a:latin typeface="Arial" pitchFamily="34" charset="0"/>
                <a:ea typeface="Arial" pitchFamily="34" charset="-122"/>
                <a:cs typeface="Arial" pitchFamily="34" charset="-120"/>
              </a:rPr>
              <a:t>–</a:t>
            </a:r>
            <a:endParaRPr lang="en-US" sz="1575" dirty="0"/>
          </a:p>
        </p:txBody>
      </p:sp>
      <p:sp>
        <p:nvSpPr>
          <p:cNvPr id="66" name="Shape 62"/>
          <p:cNvSpPr/>
          <p:nvPr/>
        </p:nvSpPr>
        <p:spPr>
          <a:xfrm>
            <a:off x="7145536" y="3843338"/>
            <a:ext cx="1534418" cy="9525"/>
          </a:xfrm>
          <a:prstGeom prst="rect">
            <a:avLst/>
          </a:prstGeom>
          <a:solidFill>
            <a:srgbClr val="EDEFEA"/>
          </a:solidFill>
          <a:ln/>
        </p:spPr>
        <p:txBody>
          <a:bodyPr/>
          <a:lstStyle/>
          <a:p>
            <a:endParaRPr lang="en-US"/>
          </a:p>
        </p:txBody>
      </p:sp>
      <p:sp>
        <p:nvSpPr>
          <p:cNvPr id="67" name="Text 63"/>
          <p:cNvSpPr/>
          <p:nvPr/>
        </p:nvSpPr>
        <p:spPr>
          <a:xfrm>
            <a:off x="7221736" y="3519487"/>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A8ADA4"/>
                </a:solidFill>
                <a:latin typeface="Arial" pitchFamily="34" charset="0"/>
                <a:ea typeface="Arial" pitchFamily="34" charset="-122"/>
                <a:cs typeface="Arial" pitchFamily="34" charset="-120"/>
              </a:rPr>
              <a:t>–</a:t>
            </a:r>
            <a:endParaRPr lang="en-US" sz="1575" dirty="0"/>
          </a:p>
        </p:txBody>
      </p:sp>
      <p:sp>
        <p:nvSpPr>
          <p:cNvPr id="68" name="Shape 64"/>
          <p:cNvSpPr/>
          <p:nvPr/>
        </p:nvSpPr>
        <p:spPr>
          <a:xfrm>
            <a:off x="8679954" y="3843338"/>
            <a:ext cx="1534418" cy="9525"/>
          </a:xfrm>
          <a:prstGeom prst="rect">
            <a:avLst/>
          </a:prstGeom>
          <a:solidFill>
            <a:srgbClr val="EDEFEA"/>
          </a:solidFill>
          <a:ln/>
        </p:spPr>
        <p:txBody>
          <a:bodyPr/>
          <a:lstStyle/>
          <a:p>
            <a:endParaRPr lang="en-US"/>
          </a:p>
        </p:txBody>
      </p:sp>
      <p:sp>
        <p:nvSpPr>
          <p:cNvPr id="69" name="Text 65"/>
          <p:cNvSpPr/>
          <p:nvPr/>
        </p:nvSpPr>
        <p:spPr>
          <a:xfrm>
            <a:off x="8756154" y="3519487"/>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1A1A1A"/>
                </a:solidFill>
                <a:latin typeface="Arial" pitchFamily="34" charset="0"/>
                <a:ea typeface="Arial" pitchFamily="34" charset="-122"/>
                <a:cs typeface="Arial" pitchFamily="34" charset="-120"/>
              </a:rPr>
              <a:t>13,530</a:t>
            </a:r>
            <a:endParaRPr lang="en-US" sz="1575" dirty="0"/>
          </a:p>
        </p:txBody>
      </p:sp>
      <p:sp>
        <p:nvSpPr>
          <p:cNvPr id="70" name="Shape 66"/>
          <p:cNvSpPr/>
          <p:nvPr/>
        </p:nvSpPr>
        <p:spPr>
          <a:xfrm>
            <a:off x="10214372" y="3843338"/>
            <a:ext cx="1534418" cy="9525"/>
          </a:xfrm>
          <a:prstGeom prst="rect">
            <a:avLst/>
          </a:prstGeom>
          <a:solidFill>
            <a:srgbClr val="EDEFEA"/>
          </a:solidFill>
          <a:ln/>
        </p:spPr>
        <p:txBody>
          <a:bodyPr/>
          <a:lstStyle/>
          <a:p>
            <a:endParaRPr lang="en-US"/>
          </a:p>
        </p:txBody>
      </p:sp>
      <p:sp>
        <p:nvSpPr>
          <p:cNvPr id="71" name="Text 67"/>
          <p:cNvSpPr/>
          <p:nvPr/>
        </p:nvSpPr>
        <p:spPr>
          <a:xfrm>
            <a:off x="10290572" y="3519487"/>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1A1A1A"/>
                </a:solidFill>
                <a:latin typeface="Arial" pitchFamily="34" charset="0"/>
                <a:ea typeface="Arial" pitchFamily="34" charset="-122"/>
                <a:cs typeface="Arial" pitchFamily="34" charset="-120"/>
              </a:rPr>
              <a:t>14,544</a:t>
            </a:r>
            <a:endParaRPr lang="en-US" sz="1575" dirty="0"/>
          </a:p>
        </p:txBody>
      </p:sp>
      <p:sp>
        <p:nvSpPr>
          <p:cNvPr id="72" name="Shape 68"/>
          <p:cNvSpPr/>
          <p:nvPr/>
        </p:nvSpPr>
        <p:spPr>
          <a:xfrm>
            <a:off x="11748790" y="3843338"/>
            <a:ext cx="1534418" cy="9525"/>
          </a:xfrm>
          <a:prstGeom prst="rect">
            <a:avLst/>
          </a:prstGeom>
          <a:solidFill>
            <a:srgbClr val="EDEFEA"/>
          </a:solidFill>
          <a:ln/>
        </p:spPr>
        <p:txBody>
          <a:bodyPr/>
          <a:lstStyle/>
          <a:p>
            <a:endParaRPr lang="en-US"/>
          </a:p>
        </p:txBody>
      </p:sp>
      <p:sp>
        <p:nvSpPr>
          <p:cNvPr id="73" name="Text 69"/>
          <p:cNvSpPr/>
          <p:nvPr/>
        </p:nvSpPr>
        <p:spPr>
          <a:xfrm>
            <a:off x="11824990" y="3519487"/>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1A1A1A"/>
                </a:solidFill>
                <a:latin typeface="Arial" pitchFamily="34" charset="0"/>
                <a:ea typeface="Arial" pitchFamily="34" charset="-122"/>
                <a:cs typeface="Arial" pitchFamily="34" charset="-120"/>
              </a:rPr>
              <a:t>36,895</a:t>
            </a:r>
            <a:endParaRPr lang="en-US" sz="1575" dirty="0"/>
          </a:p>
        </p:txBody>
      </p:sp>
      <p:sp>
        <p:nvSpPr>
          <p:cNvPr id="74" name="Shape 70"/>
          <p:cNvSpPr/>
          <p:nvPr/>
        </p:nvSpPr>
        <p:spPr>
          <a:xfrm>
            <a:off x="13283208" y="3843338"/>
            <a:ext cx="1534418" cy="9525"/>
          </a:xfrm>
          <a:prstGeom prst="rect">
            <a:avLst/>
          </a:prstGeom>
          <a:solidFill>
            <a:srgbClr val="EDEFEA"/>
          </a:solidFill>
          <a:ln/>
        </p:spPr>
        <p:txBody>
          <a:bodyPr/>
          <a:lstStyle/>
          <a:p>
            <a:endParaRPr lang="en-US"/>
          </a:p>
        </p:txBody>
      </p:sp>
      <p:sp>
        <p:nvSpPr>
          <p:cNvPr id="75" name="Text 71"/>
          <p:cNvSpPr/>
          <p:nvPr/>
        </p:nvSpPr>
        <p:spPr>
          <a:xfrm>
            <a:off x="13359408" y="3519487"/>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1A1A1A"/>
                </a:solidFill>
                <a:latin typeface="Arial" pitchFamily="34" charset="0"/>
                <a:ea typeface="Arial" pitchFamily="34" charset="-122"/>
                <a:cs typeface="Arial" pitchFamily="34" charset="-120"/>
              </a:rPr>
              <a:t>53,807</a:t>
            </a:r>
            <a:endParaRPr lang="en-US" sz="1575" dirty="0"/>
          </a:p>
        </p:txBody>
      </p:sp>
      <p:sp>
        <p:nvSpPr>
          <p:cNvPr id="76" name="Shape 72"/>
          <p:cNvSpPr/>
          <p:nvPr/>
        </p:nvSpPr>
        <p:spPr>
          <a:xfrm>
            <a:off x="14817626" y="3424238"/>
            <a:ext cx="2822674" cy="428625"/>
          </a:xfrm>
          <a:prstGeom prst="rect">
            <a:avLst/>
          </a:prstGeom>
          <a:solidFill>
            <a:srgbClr val="F1F6F2"/>
          </a:solidFill>
          <a:ln/>
        </p:spPr>
        <p:txBody>
          <a:bodyPr/>
          <a:lstStyle/>
          <a:p>
            <a:endParaRPr lang="en-US"/>
          </a:p>
        </p:txBody>
      </p:sp>
      <p:sp>
        <p:nvSpPr>
          <p:cNvPr id="77" name="Shape 73"/>
          <p:cNvSpPr/>
          <p:nvPr/>
        </p:nvSpPr>
        <p:spPr>
          <a:xfrm>
            <a:off x="14817626" y="3843338"/>
            <a:ext cx="2822674" cy="9525"/>
          </a:xfrm>
          <a:prstGeom prst="rect">
            <a:avLst/>
          </a:prstGeom>
          <a:solidFill>
            <a:srgbClr val="EDEFEA"/>
          </a:solidFill>
          <a:ln/>
        </p:spPr>
        <p:txBody>
          <a:bodyPr/>
          <a:lstStyle/>
          <a:p>
            <a:endParaRPr lang="en-US"/>
          </a:p>
        </p:txBody>
      </p:sp>
      <p:sp>
        <p:nvSpPr>
          <p:cNvPr id="78" name="Text 74"/>
          <p:cNvSpPr/>
          <p:nvPr/>
        </p:nvSpPr>
        <p:spPr>
          <a:xfrm>
            <a:off x="14885346" y="3519487"/>
            <a:ext cx="2602554"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1A1A1A"/>
                </a:solidFill>
                <a:latin typeface="Arial" pitchFamily="34" charset="0"/>
                <a:ea typeface="Arial" pitchFamily="34" charset="-122"/>
                <a:cs typeface="Arial" pitchFamily="34" charset="-120"/>
              </a:rPr>
              <a:t>69,572</a:t>
            </a:r>
            <a:endParaRPr lang="en-US" sz="1575" dirty="0"/>
          </a:p>
        </p:txBody>
      </p:sp>
      <p:sp>
        <p:nvSpPr>
          <p:cNvPr id="79" name="Shape 75"/>
          <p:cNvSpPr/>
          <p:nvPr/>
        </p:nvSpPr>
        <p:spPr>
          <a:xfrm>
            <a:off x="647700" y="3852863"/>
            <a:ext cx="16992600" cy="495300"/>
          </a:xfrm>
          <a:prstGeom prst="rect">
            <a:avLst/>
          </a:prstGeom>
          <a:solidFill>
            <a:srgbClr val="E2EFDA"/>
          </a:solidFill>
          <a:ln/>
        </p:spPr>
        <p:txBody>
          <a:bodyPr/>
          <a:lstStyle/>
          <a:p>
            <a:endParaRPr lang="en-US"/>
          </a:p>
        </p:txBody>
      </p:sp>
      <p:sp>
        <p:nvSpPr>
          <p:cNvPr id="80" name="Shape 76"/>
          <p:cNvSpPr/>
          <p:nvPr/>
        </p:nvSpPr>
        <p:spPr>
          <a:xfrm>
            <a:off x="647700" y="4338638"/>
            <a:ext cx="4963418" cy="9525"/>
          </a:xfrm>
          <a:prstGeom prst="rect">
            <a:avLst/>
          </a:prstGeom>
          <a:solidFill>
            <a:srgbClr val="A8ADA4"/>
          </a:solidFill>
          <a:ln/>
        </p:spPr>
        <p:txBody>
          <a:bodyPr/>
          <a:lstStyle/>
          <a:p>
            <a:endParaRPr lang="en-US"/>
          </a:p>
        </p:txBody>
      </p:sp>
      <p:sp>
        <p:nvSpPr>
          <p:cNvPr id="81" name="Shape 77"/>
          <p:cNvSpPr/>
          <p:nvPr/>
        </p:nvSpPr>
        <p:spPr>
          <a:xfrm>
            <a:off x="647700" y="3852863"/>
            <a:ext cx="4963418" cy="9525"/>
          </a:xfrm>
          <a:prstGeom prst="rect">
            <a:avLst/>
          </a:prstGeom>
          <a:solidFill>
            <a:srgbClr val="A8ADA4"/>
          </a:solidFill>
          <a:ln/>
        </p:spPr>
        <p:txBody>
          <a:bodyPr/>
          <a:lstStyle/>
          <a:p>
            <a:endParaRPr lang="en-US"/>
          </a:p>
        </p:txBody>
      </p:sp>
      <p:sp>
        <p:nvSpPr>
          <p:cNvPr id="82" name="Text 78"/>
          <p:cNvSpPr/>
          <p:nvPr/>
        </p:nvSpPr>
        <p:spPr>
          <a:xfrm>
            <a:off x="800100" y="3976688"/>
            <a:ext cx="4807521" cy="285750"/>
          </a:xfrm>
          <a:prstGeom prst="rect">
            <a:avLst/>
          </a:prstGeom>
          <a:noFill/>
          <a:ln/>
        </p:spPr>
        <p:txBody>
          <a:bodyPr wrap="square" lIns="25400" tIns="25400" rIns="25400" bIns="25400" rtlCol="0" anchor="ctr">
            <a:normAutofit lnSpcReduction="10000"/>
          </a:bodyPr>
          <a:lstStyle/>
          <a:p>
            <a:pPr marL="0" indent="0" algn="l">
              <a:buNone/>
            </a:pPr>
            <a:r>
              <a:rPr lang="en-US" sz="1575" b="1" dirty="0">
                <a:solidFill>
                  <a:srgbClr val="1A1A1A"/>
                </a:solidFill>
                <a:latin typeface="Arial" pitchFamily="34" charset="0"/>
                <a:ea typeface="Arial" pitchFamily="34" charset="-122"/>
                <a:cs typeface="Arial" pitchFamily="34" charset="-120"/>
              </a:rPr>
              <a:t>Grand Total (USD)</a:t>
            </a:r>
            <a:endParaRPr lang="en-US" sz="1575" dirty="0"/>
          </a:p>
        </p:txBody>
      </p:sp>
      <p:sp>
        <p:nvSpPr>
          <p:cNvPr id="83" name="Shape 79"/>
          <p:cNvSpPr/>
          <p:nvPr/>
        </p:nvSpPr>
        <p:spPr>
          <a:xfrm>
            <a:off x="5611118" y="4338638"/>
            <a:ext cx="1534418" cy="9525"/>
          </a:xfrm>
          <a:prstGeom prst="rect">
            <a:avLst/>
          </a:prstGeom>
          <a:solidFill>
            <a:srgbClr val="A8ADA4"/>
          </a:solidFill>
          <a:ln/>
        </p:spPr>
        <p:txBody>
          <a:bodyPr/>
          <a:lstStyle/>
          <a:p>
            <a:endParaRPr lang="en-US"/>
          </a:p>
        </p:txBody>
      </p:sp>
      <p:sp>
        <p:nvSpPr>
          <p:cNvPr id="84" name="Shape 80"/>
          <p:cNvSpPr/>
          <p:nvPr/>
        </p:nvSpPr>
        <p:spPr>
          <a:xfrm>
            <a:off x="5611118" y="3852863"/>
            <a:ext cx="1534418" cy="9525"/>
          </a:xfrm>
          <a:prstGeom prst="rect">
            <a:avLst/>
          </a:prstGeom>
          <a:solidFill>
            <a:srgbClr val="A8ADA4"/>
          </a:solidFill>
          <a:ln/>
        </p:spPr>
        <p:txBody>
          <a:bodyPr/>
          <a:lstStyle/>
          <a:p>
            <a:endParaRPr lang="en-US"/>
          </a:p>
        </p:txBody>
      </p:sp>
      <p:sp>
        <p:nvSpPr>
          <p:cNvPr id="85" name="Text 81"/>
          <p:cNvSpPr/>
          <p:nvPr/>
        </p:nvSpPr>
        <p:spPr>
          <a:xfrm>
            <a:off x="5687318" y="3976688"/>
            <a:ext cx="1305818" cy="285750"/>
          </a:xfrm>
          <a:prstGeom prst="rect">
            <a:avLst/>
          </a:prstGeom>
          <a:noFill/>
          <a:ln/>
        </p:spPr>
        <p:txBody>
          <a:bodyPr wrap="square" lIns="25400" tIns="25400" rIns="25400" bIns="25400" rtlCol="0" anchor="ctr">
            <a:normAutofit lnSpcReduction="10000"/>
          </a:bodyPr>
          <a:lstStyle/>
          <a:p>
            <a:pPr marL="0" indent="0" algn="r">
              <a:buNone/>
            </a:pPr>
            <a:r>
              <a:rPr lang="en-US" sz="1575" b="1" dirty="0">
                <a:solidFill>
                  <a:srgbClr val="1A1A1A"/>
                </a:solidFill>
                <a:latin typeface="Arial" pitchFamily="34" charset="0"/>
                <a:ea typeface="Arial" pitchFamily="34" charset="-122"/>
                <a:cs typeface="Arial" pitchFamily="34" charset="-120"/>
              </a:rPr>
              <a:t>273,047</a:t>
            </a:r>
            <a:endParaRPr lang="en-US" sz="1575" dirty="0"/>
          </a:p>
        </p:txBody>
      </p:sp>
      <p:sp>
        <p:nvSpPr>
          <p:cNvPr id="86" name="Shape 82"/>
          <p:cNvSpPr/>
          <p:nvPr/>
        </p:nvSpPr>
        <p:spPr>
          <a:xfrm>
            <a:off x="7145536" y="4338638"/>
            <a:ext cx="1534418" cy="9525"/>
          </a:xfrm>
          <a:prstGeom prst="rect">
            <a:avLst/>
          </a:prstGeom>
          <a:solidFill>
            <a:srgbClr val="A8ADA4"/>
          </a:solidFill>
          <a:ln/>
        </p:spPr>
        <p:txBody>
          <a:bodyPr/>
          <a:lstStyle/>
          <a:p>
            <a:endParaRPr lang="en-US"/>
          </a:p>
        </p:txBody>
      </p:sp>
      <p:sp>
        <p:nvSpPr>
          <p:cNvPr id="87" name="Shape 83"/>
          <p:cNvSpPr/>
          <p:nvPr/>
        </p:nvSpPr>
        <p:spPr>
          <a:xfrm>
            <a:off x="7145536" y="3852863"/>
            <a:ext cx="1534418" cy="9525"/>
          </a:xfrm>
          <a:prstGeom prst="rect">
            <a:avLst/>
          </a:prstGeom>
          <a:solidFill>
            <a:srgbClr val="A8ADA4"/>
          </a:solidFill>
          <a:ln/>
        </p:spPr>
        <p:txBody>
          <a:bodyPr/>
          <a:lstStyle/>
          <a:p>
            <a:endParaRPr lang="en-US"/>
          </a:p>
        </p:txBody>
      </p:sp>
      <p:sp>
        <p:nvSpPr>
          <p:cNvPr id="88" name="Text 84"/>
          <p:cNvSpPr/>
          <p:nvPr/>
        </p:nvSpPr>
        <p:spPr>
          <a:xfrm>
            <a:off x="7221736" y="3976688"/>
            <a:ext cx="1305818" cy="285750"/>
          </a:xfrm>
          <a:prstGeom prst="rect">
            <a:avLst/>
          </a:prstGeom>
          <a:noFill/>
          <a:ln/>
        </p:spPr>
        <p:txBody>
          <a:bodyPr wrap="square" lIns="25400" tIns="25400" rIns="25400" bIns="25400" rtlCol="0" anchor="ctr">
            <a:normAutofit lnSpcReduction="10000"/>
          </a:bodyPr>
          <a:lstStyle/>
          <a:p>
            <a:pPr marL="0" indent="0" algn="r">
              <a:buNone/>
            </a:pPr>
            <a:r>
              <a:rPr lang="en-US" sz="1575" b="1" dirty="0">
                <a:solidFill>
                  <a:srgbClr val="1A1A1A"/>
                </a:solidFill>
                <a:latin typeface="Arial" pitchFamily="34" charset="0"/>
                <a:ea typeface="Arial" pitchFamily="34" charset="-122"/>
                <a:cs typeface="Arial" pitchFamily="34" charset="-120"/>
              </a:rPr>
              <a:t>260,576</a:t>
            </a:r>
            <a:endParaRPr lang="en-US" sz="1575" dirty="0"/>
          </a:p>
        </p:txBody>
      </p:sp>
      <p:sp>
        <p:nvSpPr>
          <p:cNvPr id="89" name="Shape 85"/>
          <p:cNvSpPr/>
          <p:nvPr/>
        </p:nvSpPr>
        <p:spPr>
          <a:xfrm>
            <a:off x="8679954" y="4338638"/>
            <a:ext cx="1534418" cy="9525"/>
          </a:xfrm>
          <a:prstGeom prst="rect">
            <a:avLst/>
          </a:prstGeom>
          <a:solidFill>
            <a:srgbClr val="A8ADA4"/>
          </a:solidFill>
          <a:ln/>
        </p:spPr>
        <p:txBody>
          <a:bodyPr/>
          <a:lstStyle/>
          <a:p>
            <a:endParaRPr lang="en-US"/>
          </a:p>
        </p:txBody>
      </p:sp>
      <p:sp>
        <p:nvSpPr>
          <p:cNvPr id="90" name="Shape 86"/>
          <p:cNvSpPr/>
          <p:nvPr/>
        </p:nvSpPr>
        <p:spPr>
          <a:xfrm>
            <a:off x="8679954" y="3852863"/>
            <a:ext cx="1534418" cy="9525"/>
          </a:xfrm>
          <a:prstGeom prst="rect">
            <a:avLst/>
          </a:prstGeom>
          <a:solidFill>
            <a:srgbClr val="A8ADA4"/>
          </a:solidFill>
          <a:ln/>
        </p:spPr>
        <p:txBody>
          <a:bodyPr/>
          <a:lstStyle/>
          <a:p>
            <a:endParaRPr lang="en-US"/>
          </a:p>
        </p:txBody>
      </p:sp>
      <p:sp>
        <p:nvSpPr>
          <p:cNvPr id="91" name="Text 87"/>
          <p:cNvSpPr/>
          <p:nvPr/>
        </p:nvSpPr>
        <p:spPr>
          <a:xfrm>
            <a:off x="8756154" y="3976688"/>
            <a:ext cx="1305818" cy="285750"/>
          </a:xfrm>
          <a:prstGeom prst="rect">
            <a:avLst/>
          </a:prstGeom>
          <a:noFill/>
          <a:ln/>
        </p:spPr>
        <p:txBody>
          <a:bodyPr wrap="square" lIns="25400" tIns="25400" rIns="25400" bIns="25400" rtlCol="0" anchor="ctr">
            <a:normAutofit lnSpcReduction="10000"/>
          </a:bodyPr>
          <a:lstStyle/>
          <a:p>
            <a:pPr marL="0" indent="0" algn="r">
              <a:buNone/>
            </a:pPr>
            <a:r>
              <a:rPr lang="en-US" sz="1575" b="1" dirty="0">
                <a:solidFill>
                  <a:srgbClr val="1A1A1A"/>
                </a:solidFill>
                <a:latin typeface="Arial" pitchFamily="34" charset="0"/>
                <a:ea typeface="Arial" pitchFamily="34" charset="-122"/>
                <a:cs typeface="Arial" pitchFamily="34" charset="-120"/>
              </a:rPr>
              <a:t>316,745</a:t>
            </a:r>
            <a:endParaRPr lang="en-US" sz="1575" dirty="0"/>
          </a:p>
        </p:txBody>
      </p:sp>
      <p:sp>
        <p:nvSpPr>
          <p:cNvPr id="92" name="Shape 88"/>
          <p:cNvSpPr/>
          <p:nvPr/>
        </p:nvSpPr>
        <p:spPr>
          <a:xfrm>
            <a:off x="10214372" y="4338638"/>
            <a:ext cx="1534418" cy="9525"/>
          </a:xfrm>
          <a:prstGeom prst="rect">
            <a:avLst/>
          </a:prstGeom>
          <a:solidFill>
            <a:srgbClr val="A8ADA4"/>
          </a:solidFill>
          <a:ln/>
        </p:spPr>
        <p:txBody>
          <a:bodyPr/>
          <a:lstStyle/>
          <a:p>
            <a:endParaRPr lang="en-US"/>
          </a:p>
        </p:txBody>
      </p:sp>
      <p:sp>
        <p:nvSpPr>
          <p:cNvPr id="93" name="Shape 89"/>
          <p:cNvSpPr/>
          <p:nvPr/>
        </p:nvSpPr>
        <p:spPr>
          <a:xfrm>
            <a:off x="10214372" y="3852863"/>
            <a:ext cx="1534418" cy="9525"/>
          </a:xfrm>
          <a:prstGeom prst="rect">
            <a:avLst/>
          </a:prstGeom>
          <a:solidFill>
            <a:srgbClr val="A8ADA4"/>
          </a:solidFill>
          <a:ln/>
        </p:spPr>
        <p:txBody>
          <a:bodyPr/>
          <a:lstStyle/>
          <a:p>
            <a:endParaRPr lang="en-US"/>
          </a:p>
        </p:txBody>
      </p:sp>
      <p:sp>
        <p:nvSpPr>
          <p:cNvPr id="94" name="Text 90"/>
          <p:cNvSpPr/>
          <p:nvPr/>
        </p:nvSpPr>
        <p:spPr>
          <a:xfrm>
            <a:off x="10290572" y="3976688"/>
            <a:ext cx="1305818" cy="285750"/>
          </a:xfrm>
          <a:prstGeom prst="rect">
            <a:avLst/>
          </a:prstGeom>
          <a:noFill/>
          <a:ln/>
        </p:spPr>
        <p:txBody>
          <a:bodyPr wrap="square" lIns="25400" tIns="25400" rIns="25400" bIns="25400" rtlCol="0" anchor="ctr">
            <a:normAutofit lnSpcReduction="10000"/>
          </a:bodyPr>
          <a:lstStyle/>
          <a:p>
            <a:pPr marL="0" indent="0" algn="r">
              <a:buNone/>
            </a:pPr>
            <a:r>
              <a:rPr lang="en-US" sz="1575" b="1" dirty="0">
                <a:solidFill>
                  <a:srgbClr val="1A1A1A"/>
                </a:solidFill>
                <a:latin typeface="Arial" pitchFamily="34" charset="0"/>
                <a:ea typeface="Arial" pitchFamily="34" charset="-122"/>
                <a:cs typeface="Arial" pitchFamily="34" charset="-120"/>
              </a:rPr>
              <a:t>364,678</a:t>
            </a:r>
            <a:endParaRPr lang="en-US" sz="1575" dirty="0"/>
          </a:p>
        </p:txBody>
      </p:sp>
      <p:sp>
        <p:nvSpPr>
          <p:cNvPr id="95" name="Shape 91"/>
          <p:cNvSpPr/>
          <p:nvPr/>
        </p:nvSpPr>
        <p:spPr>
          <a:xfrm>
            <a:off x="11748790" y="4338638"/>
            <a:ext cx="1534418" cy="9525"/>
          </a:xfrm>
          <a:prstGeom prst="rect">
            <a:avLst/>
          </a:prstGeom>
          <a:solidFill>
            <a:srgbClr val="A8ADA4"/>
          </a:solidFill>
          <a:ln/>
        </p:spPr>
        <p:txBody>
          <a:bodyPr/>
          <a:lstStyle/>
          <a:p>
            <a:endParaRPr lang="en-US"/>
          </a:p>
        </p:txBody>
      </p:sp>
      <p:sp>
        <p:nvSpPr>
          <p:cNvPr id="96" name="Shape 92"/>
          <p:cNvSpPr/>
          <p:nvPr/>
        </p:nvSpPr>
        <p:spPr>
          <a:xfrm>
            <a:off x="11748790" y="3852863"/>
            <a:ext cx="1534418" cy="9525"/>
          </a:xfrm>
          <a:prstGeom prst="rect">
            <a:avLst/>
          </a:prstGeom>
          <a:solidFill>
            <a:srgbClr val="A8ADA4"/>
          </a:solidFill>
          <a:ln/>
        </p:spPr>
        <p:txBody>
          <a:bodyPr/>
          <a:lstStyle/>
          <a:p>
            <a:endParaRPr lang="en-US"/>
          </a:p>
        </p:txBody>
      </p:sp>
      <p:sp>
        <p:nvSpPr>
          <p:cNvPr id="97" name="Text 93"/>
          <p:cNvSpPr/>
          <p:nvPr/>
        </p:nvSpPr>
        <p:spPr>
          <a:xfrm>
            <a:off x="11824990" y="3976688"/>
            <a:ext cx="1305818" cy="285750"/>
          </a:xfrm>
          <a:prstGeom prst="rect">
            <a:avLst/>
          </a:prstGeom>
          <a:noFill/>
          <a:ln/>
        </p:spPr>
        <p:txBody>
          <a:bodyPr wrap="square" lIns="25400" tIns="25400" rIns="25400" bIns="25400" rtlCol="0" anchor="ctr">
            <a:normAutofit lnSpcReduction="10000"/>
          </a:bodyPr>
          <a:lstStyle/>
          <a:p>
            <a:pPr marL="0" indent="0" algn="r">
              <a:buNone/>
            </a:pPr>
            <a:r>
              <a:rPr lang="en-US" sz="1575" b="1" dirty="0">
                <a:solidFill>
                  <a:srgbClr val="1A1A1A"/>
                </a:solidFill>
                <a:latin typeface="Arial" pitchFamily="34" charset="0"/>
                <a:ea typeface="Arial" pitchFamily="34" charset="-122"/>
                <a:cs typeface="Arial" pitchFamily="34" charset="-120"/>
              </a:rPr>
              <a:t>381,647</a:t>
            </a:r>
            <a:endParaRPr lang="en-US" sz="1575" dirty="0"/>
          </a:p>
        </p:txBody>
      </p:sp>
      <p:sp>
        <p:nvSpPr>
          <p:cNvPr id="98" name="Shape 94"/>
          <p:cNvSpPr/>
          <p:nvPr/>
        </p:nvSpPr>
        <p:spPr>
          <a:xfrm>
            <a:off x="13283208" y="4338638"/>
            <a:ext cx="1534418" cy="9525"/>
          </a:xfrm>
          <a:prstGeom prst="rect">
            <a:avLst/>
          </a:prstGeom>
          <a:solidFill>
            <a:srgbClr val="A8ADA4"/>
          </a:solidFill>
          <a:ln/>
        </p:spPr>
        <p:txBody>
          <a:bodyPr/>
          <a:lstStyle/>
          <a:p>
            <a:endParaRPr lang="en-US"/>
          </a:p>
        </p:txBody>
      </p:sp>
      <p:sp>
        <p:nvSpPr>
          <p:cNvPr id="99" name="Shape 95"/>
          <p:cNvSpPr/>
          <p:nvPr/>
        </p:nvSpPr>
        <p:spPr>
          <a:xfrm>
            <a:off x="13283208" y="3852863"/>
            <a:ext cx="1534418" cy="9525"/>
          </a:xfrm>
          <a:prstGeom prst="rect">
            <a:avLst/>
          </a:prstGeom>
          <a:solidFill>
            <a:srgbClr val="A8ADA4"/>
          </a:solidFill>
          <a:ln/>
        </p:spPr>
        <p:txBody>
          <a:bodyPr/>
          <a:lstStyle/>
          <a:p>
            <a:endParaRPr lang="en-US"/>
          </a:p>
        </p:txBody>
      </p:sp>
      <p:sp>
        <p:nvSpPr>
          <p:cNvPr id="100" name="Text 96"/>
          <p:cNvSpPr/>
          <p:nvPr/>
        </p:nvSpPr>
        <p:spPr>
          <a:xfrm>
            <a:off x="13359408" y="3976688"/>
            <a:ext cx="1305818" cy="285750"/>
          </a:xfrm>
          <a:prstGeom prst="rect">
            <a:avLst/>
          </a:prstGeom>
          <a:noFill/>
          <a:ln/>
        </p:spPr>
        <p:txBody>
          <a:bodyPr wrap="square" lIns="25400" tIns="25400" rIns="25400" bIns="25400" rtlCol="0" anchor="ctr">
            <a:normAutofit lnSpcReduction="10000"/>
          </a:bodyPr>
          <a:lstStyle/>
          <a:p>
            <a:pPr marL="0" indent="0" algn="r">
              <a:buNone/>
            </a:pPr>
            <a:r>
              <a:rPr lang="en-US" sz="1575" b="1" dirty="0">
                <a:solidFill>
                  <a:srgbClr val="1A1A1A"/>
                </a:solidFill>
                <a:latin typeface="Arial" pitchFamily="34" charset="0"/>
                <a:ea typeface="Arial" pitchFamily="34" charset="-122"/>
                <a:cs typeface="Arial" pitchFamily="34" charset="-120"/>
              </a:rPr>
              <a:t>524,012</a:t>
            </a:r>
            <a:endParaRPr lang="en-US" sz="1575" dirty="0"/>
          </a:p>
        </p:txBody>
      </p:sp>
      <p:sp>
        <p:nvSpPr>
          <p:cNvPr id="101" name="Shape 97"/>
          <p:cNvSpPr/>
          <p:nvPr/>
        </p:nvSpPr>
        <p:spPr>
          <a:xfrm>
            <a:off x="14817626" y="3852863"/>
            <a:ext cx="2822674" cy="495300"/>
          </a:xfrm>
          <a:prstGeom prst="rect">
            <a:avLst/>
          </a:prstGeom>
          <a:solidFill>
            <a:srgbClr val="DCEBD0"/>
          </a:solidFill>
          <a:ln/>
        </p:spPr>
        <p:txBody>
          <a:bodyPr/>
          <a:lstStyle/>
          <a:p>
            <a:endParaRPr lang="en-US"/>
          </a:p>
        </p:txBody>
      </p:sp>
      <p:sp>
        <p:nvSpPr>
          <p:cNvPr id="102" name="Shape 98"/>
          <p:cNvSpPr/>
          <p:nvPr/>
        </p:nvSpPr>
        <p:spPr>
          <a:xfrm>
            <a:off x="14817626" y="4338638"/>
            <a:ext cx="2822674" cy="9525"/>
          </a:xfrm>
          <a:prstGeom prst="rect">
            <a:avLst/>
          </a:prstGeom>
          <a:solidFill>
            <a:srgbClr val="4E8B2C"/>
          </a:solidFill>
          <a:ln/>
        </p:spPr>
        <p:txBody>
          <a:bodyPr/>
          <a:lstStyle/>
          <a:p>
            <a:endParaRPr lang="en-US"/>
          </a:p>
        </p:txBody>
      </p:sp>
      <p:sp>
        <p:nvSpPr>
          <p:cNvPr id="103" name="Shape 99"/>
          <p:cNvSpPr/>
          <p:nvPr/>
        </p:nvSpPr>
        <p:spPr>
          <a:xfrm>
            <a:off x="14817626" y="3852863"/>
            <a:ext cx="2822674" cy="9525"/>
          </a:xfrm>
          <a:prstGeom prst="rect">
            <a:avLst/>
          </a:prstGeom>
          <a:solidFill>
            <a:srgbClr val="4E8B2C"/>
          </a:solidFill>
          <a:ln/>
        </p:spPr>
        <p:txBody>
          <a:bodyPr/>
          <a:lstStyle/>
          <a:p>
            <a:endParaRPr lang="en-US"/>
          </a:p>
        </p:txBody>
      </p:sp>
      <p:sp>
        <p:nvSpPr>
          <p:cNvPr id="104" name="Text 100"/>
          <p:cNvSpPr/>
          <p:nvPr/>
        </p:nvSpPr>
        <p:spPr>
          <a:xfrm>
            <a:off x="14885346" y="3976688"/>
            <a:ext cx="2602554"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b="1" dirty="0">
                <a:solidFill>
                  <a:srgbClr val="1A1A1A"/>
                </a:solidFill>
                <a:highlight>
                  <a:srgbClr val="DCEBD0"/>
                </a:highlight>
                <a:latin typeface="Arial" pitchFamily="34" charset="0"/>
                <a:ea typeface="Arial" pitchFamily="34" charset="-122"/>
                <a:cs typeface="Arial" pitchFamily="34" charset="-120"/>
              </a:rPr>
              <a:t>518,051 </a:t>
            </a:r>
            <a:r>
              <a:rPr lang="en-US" sz="1500" b="1" dirty="0">
                <a:solidFill>
                  <a:srgbClr val="2F5F1F"/>
                </a:solidFill>
                <a:latin typeface="Arial" pitchFamily="34" charset="0"/>
                <a:ea typeface="Arial" pitchFamily="34" charset="-122"/>
                <a:cs typeface="Arial" pitchFamily="34" charset="-120"/>
              </a:rPr>
              <a:t>▼ 1.2%</a:t>
            </a:r>
            <a:endParaRPr lang="en-US" sz="1500" dirty="0"/>
          </a:p>
        </p:txBody>
      </p:sp>
      <p:sp>
        <p:nvSpPr>
          <p:cNvPr id="105" name="Shape 101"/>
          <p:cNvSpPr/>
          <p:nvPr/>
        </p:nvSpPr>
        <p:spPr>
          <a:xfrm>
            <a:off x="647700" y="4348163"/>
            <a:ext cx="16992600" cy="366713"/>
          </a:xfrm>
          <a:prstGeom prst="rect">
            <a:avLst/>
          </a:prstGeom>
          <a:solidFill>
            <a:srgbClr val="F1F5EC"/>
          </a:solidFill>
          <a:ln/>
        </p:spPr>
        <p:txBody>
          <a:bodyPr/>
          <a:lstStyle/>
          <a:p>
            <a:endParaRPr lang="en-US"/>
          </a:p>
        </p:txBody>
      </p:sp>
      <p:sp>
        <p:nvSpPr>
          <p:cNvPr id="106" name="Text 102"/>
          <p:cNvSpPr/>
          <p:nvPr/>
        </p:nvSpPr>
        <p:spPr>
          <a:xfrm>
            <a:off x="800100" y="4424362"/>
            <a:ext cx="17197578" cy="252413"/>
          </a:xfrm>
          <a:prstGeom prst="rect">
            <a:avLst/>
          </a:prstGeom>
          <a:noFill/>
          <a:ln/>
        </p:spPr>
        <p:txBody>
          <a:bodyPr wrap="square" lIns="25400" tIns="25400" rIns="25400" bIns="25400" rtlCol="0" anchor="ctr">
            <a:normAutofit lnSpcReduction="10000"/>
          </a:bodyPr>
          <a:lstStyle/>
          <a:p>
            <a:pPr marL="0" indent="0" algn="l">
              <a:buNone/>
            </a:pPr>
            <a:r>
              <a:rPr lang="en-US" sz="1425" b="1" kern="0" spc="30" dirty="0">
                <a:solidFill>
                  <a:srgbClr val="4A5A1E"/>
                </a:solidFill>
                <a:latin typeface="Arial" pitchFamily="34" charset="0"/>
                <a:ea typeface="Arial" pitchFamily="34" charset="-122"/>
                <a:cs typeface="Arial" pitchFamily="34" charset="-120"/>
              </a:rPr>
              <a:t>II. INSTALLED BASE ON CPO &amp; UNIT COST</a:t>
            </a:r>
            <a:endParaRPr lang="en-US" sz="1425" dirty="0"/>
          </a:p>
        </p:txBody>
      </p:sp>
      <p:sp>
        <p:nvSpPr>
          <p:cNvPr id="107" name="Shape 103"/>
          <p:cNvSpPr/>
          <p:nvPr/>
        </p:nvSpPr>
        <p:spPr>
          <a:xfrm>
            <a:off x="647700" y="5129213"/>
            <a:ext cx="4963418" cy="9525"/>
          </a:xfrm>
          <a:prstGeom prst="rect">
            <a:avLst/>
          </a:prstGeom>
          <a:solidFill>
            <a:srgbClr val="EDEFEA"/>
          </a:solidFill>
          <a:ln/>
        </p:spPr>
        <p:txBody>
          <a:bodyPr/>
          <a:lstStyle/>
          <a:p>
            <a:endParaRPr lang="en-US"/>
          </a:p>
        </p:txBody>
      </p:sp>
      <p:sp>
        <p:nvSpPr>
          <p:cNvPr id="108" name="Text 104"/>
          <p:cNvSpPr/>
          <p:nvPr/>
        </p:nvSpPr>
        <p:spPr>
          <a:xfrm>
            <a:off x="800100" y="4810125"/>
            <a:ext cx="4807521" cy="261938"/>
          </a:xfrm>
          <a:prstGeom prst="rect">
            <a:avLst/>
          </a:prstGeom>
          <a:noFill/>
          <a:ln/>
        </p:spPr>
        <p:txBody>
          <a:bodyPr wrap="square" lIns="25400" tIns="25400" rIns="25400" bIns="25400" rtlCol="0" anchor="ctr">
            <a:normAutofit fontScale="92500" lnSpcReduction="10000"/>
          </a:bodyPr>
          <a:lstStyle/>
          <a:p>
            <a:pPr marL="0" indent="0" algn="l">
              <a:buNone/>
            </a:pPr>
            <a:r>
              <a:rPr lang="en-US" sz="1575" dirty="0">
                <a:solidFill>
                  <a:srgbClr val="404040"/>
                </a:solidFill>
                <a:latin typeface="Arial" pitchFamily="34" charset="0"/>
                <a:ea typeface="Arial" pitchFamily="34" charset="-122"/>
                <a:cs typeface="Arial" pitchFamily="34" charset="-120"/>
              </a:rPr>
              <a:t>Charger Q'ty activated on CPO</a:t>
            </a:r>
            <a:endParaRPr lang="en-US" sz="1575" dirty="0"/>
          </a:p>
        </p:txBody>
      </p:sp>
      <p:sp>
        <p:nvSpPr>
          <p:cNvPr id="109" name="Shape 105"/>
          <p:cNvSpPr/>
          <p:nvPr/>
        </p:nvSpPr>
        <p:spPr>
          <a:xfrm>
            <a:off x="5611118" y="5129213"/>
            <a:ext cx="1534418" cy="9525"/>
          </a:xfrm>
          <a:prstGeom prst="rect">
            <a:avLst/>
          </a:prstGeom>
          <a:solidFill>
            <a:srgbClr val="EDEFEA"/>
          </a:solidFill>
          <a:ln/>
        </p:spPr>
        <p:txBody>
          <a:bodyPr/>
          <a:lstStyle/>
          <a:p>
            <a:endParaRPr lang="en-US"/>
          </a:p>
        </p:txBody>
      </p:sp>
      <p:sp>
        <p:nvSpPr>
          <p:cNvPr id="110" name="Text 106"/>
          <p:cNvSpPr/>
          <p:nvPr/>
        </p:nvSpPr>
        <p:spPr>
          <a:xfrm>
            <a:off x="5687318" y="4810125"/>
            <a:ext cx="1305818" cy="261938"/>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404040"/>
                </a:solidFill>
                <a:latin typeface="Arial" pitchFamily="34" charset="0"/>
                <a:ea typeface="Arial" pitchFamily="34" charset="-122"/>
                <a:cs typeface="Arial" pitchFamily="34" charset="-120"/>
              </a:rPr>
              <a:t>17,685</a:t>
            </a:r>
            <a:endParaRPr lang="en-US" sz="1575" dirty="0"/>
          </a:p>
        </p:txBody>
      </p:sp>
      <p:sp>
        <p:nvSpPr>
          <p:cNvPr id="111" name="Shape 107"/>
          <p:cNvSpPr/>
          <p:nvPr/>
        </p:nvSpPr>
        <p:spPr>
          <a:xfrm>
            <a:off x="7145536" y="5129213"/>
            <a:ext cx="1534418" cy="9525"/>
          </a:xfrm>
          <a:prstGeom prst="rect">
            <a:avLst/>
          </a:prstGeom>
          <a:solidFill>
            <a:srgbClr val="EDEFEA"/>
          </a:solidFill>
          <a:ln/>
        </p:spPr>
        <p:txBody>
          <a:bodyPr/>
          <a:lstStyle/>
          <a:p>
            <a:endParaRPr lang="en-US"/>
          </a:p>
        </p:txBody>
      </p:sp>
      <p:sp>
        <p:nvSpPr>
          <p:cNvPr id="112" name="Text 108"/>
          <p:cNvSpPr/>
          <p:nvPr/>
        </p:nvSpPr>
        <p:spPr>
          <a:xfrm>
            <a:off x="7221736" y="4810125"/>
            <a:ext cx="1305818" cy="261938"/>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404040"/>
                </a:solidFill>
                <a:latin typeface="Arial" pitchFamily="34" charset="0"/>
                <a:ea typeface="Arial" pitchFamily="34" charset="-122"/>
                <a:cs typeface="Arial" pitchFamily="34" charset="-120"/>
              </a:rPr>
              <a:t>18,384</a:t>
            </a:r>
            <a:endParaRPr lang="en-US" sz="1575" dirty="0"/>
          </a:p>
        </p:txBody>
      </p:sp>
      <p:sp>
        <p:nvSpPr>
          <p:cNvPr id="113" name="Shape 109"/>
          <p:cNvSpPr/>
          <p:nvPr/>
        </p:nvSpPr>
        <p:spPr>
          <a:xfrm>
            <a:off x="8679954" y="5129213"/>
            <a:ext cx="1534418" cy="9525"/>
          </a:xfrm>
          <a:prstGeom prst="rect">
            <a:avLst/>
          </a:prstGeom>
          <a:solidFill>
            <a:srgbClr val="EDEFEA"/>
          </a:solidFill>
          <a:ln/>
        </p:spPr>
        <p:txBody>
          <a:bodyPr/>
          <a:lstStyle/>
          <a:p>
            <a:endParaRPr lang="en-US"/>
          </a:p>
        </p:txBody>
      </p:sp>
      <p:sp>
        <p:nvSpPr>
          <p:cNvPr id="114" name="Text 110"/>
          <p:cNvSpPr/>
          <p:nvPr/>
        </p:nvSpPr>
        <p:spPr>
          <a:xfrm>
            <a:off x="8756154" y="4810125"/>
            <a:ext cx="1305818" cy="261938"/>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404040"/>
                </a:solidFill>
                <a:latin typeface="Arial" pitchFamily="34" charset="0"/>
                <a:ea typeface="Arial" pitchFamily="34" charset="-122"/>
                <a:cs typeface="Arial" pitchFamily="34" charset="-120"/>
              </a:rPr>
              <a:t>18,946</a:t>
            </a:r>
            <a:endParaRPr lang="en-US" sz="1575" dirty="0"/>
          </a:p>
        </p:txBody>
      </p:sp>
      <p:sp>
        <p:nvSpPr>
          <p:cNvPr id="115" name="Shape 111"/>
          <p:cNvSpPr/>
          <p:nvPr/>
        </p:nvSpPr>
        <p:spPr>
          <a:xfrm>
            <a:off x="10214372" y="5129213"/>
            <a:ext cx="1534418" cy="9525"/>
          </a:xfrm>
          <a:prstGeom prst="rect">
            <a:avLst/>
          </a:prstGeom>
          <a:solidFill>
            <a:srgbClr val="EDEFEA"/>
          </a:solidFill>
          <a:ln/>
        </p:spPr>
        <p:txBody>
          <a:bodyPr/>
          <a:lstStyle/>
          <a:p>
            <a:endParaRPr lang="en-US"/>
          </a:p>
        </p:txBody>
      </p:sp>
      <p:sp>
        <p:nvSpPr>
          <p:cNvPr id="116" name="Text 112"/>
          <p:cNvSpPr/>
          <p:nvPr/>
        </p:nvSpPr>
        <p:spPr>
          <a:xfrm>
            <a:off x="10290572" y="4810125"/>
            <a:ext cx="1305818" cy="261938"/>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404040"/>
                </a:solidFill>
                <a:latin typeface="Arial" pitchFamily="34" charset="0"/>
                <a:ea typeface="Arial" pitchFamily="34" charset="-122"/>
                <a:cs typeface="Arial" pitchFamily="34" charset="-120"/>
              </a:rPr>
              <a:t>19,687</a:t>
            </a:r>
            <a:endParaRPr lang="en-US" sz="1575" dirty="0"/>
          </a:p>
        </p:txBody>
      </p:sp>
      <p:sp>
        <p:nvSpPr>
          <p:cNvPr id="117" name="Shape 113"/>
          <p:cNvSpPr/>
          <p:nvPr/>
        </p:nvSpPr>
        <p:spPr>
          <a:xfrm>
            <a:off x="11748790" y="5129213"/>
            <a:ext cx="1534418" cy="9525"/>
          </a:xfrm>
          <a:prstGeom prst="rect">
            <a:avLst/>
          </a:prstGeom>
          <a:solidFill>
            <a:srgbClr val="EDEFEA"/>
          </a:solidFill>
          <a:ln/>
        </p:spPr>
        <p:txBody>
          <a:bodyPr/>
          <a:lstStyle/>
          <a:p>
            <a:endParaRPr lang="en-US"/>
          </a:p>
        </p:txBody>
      </p:sp>
      <p:sp>
        <p:nvSpPr>
          <p:cNvPr id="118" name="Text 114"/>
          <p:cNvSpPr/>
          <p:nvPr/>
        </p:nvSpPr>
        <p:spPr>
          <a:xfrm>
            <a:off x="11824990" y="4810125"/>
            <a:ext cx="1305818" cy="261938"/>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404040"/>
                </a:solidFill>
                <a:latin typeface="Arial" pitchFamily="34" charset="0"/>
                <a:ea typeface="Arial" pitchFamily="34" charset="-122"/>
                <a:cs typeface="Arial" pitchFamily="34" charset="-120"/>
              </a:rPr>
              <a:t>20,398</a:t>
            </a:r>
            <a:endParaRPr lang="en-US" sz="1575" dirty="0"/>
          </a:p>
        </p:txBody>
      </p:sp>
      <p:sp>
        <p:nvSpPr>
          <p:cNvPr id="119" name="Shape 115"/>
          <p:cNvSpPr/>
          <p:nvPr/>
        </p:nvSpPr>
        <p:spPr>
          <a:xfrm>
            <a:off x="13283208" y="5129213"/>
            <a:ext cx="1534418" cy="9525"/>
          </a:xfrm>
          <a:prstGeom prst="rect">
            <a:avLst/>
          </a:prstGeom>
          <a:solidFill>
            <a:srgbClr val="EDEFEA"/>
          </a:solidFill>
          <a:ln/>
        </p:spPr>
        <p:txBody>
          <a:bodyPr/>
          <a:lstStyle/>
          <a:p>
            <a:endParaRPr lang="en-US"/>
          </a:p>
        </p:txBody>
      </p:sp>
      <p:sp>
        <p:nvSpPr>
          <p:cNvPr id="120" name="Text 116"/>
          <p:cNvSpPr/>
          <p:nvPr/>
        </p:nvSpPr>
        <p:spPr>
          <a:xfrm>
            <a:off x="13359408" y="4810125"/>
            <a:ext cx="1305818" cy="261938"/>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404040"/>
                </a:solidFill>
                <a:latin typeface="Arial" pitchFamily="34" charset="0"/>
                <a:ea typeface="Arial" pitchFamily="34" charset="-122"/>
                <a:cs typeface="Arial" pitchFamily="34" charset="-120"/>
              </a:rPr>
              <a:t>20,769</a:t>
            </a:r>
            <a:endParaRPr lang="en-US" sz="1575" dirty="0"/>
          </a:p>
        </p:txBody>
      </p:sp>
      <p:sp>
        <p:nvSpPr>
          <p:cNvPr id="121" name="Shape 117"/>
          <p:cNvSpPr/>
          <p:nvPr/>
        </p:nvSpPr>
        <p:spPr>
          <a:xfrm>
            <a:off x="14817626" y="4714875"/>
            <a:ext cx="2822674" cy="423863"/>
          </a:xfrm>
          <a:prstGeom prst="rect">
            <a:avLst/>
          </a:prstGeom>
          <a:solidFill>
            <a:srgbClr val="F1F6F2"/>
          </a:solidFill>
          <a:ln/>
        </p:spPr>
        <p:txBody>
          <a:bodyPr/>
          <a:lstStyle/>
          <a:p>
            <a:endParaRPr lang="en-US"/>
          </a:p>
        </p:txBody>
      </p:sp>
      <p:sp>
        <p:nvSpPr>
          <p:cNvPr id="122" name="Shape 118"/>
          <p:cNvSpPr/>
          <p:nvPr/>
        </p:nvSpPr>
        <p:spPr>
          <a:xfrm>
            <a:off x="14817626" y="5129213"/>
            <a:ext cx="2822674" cy="9525"/>
          </a:xfrm>
          <a:prstGeom prst="rect">
            <a:avLst/>
          </a:prstGeom>
          <a:solidFill>
            <a:srgbClr val="EDEFEA"/>
          </a:solidFill>
          <a:ln/>
        </p:spPr>
        <p:txBody>
          <a:bodyPr/>
          <a:lstStyle/>
          <a:p>
            <a:endParaRPr lang="en-US"/>
          </a:p>
        </p:txBody>
      </p:sp>
      <p:sp>
        <p:nvSpPr>
          <p:cNvPr id="123" name="Text 119"/>
          <p:cNvSpPr/>
          <p:nvPr/>
        </p:nvSpPr>
        <p:spPr>
          <a:xfrm>
            <a:off x="14885346" y="4810125"/>
            <a:ext cx="2602554" cy="261938"/>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404040"/>
                </a:solidFill>
                <a:latin typeface="Arial" pitchFamily="34" charset="0"/>
                <a:ea typeface="Arial" pitchFamily="34" charset="-122"/>
                <a:cs typeface="Arial" pitchFamily="34" charset="-120"/>
              </a:rPr>
              <a:t>20,031</a:t>
            </a:r>
            <a:endParaRPr lang="en-US" sz="1575" dirty="0"/>
          </a:p>
        </p:txBody>
      </p:sp>
      <p:sp>
        <p:nvSpPr>
          <p:cNvPr id="124" name="Shape 120"/>
          <p:cNvSpPr/>
          <p:nvPr/>
        </p:nvSpPr>
        <p:spPr>
          <a:xfrm>
            <a:off x="647700" y="5557838"/>
            <a:ext cx="4963418" cy="9525"/>
          </a:xfrm>
          <a:prstGeom prst="rect">
            <a:avLst/>
          </a:prstGeom>
          <a:solidFill>
            <a:srgbClr val="EDEFEA"/>
          </a:solidFill>
          <a:ln/>
        </p:spPr>
        <p:txBody>
          <a:bodyPr/>
          <a:lstStyle/>
          <a:p>
            <a:endParaRPr lang="en-US"/>
          </a:p>
        </p:txBody>
      </p:sp>
      <p:sp>
        <p:nvSpPr>
          <p:cNvPr id="125" name="Text 121"/>
          <p:cNvSpPr/>
          <p:nvPr/>
        </p:nvSpPr>
        <p:spPr>
          <a:xfrm>
            <a:off x="800100" y="5233988"/>
            <a:ext cx="4807521" cy="266700"/>
          </a:xfrm>
          <a:prstGeom prst="rect">
            <a:avLst/>
          </a:prstGeom>
          <a:noFill/>
          <a:ln/>
        </p:spPr>
        <p:txBody>
          <a:bodyPr wrap="square" lIns="25400" tIns="25400" rIns="25400" bIns="25400" rtlCol="0" anchor="ctr">
            <a:normAutofit fontScale="92500" lnSpcReduction="10000"/>
          </a:bodyPr>
          <a:lstStyle/>
          <a:p>
            <a:pPr marL="0" indent="0" algn="l">
              <a:buNone/>
            </a:pPr>
            <a:r>
              <a:rPr lang="en-US" sz="1575" dirty="0">
                <a:solidFill>
                  <a:srgbClr val="404040"/>
                </a:solidFill>
                <a:latin typeface="Arial" pitchFamily="34" charset="0"/>
                <a:ea typeface="Arial" pitchFamily="34" charset="-122"/>
                <a:cs typeface="Arial" pitchFamily="34" charset="-120"/>
              </a:rPr>
              <a:t>BSS Q'ty activated on CPO</a:t>
            </a:r>
            <a:endParaRPr lang="en-US" sz="1575" dirty="0"/>
          </a:p>
        </p:txBody>
      </p:sp>
      <p:sp>
        <p:nvSpPr>
          <p:cNvPr id="126" name="Shape 122"/>
          <p:cNvSpPr/>
          <p:nvPr/>
        </p:nvSpPr>
        <p:spPr>
          <a:xfrm>
            <a:off x="5611118" y="5557838"/>
            <a:ext cx="1534418" cy="9525"/>
          </a:xfrm>
          <a:prstGeom prst="rect">
            <a:avLst/>
          </a:prstGeom>
          <a:solidFill>
            <a:srgbClr val="EDEFEA"/>
          </a:solidFill>
          <a:ln/>
        </p:spPr>
        <p:txBody>
          <a:bodyPr/>
          <a:lstStyle/>
          <a:p>
            <a:endParaRPr lang="en-US"/>
          </a:p>
        </p:txBody>
      </p:sp>
      <p:sp>
        <p:nvSpPr>
          <p:cNvPr id="127" name="Text 123"/>
          <p:cNvSpPr/>
          <p:nvPr/>
        </p:nvSpPr>
        <p:spPr>
          <a:xfrm>
            <a:off x="5687318" y="5233988"/>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A8ADA4"/>
                </a:solidFill>
                <a:latin typeface="Arial" pitchFamily="34" charset="0"/>
                <a:ea typeface="Arial" pitchFamily="34" charset="-122"/>
                <a:cs typeface="Arial" pitchFamily="34" charset="-120"/>
              </a:rPr>
              <a:t>–</a:t>
            </a:r>
            <a:endParaRPr lang="en-US" sz="1575" dirty="0"/>
          </a:p>
        </p:txBody>
      </p:sp>
      <p:sp>
        <p:nvSpPr>
          <p:cNvPr id="128" name="Shape 124"/>
          <p:cNvSpPr/>
          <p:nvPr/>
        </p:nvSpPr>
        <p:spPr>
          <a:xfrm>
            <a:off x="7145536" y="5557838"/>
            <a:ext cx="1534418" cy="9525"/>
          </a:xfrm>
          <a:prstGeom prst="rect">
            <a:avLst/>
          </a:prstGeom>
          <a:solidFill>
            <a:srgbClr val="EDEFEA"/>
          </a:solidFill>
          <a:ln/>
        </p:spPr>
        <p:txBody>
          <a:bodyPr/>
          <a:lstStyle/>
          <a:p>
            <a:endParaRPr lang="en-US"/>
          </a:p>
        </p:txBody>
      </p:sp>
      <p:sp>
        <p:nvSpPr>
          <p:cNvPr id="129" name="Text 125"/>
          <p:cNvSpPr/>
          <p:nvPr/>
        </p:nvSpPr>
        <p:spPr>
          <a:xfrm>
            <a:off x="7221736" y="5233988"/>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A8ADA4"/>
                </a:solidFill>
                <a:latin typeface="Arial" pitchFamily="34" charset="0"/>
                <a:ea typeface="Arial" pitchFamily="34" charset="-122"/>
                <a:cs typeface="Arial" pitchFamily="34" charset="-120"/>
              </a:rPr>
              <a:t>–</a:t>
            </a:r>
            <a:endParaRPr lang="en-US" sz="1575" dirty="0"/>
          </a:p>
        </p:txBody>
      </p:sp>
      <p:sp>
        <p:nvSpPr>
          <p:cNvPr id="130" name="Shape 126"/>
          <p:cNvSpPr/>
          <p:nvPr/>
        </p:nvSpPr>
        <p:spPr>
          <a:xfrm>
            <a:off x="8679954" y="5557838"/>
            <a:ext cx="1534418" cy="9525"/>
          </a:xfrm>
          <a:prstGeom prst="rect">
            <a:avLst/>
          </a:prstGeom>
          <a:solidFill>
            <a:srgbClr val="EDEFEA"/>
          </a:solidFill>
          <a:ln/>
        </p:spPr>
        <p:txBody>
          <a:bodyPr/>
          <a:lstStyle/>
          <a:p>
            <a:endParaRPr lang="en-US"/>
          </a:p>
        </p:txBody>
      </p:sp>
      <p:sp>
        <p:nvSpPr>
          <p:cNvPr id="131" name="Text 127"/>
          <p:cNvSpPr/>
          <p:nvPr/>
        </p:nvSpPr>
        <p:spPr>
          <a:xfrm>
            <a:off x="8756154" y="5233988"/>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404040"/>
                </a:solidFill>
                <a:latin typeface="Arial" pitchFamily="34" charset="0"/>
                <a:ea typeface="Arial" pitchFamily="34" charset="-122"/>
                <a:cs typeface="Arial" pitchFamily="34" charset="-120"/>
              </a:rPr>
              <a:t>7,969</a:t>
            </a:r>
            <a:endParaRPr lang="en-US" sz="1575" dirty="0"/>
          </a:p>
        </p:txBody>
      </p:sp>
      <p:sp>
        <p:nvSpPr>
          <p:cNvPr id="132" name="Shape 128"/>
          <p:cNvSpPr/>
          <p:nvPr/>
        </p:nvSpPr>
        <p:spPr>
          <a:xfrm>
            <a:off x="10214372" y="5557838"/>
            <a:ext cx="1534418" cy="9525"/>
          </a:xfrm>
          <a:prstGeom prst="rect">
            <a:avLst/>
          </a:prstGeom>
          <a:solidFill>
            <a:srgbClr val="EDEFEA"/>
          </a:solidFill>
          <a:ln/>
        </p:spPr>
        <p:txBody>
          <a:bodyPr/>
          <a:lstStyle/>
          <a:p>
            <a:endParaRPr lang="en-US"/>
          </a:p>
        </p:txBody>
      </p:sp>
      <p:sp>
        <p:nvSpPr>
          <p:cNvPr id="133" name="Text 129"/>
          <p:cNvSpPr/>
          <p:nvPr/>
        </p:nvSpPr>
        <p:spPr>
          <a:xfrm>
            <a:off x="10290572" y="5233988"/>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404040"/>
                </a:solidFill>
                <a:latin typeface="Arial" pitchFamily="34" charset="0"/>
                <a:ea typeface="Arial" pitchFamily="34" charset="-122"/>
                <a:cs typeface="Arial" pitchFamily="34" charset="-120"/>
              </a:rPr>
              <a:t>12,023</a:t>
            </a:r>
            <a:endParaRPr lang="en-US" sz="1575" dirty="0"/>
          </a:p>
        </p:txBody>
      </p:sp>
      <p:sp>
        <p:nvSpPr>
          <p:cNvPr id="134" name="Shape 130"/>
          <p:cNvSpPr/>
          <p:nvPr/>
        </p:nvSpPr>
        <p:spPr>
          <a:xfrm>
            <a:off x="11748790" y="5557838"/>
            <a:ext cx="1534418" cy="9525"/>
          </a:xfrm>
          <a:prstGeom prst="rect">
            <a:avLst/>
          </a:prstGeom>
          <a:solidFill>
            <a:srgbClr val="EDEFEA"/>
          </a:solidFill>
          <a:ln/>
        </p:spPr>
        <p:txBody>
          <a:bodyPr/>
          <a:lstStyle/>
          <a:p>
            <a:endParaRPr lang="en-US"/>
          </a:p>
        </p:txBody>
      </p:sp>
      <p:sp>
        <p:nvSpPr>
          <p:cNvPr id="135" name="Text 131"/>
          <p:cNvSpPr/>
          <p:nvPr/>
        </p:nvSpPr>
        <p:spPr>
          <a:xfrm>
            <a:off x="11824990" y="5233988"/>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404040"/>
                </a:solidFill>
                <a:latin typeface="Arial" pitchFamily="34" charset="0"/>
                <a:ea typeface="Arial" pitchFamily="34" charset="-122"/>
                <a:cs typeface="Arial" pitchFamily="34" charset="-120"/>
              </a:rPr>
              <a:t>16,147</a:t>
            </a:r>
            <a:endParaRPr lang="en-US" sz="1575" dirty="0"/>
          </a:p>
        </p:txBody>
      </p:sp>
      <p:sp>
        <p:nvSpPr>
          <p:cNvPr id="136" name="Shape 132"/>
          <p:cNvSpPr/>
          <p:nvPr/>
        </p:nvSpPr>
        <p:spPr>
          <a:xfrm>
            <a:off x="13283208" y="5557838"/>
            <a:ext cx="1534418" cy="9525"/>
          </a:xfrm>
          <a:prstGeom prst="rect">
            <a:avLst/>
          </a:prstGeom>
          <a:solidFill>
            <a:srgbClr val="EDEFEA"/>
          </a:solidFill>
          <a:ln/>
        </p:spPr>
        <p:txBody>
          <a:bodyPr/>
          <a:lstStyle/>
          <a:p>
            <a:endParaRPr lang="en-US"/>
          </a:p>
        </p:txBody>
      </p:sp>
      <p:sp>
        <p:nvSpPr>
          <p:cNvPr id="137" name="Text 133"/>
          <p:cNvSpPr/>
          <p:nvPr/>
        </p:nvSpPr>
        <p:spPr>
          <a:xfrm>
            <a:off x="13359408" y="5233988"/>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404040"/>
                </a:solidFill>
                <a:latin typeface="Arial" pitchFamily="34" charset="0"/>
                <a:ea typeface="Arial" pitchFamily="34" charset="-122"/>
                <a:cs typeface="Arial" pitchFamily="34" charset="-120"/>
              </a:rPr>
              <a:t>21,984</a:t>
            </a:r>
            <a:endParaRPr lang="en-US" sz="1575" dirty="0"/>
          </a:p>
        </p:txBody>
      </p:sp>
      <p:sp>
        <p:nvSpPr>
          <p:cNvPr id="138" name="Shape 134"/>
          <p:cNvSpPr/>
          <p:nvPr/>
        </p:nvSpPr>
        <p:spPr>
          <a:xfrm>
            <a:off x="14817626" y="5138738"/>
            <a:ext cx="2822674" cy="428625"/>
          </a:xfrm>
          <a:prstGeom prst="rect">
            <a:avLst/>
          </a:prstGeom>
          <a:solidFill>
            <a:srgbClr val="F1F6F2"/>
          </a:solidFill>
          <a:ln/>
        </p:spPr>
        <p:txBody>
          <a:bodyPr/>
          <a:lstStyle/>
          <a:p>
            <a:endParaRPr lang="en-US"/>
          </a:p>
        </p:txBody>
      </p:sp>
      <p:sp>
        <p:nvSpPr>
          <p:cNvPr id="139" name="Shape 135"/>
          <p:cNvSpPr/>
          <p:nvPr/>
        </p:nvSpPr>
        <p:spPr>
          <a:xfrm>
            <a:off x="14817626" y="5557838"/>
            <a:ext cx="2822674" cy="9525"/>
          </a:xfrm>
          <a:prstGeom prst="rect">
            <a:avLst/>
          </a:prstGeom>
          <a:solidFill>
            <a:srgbClr val="EDEFEA"/>
          </a:solidFill>
          <a:ln/>
        </p:spPr>
        <p:txBody>
          <a:bodyPr/>
          <a:lstStyle/>
          <a:p>
            <a:endParaRPr lang="en-US"/>
          </a:p>
        </p:txBody>
      </p:sp>
      <p:sp>
        <p:nvSpPr>
          <p:cNvPr id="140" name="Text 136"/>
          <p:cNvSpPr/>
          <p:nvPr/>
        </p:nvSpPr>
        <p:spPr>
          <a:xfrm>
            <a:off x="14885346" y="5233988"/>
            <a:ext cx="2602554"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dirty="0">
                <a:solidFill>
                  <a:srgbClr val="404040"/>
                </a:solidFill>
                <a:latin typeface="Arial" pitchFamily="34" charset="0"/>
                <a:ea typeface="Arial" pitchFamily="34" charset="-122"/>
                <a:cs typeface="Arial" pitchFamily="34" charset="-120"/>
              </a:rPr>
              <a:t>27,891</a:t>
            </a:r>
            <a:endParaRPr lang="en-US" sz="1575" dirty="0"/>
          </a:p>
        </p:txBody>
      </p:sp>
      <p:sp>
        <p:nvSpPr>
          <p:cNvPr id="141" name="Shape 137"/>
          <p:cNvSpPr/>
          <p:nvPr/>
        </p:nvSpPr>
        <p:spPr>
          <a:xfrm>
            <a:off x="647700" y="5986463"/>
            <a:ext cx="4963418" cy="9525"/>
          </a:xfrm>
          <a:prstGeom prst="rect">
            <a:avLst/>
          </a:prstGeom>
          <a:solidFill>
            <a:srgbClr val="EDEFEA"/>
          </a:solidFill>
          <a:ln/>
        </p:spPr>
        <p:txBody>
          <a:bodyPr/>
          <a:lstStyle/>
          <a:p>
            <a:endParaRPr lang="en-US"/>
          </a:p>
        </p:txBody>
      </p:sp>
      <p:sp>
        <p:nvSpPr>
          <p:cNvPr id="142" name="Text 138"/>
          <p:cNvSpPr/>
          <p:nvPr/>
        </p:nvSpPr>
        <p:spPr>
          <a:xfrm>
            <a:off x="800100" y="5662613"/>
            <a:ext cx="4807521" cy="266700"/>
          </a:xfrm>
          <a:prstGeom prst="rect">
            <a:avLst/>
          </a:prstGeom>
          <a:noFill/>
          <a:ln/>
        </p:spPr>
        <p:txBody>
          <a:bodyPr wrap="square" lIns="25400" tIns="25400" rIns="25400" bIns="25400" rtlCol="0" anchor="ctr">
            <a:normAutofit fontScale="92500" lnSpcReduction="10000"/>
          </a:bodyPr>
          <a:lstStyle/>
          <a:p>
            <a:pPr marL="0" indent="0" algn="l">
              <a:buNone/>
            </a:pPr>
            <a:r>
              <a:rPr lang="en-US" sz="1575" b="1" dirty="0">
                <a:solidFill>
                  <a:srgbClr val="1A1A1A"/>
                </a:solidFill>
                <a:latin typeface="Arial" pitchFamily="34" charset="0"/>
                <a:ea typeface="Arial" pitchFamily="34" charset="-122"/>
                <a:cs typeface="Arial" pitchFamily="34" charset="-120"/>
              </a:rPr>
              <a:t>Total Q'ty on CPO</a:t>
            </a:r>
            <a:endParaRPr lang="en-US" sz="1575" dirty="0"/>
          </a:p>
        </p:txBody>
      </p:sp>
      <p:sp>
        <p:nvSpPr>
          <p:cNvPr id="143" name="Shape 139"/>
          <p:cNvSpPr/>
          <p:nvPr/>
        </p:nvSpPr>
        <p:spPr>
          <a:xfrm>
            <a:off x="5611118" y="5986463"/>
            <a:ext cx="1534418" cy="9525"/>
          </a:xfrm>
          <a:prstGeom prst="rect">
            <a:avLst/>
          </a:prstGeom>
          <a:solidFill>
            <a:srgbClr val="EDEFEA"/>
          </a:solidFill>
          <a:ln/>
        </p:spPr>
        <p:txBody>
          <a:bodyPr/>
          <a:lstStyle/>
          <a:p>
            <a:endParaRPr lang="en-US"/>
          </a:p>
        </p:txBody>
      </p:sp>
      <p:sp>
        <p:nvSpPr>
          <p:cNvPr id="144" name="Text 140"/>
          <p:cNvSpPr/>
          <p:nvPr/>
        </p:nvSpPr>
        <p:spPr>
          <a:xfrm>
            <a:off x="5687318" y="5662613"/>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b="1" dirty="0">
                <a:solidFill>
                  <a:srgbClr val="1A1A1A"/>
                </a:solidFill>
                <a:latin typeface="Arial" pitchFamily="34" charset="0"/>
                <a:ea typeface="Arial" pitchFamily="34" charset="-122"/>
                <a:cs typeface="Arial" pitchFamily="34" charset="-120"/>
              </a:rPr>
              <a:t>17,685</a:t>
            </a:r>
            <a:endParaRPr lang="en-US" sz="1575" dirty="0"/>
          </a:p>
        </p:txBody>
      </p:sp>
      <p:sp>
        <p:nvSpPr>
          <p:cNvPr id="145" name="Shape 141"/>
          <p:cNvSpPr/>
          <p:nvPr/>
        </p:nvSpPr>
        <p:spPr>
          <a:xfrm>
            <a:off x="7145536" y="5986463"/>
            <a:ext cx="1534418" cy="9525"/>
          </a:xfrm>
          <a:prstGeom prst="rect">
            <a:avLst/>
          </a:prstGeom>
          <a:solidFill>
            <a:srgbClr val="EDEFEA"/>
          </a:solidFill>
          <a:ln/>
        </p:spPr>
        <p:txBody>
          <a:bodyPr/>
          <a:lstStyle/>
          <a:p>
            <a:endParaRPr lang="en-US"/>
          </a:p>
        </p:txBody>
      </p:sp>
      <p:sp>
        <p:nvSpPr>
          <p:cNvPr id="146" name="Text 142"/>
          <p:cNvSpPr/>
          <p:nvPr/>
        </p:nvSpPr>
        <p:spPr>
          <a:xfrm>
            <a:off x="7221736" y="5662613"/>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b="1" dirty="0">
                <a:solidFill>
                  <a:srgbClr val="1A1A1A"/>
                </a:solidFill>
                <a:latin typeface="Arial" pitchFamily="34" charset="0"/>
                <a:ea typeface="Arial" pitchFamily="34" charset="-122"/>
                <a:cs typeface="Arial" pitchFamily="34" charset="-120"/>
              </a:rPr>
              <a:t>18,384</a:t>
            </a:r>
            <a:endParaRPr lang="en-US" sz="1575" dirty="0"/>
          </a:p>
        </p:txBody>
      </p:sp>
      <p:sp>
        <p:nvSpPr>
          <p:cNvPr id="147" name="Shape 143"/>
          <p:cNvSpPr/>
          <p:nvPr/>
        </p:nvSpPr>
        <p:spPr>
          <a:xfrm>
            <a:off x="8679954" y="5986463"/>
            <a:ext cx="1534418" cy="9525"/>
          </a:xfrm>
          <a:prstGeom prst="rect">
            <a:avLst/>
          </a:prstGeom>
          <a:solidFill>
            <a:srgbClr val="EDEFEA"/>
          </a:solidFill>
          <a:ln/>
        </p:spPr>
        <p:txBody>
          <a:bodyPr/>
          <a:lstStyle/>
          <a:p>
            <a:endParaRPr lang="en-US"/>
          </a:p>
        </p:txBody>
      </p:sp>
      <p:sp>
        <p:nvSpPr>
          <p:cNvPr id="148" name="Text 144"/>
          <p:cNvSpPr/>
          <p:nvPr/>
        </p:nvSpPr>
        <p:spPr>
          <a:xfrm>
            <a:off x="8756154" y="5662613"/>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b="1" dirty="0">
                <a:solidFill>
                  <a:srgbClr val="1A1A1A"/>
                </a:solidFill>
                <a:latin typeface="Arial" pitchFamily="34" charset="0"/>
                <a:ea typeface="Arial" pitchFamily="34" charset="-122"/>
                <a:cs typeface="Arial" pitchFamily="34" charset="-120"/>
              </a:rPr>
              <a:t>26,915</a:t>
            </a:r>
            <a:endParaRPr lang="en-US" sz="1575" dirty="0"/>
          </a:p>
        </p:txBody>
      </p:sp>
      <p:sp>
        <p:nvSpPr>
          <p:cNvPr id="149" name="Shape 145"/>
          <p:cNvSpPr/>
          <p:nvPr/>
        </p:nvSpPr>
        <p:spPr>
          <a:xfrm>
            <a:off x="10214372" y="5986463"/>
            <a:ext cx="1534418" cy="9525"/>
          </a:xfrm>
          <a:prstGeom prst="rect">
            <a:avLst/>
          </a:prstGeom>
          <a:solidFill>
            <a:srgbClr val="EDEFEA"/>
          </a:solidFill>
          <a:ln/>
        </p:spPr>
        <p:txBody>
          <a:bodyPr/>
          <a:lstStyle/>
          <a:p>
            <a:endParaRPr lang="en-US"/>
          </a:p>
        </p:txBody>
      </p:sp>
      <p:sp>
        <p:nvSpPr>
          <p:cNvPr id="150" name="Text 146"/>
          <p:cNvSpPr/>
          <p:nvPr/>
        </p:nvSpPr>
        <p:spPr>
          <a:xfrm>
            <a:off x="10290572" y="5662613"/>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b="1" dirty="0">
                <a:solidFill>
                  <a:srgbClr val="1A1A1A"/>
                </a:solidFill>
                <a:latin typeface="Arial" pitchFamily="34" charset="0"/>
                <a:ea typeface="Arial" pitchFamily="34" charset="-122"/>
                <a:cs typeface="Arial" pitchFamily="34" charset="-120"/>
              </a:rPr>
              <a:t>31,710</a:t>
            </a:r>
            <a:endParaRPr lang="en-US" sz="1575" dirty="0"/>
          </a:p>
        </p:txBody>
      </p:sp>
      <p:sp>
        <p:nvSpPr>
          <p:cNvPr id="151" name="Shape 147"/>
          <p:cNvSpPr/>
          <p:nvPr/>
        </p:nvSpPr>
        <p:spPr>
          <a:xfrm>
            <a:off x="11748790" y="5986463"/>
            <a:ext cx="1534418" cy="9525"/>
          </a:xfrm>
          <a:prstGeom prst="rect">
            <a:avLst/>
          </a:prstGeom>
          <a:solidFill>
            <a:srgbClr val="EDEFEA"/>
          </a:solidFill>
          <a:ln/>
        </p:spPr>
        <p:txBody>
          <a:bodyPr/>
          <a:lstStyle/>
          <a:p>
            <a:endParaRPr lang="en-US"/>
          </a:p>
        </p:txBody>
      </p:sp>
      <p:sp>
        <p:nvSpPr>
          <p:cNvPr id="152" name="Text 148"/>
          <p:cNvSpPr/>
          <p:nvPr/>
        </p:nvSpPr>
        <p:spPr>
          <a:xfrm>
            <a:off x="11824990" y="5662613"/>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b="1" dirty="0">
                <a:solidFill>
                  <a:srgbClr val="1A1A1A"/>
                </a:solidFill>
                <a:latin typeface="Arial" pitchFamily="34" charset="0"/>
                <a:ea typeface="Arial" pitchFamily="34" charset="-122"/>
                <a:cs typeface="Arial" pitchFamily="34" charset="-120"/>
              </a:rPr>
              <a:t>36,545</a:t>
            </a:r>
            <a:endParaRPr lang="en-US" sz="1575" dirty="0"/>
          </a:p>
        </p:txBody>
      </p:sp>
      <p:sp>
        <p:nvSpPr>
          <p:cNvPr id="153" name="Shape 149"/>
          <p:cNvSpPr/>
          <p:nvPr/>
        </p:nvSpPr>
        <p:spPr>
          <a:xfrm>
            <a:off x="13283208" y="5986463"/>
            <a:ext cx="1534418" cy="9525"/>
          </a:xfrm>
          <a:prstGeom prst="rect">
            <a:avLst/>
          </a:prstGeom>
          <a:solidFill>
            <a:srgbClr val="EDEFEA"/>
          </a:solidFill>
          <a:ln/>
        </p:spPr>
        <p:txBody>
          <a:bodyPr/>
          <a:lstStyle/>
          <a:p>
            <a:endParaRPr lang="en-US"/>
          </a:p>
        </p:txBody>
      </p:sp>
      <p:sp>
        <p:nvSpPr>
          <p:cNvPr id="154" name="Text 150"/>
          <p:cNvSpPr/>
          <p:nvPr/>
        </p:nvSpPr>
        <p:spPr>
          <a:xfrm>
            <a:off x="13359408" y="5662613"/>
            <a:ext cx="1305818"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b="1" dirty="0">
                <a:solidFill>
                  <a:srgbClr val="1A1A1A"/>
                </a:solidFill>
                <a:latin typeface="Arial" pitchFamily="34" charset="0"/>
                <a:ea typeface="Arial" pitchFamily="34" charset="-122"/>
                <a:cs typeface="Arial" pitchFamily="34" charset="-120"/>
              </a:rPr>
              <a:t>42,753</a:t>
            </a:r>
            <a:endParaRPr lang="en-US" sz="1575" dirty="0"/>
          </a:p>
        </p:txBody>
      </p:sp>
      <p:sp>
        <p:nvSpPr>
          <p:cNvPr id="155" name="Shape 151"/>
          <p:cNvSpPr/>
          <p:nvPr/>
        </p:nvSpPr>
        <p:spPr>
          <a:xfrm>
            <a:off x="14817626" y="5567363"/>
            <a:ext cx="2822674" cy="428625"/>
          </a:xfrm>
          <a:prstGeom prst="rect">
            <a:avLst/>
          </a:prstGeom>
          <a:solidFill>
            <a:srgbClr val="F1F6F2"/>
          </a:solidFill>
          <a:ln/>
        </p:spPr>
        <p:txBody>
          <a:bodyPr/>
          <a:lstStyle/>
          <a:p>
            <a:endParaRPr lang="en-US"/>
          </a:p>
        </p:txBody>
      </p:sp>
      <p:sp>
        <p:nvSpPr>
          <p:cNvPr id="156" name="Shape 152"/>
          <p:cNvSpPr/>
          <p:nvPr/>
        </p:nvSpPr>
        <p:spPr>
          <a:xfrm>
            <a:off x="14817626" y="5986463"/>
            <a:ext cx="2822674" cy="9525"/>
          </a:xfrm>
          <a:prstGeom prst="rect">
            <a:avLst/>
          </a:prstGeom>
          <a:solidFill>
            <a:srgbClr val="EDEFEA"/>
          </a:solidFill>
          <a:ln/>
        </p:spPr>
        <p:txBody>
          <a:bodyPr/>
          <a:lstStyle/>
          <a:p>
            <a:endParaRPr lang="en-US"/>
          </a:p>
        </p:txBody>
      </p:sp>
      <p:sp>
        <p:nvSpPr>
          <p:cNvPr id="157" name="Text 153"/>
          <p:cNvSpPr/>
          <p:nvPr/>
        </p:nvSpPr>
        <p:spPr>
          <a:xfrm>
            <a:off x="14885346" y="5662613"/>
            <a:ext cx="2602554" cy="266700"/>
          </a:xfrm>
          <a:prstGeom prst="rect">
            <a:avLst/>
          </a:prstGeom>
          <a:noFill/>
          <a:ln/>
        </p:spPr>
        <p:txBody>
          <a:bodyPr wrap="square" lIns="25400" tIns="25400" rIns="25400" bIns="25400" rtlCol="0" anchor="ctr">
            <a:normAutofit fontScale="92500" lnSpcReduction="10000"/>
          </a:bodyPr>
          <a:lstStyle/>
          <a:p>
            <a:pPr marL="0" indent="0" algn="r">
              <a:buNone/>
            </a:pPr>
            <a:r>
              <a:rPr lang="en-US" sz="1575" b="1" dirty="0">
                <a:solidFill>
                  <a:srgbClr val="1A1A1A"/>
                </a:solidFill>
                <a:latin typeface="Arial" pitchFamily="34" charset="0"/>
                <a:ea typeface="Arial" pitchFamily="34" charset="-122"/>
                <a:cs typeface="Arial" pitchFamily="34" charset="-120"/>
              </a:rPr>
              <a:t>47,922</a:t>
            </a:r>
            <a:endParaRPr lang="en-US" sz="1575" dirty="0"/>
          </a:p>
        </p:txBody>
      </p:sp>
      <p:sp>
        <p:nvSpPr>
          <p:cNvPr id="158" name="Shape 154"/>
          <p:cNvSpPr/>
          <p:nvPr/>
        </p:nvSpPr>
        <p:spPr>
          <a:xfrm>
            <a:off x="647700" y="5995988"/>
            <a:ext cx="16992600" cy="490538"/>
          </a:xfrm>
          <a:prstGeom prst="rect">
            <a:avLst/>
          </a:prstGeom>
          <a:solidFill>
            <a:srgbClr val="F0F1EE"/>
          </a:solidFill>
          <a:ln/>
        </p:spPr>
        <p:txBody>
          <a:bodyPr/>
          <a:lstStyle/>
          <a:p>
            <a:endParaRPr lang="en-US"/>
          </a:p>
        </p:txBody>
      </p:sp>
      <p:sp>
        <p:nvSpPr>
          <p:cNvPr id="159" name="Shape 155"/>
          <p:cNvSpPr/>
          <p:nvPr/>
        </p:nvSpPr>
        <p:spPr>
          <a:xfrm>
            <a:off x="647700" y="5995988"/>
            <a:ext cx="4963418" cy="9525"/>
          </a:xfrm>
          <a:prstGeom prst="rect">
            <a:avLst/>
          </a:prstGeom>
          <a:solidFill>
            <a:srgbClr val="A8ADA4"/>
          </a:solidFill>
          <a:ln/>
        </p:spPr>
        <p:txBody>
          <a:bodyPr/>
          <a:lstStyle/>
          <a:p>
            <a:endParaRPr lang="en-US"/>
          </a:p>
        </p:txBody>
      </p:sp>
      <p:sp>
        <p:nvSpPr>
          <p:cNvPr id="160" name="Text 156"/>
          <p:cNvSpPr/>
          <p:nvPr/>
        </p:nvSpPr>
        <p:spPr>
          <a:xfrm>
            <a:off x="800100" y="6119813"/>
            <a:ext cx="4807521" cy="290513"/>
          </a:xfrm>
          <a:prstGeom prst="rect">
            <a:avLst/>
          </a:prstGeom>
          <a:noFill/>
          <a:ln/>
        </p:spPr>
        <p:txBody>
          <a:bodyPr wrap="square" lIns="25400" tIns="25400" rIns="25400" bIns="25400" rtlCol="0" anchor="ctr">
            <a:normAutofit lnSpcReduction="10000"/>
          </a:bodyPr>
          <a:lstStyle/>
          <a:p>
            <a:pPr marL="0" indent="0" algn="l">
              <a:buNone/>
            </a:pPr>
            <a:r>
              <a:rPr lang="en-US" sz="1575" b="1" dirty="0">
                <a:solidFill>
                  <a:srgbClr val="1A1A1A"/>
                </a:solidFill>
                <a:latin typeface="Arial" pitchFamily="34" charset="0"/>
                <a:ea typeface="Arial" pitchFamily="34" charset="-122"/>
                <a:cs typeface="Arial" pitchFamily="34" charset="-120"/>
              </a:rPr>
              <a:t>Cost / equipment — total ($)</a:t>
            </a:r>
            <a:endParaRPr lang="en-US" sz="1575" dirty="0"/>
          </a:p>
        </p:txBody>
      </p:sp>
      <p:sp>
        <p:nvSpPr>
          <p:cNvPr id="161" name="Shape 157"/>
          <p:cNvSpPr/>
          <p:nvPr/>
        </p:nvSpPr>
        <p:spPr>
          <a:xfrm>
            <a:off x="5611118" y="5995988"/>
            <a:ext cx="1534418" cy="9525"/>
          </a:xfrm>
          <a:prstGeom prst="rect">
            <a:avLst/>
          </a:prstGeom>
          <a:solidFill>
            <a:srgbClr val="A8ADA4"/>
          </a:solidFill>
          <a:ln/>
        </p:spPr>
        <p:txBody>
          <a:bodyPr/>
          <a:lstStyle/>
          <a:p>
            <a:endParaRPr lang="en-US"/>
          </a:p>
        </p:txBody>
      </p:sp>
      <p:sp>
        <p:nvSpPr>
          <p:cNvPr id="162" name="Text 158"/>
          <p:cNvSpPr/>
          <p:nvPr/>
        </p:nvSpPr>
        <p:spPr>
          <a:xfrm>
            <a:off x="5687318" y="6119813"/>
            <a:ext cx="1305818" cy="290513"/>
          </a:xfrm>
          <a:prstGeom prst="rect">
            <a:avLst/>
          </a:prstGeom>
          <a:noFill/>
          <a:ln/>
        </p:spPr>
        <p:txBody>
          <a:bodyPr wrap="square" lIns="25400" tIns="25400" rIns="25400" bIns="25400" rtlCol="0" anchor="ctr">
            <a:normAutofit lnSpcReduction="10000"/>
          </a:bodyPr>
          <a:lstStyle/>
          <a:p>
            <a:pPr marL="0" indent="0" algn="r">
              <a:buNone/>
            </a:pPr>
            <a:r>
              <a:rPr lang="en-US" sz="1575" b="1" dirty="0">
                <a:solidFill>
                  <a:srgbClr val="1A1A1A"/>
                </a:solidFill>
                <a:latin typeface="Arial" pitchFamily="34" charset="0"/>
                <a:ea typeface="Arial" pitchFamily="34" charset="-122"/>
                <a:cs typeface="Arial" pitchFamily="34" charset="-120"/>
              </a:rPr>
              <a:t>15.44</a:t>
            </a:r>
            <a:endParaRPr lang="en-US" sz="1575" dirty="0"/>
          </a:p>
        </p:txBody>
      </p:sp>
      <p:sp>
        <p:nvSpPr>
          <p:cNvPr id="163" name="Shape 159"/>
          <p:cNvSpPr/>
          <p:nvPr/>
        </p:nvSpPr>
        <p:spPr>
          <a:xfrm>
            <a:off x="7145536" y="5995988"/>
            <a:ext cx="1534418" cy="9525"/>
          </a:xfrm>
          <a:prstGeom prst="rect">
            <a:avLst/>
          </a:prstGeom>
          <a:solidFill>
            <a:srgbClr val="A8ADA4"/>
          </a:solidFill>
          <a:ln/>
        </p:spPr>
        <p:txBody>
          <a:bodyPr/>
          <a:lstStyle/>
          <a:p>
            <a:endParaRPr lang="en-US"/>
          </a:p>
        </p:txBody>
      </p:sp>
      <p:sp>
        <p:nvSpPr>
          <p:cNvPr id="164" name="Text 160"/>
          <p:cNvSpPr/>
          <p:nvPr/>
        </p:nvSpPr>
        <p:spPr>
          <a:xfrm>
            <a:off x="7221736" y="6119813"/>
            <a:ext cx="1305818" cy="290513"/>
          </a:xfrm>
          <a:prstGeom prst="rect">
            <a:avLst/>
          </a:prstGeom>
          <a:noFill/>
          <a:ln/>
        </p:spPr>
        <p:txBody>
          <a:bodyPr wrap="square" lIns="25400" tIns="25400" rIns="25400" bIns="25400" rtlCol="0" anchor="ctr">
            <a:normAutofit lnSpcReduction="10000"/>
          </a:bodyPr>
          <a:lstStyle/>
          <a:p>
            <a:pPr marL="0" indent="0" algn="r">
              <a:buNone/>
            </a:pPr>
            <a:r>
              <a:rPr lang="en-US" sz="1575" b="1" dirty="0">
                <a:solidFill>
                  <a:srgbClr val="1A1A1A"/>
                </a:solidFill>
                <a:latin typeface="Arial" pitchFamily="34" charset="0"/>
                <a:ea typeface="Arial" pitchFamily="34" charset="-122"/>
                <a:cs typeface="Arial" pitchFamily="34" charset="-120"/>
              </a:rPr>
              <a:t>14.17</a:t>
            </a:r>
            <a:endParaRPr lang="en-US" sz="1575" dirty="0"/>
          </a:p>
        </p:txBody>
      </p:sp>
      <p:sp>
        <p:nvSpPr>
          <p:cNvPr id="165" name="Shape 161"/>
          <p:cNvSpPr/>
          <p:nvPr/>
        </p:nvSpPr>
        <p:spPr>
          <a:xfrm>
            <a:off x="8679954" y="5995988"/>
            <a:ext cx="1534418" cy="9525"/>
          </a:xfrm>
          <a:prstGeom prst="rect">
            <a:avLst/>
          </a:prstGeom>
          <a:solidFill>
            <a:srgbClr val="A8ADA4"/>
          </a:solidFill>
          <a:ln/>
        </p:spPr>
        <p:txBody>
          <a:bodyPr/>
          <a:lstStyle/>
          <a:p>
            <a:endParaRPr lang="en-US"/>
          </a:p>
        </p:txBody>
      </p:sp>
      <p:sp>
        <p:nvSpPr>
          <p:cNvPr id="166" name="Text 162"/>
          <p:cNvSpPr/>
          <p:nvPr/>
        </p:nvSpPr>
        <p:spPr>
          <a:xfrm>
            <a:off x="8756154" y="6119813"/>
            <a:ext cx="1305818" cy="290513"/>
          </a:xfrm>
          <a:prstGeom prst="rect">
            <a:avLst/>
          </a:prstGeom>
          <a:noFill/>
          <a:ln/>
        </p:spPr>
        <p:txBody>
          <a:bodyPr wrap="square" lIns="25400" tIns="25400" rIns="25400" bIns="25400" rtlCol="0" anchor="ctr">
            <a:normAutofit lnSpcReduction="10000"/>
          </a:bodyPr>
          <a:lstStyle/>
          <a:p>
            <a:pPr marL="0" indent="0" algn="r">
              <a:buNone/>
            </a:pPr>
            <a:r>
              <a:rPr lang="en-US" sz="1575" b="1" dirty="0">
                <a:solidFill>
                  <a:srgbClr val="1A1A1A"/>
                </a:solidFill>
                <a:latin typeface="Arial" pitchFamily="34" charset="0"/>
                <a:ea typeface="Arial" pitchFamily="34" charset="-122"/>
                <a:cs typeface="Arial" pitchFamily="34" charset="-120"/>
              </a:rPr>
              <a:t>11.77</a:t>
            </a:r>
            <a:endParaRPr lang="en-US" sz="1575" dirty="0"/>
          </a:p>
        </p:txBody>
      </p:sp>
      <p:sp>
        <p:nvSpPr>
          <p:cNvPr id="167" name="Shape 163"/>
          <p:cNvSpPr/>
          <p:nvPr/>
        </p:nvSpPr>
        <p:spPr>
          <a:xfrm>
            <a:off x="10214372" y="5995988"/>
            <a:ext cx="1534418" cy="9525"/>
          </a:xfrm>
          <a:prstGeom prst="rect">
            <a:avLst/>
          </a:prstGeom>
          <a:solidFill>
            <a:srgbClr val="A8ADA4"/>
          </a:solidFill>
          <a:ln/>
        </p:spPr>
        <p:txBody>
          <a:bodyPr/>
          <a:lstStyle/>
          <a:p>
            <a:endParaRPr lang="en-US"/>
          </a:p>
        </p:txBody>
      </p:sp>
      <p:sp>
        <p:nvSpPr>
          <p:cNvPr id="168" name="Text 164"/>
          <p:cNvSpPr/>
          <p:nvPr/>
        </p:nvSpPr>
        <p:spPr>
          <a:xfrm>
            <a:off x="10290572" y="6119813"/>
            <a:ext cx="1305818" cy="290513"/>
          </a:xfrm>
          <a:prstGeom prst="rect">
            <a:avLst/>
          </a:prstGeom>
          <a:noFill/>
          <a:ln/>
        </p:spPr>
        <p:txBody>
          <a:bodyPr wrap="square" lIns="25400" tIns="25400" rIns="25400" bIns="25400" rtlCol="0" anchor="ctr">
            <a:normAutofit lnSpcReduction="10000"/>
          </a:bodyPr>
          <a:lstStyle/>
          <a:p>
            <a:pPr marL="0" indent="0" algn="r">
              <a:buNone/>
            </a:pPr>
            <a:r>
              <a:rPr lang="en-US" sz="1575" b="1" dirty="0">
                <a:solidFill>
                  <a:srgbClr val="1A1A1A"/>
                </a:solidFill>
                <a:latin typeface="Arial" pitchFamily="34" charset="0"/>
                <a:ea typeface="Arial" pitchFamily="34" charset="-122"/>
                <a:cs typeface="Arial" pitchFamily="34" charset="-120"/>
              </a:rPr>
              <a:t>11.50</a:t>
            </a:r>
            <a:endParaRPr lang="en-US" sz="1575" dirty="0"/>
          </a:p>
        </p:txBody>
      </p:sp>
      <p:sp>
        <p:nvSpPr>
          <p:cNvPr id="169" name="Shape 165"/>
          <p:cNvSpPr/>
          <p:nvPr/>
        </p:nvSpPr>
        <p:spPr>
          <a:xfrm>
            <a:off x="11748790" y="5995988"/>
            <a:ext cx="1534418" cy="9525"/>
          </a:xfrm>
          <a:prstGeom prst="rect">
            <a:avLst/>
          </a:prstGeom>
          <a:solidFill>
            <a:srgbClr val="A8ADA4"/>
          </a:solidFill>
          <a:ln/>
        </p:spPr>
        <p:txBody>
          <a:bodyPr/>
          <a:lstStyle/>
          <a:p>
            <a:endParaRPr lang="en-US"/>
          </a:p>
        </p:txBody>
      </p:sp>
      <p:sp>
        <p:nvSpPr>
          <p:cNvPr id="170" name="Text 166"/>
          <p:cNvSpPr/>
          <p:nvPr/>
        </p:nvSpPr>
        <p:spPr>
          <a:xfrm>
            <a:off x="11824990" y="6119813"/>
            <a:ext cx="1305818" cy="290513"/>
          </a:xfrm>
          <a:prstGeom prst="rect">
            <a:avLst/>
          </a:prstGeom>
          <a:noFill/>
          <a:ln/>
        </p:spPr>
        <p:txBody>
          <a:bodyPr wrap="square" lIns="25400" tIns="25400" rIns="25400" bIns="25400" rtlCol="0" anchor="ctr">
            <a:normAutofit lnSpcReduction="10000"/>
          </a:bodyPr>
          <a:lstStyle/>
          <a:p>
            <a:pPr marL="0" indent="0" algn="r">
              <a:buNone/>
            </a:pPr>
            <a:r>
              <a:rPr lang="en-US" sz="1575" b="1" dirty="0">
                <a:solidFill>
                  <a:srgbClr val="1A1A1A"/>
                </a:solidFill>
                <a:latin typeface="Arial" pitchFamily="34" charset="0"/>
                <a:ea typeface="Arial" pitchFamily="34" charset="-122"/>
                <a:cs typeface="Arial" pitchFamily="34" charset="-120"/>
              </a:rPr>
              <a:t>10.44</a:t>
            </a:r>
            <a:endParaRPr lang="en-US" sz="1575" dirty="0"/>
          </a:p>
        </p:txBody>
      </p:sp>
      <p:sp>
        <p:nvSpPr>
          <p:cNvPr id="171" name="Shape 167"/>
          <p:cNvSpPr/>
          <p:nvPr/>
        </p:nvSpPr>
        <p:spPr>
          <a:xfrm>
            <a:off x="13283208" y="5995988"/>
            <a:ext cx="1534418" cy="9525"/>
          </a:xfrm>
          <a:prstGeom prst="rect">
            <a:avLst/>
          </a:prstGeom>
          <a:solidFill>
            <a:srgbClr val="A8ADA4"/>
          </a:solidFill>
          <a:ln/>
        </p:spPr>
        <p:txBody>
          <a:bodyPr/>
          <a:lstStyle/>
          <a:p>
            <a:endParaRPr lang="en-US"/>
          </a:p>
        </p:txBody>
      </p:sp>
      <p:sp>
        <p:nvSpPr>
          <p:cNvPr id="172" name="Text 168"/>
          <p:cNvSpPr/>
          <p:nvPr/>
        </p:nvSpPr>
        <p:spPr>
          <a:xfrm>
            <a:off x="13359408" y="6119813"/>
            <a:ext cx="1305818" cy="290513"/>
          </a:xfrm>
          <a:prstGeom prst="rect">
            <a:avLst/>
          </a:prstGeom>
          <a:noFill/>
          <a:ln/>
        </p:spPr>
        <p:txBody>
          <a:bodyPr wrap="square" lIns="25400" tIns="25400" rIns="25400" bIns="25400" rtlCol="0" anchor="ctr">
            <a:normAutofit lnSpcReduction="10000"/>
          </a:bodyPr>
          <a:lstStyle/>
          <a:p>
            <a:pPr marL="0" indent="0" algn="r">
              <a:buNone/>
            </a:pPr>
            <a:r>
              <a:rPr lang="en-US" sz="1575" b="1" dirty="0">
                <a:solidFill>
                  <a:srgbClr val="1A1A1A"/>
                </a:solidFill>
                <a:latin typeface="Arial" pitchFamily="34" charset="0"/>
                <a:ea typeface="Arial" pitchFamily="34" charset="-122"/>
                <a:cs typeface="Arial" pitchFamily="34" charset="-120"/>
              </a:rPr>
              <a:t>12.26</a:t>
            </a:r>
            <a:endParaRPr lang="en-US" sz="1575" dirty="0"/>
          </a:p>
        </p:txBody>
      </p:sp>
      <p:sp>
        <p:nvSpPr>
          <p:cNvPr id="173" name="Shape 169"/>
          <p:cNvSpPr/>
          <p:nvPr/>
        </p:nvSpPr>
        <p:spPr>
          <a:xfrm>
            <a:off x="14817626" y="5995988"/>
            <a:ext cx="2822674" cy="490538"/>
          </a:xfrm>
          <a:prstGeom prst="rect">
            <a:avLst/>
          </a:prstGeom>
          <a:solidFill>
            <a:srgbClr val="DCEBD0"/>
          </a:solidFill>
          <a:ln/>
        </p:spPr>
        <p:txBody>
          <a:bodyPr/>
          <a:lstStyle/>
          <a:p>
            <a:endParaRPr lang="en-US"/>
          </a:p>
        </p:txBody>
      </p:sp>
      <p:sp>
        <p:nvSpPr>
          <p:cNvPr id="174" name="Shape 170"/>
          <p:cNvSpPr/>
          <p:nvPr/>
        </p:nvSpPr>
        <p:spPr>
          <a:xfrm>
            <a:off x="14817626" y="5995988"/>
            <a:ext cx="2822674" cy="9525"/>
          </a:xfrm>
          <a:prstGeom prst="rect">
            <a:avLst/>
          </a:prstGeom>
          <a:solidFill>
            <a:srgbClr val="4E8B2C"/>
          </a:solidFill>
          <a:ln/>
        </p:spPr>
        <p:txBody>
          <a:bodyPr/>
          <a:lstStyle/>
          <a:p>
            <a:endParaRPr lang="en-US"/>
          </a:p>
        </p:txBody>
      </p:sp>
      <p:sp>
        <p:nvSpPr>
          <p:cNvPr id="175" name="Text 171"/>
          <p:cNvSpPr/>
          <p:nvPr/>
        </p:nvSpPr>
        <p:spPr>
          <a:xfrm>
            <a:off x="14885346" y="6119813"/>
            <a:ext cx="2602554" cy="290513"/>
          </a:xfrm>
          <a:prstGeom prst="rect">
            <a:avLst/>
          </a:prstGeom>
          <a:noFill/>
          <a:ln/>
        </p:spPr>
        <p:txBody>
          <a:bodyPr wrap="square" lIns="25400" tIns="25400" rIns="25400" bIns="25400" rtlCol="0" anchor="ctr">
            <a:normAutofit lnSpcReduction="10000"/>
          </a:bodyPr>
          <a:lstStyle/>
          <a:p>
            <a:pPr marL="0" indent="0" algn="r">
              <a:buNone/>
            </a:pPr>
            <a:r>
              <a:rPr lang="en-US" sz="1725" b="1" dirty="0">
                <a:solidFill>
                  <a:srgbClr val="2F5F1F"/>
                </a:solidFill>
                <a:highlight>
                  <a:srgbClr val="DCEBD0"/>
                </a:highlight>
                <a:latin typeface="Arial" pitchFamily="34" charset="0"/>
                <a:ea typeface="Arial" pitchFamily="34" charset="-122"/>
                <a:cs typeface="Arial" pitchFamily="34" charset="-120"/>
              </a:rPr>
              <a:t>10.81 </a:t>
            </a:r>
            <a:r>
              <a:rPr lang="en-US" sz="1425" b="1" dirty="0">
                <a:solidFill>
                  <a:srgbClr val="2F5F1F"/>
                </a:solidFill>
                <a:latin typeface="Arial" pitchFamily="34" charset="0"/>
                <a:ea typeface="Arial" pitchFamily="34" charset="-122"/>
                <a:cs typeface="Arial" pitchFamily="34" charset="-120"/>
              </a:rPr>
              <a:t>▼ 12%</a:t>
            </a:r>
            <a:endParaRPr lang="en-US" sz="1725" dirty="0"/>
          </a:p>
        </p:txBody>
      </p:sp>
      <p:sp>
        <p:nvSpPr>
          <p:cNvPr id="176" name="Shape 172"/>
          <p:cNvSpPr/>
          <p:nvPr/>
        </p:nvSpPr>
        <p:spPr>
          <a:xfrm>
            <a:off x="647700" y="6667500"/>
            <a:ext cx="5953125" cy="3038475"/>
          </a:xfrm>
          <a:prstGeom prst="rect">
            <a:avLst/>
          </a:prstGeom>
          <a:solidFill>
            <a:srgbClr val="FAFBF9"/>
          </a:solidFill>
          <a:ln w="9525">
            <a:solidFill>
              <a:srgbClr val="D9DED7"/>
            </a:solidFill>
            <a:prstDash val="solid"/>
          </a:ln>
        </p:spPr>
        <p:txBody>
          <a:bodyPr/>
          <a:lstStyle/>
          <a:p>
            <a:endParaRPr lang="en-US"/>
          </a:p>
        </p:txBody>
      </p:sp>
      <p:sp>
        <p:nvSpPr>
          <p:cNvPr id="177" name="Text 173"/>
          <p:cNvSpPr/>
          <p:nvPr/>
        </p:nvSpPr>
        <p:spPr>
          <a:xfrm>
            <a:off x="866775" y="6829425"/>
            <a:ext cx="606647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b="1" kern="0" spc="45" dirty="0">
                <a:solidFill>
                  <a:srgbClr val="595959"/>
                </a:solidFill>
                <a:latin typeface="Arial" pitchFamily="34" charset="0"/>
                <a:ea typeface="Arial" pitchFamily="34" charset="-122"/>
                <a:cs typeface="Arial" pitchFamily="34" charset="-120"/>
              </a:rPr>
              <a:t>COST MIX BY MONTH</a:t>
            </a:r>
            <a:endParaRPr lang="en-US" sz="1575" dirty="0"/>
          </a:p>
        </p:txBody>
      </p:sp>
      <p:sp>
        <p:nvSpPr>
          <p:cNvPr id="178" name="Shape 174"/>
          <p:cNvSpPr/>
          <p:nvPr/>
        </p:nvSpPr>
        <p:spPr>
          <a:xfrm>
            <a:off x="866775" y="7177088"/>
            <a:ext cx="123825" cy="123825"/>
          </a:xfrm>
          <a:prstGeom prst="rect">
            <a:avLst/>
          </a:prstGeom>
          <a:solidFill>
            <a:srgbClr val="619B32"/>
          </a:solidFill>
          <a:ln/>
        </p:spPr>
        <p:txBody>
          <a:bodyPr/>
          <a:lstStyle/>
          <a:p>
            <a:endParaRPr lang="en-US"/>
          </a:p>
        </p:txBody>
      </p:sp>
      <p:sp>
        <p:nvSpPr>
          <p:cNvPr id="179" name="Text 175"/>
          <p:cNvSpPr/>
          <p:nvPr/>
        </p:nvSpPr>
        <p:spPr>
          <a:xfrm>
            <a:off x="1057275" y="7134225"/>
            <a:ext cx="1011882" cy="238125"/>
          </a:xfrm>
          <a:prstGeom prst="rect">
            <a:avLst/>
          </a:prstGeom>
          <a:noFill/>
          <a:ln/>
        </p:spPr>
        <p:txBody>
          <a:bodyPr wrap="square" lIns="0" tIns="0" rIns="0" bIns="0" rtlCol="0" anchor="t">
            <a:normAutofit/>
          </a:bodyPr>
          <a:lstStyle/>
          <a:p>
            <a:pPr marL="0" indent="0" algn="l">
              <a:buNone/>
            </a:pPr>
            <a:r>
              <a:rPr lang="en-US" sz="1425" dirty="0">
                <a:solidFill>
                  <a:srgbClr val="404040"/>
                </a:solidFill>
                <a:latin typeface="Arial" pitchFamily="34" charset="0"/>
                <a:ea typeface="Arial" pitchFamily="34" charset="-122"/>
                <a:cs typeface="Arial" pitchFamily="34" charset="-120"/>
              </a:rPr>
              <a:t>Spare parts</a:t>
            </a:r>
            <a:endParaRPr lang="en-US" sz="1425" dirty="0"/>
          </a:p>
        </p:txBody>
      </p:sp>
      <p:sp>
        <p:nvSpPr>
          <p:cNvPr id="180" name="Shape 176"/>
          <p:cNvSpPr/>
          <p:nvPr/>
        </p:nvSpPr>
        <p:spPr>
          <a:xfrm>
            <a:off x="2164407" y="7177088"/>
            <a:ext cx="123825" cy="123825"/>
          </a:xfrm>
          <a:prstGeom prst="rect">
            <a:avLst/>
          </a:prstGeom>
          <a:solidFill>
            <a:srgbClr val="2F5597"/>
          </a:solidFill>
          <a:ln/>
        </p:spPr>
        <p:txBody>
          <a:bodyPr/>
          <a:lstStyle/>
          <a:p>
            <a:endParaRPr lang="en-US"/>
          </a:p>
        </p:txBody>
      </p:sp>
      <p:sp>
        <p:nvSpPr>
          <p:cNvPr id="181" name="Text 177"/>
          <p:cNvSpPr/>
          <p:nvPr/>
        </p:nvSpPr>
        <p:spPr>
          <a:xfrm>
            <a:off x="2354907" y="7134225"/>
            <a:ext cx="438448" cy="238125"/>
          </a:xfrm>
          <a:prstGeom prst="rect">
            <a:avLst/>
          </a:prstGeom>
          <a:noFill/>
          <a:ln/>
        </p:spPr>
        <p:txBody>
          <a:bodyPr wrap="square" lIns="0" tIns="0" rIns="0" bIns="0" rtlCol="0" anchor="t">
            <a:normAutofit/>
          </a:bodyPr>
          <a:lstStyle/>
          <a:p>
            <a:pPr marL="0" indent="0" algn="l">
              <a:buNone/>
            </a:pPr>
            <a:r>
              <a:rPr lang="en-US" sz="1425" dirty="0">
                <a:solidFill>
                  <a:srgbClr val="404040"/>
                </a:solidFill>
                <a:latin typeface="Arial" pitchFamily="34" charset="0"/>
                <a:ea typeface="Arial" pitchFamily="34" charset="-122"/>
                <a:cs typeface="Arial" pitchFamily="34" charset="-120"/>
              </a:rPr>
              <a:t>ASP</a:t>
            </a:r>
            <a:endParaRPr lang="en-US" sz="1425" dirty="0"/>
          </a:p>
        </p:txBody>
      </p:sp>
      <p:sp>
        <p:nvSpPr>
          <p:cNvPr id="182" name="Shape 178"/>
          <p:cNvSpPr/>
          <p:nvPr/>
        </p:nvSpPr>
        <p:spPr>
          <a:xfrm>
            <a:off x="2888605" y="7177088"/>
            <a:ext cx="123825" cy="123825"/>
          </a:xfrm>
          <a:prstGeom prst="rect">
            <a:avLst/>
          </a:prstGeom>
          <a:solidFill>
            <a:srgbClr val="8A5A12"/>
          </a:solidFill>
          <a:ln/>
        </p:spPr>
        <p:txBody>
          <a:bodyPr/>
          <a:lstStyle/>
          <a:p>
            <a:endParaRPr lang="en-US"/>
          </a:p>
        </p:txBody>
      </p:sp>
      <p:sp>
        <p:nvSpPr>
          <p:cNvPr id="183" name="Text 179"/>
          <p:cNvSpPr/>
          <p:nvPr/>
        </p:nvSpPr>
        <p:spPr>
          <a:xfrm>
            <a:off x="3079105" y="7134225"/>
            <a:ext cx="850702" cy="238125"/>
          </a:xfrm>
          <a:prstGeom prst="rect">
            <a:avLst/>
          </a:prstGeom>
          <a:noFill/>
          <a:ln/>
        </p:spPr>
        <p:txBody>
          <a:bodyPr wrap="square" lIns="0" tIns="0" rIns="0" bIns="0" rtlCol="0" anchor="t">
            <a:normAutofit/>
          </a:bodyPr>
          <a:lstStyle/>
          <a:p>
            <a:pPr marL="0" indent="0" algn="l">
              <a:buNone/>
            </a:pPr>
            <a:r>
              <a:rPr lang="en-US" sz="1425" dirty="0">
                <a:solidFill>
                  <a:srgbClr val="404040"/>
                </a:solidFill>
                <a:latin typeface="Arial" pitchFamily="34" charset="0"/>
                <a:ea typeface="Arial" pitchFamily="34" charset="-122"/>
                <a:cs typeface="Arial" pitchFamily="34" charset="-120"/>
              </a:rPr>
              <a:t>SE salary</a:t>
            </a:r>
            <a:endParaRPr lang="en-US" sz="1425" dirty="0"/>
          </a:p>
        </p:txBody>
      </p:sp>
      <p:sp>
        <p:nvSpPr>
          <p:cNvPr id="184" name="Shape 180"/>
          <p:cNvSpPr/>
          <p:nvPr/>
        </p:nvSpPr>
        <p:spPr>
          <a:xfrm>
            <a:off x="866775" y="8963025"/>
            <a:ext cx="5514975" cy="19050"/>
          </a:xfrm>
          <a:prstGeom prst="rect">
            <a:avLst/>
          </a:prstGeom>
          <a:solidFill>
            <a:srgbClr val="A8ADA4"/>
          </a:solidFill>
          <a:ln/>
        </p:spPr>
        <p:txBody>
          <a:bodyPr/>
          <a:lstStyle/>
          <a:p>
            <a:endParaRPr lang="en-US"/>
          </a:p>
        </p:txBody>
      </p:sp>
      <p:sp>
        <p:nvSpPr>
          <p:cNvPr id="185" name="Shape 181"/>
          <p:cNvSpPr/>
          <p:nvPr/>
        </p:nvSpPr>
        <p:spPr>
          <a:xfrm>
            <a:off x="866775" y="8448675"/>
            <a:ext cx="689818" cy="514350"/>
          </a:xfrm>
          <a:prstGeom prst="rect">
            <a:avLst/>
          </a:prstGeom>
          <a:solidFill>
            <a:srgbClr val="619B32"/>
          </a:solidFill>
          <a:ln/>
        </p:spPr>
        <p:txBody>
          <a:bodyPr/>
          <a:lstStyle/>
          <a:p>
            <a:endParaRPr lang="en-US"/>
          </a:p>
        </p:txBody>
      </p:sp>
      <p:sp>
        <p:nvSpPr>
          <p:cNvPr id="186" name="Shape 182"/>
          <p:cNvSpPr/>
          <p:nvPr/>
        </p:nvSpPr>
        <p:spPr>
          <a:xfrm>
            <a:off x="866775" y="8115300"/>
            <a:ext cx="689818" cy="333375"/>
          </a:xfrm>
          <a:prstGeom prst="rect">
            <a:avLst/>
          </a:prstGeom>
          <a:solidFill>
            <a:srgbClr val="2F5597"/>
          </a:solidFill>
          <a:ln/>
        </p:spPr>
        <p:txBody>
          <a:bodyPr/>
          <a:lstStyle/>
          <a:p>
            <a:endParaRPr lang="en-US"/>
          </a:p>
        </p:txBody>
      </p:sp>
      <p:sp>
        <p:nvSpPr>
          <p:cNvPr id="187" name="Shape 183"/>
          <p:cNvSpPr/>
          <p:nvPr/>
        </p:nvSpPr>
        <p:spPr>
          <a:xfrm>
            <a:off x="1670893" y="8486775"/>
            <a:ext cx="689967" cy="476250"/>
          </a:xfrm>
          <a:prstGeom prst="rect">
            <a:avLst/>
          </a:prstGeom>
          <a:solidFill>
            <a:srgbClr val="619B32"/>
          </a:solidFill>
          <a:ln/>
        </p:spPr>
        <p:txBody>
          <a:bodyPr/>
          <a:lstStyle/>
          <a:p>
            <a:endParaRPr lang="en-US"/>
          </a:p>
        </p:txBody>
      </p:sp>
      <p:sp>
        <p:nvSpPr>
          <p:cNvPr id="188" name="Shape 184"/>
          <p:cNvSpPr/>
          <p:nvPr/>
        </p:nvSpPr>
        <p:spPr>
          <a:xfrm>
            <a:off x="1670893" y="8143875"/>
            <a:ext cx="689967" cy="342900"/>
          </a:xfrm>
          <a:prstGeom prst="rect">
            <a:avLst/>
          </a:prstGeom>
          <a:solidFill>
            <a:srgbClr val="2F5597"/>
          </a:solidFill>
          <a:ln/>
        </p:spPr>
        <p:txBody>
          <a:bodyPr/>
          <a:lstStyle/>
          <a:p>
            <a:endParaRPr lang="en-US"/>
          </a:p>
        </p:txBody>
      </p:sp>
      <p:sp>
        <p:nvSpPr>
          <p:cNvPr id="189" name="Shape 185"/>
          <p:cNvSpPr/>
          <p:nvPr/>
        </p:nvSpPr>
        <p:spPr>
          <a:xfrm>
            <a:off x="2475161" y="8296275"/>
            <a:ext cx="689818" cy="666750"/>
          </a:xfrm>
          <a:prstGeom prst="rect">
            <a:avLst/>
          </a:prstGeom>
          <a:solidFill>
            <a:srgbClr val="619B32"/>
          </a:solidFill>
          <a:ln/>
        </p:spPr>
        <p:txBody>
          <a:bodyPr/>
          <a:lstStyle/>
          <a:p>
            <a:endParaRPr lang="en-US"/>
          </a:p>
        </p:txBody>
      </p:sp>
      <p:sp>
        <p:nvSpPr>
          <p:cNvPr id="190" name="Shape 186"/>
          <p:cNvSpPr/>
          <p:nvPr/>
        </p:nvSpPr>
        <p:spPr>
          <a:xfrm>
            <a:off x="2475161" y="8020050"/>
            <a:ext cx="689818" cy="276225"/>
          </a:xfrm>
          <a:prstGeom prst="rect">
            <a:avLst/>
          </a:prstGeom>
          <a:solidFill>
            <a:srgbClr val="2F5597"/>
          </a:solidFill>
          <a:ln/>
        </p:spPr>
        <p:txBody>
          <a:bodyPr/>
          <a:lstStyle/>
          <a:p>
            <a:endParaRPr lang="en-US"/>
          </a:p>
        </p:txBody>
      </p:sp>
      <p:sp>
        <p:nvSpPr>
          <p:cNvPr id="191" name="Shape 187"/>
          <p:cNvSpPr/>
          <p:nvPr/>
        </p:nvSpPr>
        <p:spPr>
          <a:xfrm>
            <a:off x="2475161" y="7981950"/>
            <a:ext cx="689818" cy="38100"/>
          </a:xfrm>
          <a:prstGeom prst="rect">
            <a:avLst/>
          </a:prstGeom>
          <a:solidFill>
            <a:srgbClr val="8A5A12"/>
          </a:solidFill>
          <a:ln/>
        </p:spPr>
        <p:txBody>
          <a:bodyPr/>
          <a:lstStyle/>
          <a:p>
            <a:endParaRPr lang="en-US"/>
          </a:p>
        </p:txBody>
      </p:sp>
      <p:sp>
        <p:nvSpPr>
          <p:cNvPr id="192" name="Shape 188"/>
          <p:cNvSpPr/>
          <p:nvPr/>
        </p:nvSpPr>
        <p:spPr>
          <a:xfrm>
            <a:off x="3279279" y="8181975"/>
            <a:ext cx="689967" cy="781050"/>
          </a:xfrm>
          <a:prstGeom prst="rect">
            <a:avLst/>
          </a:prstGeom>
          <a:solidFill>
            <a:srgbClr val="619B32"/>
          </a:solidFill>
          <a:ln/>
        </p:spPr>
        <p:txBody>
          <a:bodyPr/>
          <a:lstStyle/>
          <a:p>
            <a:endParaRPr lang="en-US"/>
          </a:p>
        </p:txBody>
      </p:sp>
      <p:sp>
        <p:nvSpPr>
          <p:cNvPr id="193" name="Shape 189"/>
          <p:cNvSpPr/>
          <p:nvPr/>
        </p:nvSpPr>
        <p:spPr>
          <a:xfrm>
            <a:off x="3279279" y="7867650"/>
            <a:ext cx="689967" cy="314325"/>
          </a:xfrm>
          <a:prstGeom prst="rect">
            <a:avLst/>
          </a:prstGeom>
          <a:solidFill>
            <a:srgbClr val="2F5597"/>
          </a:solidFill>
          <a:ln/>
        </p:spPr>
        <p:txBody>
          <a:bodyPr/>
          <a:lstStyle/>
          <a:p>
            <a:endParaRPr lang="en-US"/>
          </a:p>
        </p:txBody>
      </p:sp>
      <p:sp>
        <p:nvSpPr>
          <p:cNvPr id="194" name="Shape 190"/>
          <p:cNvSpPr/>
          <p:nvPr/>
        </p:nvSpPr>
        <p:spPr>
          <a:xfrm>
            <a:off x="3279279" y="7820025"/>
            <a:ext cx="689967" cy="47625"/>
          </a:xfrm>
          <a:prstGeom prst="rect">
            <a:avLst/>
          </a:prstGeom>
          <a:solidFill>
            <a:srgbClr val="8A5A12"/>
          </a:solidFill>
          <a:ln/>
        </p:spPr>
        <p:txBody>
          <a:bodyPr/>
          <a:lstStyle/>
          <a:p>
            <a:endParaRPr lang="en-US"/>
          </a:p>
        </p:txBody>
      </p:sp>
      <p:sp>
        <p:nvSpPr>
          <p:cNvPr id="195" name="Shape 191"/>
          <p:cNvSpPr/>
          <p:nvPr/>
        </p:nvSpPr>
        <p:spPr>
          <a:xfrm>
            <a:off x="4083546" y="8229600"/>
            <a:ext cx="689818" cy="733425"/>
          </a:xfrm>
          <a:prstGeom prst="rect">
            <a:avLst/>
          </a:prstGeom>
          <a:solidFill>
            <a:srgbClr val="619B32"/>
          </a:solidFill>
          <a:ln/>
        </p:spPr>
        <p:txBody>
          <a:bodyPr/>
          <a:lstStyle/>
          <a:p>
            <a:endParaRPr lang="en-US"/>
          </a:p>
        </p:txBody>
      </p:sp>
      <p:sp>
        <p:nvSpPr>
          <p:cNvPr id="196" name="Shape 192"/>
          <p:cNvSpPr/>
          <p:nvPr/>
        </p:nvSpPr>
        <p:spPr>
          <a:xfrm>
            <a:off x="4083546" y="7886700"/>
            <a:ext cx="689818" cy="342900"/>
          </a:xfrm>
          <a:prstGeom prst="rect">
            <a:avLst/>
          </a:prstGeom>
          <a:solidFill>
            <a:srgbClr val="2F5597"/>
          </a:solidFill>
          <a:ln/>
        </p:spPr>
        <p:txBody>
          <a:bodyPr/>
          <a:lstStyle/>
          <a:p>
            <a:endParaRPr lang="en-US"/>
          </a:p>
        </p:txBody>
      </p:sp>
      <p:sp>
        <p:nvSpPr>
          <p:cNvPr id="197" name="Shape 193"/>
          <p:cNvSpPr/>
          <p:nvPr/>
        </p:nvSpPr>
        <p:spPr>
          <a:xfrm>
            <a:off x="4083546" y="7772400"/>
            <a:ext cx="689818" cy="114300"/>
          </a:xfrm>
          <a:prstGeom prst="rect">
            <a:avLst/>
          </a:prstGeom>
          <a:solidFill>
            <a:srgbClr val="8A5A12"/>
          </a:solidFill>
          <a:ln/>
        </p:spPr>
        <p:txBody>
          <a:bodyPr/>
          <a:lstStyle/>
          <a:p>
            <a:endParaRPr lang="en-US"/>
          </a:p>
        </p:txBody>
      </p:sp>
      <p:sp>
        <p:nvSpPr>
          <p:cNvPr id="198" name="Shape 194"/>
          <p:cNvSpPr/>
          <p:nvPr/>
        </p:nvSpPr>
        <p:spPr>
          <a:xfrm>
            <a:off x="4887664" y="7848600"/>
            <a:ext cx="689967" cy="1114425"/>
          </a:xfrm>
          <a:prstGeom prst="rect">
            <a:avLst/>
          </a:prstGeom>
          <a:solidFill>
            <a:srgbClr val="619B32"/>
          </a:solidFill>
          <a:ln/>
        </p:spPr>
        <p:txBody>
          <a:bodyPr/>
          <a:lstStyle/>
          <a:p>
            <a:endParaRPr lang="en-US"/>
          </a:p>
        </p:txBody>
      </p:sp>
      <p:sp>
        <p:nvSpPr>
          <p:cNvPr id="199" name="Shape 195"/>
          <p:cNvSpPr/>
          <p:nvPr/>
        </p:nvSpPr>
        <p:spPr>
          <a:xfrm>
            <a:off x="4887664" y="7496175"/>
            <a:ext cx="689967" cy="352425"/>
          </a:xfrm>
          <a:prstGeom prst="rect">
            <a:avLst/>
          </a:prstGeom>
          <a:solidFill>
            <a:srgbClr val="2F5597"/>
          </a:solidFill>
          <a:ln/>
        </p:spPr>
        <p:txBody>
          <a:bodyPr/>
          <a:lstStyle/>
          <a:p>
            <a:endParaRPr lang="en-US"/>
          </a:p>
        </p:txBody>
      </p:sp>
      <p:sp>
        <p:nvSpPr>
          <p:cNvPr id="200" name="Shape 196"/>
          <p:cNvSpPr/>
          <p:nvPr/>
        </p:nvSpPr>
        <p:spPr>
          <a:xfrm>
            <a:off x="4887664" y="7324725"/>
            <a:ext cx="689967" cy="171450"/>
          </a:xfrm>
          <a:prstGeom prst="rect">
            <a:avLst/>
          </a:prstGeom>
          <a:solidFill>
            <a:srgbClr val="8A5A12"/>
          </a:solidFill>
          <a:ln/>
        </p:spPr>
        <p:txBody>
          <a:bodyPr/>
          <a:lstStyle/>
          <a:p>
            <a:endParaRPr lang="en-US"/>
          </a:p>
        </p:txBody>
      </p:sp>
      <p:sp>
        <p:nvSpPr>
          <p:cNvPr id="201" name="Shape 197"/>
          <p:cNvSpPr/>
          <p:nvPr/>
        </p:nvSpPr>
        <p:spPr>
          <a:xfrm>
            <a:off x="5691932" y="7929564"/>
            <a:ext cx="689818" cy="1033462"/>
          </a:xfrm>
          <a:prstGeom prst="rect">
            <a:avLst/>
          </a:prstGeom>
          <a:solidFill>
            <a:srgbClr val="619B32"/>
          </a:solidFill>
          <a:ln/>
        </p:spPr>
        <p:txBody>
          <a:bodyPr/>
          <a:lstStyle/>
          <a:p>
            <a:endParaRPr lang="en-US"/>
          </a:p>
        </p:txBody>
      </p:sp>
      <p:sp>
        <p:nvSpPr>
          <p:cNvPr id="202" name="Shape 198"/>
          <p:cNvSpPr/>
          <p:nvPr/>
        </p:nvSpPr>
        <p:spPr>
          <a:xfrm>
            <a:off x="5691932" y="7548035"/>
            <a:ext cx="689818" cy="381000"/>
          </a:xfrm>
          <a:prstGeom prst="rect">
            <a:avLst/>
          </a:prstGeom>
          <a:solidFill>
            <a:srgbClr val="2F5597"/>
          </a:solidFill>
          <a:ln/>
        </p:spPr>
        <p:txBody>
          <a:bodyPr/>
          <a:lstStyle/>
          <a:p>
            <a:endParaRPr lang="en-US"/>
          </a:p>
        </p:txBody>
      </p:sp>
      <p:sp>
        <p:nvSpPr>
          <p:cNvPr id="203" name="Shape 199"/>
          <p:cNvSpPr/>
          <p:nvPr/>
        </p:nvSpPr>
        <p:spPr>
          <a:xfrm>
            <a:off x="5691932" y="7362828"/>
            <a:ext cx="689818" cy="219075"/>
          </a:xfrm>
          <a:prstGeom prst="rect">
            <a:avLst/>
          </a:prstGeom>
          <a:solidFill>
            <a:srgbClr val="8A5A12"/>
          </a:solidFill>
          <a:ln/>
        </p:spPr>
        <p:txBody>
          <a:bodyPr/>
          <a:lstStyle/>
          <a:p>
            <a:endParaRPr lang="en-US"/>
          </a:p>
        </p:txBody>
      </p:sp>
      <p:sp>
        <p:nvSpPr>
          <p:cNvPr id="204" name="Text 200"/>
          <p:cNvSpPr/>
          <p:nvPr/>
        </p:nvSpPr>
        <p:spPr>
          <a:xfrm>
            <a:off x="828675" y="9058275"/>
            <a:ext cx="766018" cy="257175"/>
          </a:xfrm>
          <a:prstGeom prst="rect">
            <a:avLst/>
          </a:prstGeom>
          <a:noFill/>
          <a:ln/>
        </p:spPr>
        <p:txBody>
          <a:bodyPr wrap="square" lIns="25400" tIns="25400" rIns="25400" bIns="25400" rtlCol="0" anchor="t">
            <a:normAutofit lnSpcReduction="10000"/>
          </a:bodyPr>
          <a:lstStyle/>
          <a:p>
            <a:pPr marL="0" indent="0" algn="ctr">
              <a:buNone/>
            </a:pPr>
            <a:r>
              <a:rPr lang="en-US" sz="1500" b="1" dirty="0">
                <a:solidFill>
                  <a:srgbClr val="404040"/>
                </a:solidFill>
                <a:latin typeface="Arial" pitchFamily="34" charset="0"/>
                <a:ea typeface="Arial" pitchFamily="34" charset="-122"/>
                <a:cs typeface="Arial" pitchFamily="34" charset="-120"/>
              </a:rPr>
              <a:t>M1</a:t>
            </a:r>
            <a:endParaRPr lang="en-US" sz="1500" dirty="0"/>
          </a:p>
        </p:txBody>
      </p:sp>
      <p:sp>
        <p:nvSpPr>
          <p:cNvPr id="205" name="Text 201"/>
          <p:cNvSpPr/>
          <p:nvPr/>
        </p:nvSpPr>
        <p:spPr>
          <a:xfrm>
            <a:off x="1632793" y="9058275"/>
            <a:ext cx="766167" cy="257175"/>
          </a:xfrm>
          <a:prstGeom prst="rect">
            <a:avLst/>
          </a:prstGeom>
          <a:noFill/>
          <a:ln/>
        </p:spPr>
        <p:txBody>
          <a:bodyPr wrap="square" lIns="25400" tIns="25400" rIns="25400" bIns="25400" rtlCol="0" anchor="t">
            <a:normAutofit lnSpcReduction="10000"/>
          </a:bodyPr>
          <a:lstStyle/>
          <a:p>
            <a:pPr marL="0" indent="0" algn="ctr">
              <a:buNone/>
            </a:pPr>
            <a:r>
              <a:rPr lang="en-US" sz="1500" b="1" dirty="0">
                <a:solidFill>
                  <a:srgbClr val="404040"/>
                </a:solidFill>
                <a:latin typeface="Arial" pitchFamily="34" charset="0"/>
                <a:ea typeface="Arial" pitchFamily="34" charset="-122"/>
                <a:cs typeface="Arial" pitchFamily="34" charset="-120"/>
              </a:rPr>
              <a:t>M2</a:t>
            </a:r>
            <a:endParaRPr lang="en-US" sz="1500" dirty="0"/>
          </a:p>
        </p:txBody>
      </p:sp>
      <p:sp>
        <p:nvSpPr>
          <p:cNvPr id="206" name="Text 202"/>
          <p:cNvSpPr/>
          <p:nvPr/>
        </p:nvSpPr>
        <p:spPr>
          <a:xfrm>
            <a:off x="2437061" y="9058275"/>
            <a:ext cx="766018" cy="257175"/>
          </a:xfrm>
          <a:prstGeom prst="rect">
            <a:avLst/>
          </a:prstGeom>
          <a:noFill/>
          <a:ln/>
        </p:spPr>
        <p:txBody>
          <a:bodyPr wrap="square" lIns="25400" tIns="25400" rIns="25400" bIns="25400" rtlCol="0" anchor="t">
            <a:normAutofit lnSpcReduction="10000"/>
          </a:bodyPr>
          <a:lstStyle/>
          <a:p>
            <a:pPr marL="0" indent="0" algn="ctr">
              <a:buNone/>
            </a:pPr>
            <a:r>
              <a:rPr lang="en-US" sz="1500" b="1" dirty="0">
                <a:solidFill>
                  <a:srgbClr val="404040"/>
                </a:solidFill>
                <a:latin typeface="Arial" pitchFamily="34" charset="0"/>
                <a:ea typeface="Arial" pitchFamily="34" charset="-122"/>
                <a:cs typeface="Arial" pitchFamily="34" charset="-120"/>
              </a:rPr>
              <a:t>M3</a:t>
            </a:r>
            <a:endParaRPr lang="en-US" sz="1500" dirty="0"/>
          </a:p>
        </p:txBody>
      </p:sp>
      <p:sp>
        <p:nvSpPr>
          <p:cNvPr id="207" name="Text 203"/>
          <p:cNvSpPr/>
          <p:nvPr/>
        </p:nvSpPr>
        <p:spPr>
          <a:xfrm>
            <a:off x="3241179" y="9058275"/>
            <a:ext cx="766167" cy="257175"/>
          </a:xfrm>
          <a:prstGeom prst="rect">
            <a:avLst/>
          </a:prstGeom>
          <a:noFill/>
          <a:ln/>
        </p:spPr>
        <p:txBody>
          <a:bodyPr wrap="square" lIns="25400" tIns="25400" rIns="25400" bIns="25400" rtlCol="0" anchor="t">
            <a:normAutofit lnSpcReduction="10000"/>
          </a:bodyPr>
          <a:lstStyle/>
          <a:p>
            <a:pPr marL="0" indent="0" algn="ctr">
              <a:buNone/>
            </a:pPr>
            <a:r>
              <a:rPr lang="en-US" sz="1500" b="1" dirty="0">
                <a:solidFill>
                  <a:srgbClr val="404040"/>
                </a:solidFill>
                <a:latin typeface="Arial" pitchFamily="34" charset="0"/>
                <a:ea typeface="Arial" pitchFamily="34" charset="-122"/>
                <a:cs typeface="Arial" pitchFamily="34" charset="-120"/>
              </a:rPr>
              <a:t>M4</a:t>
            </a:r>
            <a:endParaRPr lang="en-US" sz="1500" dirty="0"/>
          </a:p>
        </p:txBody>
      </p:sp>
      <p:sp>
        <p:nvSpPr>
          <p:cNvPr id="208" name="Text 204"/>
          <p:cNvSpPr/>
          <p:nvPr/>
        </p:nvSpPr>
        <p:spPr>
          <a:xfrm>
            <a:off x="4045446" y="9058275"/>
            <a:ext cx="766018" cy="257175"/>
          </a:xfrm>
          <a:prstGeom prst="rect">
            <a:avLst/>
          </a:prstGeom>
          <a:noFill/>
          <a:ln/>
        </p:spPr>
        <p:txBody>
          <a:bodyPr wrap="square" lIns="25400" tIns="25400" rIns="25400" bIns="25400" rtlCol="0" anchor="t">
            <a:normAutofit lnSpcReduction="10000"/>
          </a:bodyPr>
          <a:lstStyle/>
          <a:p>
            <a:pPr marL="0" indent="0" algn="ctr">
              <a:buNone/>
            </a:pPr>
            <a:r>
              <a:rPr lang="en-US" sz="1500" b="1" dirty="0">
                <a:solidFill>
                  <a:srgbClr val="404040"/>
                </a:solidFill>
                <a:latin typeface="Arial" pitchFamily="34" charset="0"/>
                <a:ea typeface="Arial" pitchFamily="34" charset="-122"/>
                <a:cs typeface="Arial" pitchFamily="34" charset="-120"/>
              </a:rPr>
              <a:t>M5</a:t>
            </a:r>
            <a:endParaRPr lang="en-US" sz="1500" dirty="0"/>
          </a:p>
        </p:txBody>
      </p:sp>
      <p:sp>
        <p:nvSpPr>
          <p:cNvPr id="209" name="Text 205"/>
          <p:cNvSpPr/>
          <p:nvPr/>
        </p:nvSpPr>
        <p:spPr>
          <a:xfrm>
            <a:off x="4849564" y="9058275"/>
            <a:ext cx="766167" cy="257175"/>
          </a:xfrm>
          <a:prstGeom prst="rect">
            <a:avLst/>
          </a:prstGeom>
          <a:noFill/>
          <a:ln/>
        </p:spPr>
        <p:txBody>
          <a:bodyPr wrap="square" lIns="25400" tIns="25400" rIns="25400" bIns="25400" rtlCol="0" anchor="t">
            <a:normAutofit lnSpcReduction="10000"/>
          </a:bodyPr>
          <a:lstStyle/>
          <a:p>
            <a:pPr marL="0" indent="0" algn="ctr">
              <a:buNone/>
            </a:pPr>
            <a:r>
              <a:rPr lang="en-US" sz="1500" b="1" dirty="0">
                <a:solidFill>
                  <a:srgbClr val="404040"/>
                </a:solidFill>
                <a:latin typeface="Arial" pitchFamily="34" charset="0"/>
                <a:ea typeface="Arial" pitchFamily="34" charset="-122"/>
                <a:cs typeface="Arial" pitchFamily="34" charset="-120"/>
              </a:rPr>
              <a:t>M6</a:t>
            </a:r>
            <a:endParaRPr lang="en-US" sz="1500" dirty="0"/>
          </a:p>
        </p:txBody>
      </p:sp>
      <p:sp>
        <p:nvSpPr>
          <p:cNvPr id="210" name="Text 206"/>
          <p:cNvSpPr/>
          <p:nvPr/>
        </p:nvSpPr>
        <p:spPr>
          <a:xfrm>
            <a:off x="5653832" y="9058275"/>
            <a:ext cx="766018" cy="257175"/>
          </a:xfrm>
          <a:prstGeom prst="rect">
            <a:avLst/>
          </a:prstGeom>
          <a:noFill/>
          <a:ln/>
        </p:spPr>
        <p:txBody>
          <a:bodyPr wrap="square" lIns="25400" tIns="25400" rIns="25400" bIns="25400" rtlCol="0" anchor="t">
            <a:normAutofit lnSpcReduction="10000"/>
          </a:bodyPr>
          <a:lstStyle/>
          <a:p>
            <a:pPr marL="0" indent="0" algn="ctr">
              <a:buNone/>
            </a:pPr>
            <a:r>
              <a:rPr lang="en-US" sz="1500" b="1" dirty="0">
                <a:solidFill>
                  <a:srgbClr val="2F5F1F"/>
                </a:solidFill>
                <a:latin typeface="Arial" pitchFamily="34" charset="0"/>
                <a:ea typeface="Arial" pitchFamily="34" charset="-122"/>
                <a:cs typeface="Arial" pitchFamily="34" charset="-120"/>
              </a:rPr>
              <a:t>M7</a:t>
            </a:r>
            <a:endParaRPr lang="en-US" sz="1500" dirty="0"/>
          </a:p>
        </p:txBody>
      </p:sp>
      <p:sp>
        <p:nvSpPr>
          <p:cNvPr id="211" name="Shape 207"/>
          <p:cNvSpPr/>
          <p:nvPr/>
        </p:nvSpPr>
        <p:spPr>
          <a:xfrm>
            <a:off x="6762749" y="6667500"/>
            <a:ext cx="6936317" cy="3086100"/>
          </a:xfrm>
          <a:prstGeom prst="rect">
            <a:avLst/>
          </a:prstGeom>
          <a:solidFill>
            <a:srgbClr val="F1F6F2"/>
          </a:solidFill>
          <a:ln/>
        </p:spPr>
        <p:txBody>
          <a:bodyPr/>
          <a:lstStyle/>
          <a:p>
            <a:endParaRPr lang="en-US"/>
          </a:p>
        </p:txBody>
      </p:sp>
      <p:sp>
        <p:nvSpPr>
          <p:cNvPr id="212" name="Shape 208"/>
          <p:cNvSpPr/>
          <p:nvPr/>
        </p:nvSpPr>
        <p:spPr>
          <a:xfrm>
            <a:off x="6762750" y="6667500"/>
            <a:ext cx="38100" cy="3086100"/>
          </a:xfrm>
          <a:prstGeom prst="rect">
            <a:avLst/>
          </a:prstGeom>
          <a:solidFill>
            <a:srgbClr val="C0504D"/>
          </a:solidFill>
          <a:ln/>
        </p:spPr>
        <p:txBody>
          <a:bodyPr/>
          <a:lstStyle/>
          <a:p>
            <a:endParaRPr lang="en-US"/>
          </a:p>
        </p:txBody>
      </p:sp>
      <p:sp>
        <p:nvSpPr>
          <p:cNvPr id="213" name="Text 209"/>
          <p:cNvSpPr/>
          <p:nvPr/>
        </p:nvSpPr>
        <p:spPr>
          <a:xfrm>
            <a:off x="7010400" y="6819900"/>
            <a:ext cx="6517005"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b="1" dirty="0">
                <a:solidFill>
                  <a:srgbClr val="1A1A1A"/>
                </a:solidFill>
                <a:latin typeface="Arial" pitchFamily="34" charset="0"/>
                <a:ea typeface="Arial" pitchFamily="34" charset="-122"/>
                <a:cs typeface="Arial" pitchFamily="34" charset="-120"/>
              </a:rPr>
              <a:t>If the pending BSS payment is included</a:t>
            </a:r>
            <a:endParaRPr lang="en-US" sz="1575" dirty="0"/>
          </a:p>
        </p:txBody>
      </p:sp>
      <p:sp>
        <p:nvSpPr>
          <p:cNvPr id="215" name="Shape 211"/>
          <p:cNvSpPr/>
          <p:nvPr/>
        </p:nvSpPr>
        <p:spPr>
          <a:xfrm>
            <a:off x="7010400" y="7958138"/>
            <a:ext cx="1866751" cy="9525"/>
          </a:xfrm>
          <a:prstGeom prst="rect">
            <a:avLst/>
          </a:prstGeom>
          <a:solidFill>
            <a:srgbClr val="A8ADA4"/>
          </a:solidFill>
          <a:ln/>
        </p:spPr>
        <p:txBody>
          <a:bodyPr/>
          <a:lstStyle/>
          <a:p>
            <a:endParaRPr lang="en-US"/>
          </a:p>
        </p:txBody>
      </p:sp>
      <p:sp>
        <p:nvSpPr>
          <p:cNvPr id="216" name="Text 212"/>
          <p:cNvSpPr/>
          <p:nvPr/>
        </p:nvSpPr>
        <p:spPr>
          <a:xfrm>
            <a:off x="7067550" y="7477125"/>
            <a:ext cx="1828651" cy="452438"/>
          </a:xfrm>
          <a:prstGeom prst="rect">
            <a:avLst/>
          </a:prstGeom>
          <a:noFill/>
          <a:ln/>
        </p:spPr>
        <p:txBody>
          <a:bodyPr wrap="square" lIns="25400" tIns="25400" rIns="25400" bIns="25400" rtlCol="0" anchor="ctr">
            <a:normAutofit/>
          </a:bodyPr>
          <a:lstStyle/>
          <a:p>
            <a:pPr marL="0" indent="0" algn="l">
              <a:buNone/>
            </a:pPr>
            <a:r>
              <a:rPr lang="en-US" sz="1425" b="1" dirty="0">
                <a:solidFill>
                  <a:srgbClr val="404040"/>
                </a:solidFill>
                <a:latin typeface="Arial" pitchFamily="34" charset="0"/>
                <a:ea typeface="Arial" pitchFamily="34" charset="-122"/>
                <a:cs typeface="Arial" pitchFamily="34" charset="-120"/>
              </a:rPr>
              <a:t>Description</a:t>
            </a:r>
            <a:endParaRPr lang="en-US" sz="1425" dirty="0"/>
          </a:p>
        </p:txBody>
      </p:sp>
      <p:sp>
        <p:nvSpPr>
          <p:cNvPr id="217" name="Shape 213"/>
          <p:cNvSpPr/>
          <p:nvPr/>
        </p:nvSpPr>
        <p:spPr>
          <a:xfrm>
            <a:off x="8877151" y="7958138"/>
            <a:ext cx="802928" cy="9525"/>
          </a:xfrm>
          <a:prstGeom prst="rect">
            <a:avLst/>
          </a:prstGeom>
          <a:solidFill>
            <a:srgbClr val="A8ADA4"/>
          </a:solidFill>
          <a:ln/>
        </p:spPr>
        <p:txBody>
          <a:bodyPr/>
          <a:lstStyle/>
          <a:p>
            <a:endParaRPr lang="en-US"/>
          </a:p>
        </p:txBody>
      </p:sp>
      <p:sp>
        <p:nvSpPr>
          <p:cNvPr id="218" name="Text 214"/>
          <p:cNvSpPr/>
          <p:nvPr/>
        </p:nvSpPr>
        <p:spPr>
          <a:xfrm>
            <a:off x="8858101" y="7477125"/>
            <a:ext cx="764828" cy="452438"/>
          </a:xfrm>
          <a:prstGeom prst="rect">
            <a:avLst/>
          </a:prstGeom>
          <a:noFill/>
          <a:ln/>
        </p:spPr>
        <p:txBody>
          <a:bodyPr wrap="square" lIns="25400" tIns="25400" rIns="25400" bIns="25400" rtlCol="0" anchor="ctr">
            <a:normAutofit/>
          </a:bodyPr>
          <a:lstStyle/>
          <a:p>
            <a:pPr marL="0" indent="0" algn="r">
              <a:buNone/>
            </a:pPr>
            <a:r>
              <a:rPr lang="en-US" sz="1425" b="1" dirty="0">
                <a:solidFill>
                  <a:srgbClr val="404040"/>
                </a:solidFill>
                <a:latin typeface="Arial" pitchFamily="34" charset="0"/>
                <a:ea typeface="Arial" pitchFamily="34" charset="-122"/>
                <a:cs typeface="Arial" pitchFamily="34" charset="-120"/>
              </a:rPr>
              <a:t>M3</a:t>
            </a:r>
            <a:endParaRPr lang="en-US" sz="1425" dirty="0"/>
          </a:p>
        </p:txBody>
      </p:sp>
      <p:sp>
        <p:nvSpPr>
          <p:cNvPr id="219" name="Shape 215"/>
          <p:cNvSpPr/>
          <p:nvPr/>
        </p:nvSpPr>
        <p:spPr>
          <a:xfrm>
            <a:off x="9680079" y="7958138"/>
            <a:ext cx="788789" cy="9525"/>
          </a:xfrm>
          <a:prstGeom prst="rect">
            <a:avLst/>
          </a:prstGeom>
          <a:solidFill>
            <a:srgbClr val="A8ADA4"/>
          </a:solidFill>
          <a:ln/>
        </p:spPr>
        <p:txBody>
          <a:bodyPr/>
          <a:lstStyle/>
          <a:p>
            <a:endParaRPr lang="en-US"/>
          </a:p>
        </p:txBody>
      </p:sp>
      <p:sp>
        <p:nvSpPr>
          <p:cNvPr id="220" name="Text 216"/>
          <p:cNvSpPr/>
          <p:nvPr/>
        </p:nvSpPr>
        <p:spPr>
          <a:xfrm>
            <a:off x="9661029" y="7477125"/>
            <a:ext cx="750689" cy="452438"/>
          </a:xfrm>
          <a:prstGeom prst="rect">
            <a:avLst/>
          </a:prstGeom>
          <a:noFill/>
          <a:ln/>
        </p:spPr>
        <p:txBody>
          <a:bodyPr wrap="square" lIns="25400" tIns="25400" rIns="25400" bIns="25400" rtlCol="0" anchor="ctr">
            <a:normAutofit/>
          </a:bodyPr>
          <a:lstStyle/>
          <a:p>
            <a:pPr marL="0" indent="0" algn="r">
              <a:buNone/>
            </a:pPr>
            <a:r>
              <a:rPr lang="en-US" sz="1425" b="1" dirty="0">
                <a:solidFill>
                  <a:srgbClr val="404040"/>
                </a:solidFill>
                <a:latin typeface="Arial" pitchFamily="34" charset="0"/>
                <a:ea typeface="Arial" pitchFamily="34" charset="-122"/>
                <a:cs typeface="Arial" pitchFamily="34" charset="-120"/>
              </a:rPr>
              <a:t>M4</a:t>
            </a:r>
            <a:endParaRPr lang="en-US" sz="1425" dirty="0"/>
          </a:p>
        </p:txBody>
      </p:sp>
      <p:sp>
        <p:nvSpPr>
          <p:cNvPr id="221" name="Shape 217"/>
          <p:cNvSpPr/>
          <p:nvPr/>
        </p:nvSpPr>
        <p:spPr>
          <a:xfrm>
            <a:off x="10468868" y="7958138"/>
            <a:ext cx="802928" cy="9525"/>
          </a:xfrm>
          <a:prstGeom prst="rect">
            <a:avLst/>
          </a:prstGeom>
          <a:solidFill>
            <a:srgbClr val="A8ADA4"/>
          </a:solidFill>
          <a:ln/>
        </p:spPr>
        <p:txBody>
          <a:bodyPr/>
          <a:lstStyle/>
          <a:p>
            <a:endParaRPr lang="en-US"/>
          </a:p>
        </p:txBody>
      </p:sp>
      <p:sp>
        <p:nvSpPr>
          <p:cNvPr id="222" name="Text 218"/>
          <p:cNvSpPr/>
          <p:nvPr/>
        </p:nvSpPr>
        <p:spPr>
          <a:xfrm>
            <a:off x="10449818" y="7477125"/>
            <a:ext cx="764828" cy="452438"/>
          </a:xfrm>
          <a:prstGeom prst="rect">
            <a:avLst/>
          </a:prstGeom>
          <a:noFill/>
          <a:ln/>
        </p:spPr>
        <p:txBody>
          <a:bodyPr wrap="square" lIns="25400" tIns="25400" rIns="25400" bIns="25400" rtlCol="0" anchor="ctr">
            <a:normAutofit/>
          </a:bodyPr>
          <a:lstStyle/>
          <a:p>
            <a:pPr marL="0" indent="0" algn="r">
              <a:buNone/>
            </a:pPr>
            <a:r>
              <a:rPr lang="en-US" sz="1425" b="1" dirty="0">
                <a:solidFill>
                  <a:srgbClr val="404040"/>
                </a:solidFill>
                <a:latin typeface="Arial" pitchFamily="34" charset="0"/>
                <a:ea typeface="Arial" pitchFamily="34" charset="-122"/>
                <a:cs typeface="Arial" pitchFamily="34" charset="-120"/>
              </a:rPr>
              <a:t>M5</a:t>
            </a:r>
            <a:endParaRPr lang="en-US" sz="1425" dirty="0"/>
          </a:p>
        </p:txBody>
      </p:sp>
      <p:sp>
        <p:nvSpPr>
          <p:cNvPr id="223" name="Shape 219"/>
          <p:cNvSpPr/>
          <p:nvPr/>
        </p:nvSpPr>
        <p:spPr>
          <a:xfrm>
            <a:off x="11271796" y="7958138"/>
            <a:ext cx="802928" cy="9525"/>
          </a:xfrm>
          <a:prstGeom prst="rect">
            <a:avLst/>
          </a:prstGeom>
          <a:solidFill>
            <a:srgbClr val="A8ADA4"/>
          </a:solidFill>
          <a:ln/>
        </p:spPr>
        <p:txBody>
          <a:bodyPr/>
          <a:lstStyle/>
          <a:p>
            <a:endParaRPr lang="en-US"/>
          </a:p>
        </p:txBody>
      </p:sp>
      <p:sp>
        <p:nvSpPr>
          <p:cNvPr id="224" name="Text 220"/>
          <p:cNvSpPr/>
          <p:nvPr/>
        </p:nvSpPr>
        <p:spPr>
          <a:xfrm>
            <a:off x="11252746" y="7477125"/>
            <a:ext cx="764828" cy="452438"/>
          </a:xfrm>
          <a:prstGeom prst="rect">
            <a:avLst/>
          </a:prstGeom>
          <a:noFill/>
          <a:ln/>
        </p:spPr>
        <p:txBody>
          <a:bodyPr wrap="square" lIns="25400" tIns="25400" rIns="25400" bIns="25400" rtlCol="0" anchor="ctr">
            <a:normAutofit/>
          </a:bodyPr>
          <a:lstStyle/>
          <a:p>
            <a:pPr marL="0" indent="0" algn="r">
              <a:buNone/>
            </a:pPr>
            <a:r>
              <a:rPr lang="en-US" sz="1425" b="1" dirty="0">
                <a:solidFill>
                  <a:srgbClr val="404040"/>
                </a:solidFill>
                <a:latin typeface="Arial" pitchFamily="34" charset="0"/>
                <a:ea typeface="Arial" pitchFamily="34" charset="-122"/>
                <a:cs typeface="Arial" pitchFamily="34" charset="-120"/>
              </a:rPr>
              <a:t>M6</a:t>
            </a:r>
            <a:endParaRPr lang="en-US" sz="1425" dirty="0"/>
          </a:p>
        </p:txBody>
      </p:sp>
      <p:sp>
        <p:nvSpPr>
          <p:cNvPr id="225" name="Shape 221"/>
          <p:cNvSpPr/>
          <p:nvPr/>
        </p:nvSpPr>
        <p:spPr>
          <a:xfrm>
            <a:off x="12074723" y="7958138"/>
            <a:ext cx="860227" cy="9525"/>
          </a:xfrm>
          <a:prstGeom prst="rect">
            <a:avLst/>
          </a:prstGeom>
          <a:solidFill>
            <a:srgbClr val="A8ADA4"/>
          </a:solidFill>
          <a:ln/>
        </p:spPr>
        <p:txBody>
          <a:bodyPr/>
          <a:lstStyle/>
          <a:p>
            <a:endParaRPr lang="en-US"/>
          </a:p>
        </p:txBody>
      </p:sp>
      <p:sp>
        <p:nvSpPr>
          <p:cNvPr id="226" name="Text 222"/>
          <p:cNvSpPr/>
          <p:nvPr/>
        </p:nvSpPr>
        <p:spPr>
          <a:xfrm>
            <a:off x="12055673" y="7477125"/>
            <a:ext cx="822127" cy="452438"/>
          </a:xfrm>
          <a:prstGeom prst="rect">
            <a:avLst/>
          </a:prstGeom>
          <a:noFill/>
          <a:ln/>
        </p:spPr>
        <p:txBody>
          <a:bodyPr wrap="square" lIns="25400" tIns="25400" rIns="25400" bIns="25400" rtlCol="0" anchor="ctr">
            <a:normAutofit/>
          </a:bodyPr>
          <a:lstStyle/>
          <a:p>
            <a:pPr marL="0" indent="0" algn="r">
              <a:buNone/>
            </a:pPr>
            <a:r>
              <a:rPr lang="en-US" sz="1425" b="1" dirty="0">
                <a:solidFill>
                  <a:srgbClr val="1A1A1A"/>
                </a:solidFill>
                <a:latin typeface="Arial" pitchFamily="34" charset="0"/>
                <a:ea typeface="Arial" pitchFamily="34" charset="-122"/>
                <a:cs typeface="Arial" pitchFamily="34" charset="-120"/>
              </a:rPr>
              <a:t>M7 (Est.)</a:t>
            </a:r>
            <a:endParaRPr lang="en-US" sz="1425" dirty="0"/>
          </a:p>
        </p:txBody>
      </p:sp>
      <p:sp>
        <p:nvSpPr>
          <p:cNvPr id="227" name="Shape 223"/>
          <p:cNvSpPr/>
          <p:nvPr/>
        </p:nvSpPr>
        <p:spPr>
          <a:xfrm>
            <a:off x="7010400" y="8577263"/>
            <a:ext cx="1866751" cy="9525"/>
          </a:xfrm>
          <a:prstGeom prst="rect">
            <a:avLst/>
          </a:prstGeom>
          <a:solidFill>
            <a:srgbClr val="E4E9E2"/>
          </a:solidFill>
          <a:ln/>
        </p:spPr>
        <p:txBody>
          <a:bodyPr/>
          <a:lstStyle/>
          <a:p>
            <a:endParaRPr lang="en-US"/>
          </a:p>
        </p:txBody>
      </p:sp>
      <p:sp>
        <p:nvSpPr>
          <p:cNvPr id="228" name="Text 224"/>
          <p:cNvSpPr/>
          <p:nvPr/>
        </p:nvSpPr>
        <p:spPr>
          <a:xfrm>
            <a:off x="7067550" y="8053387"/>
            <a:ext cx="1828651" cy="476250"/>
          </a:xfrm>
          <a:prstGeom prst="rect">
            <a:avLst/>
          </a:prstGeom>
          <a:noFill/>
          <a:ln/>
        </p:spPr>
        <p:txBody>
          <a:bodyPr wrap="square" lIns="25400" tIns="25400" rIns="25400" bIns="25400" rtlCol="0" anchor="ctr">
            <a:normAutofit lnSpcReduction="10000"/>
          </a:bodyPr>
          <a:lstStyle/>
          <a:p>
            <a:pPr marL="0" indent="0" algn="l">
              <a:buNone/>
            </a:pPr>
            <a:r>
              <a:rPr lang="en-US" sz="1500" dirty="0">
                <a:solidFill>
                  <a:srgbClr val="1A1A1A"/>
                </a:solidFill>
                <a:latin typeface="Arial" pitchFamily="34" charset="0"/>
                <a:ea typeface="Arial" pitchFamily="34" charset="-122"/>
                <a:cs typeface="Arial" pitchFamily="34" charset="-120"/>
              </a:rPr>
              <a:t>BSS payment for ASP</a:t>
            </a:r>
            <a:endParaRPr lang="en-US" sz="1500" dirty="0"/>
          </a:p>
        </p:txBody>
      </p:sp>
      <p:sp>
        <p:nvSpPr>
          <p:cNvPr id="229" name="Shape 225"/>
          <p:cNvSpPr/>
          <p:nvPr/>
        </p:nvSpPr>
        <p:spPr>
          <a:xfrm>
            <a:off x="8877151" y="8577263"/>
            <a:ext cx="802928" cy="9525"/>
          </a:xfrm>
          <a:prstGeom prst="rect">
            <a:avLst/>
          </a:prstGeom>
          <a:solidFill>
            <a:srgbClr val="E4E9E2"/>
          </a:solidFill>
          <a:ln/>
        </p:spPr>
        <p:txBody>
          <a:bodyPr/>
          <a:lstStyle/>
          <a:p>
            <a:endParaRPr lang="en-US"/>
          </a:p>
        </p:txBody>
      </p:sp>
      <p:sp>
        <p:nvSpPr>
          <p:cNvPr id="230" name="Text 226"/>
          <p:cNvSpPr/>
          <p:nvPr/>
        </p:nvSpPr>
        <p:spPr>
          <a:xfrm>
            <a:off x="8858101" y="8053387"/>
            <a:ext cx="764828" cy="476250"/>
          </a:xfrm>
          <a:prstGeom prst="rect">
            <a:avLst/>
          </a:prstGeom>
          <a:noFill/>
          <a:ln/>
        </p:spPr>
        <p:txBody>
          <a:bodyPr wrap="square" lIns="25400" tIns="25400" rIns="25400" bIns="25400" rtlCol="0" anchor="ctr">
            <a:normAutofit/>
          </a:bodyPr>
          <a:lstStyle/>
          <a:p>
            <a:pPr marL="0" indent="0" algn="r">
              <a:buNone/>
            </a:pPr>
            <a:r>
              <a:rPr lang="en-US" sz="1500" dirty="0">
                <a:solidFill>
                  <a:srgbClr val="1A1A1A"/>
                </a:solidFill>
                <a:latin typeface="Arial" pitchFamily="34" charset="0"/>
                <a:ea typeface="Arial" pitchFamily="34" charset="-122"/>
                <a:cs typeface="Arial" pitchFamily="34" charset="-120"/>
              </a:rPr>
              <a:t>21,400</a:t>
            </a:r>
            <a:endParaRPr lang="en-US" sz="1500" dirty="0"/>
          </a:p>
        </p:txBody>
      </p:sp>
      <p:sp>
        <p:nvSpPr>
          <p:cNvPr id="231" name="Shape 227"/>
          <p:cNvSpPr/>
          <p:nvPr/>
        </p:nvSpPr>
        <p:spPr>
          <a:xfrm>
            <a:off x="9680079" y="8577263"/>
            <a:ext cx="788789" cy="9525"/>
          </a:xfrm>
          <a:prstGeom prst="rect">
            <a:avLst/>
          </a:prstGeom>
          <a:solidFill>
            <a:srgbClr val="E4E9E2"/>
          </a:solidFill>
          <a:ln/>
        </p:spPr>
        <p:txBody>
          <a:bodyPr/>
          <a:lstStyle/>
          <a:p>
            <a:endParaRPr lang="en-US"/>
          </a:p>
        </p:txBody>
      </p:sp>
      <p:sp>
        <p:nvSpPr>
          <p:cNvPr id="232" name="Text 228"/>
          <p:cNvSpPr/>
          <p:nvPr/>
        </p:nvSpPr>
        <p:spPr>
          <a:xfrm>
            <a:off x="9661029" y="8053387"/>
            <a:ext cx="750689" cy="476250"/>
          </a:xfrm>
          <a:prstGeom prst="rect">
            <a:avLst/>
          </a:prstGeom>
          <a:noFill/>
          <a:ln/>
        </p:spPr>
        <p:txBody>
          <a:bodyPr wrap="square" lIns="25400" tIns="25400" rIns="25400" bIns="25400" rtlCol="0" anchor="ctr">
            <a:normAutofit/>
          </a:bodyPr>
          <a:lstStyle/>
          <a:p>
            <a:pPr marL="0" indent="0" algn="r">
              <a:buNone/>
            </a:pPr>
            <a:r>
              <a:rPr lang="en-US" sz="1500" dirty="0">
                <a:solidFill>
                  <a:srgbClr val="1A1A1A"/>
                </a:solidFill>
                <a:latin typeface="Arial" pitchFamily="34" charset="0"/>
                <a:ea typeface="Arial" pitchFamily="34" charset="-122"/>
                <a:cs typeface="Arial" pitchFamily="34" charset="-120"/>
              </a:rPr>
              <a:t>48,432</a:t>
            </a:r>
            <a:endParaRPr lang="en-US" sz="1500" dirty="0"/>
          </a:p>
        </p:txBody>
      </p:sp>
      <p:sp>
        <p:nvSpPr>
          <p:cNvPr id="233" name="Shape 229"/>
          <p:cNvSpPr/>
          <p:nvPr/>
        </p:nvSpPr>
        <p:spPr>
          <a:xfrm>
            <a:off x="10468868" y="8577263"/>
            <a:ext cx="802928" cy="9525"/>
          </a:xfrm>
          <a:prstGeom prst="rect">
            <a:avLst/>
          </a:prstGeom>
          <a:solidFill>
            <a:srgbClr val="E4E9E2"/>
          </a:solidFill>
          <a:ln/>
        </p:spPr>
        <p:txBody>
          <a:bodyPr/>
          <a:lstStyle/>
          <a:p>
            <a:endParaRPr lang="en-US"/>
          </a:p>
        </p:txBody>
      </p:sp>
      <p:sp>
        <p:nvSpPr>
          <p:cNvPr id="234" name="Text 230"/>
          <p:cNvSpPr/>
          <p:nvPr/>
        </p:nvSpPr>
        <p:spPr>
          <a:xfrm>
            <a:off x="10449818" y="8053387"/>
            <a:ext cx="764828" cy="476250"/>
          </a:xfrm>
          <a:prstGeom prst="rect">
            <a:avLst/>
          </a:prstGeom>
          <a:noFill/>
          <a:ln/>
        </p:spPr>
        <p:txBody>
          <a:bodyPr wrap="square" lIns="25400" tIns="25400" rIns="25400" bIns="25400" rtlCol="0" anchor="ctr">
            <a:normAutofit/>
          </a:bodyPr>
          <a:lstStyle/>
          <a:p>
            <a:pPr marL="0" indent="0" algn="r">
              <a:buNone/>
            </a:pPr>
            <a:r>
              <a:rPr lang="en-US" sz="1500" dirty="0">
                <a:solidFill>
                  <a:srgbClr val="1A1A1A"/>
                </a:solidFill>
                <a:latin typeface="Arial" pitchFamily="34" charset="0"/>
                <a:ea typeface="Arial" pitchFamily="34" charset="-122"/>
                <a:cs typeface="Arial" pitchFamily="34" charset="-120"/>
              </a:rPr>
              <a:t>79,231</a:t>
            </a:r>
            <a:endParaRPr lang="en-US" sz="1500" dirty="0"/>
          </a:p>
        </p:txBody>
      </p:sp>
      <p:sp>
        <p:nvSpPr>
          <p:cNvPr id="235" name="Shape 231"/>
          <p:cNvSpPr/>
          <p:nvPr/>
        </p:nvSpPr>
        <p:spPr>
          <a:xfrm>
            <a:off x="11271796" y="8577263"/>
            <a:ext cx="802928" cy="9525"/>
          </a:xfrm>
          <a:prstGeom prst="rect">
            <a:avLst/>
          </a:prstGeom>
          <a:solidFill>
            <a:srgbClr val="E4E9E2"/>
          </a:solidFill>
          <a:ln/>
        </p:spPr>
        <p:txBody>
          <a:bodyPr/>
          <a:lstStyle/>
          <a:p>
            <a:endParaRPr lang="en-US"/>
          </a:p>
        </p:txBody>
      </p:sp>
      <p:sp>
        <p:nvSpPr>
          <p:cNvPr id="236" name="Text 232"/>
          <p:cNvSpPr/>
          <p:nvPr/>
        </p:nvSpPr>
        <p:spPr>
          <a:xfrm>
            <a:off x="11252746" y="8053387"/>
            <a:ext cx="764828" cy="476250"/>
          </a:xfrm>
          <a:prstGeom prst="rect">
            <a:avLst/>
          </a:prstGeom>
          <a:noFill/>
          <a:ln/>
        </p:spPr>
        <p:txBody>
          <a:bodyPr wrap="square" lIns="25400" tIns="25400" rIns="25400" bIns="25400" rtlCol="0" anchor="ctr">
            <a:normAutofit/>
          </a:bodyPr>
          <a:lstStyle/>
          <a:p>
            <a:pPr marL="0" indent="0" algn="r">
              <a:buNone/>
            </a:pPr>
            <a:r>
              <a:rPr lang="en-US" sz="1500" dirty="0">
                <a:solidFill>
                  <a:srgbClr val="1A1A1A"/>
                </a:solidFill>
                <a:latin typeface="Arial" pitchFamily="34" charset="0"/>
                <a:ea typeface="Arial" pitchFamily="34" charset="-122"/>
                <a:cs typeface="Arial" pitchFamily="34" charset="-120"/>
              </a:rPr>
              <a:t>124,121</a:t>
            </a:r>
            <a:endParaRPr lang="en-US" sz="1500" dirty="0"/>
          </a:p>
        </p:txBody>
      </p:sp>
      <p:sp>
        <p:nvSpPr>
          <p:cNvPr id="237" name="Shape 233"/>
          <p:cNvSpPr/>
          <p:nvPr/>
        </p:nvSpPr>
        <p:spPr>
          <a:xfrm>
            <a:off x="12074723" y="8577263"/>
            <a:ext cx="860227" cy="9525"/>
          </a:xfrm>
          <a:prstGeom prst="rect">
            <a:avLst/>
          </a:prstGeom>
          <a:solidFill>
            <a:srgbClr val="E4E9E2"/>
          </a:solidFill>
          <a:ln/>
        </p:spPr>
        <p:txBody>
          <a:bodyPr/>
          <a:lstStyle/>
          <a:p>
            <a:endParaRPr lang="en-US"/>
          </a:p>
        </p:txBody>
      </p:sp>
      <p:sp>
        <p:nvSpPr>
          <p:cNvPr id="238" name="Text 234"/>
          <p:cNvSpPr/>
          <p:nvPr/>
        </p:nvSpPr>
        <p:spPr>
          <a:xfrm>
            <a:off x="12055673" y="8053387"/>
            <a:ext cx="822127" cy="476250"/>
          </a:xfrm>
          <a:prstGeom prst="rect">
            <a:avLst/>
          </a:prstGeom>
          <a:noFill/>
          <a:ln/>
        </p:spPr>
        <p:txBody>
          <a:bodyPr wrap="square" lIns="25400" tIns="25400" rIns="25400" bIns="25400" rtlCol="0" anchor="ctr">
            <a:normAutofit/>
          </a:bodyPr>
          <a:lstStyle/>
          <a:p>
            <a:pPr marL="0" indent="0" algn="r">
              <a:buNone/>
            </a:pPr>
            <a:r>
              <a:rPr lang="en-US" sz="1500" b="1" dirty="0">
                <a:solidFill>
                  <a:srgbClr val="1A1A1A"/>
                </a:solidFill>
                <a:latin typeface="Arial" pitchFamily="34" charset="0"/>
                <a:ea typeface="Arial" pitchFamily="34" charset="-122"/>
                <a:cs typeface="Arial" pitchFamily="34" charset="-120"/>
              </a:rPr>
              <a:t>196,264</a:t>
            </a:r>
            <a:endParaRPr lang="en-US" sz="1500" dirty="0"/>
          </a:p>
        </p:txBody>
      </p:sp>
      <p:sp>
        <p:nvSpPr>
          <p:cNvPr id="239" name="Shape 235"/>
          <p:cNvSpPr/>
          <p:nvPr/>
        </p:nvSpPr>
        <p:spPr>
          <a:xfrm>
            <a:off x="7010400" y="8977313"/>
            <a:ext cx="1866751" cy="9525"/>
          </a:xfrm>
          <a:prstGeom prst="rect">
            <a:avLst/>
          </a:prstGeom>
          <a:solidFill>
            <a:srgbClr val="E4E9E2"/>
          </a:solidFill>
          <a:ln/>
        </p:spPr>
        <p:txBody>
          <a:bodyPr/>
          <a:lstStyle/>
          <a:p>
            <a:endParaRPr lang="en-US"/>
          </a:p>
        </p:txBody>
      </p:sp>
      <p:sp>
        <p:nvSpPr>
          <p:cNvPr id="240" name="Text 236"/>
          <p:cNvSpPr/>
          <p:nvPr/>
        </p:nvSpPr>
        <p:spPr>
          <a:xfrm>
            <a:off x="7067550" y="8672513"/>
            <a:ext cx="1828651" cy="257175"/>
          </a:xfrm>
          <a:prstGeom prst="rect">
            <a:avLst/>
          </a:prstGeom>
          <a:noFill/>
          <a:ln/>
        </p:spPr>
        <p:txBody>
          <a:bodyPr wrap="square" lIns="25400" tIns="25400" rIns="25400" bIns="25400" rtlCol="0" anchor="ctr">
            <a:normAutofit lnSpcReduction="10000"/>
          </a:bodyPr>
          <a:lstStyle/>
          <a:p>
            <a:pPr marL="0" indent="0" algn="l">
              <a:buNone/>
            </a:pPr>
            <a:r>
              <a:rPr lang="en-US" sz="1500" b="1" dirty="0">
                <a:solidFill>
                  <a:srgbClr val="1A1A1A"/>
                </a:solidFill>
                <a:latin typeface="Arial" pitchFamily="34" charset="0"/>
                <a:ea typeface="Arial" pitchFamily="34" charset="-122"/>
                <a:cs typeface="Arial" pitchFamily="34" charset="-120"/>
              </a:rPr>
              <a:t>Grand Total (USD)</a:t>
            </a:r>
            <a:endParaRPr lang="en-US" sz="1500" dirty="0"/>
          </a:p>
        </p:txBody>
      </p:sp>
      <p:sp>
        <p:nvSpPr>
          <p:cNvPr id="241" name="Shape 237"/>
          <p:cNvSpPr/>
          <p:nvPr/>
        </p:nvSpPr>
        <p:spPr>
          <a:xfrm>
            <a:off x="8877151" y="8977313"/>
            <a:ext cx="802928" cy="9525"/>
          </a:xfrm>
          <a:prstGeom prst="rect">
            <a:avLst/>
          </a:prstGeom>
          <a:solidFill>
            <a:srgbClr val="E4E9E2"/>
          </a:solidFill>
          <a:ln/>
        </p:spPr>
        <p:txBody>
          <a:bodyPr/>
          <a:lstStyle/>
          <a:p>
            <a:endParaRPr lang="en-US"/>
          </a:p>
        </p:txBody>
      </p:sp>
      <p:sp>
        <p:nvSpPr>
          <p:cNvPr id="242" name="Text 238"/>
          <p:cNvSpPr/>
          <p:nvPr/>
        </p:nvSpPr>
        <p:spPr>
          <a:xfrm>
            <a:off x="8858101" y="8672513"/>
            <a:ext cx="764828" cy="257175"/>
          </a:xfrm>
          <a:prstGeom prst="rect">
            <a:avLst/>
          </a:prstGeom>
          <a:noFill/>
          <a:ln/>
        </p:spPr>
        <p:txBody>
          <a:bodyPr wrap="square" lIns="25400" tIns="25400" rIns="25400" bIns="25400" rtlCol="0" anchor="ctr">
            <a:normAutofit lnSpcReduction="10000"/>
          </a:bodyPr>
          <a:lstStyle/>
          <a:p>
            <a:pPr marL="0" indent="0" algn="r">
              <a:buNone/>
            </a:pPr>
            <a:r>
              <a:rPr lang="en-US" sz="1500" dirty="0">
                <a:solidFill>
                  <a:srgbClr val="1A1A1A"/>
                </a:solidFill>
                <a:latin typeface="Arial" pitchFamily="34" charset="0"/>
                <a:ea typeface="Arial" pitchFamily="34" charset="-122"/>
                <a:cs typeface="Arial" pitchFamily="34" charset="-120"/>
              </a:rPr>
              <a:t>338,146</a:t>
            </a:r>
            <a:endParaRPr lang="en-US" sz="1500" dirty="0"/>
          </a:p>
        </p:txBody>
      </p:sp>
      <p:sp>
        <p:nvSpPr>
          <p:cNvPr id="243" name="Shape 239"/>
          <p:cNvSpPr/>
          <p:nvPr/>
        </p:nvSpPr>
        <p:spPr>
          <a:xfrm>
            <a:off x="9680079" y="8977313"/>
            <a:ext cx="788789" cy="9525"/>
          </a:xfrm>
          <a:prstGeom prst="rect">
            <a:avLst/>
          </a:prstGeom>
          <a:solidFill>
            <a:srgbClr val="E4E9E2"/>
          </a:solidFill>
          <a:ln/>
        </p:spPr>
        <p:txBody>
          <a:bodyPr/>
          <a:lstStyle/>
          <a:p>
            <a:endParaRPr lang="en-US"/>
          </a:p>
        </p:txBody>
      </p:sp>
      <p:sp>
        <p:nvSpPr>
          <p:cNvPr id="244" name="Text 240"/>
          <p:cNvSpPr/>
          <p:nvPr/>
        </p:nvSpPr>
        <p:spPr>
          <a:xfrm>
            <a:off x="9661029" y="8672513"/>
            <a:ext cx="750689" cy="257175"/>
          </a:xfrm>
          <a:prstGeom prst="rect">
            <a:avLst/>
          </a:prstGeom>
          <a:noFill/>
          <a:ln/>
        </p:spPr>
        <p:txBody>
          <a:bodyPr wrap="square" lIns="25400" tIns="25400" rIns="25400" bIns="25400" rtlCol="0" anchor="ctr">
            <a:normAutofit lnSpcReduction="10000"/>
          </a:bodyPr>
          <a:lstStyle/>
          <a:p>
            <a:pPr marL="0" indent="0" algn="r">
              <a:buNone/>
            </a:pPr>
            <a:r>
              <a:rPr lang="en-US" sz="1500" dirty="0">
                <a:solidFill>
                  <a:srgbClr val="1A1A1A"/>
                </a:solidFill>
                <a:latin typeface="Arial" pitchFamily="34" charset="0"/>
                <a:ea typeface="Arial" pitchFamily="34" charset="-122"/>
                <a:cs typeface="Arial" pitchFamily="34" charset="-120"/>
              </a:rPr>
              <a:t>413,110</a:t>
            </a:r>
            <a:endParaRPr lang="en-US" sz="1500" dirty="0"/>
          </a:p>
        </p:txBody>
      </p:sp>
      <p:sp>
        <p:nvSpPr>
          <p:cNvPr id="245" name="Shape 241"/>
          <p:cNvSpPr/>
          <p:nvPr/>
        </p:nvSpPr>
        <p:spPr>
          <a:xfrm>
            <a:off x="10468868" y="8977313"/>
            <a:ext cx="802928" cy="9525"/>
          </a:xfrm>
          <a:prstGeom prst="rect">
            <a:avLst/>
          </a:prstGeom>
          <a:solidFill>
            <a:srgbClr val="E4E9E2"/>
          </a:solidFill>
          <a:ln/>
        </p:spPr>
        <p:txBody>
          <a:bodyPr/>
          <a:lstStyle/>
          <a:p>
            <a:endParaRPr lang="en-US"/>
          </a:p>
        </p:txBody>
      </p:sp>
      <p:sp>
        <p:nvSpPr>
          <p:cNvPr id="246" name="Text 242"/>
          <p:cNvSpPr/>
          <p:nvPr/>
        </p:nvSpPr>
        <p:spPr>
          <a:xfrm>
            <a:off x="10449818" y="8672513"/>
            <a:ext cx="764828" cy="257175"/>
          </a:xfrm>
          <a:prstGeom prst="rect">
            <a:avLst/>
          </a:prstGeom>
          <a:noFill/>
          <a:ln/>
        </p:spPr>
        <p:txBody>
          <a:bodyPr wrap="square" lIns="25400" tIns="25400" rIns="25400" bIns="25400" rtlCol="0" anchor="ctr">
            <a:normAutofit lnSpcReduction="10000"/>
          </a:bodyPr>
          <a:lstStyle/>
          <a:p>
            <a:pPr marL="0" indent="0" algn="r">
              <a:buNone/>
            </a:pPr>
            <a:r>
              <a:rPr lang="en-US" sz="1500" dirty="0">
                <a:solidFill>
                  <a:srgbClr val="1A1A1A"/>
                </a:solidFill>
                <a:latin typeface="Arial" pitchFamily="34" charset="0"/>
                <a:ea typeface="Arial" pitchFamily="34" charset="-122"/>
                <a:cs typeface="Arial" pitchFamily="34" charset="-120"/>
              </a:rPr>
              <a:t>460,878</a:t>
            </a:r>
            <a:endParaRPr lang="en-US" sz="1500" dirty="0"/>
          </a:p>
        </p:txBody>
      </p:sp>
      <p:sp>
        <p:nvSpPr>
          <p:cNvPr id="247" name="Shape 243"/>
          <p:cNvSpPr/>
          <p:nvPr/>
        </p:nvSpPr>
        <p:spPr>
          <a:xfrm>
            <a:off x="11271796" y="8977313"/>
            <a:ext cx="802928" cy="9525"/>
          </a:xfrm>
          <a:prstGeom prst="rect">
            <a:avLst/>
          </a:prstGeom>
          <a:solidFill>
            <a:srgbClr val="E4E9E2"/>
          </a:solidFill>
          <a:ln/>
        </p:spPr>
        <p:txBody>
          <a:bodyPr/>
          <a:lstStyle/>
          <a:p>
            <a:endParaRPr lang="en-US"/>
          </a:p>
        </p:txBody>
      </p:sp>
      <p:sp>
        <p:nvSpPr>
          <p:cNvPr id="248" name="Text 244"/>
          <p:cNvSpPr/>
          <p:nvPr/>
        </p:nvSpPr>
        <p:spPr>
          <a:xfrm>
            <a:off x="11252746" y="8672513"/>
            <a:ext cx="764828" cy="257175"/>
          </a:xfrm>
          <a:prstGeom prst="rect">
            <a:avLst/>
          </a:prstGeom>
          <a:noFill/>
          <a:ln/>
        </p:spPr>
        <p:txBody>
          <a:bodyPr wrap="square" lIns="25400" tIns="25400" rIns="25400" bIns="25400" rtlCol="0" anchor="ctr">
            <a:normAutofit lnSpcReduction="10000"/>
          </a:bodyPr>
          <a:lstStyle/>
          <a:p>
            <a:pPr marL="0" indent="0" algn="r">
              <a:buNone/>
            </a:pPr>
            <a:r>
              <a:rPr lang="en-US" sz="1500" dirty="0">
                <a:solidFill>
                  <a:srgbClr val="1A1A1A"/>
                </a:solidFill>
                <a:latin typeface="Arial" pitchFamily="34" charset="0"/>
                <a:ea typeface="Arial" pitchFamily="34" charset="-122"/>
                <a:cs typeface="Arial" pitchFamily="34" charset="-120"/>
              </a:rPr>
              <a:t>648,133</a:t>
            </a:r>
            <a:endParaRPr lang="en-US" sz="1500" dirty="0"/>
          </a:p>
        </p:txBody>
      </p:sp>
      <p:sp>
        <p:nvSpPr>
          <p:cNvPr id="249" name="Shape 245"/>
          <p:cNvSpPr/>
          <p:nvPr/>
        </p:nvSpPr>
        <p:spPr>
          <a:xfrm>
            <a:off x="12074723" y="8977313"/>
            <a:ext cx="860227" cy="9525"/>
          </a:xfrm>
          <a:prstGeom prst="rect">
            <a:avLst/>
          </a:prstGeom>
          <a:solidFill>
            <a:srgbClr val="E4E9E2"/>
          </a:solidFill>
          <a:ln/>
        </p:spPr>
        <p:txBody>
          <a:bodyPr/>
          <a:lstStyle/>
          <a:p>
            <a:endParaRPr lang="en-US"/>
          </a:p>
        </p:txBody>
      </p:sp>
      <p:sp>
        <p:nvSpPr>
          <p:cNvPr id="250" name="Text 246"/>
          <p:cNvSpPr/>
          <p:nvPr/>
        </p:nvSpPr>
        <p:spPr>
          <a:xfrm>
            <a:off x="12055673" y="8672513"/>
            <a:ext cx="822127" cy="257175"/>
          </a:xfrm>
          <a:prstGeom prst="rect">
            <a:avLst/>
          </a:prstGeom>
          <a:noFill/>
          <a:ln/>
        </p:spPr>
        <p:txBody>
          <a:bodyPr wrap="square" lIns="25400" tIns="25400" rIns="25400" bIns="25400" rtlCol="0" anchor="ctr">
            <a:normAutofit lnSpcReduction="10000"/>
          </a:bodyPr>
          <a:lstStyle/>
          <a:p>
            <a:pPr marL="0" indent="0" algn="r">
              <a:buNone/>
            </a:pPr>
            <a:r>
              <a:rPr lang="en-US" sz="1500" b="1" dirty="0">
                <a:solidFill>
                  <a:srgbClr val="96382A"/>
                </a:solidFill>
                <a:latin typeface="Arial" pitchFamily="34" charset="0"/>
                <a:ea typeface="Arial" pitchFamily="34" charset="-122"/>
                <a:cs typeface="Arial" pitchFamily="34" charset="-120"/>
              </a:rPr>
              <a:t>714,360</a:t>
            </a:r>
            <a:endParaRPr lang="en-US" sz="1500" dirty="0"/>
          </a:p>
        </p:txBody>
      </p:sp>
      <p:sp>
        <p:nvSpPr>
          <p:cNvPr id="251" name="Text 247"/>
          <p:cNvSpPr/>
          <p:nvPr/>
        </p:nvSpPr>
        <p:spPr>
          <a:xfrm>
            <a:off x="7067550" y="9072563"/>
            <a:ext cx="1828651" cy="481012"/>
          </a:xfrm>
          <a:prstGeom prst="rect">
            <a:avLst/>
          </a:prstGeom>
          <a:noFill/>
          <a:ln/>
        </p:spPr>
        <p:txBody>
          <a:bodyPr wrap="square" lIns="25400" tIns="25400" rIns="25400" bIns="25400" rtlCol="0" anchor="ctr">
            <a:normAutofit lnSpcReduction="10000"/>
          </a:bodyPr>
          <a:lstStyle/>
          <a:p>
            <a:pPr marL="0" indent="0" algn="l">
              <a:buNone/>
            </a:pPr>
            <a:r>
              <a:rPr lang="en-US" sz="1500" b="1" dirty="0">
                <a:solidFill>
                  <a:srgbClr val="1A1A1A"/>
                </a:solidFill>
                <a:latin typeface="Arial" pitchFamily="34" charset="0"/>
                <a:ea typeface="Arial" pitchFamily="34" charset="-122"/>
                <a:cs typeface="Arial" pitchFamily="34" charset="-120"/>
              </a:rPr>
              <a:t>Cost / equipment ($)</a:t>
            </a:r>
            <a:endParaRPr lang="en-US" sz="1500" dirty="0"/>
          </a:p>
        </p:txBody>
      </p:sp>
      <p:sp>
        <p:nvSpPr>
          <p:cNvPr id="252" name="Text 248"/>
          <p:cNvSpPr/>
          <p:nvPr/>
        </p:nvSpPr>
        <p:spPr>
          <a:xfrm>
            <a:off x="8858101" y="9072563"/>
            <a:ext cx="764828" cy="481012"/>
          </a:xfrm>
          <a:prstGeom prst="rect">
            <a:avLst/>
          </a:prstGeom>
          <a:noFill/>
          <a:ln/>
        </p:spPr>
        <p:txBody>
          <a:bodyPr wrap="square" lIns="25400" tIns="25400" rIns="25400" bIns="25400" rtlCol="0" anchor="ctr">
            <a:normAutofit/>
          </a:bodyPr>
          <a:lstStyle/>
          <a:p>
            <a:pPr marL="0" indent="0" algn="r">
              <a:buNone/>
            </a:pPr>
            <a:r>
              <a:rPr lang="en-US" sz="1500" dirty="0">
                <a:solidFill>
                  <a:srgbClr val="1A1A1A"/>
                </a:solidFill>
                <a:latin typeface="Arial" pitchFamily="34" charset="0"/>
                <a:ea typeface="Arial" pitchFamily="34" charset="-122"/>
                <a:cs typeface="Arial" pitchFamily="34" charset="-120"/>
              </a:rPr>
              <a:t>12.56</a:t>
            </a:r>
            <a:endParaRPr lang="en-US" sz="1500" dirty="0"/>
          </a:p>
        </p:txBody>
      </p:sp>
      <p:sp>
        <p:nvSpPr>
          <p:cNvPr id="253" name="Text 249"/>
          <p:cNvSpPr/>
          <p:nvPr/>
        </p:nvSpPr>
        <p:spPr>
          <a:xfrm>
            <a:off x="9661029" y="9072563"/>
            <a:ext cx="750689" cy="481012"/>
          </a:xfrm>
          <a:prstGeom prst="rect">
            <a:avLst/>
          </a:prstGeom>
          <a:noFill/>
          <a:ln/>
        </p:spPr>
        <p:txBody>
          <a:bodyPr wrap="square" lIns="25400" tIns="25400" rIns="25400" bIns="25400" rtlCol="0" anchor="ctr">
            <a:normAutofit/>
          </a:bodyPr>
          <a:lstStyle/>
          <a:p>
            <a:pPr marL="0" indent="0" algn="r">
              <a:buNone/>
            </a:pPr>
            <a:r>
              <a:rPr lang="en-US" sz="1500" dirty="0">
                <a:solidFill>
                  <a:srgbClr val="1A1A1A"/>
                </a:solidFill>
                <a:latin typeface="Arial" pitchFamily="34" charset="0"/>
                <a:ea typeface="Arial" pitchFamily="34" charset="-122"/>
                <a:cs typeface="Arial" pitchFamily="34" charset="-120"/>
              </a:rPr>
              <a:t>13.03</a:t>
            </a:r>
            <a:endParaRPr lang="en-US" sz="1500" dirty="0"/>
          </a:p>
        </p:txBody>
      </p:sp>
      <p:sp>
        <p:nvSpPr>
          <p:cNvPr id="254" name="Text 250"/>
          <p:cNvSpPr/>
          <p:nvPr/>
        </p:nvSpPr>
        <p:spPr>
          <a:xfrm>
            <a:off x="10449818" y="9072563"/>
            <a:ext cx="764828" cy="481012"/>
          </a:xfrm>
          <a:prstGeom prst="rect">
            <a:avLst/>
          </a:prstGeom>
          <a:noFill/>
          <a:ln/>
        </p:spPr>
        <p:txBody>
          <a:bodyPr wrap="square" lIns="25400" tIns="25400" rIns="25400" bIns="25400" rtlCol="0" anchor="ctr">
            <a:normAutofit/>
          </a:bodyPr>
          <a:lstStyle/>
          <a:p>
            <a:pPr marL="0" indent="0" algn="r">
              <a:buNone/>
            </a:pPr>
            <a:r>
              <a:rPr lang="en-US" sz="1500" dirty="0">
                <a:solidFill>
                  <a:srgbClr val="1A1A1A"/>
                </a:solidFill>
                <a:latin typeface="Arial" pitchFamily="34" charset="0"/>
                <a:ea typeface="Arial" pitchFamily="34" charset="-122"/>
                <a:cs typeface="Arial" pitchFamily="34" charset="-120"/>
              </a:rPr>
              <a:t>12.61</a:t>
            </a:r>
            <a:endParaRPr lang="en-US" sz="1500" dirty="0"/>
          </a:p>
        </p:txBody>
      </p:sp>
      <p:sp>
        <p:nvSpPr>
          <p:cNvPr id="255" name="Text 251"/>
          <p:cNvSpPr/>
          <p:nvPr/>
        </p:nvSpPr>
        <p:spPr>
          <a:xfrm>
            <a:off x="11252746" y="9072563"/>
            <a:ext cx="764828" cy="481012"/>
          </a:xfrm>
          <a:prstGeom prst="rect">
            <a:avLst/>
          </a:prstGeom>
          <a:noFill/>
          <a:ln/>
        </p:spPr>
        <p:txBody>
          <a:bodyPr wrap="square" lIns="25400" tIns="25400" rIns="25400" bIns="25400" rtlCol="0" anchor="ctr">
            <a:normAutofit/>
          </a:bodyPr>
          <a:lstStyle/>
          <a:p>
            <a:pPr marL="0" indent="0" algn="r">
              <a:buNone/>
            </a:pPr>
            <a:r>
              <a:rPr lang="en-US" sz="1500" dirty="0">
                <a:solidFill>
                  <a:srgbClr val="1A1A1A"/>
                </a:solidFill>
                <a:latin typeface="Arial" pitchFamily="34" charset="0"/>
                <a:ea typeface="Arial" pitchFamily="34" charset="-122"/>
                <a:cs typeface="Arial" pitchFamily="34" charset="-120"/>
              </a:rPr>
              <a:t>15.16</a:t>
            </a:r>
            <a:endParaRPr lang="en-US" sz="1500" dirty="0"/>
          </a:p>
        </p:txBody>
      </p:sp>
      <p:sp>
        <p:nvSpPr>
          <p:cNvPr id="256" name="Text 252"/>
          <p:cNvSpPr/>
          <p:nvPr/>
        </p:nvSpPr>
        <p:spPr>
          <a:xfrm>
            <a:off x="12055673" y="9072563"/>
            <a:ext cx="822127" cy="481012"/>
          </a:xfrm>
          <a:prstGeom prst="rect">
            <a:avLst/>
          </a:prstGeom>
          <a:noFill/>
          <a:ln/>
        </p:spPr>
        <p:txBody>
          <a:bodyPr wrap="square" lIns="25400" tIns="25400" rIns="25400" bIns="25400" rtlCol="0" anchor="ctr">
            <a:normAutofit/>
          </a:bodyPr>
          <a:lstStyle/>
          <a:p>
            <a:pPr marL="0" indent="0" algn="r">
              <a:buNone/>
            </a:pPr>
            <a:r>
              <a:rPr lang="en-US" sz="1500" b="1" dirty="0">
                <a:solidFill>
                  <a:srgbClr val="96382A"/>
                </a:solidFill>
                <a:latin typeface="Arial" pitchFamily="34" charset="0"/>
                <a:ea typeface="Arial" pitchFamily="34" charset="-122"/>
                <a:cs typeface="Arial" pitchFamily="34" charset="-120"/>
              </a:rPr>
              <a:t>14.91</a:t>
            </a:r>
            <a:endParaRPr lang="en-US" sz="1500" dirty="0"/>
          </a:p>
        </p:txBody>
      </p:sp>
      <p:sp>
        <p:nvSpPr>
          <p:cNvPr id="257" name="Text 0">
            <a:extLst>
              <a:ext uri="{FF2B5EF4-FFF2-40B4-BE49-F238E27FC236}">
                <a16:creationId xmlns:a16="http://schemas.microsoft.com/office/drawing/2014/main" id="{5CF79622-3A98-134F-9B84-85EB111A7CAD}"/>
              </a:ext>
            </a:extLst>
          </p:cNvPr>
          <p:cNvSpPr/>
          <p:nvPr/>
        </p:nvSpPr>
        <p:spPr>
          <a:xfrm>
            <a:off x="876300" y="419100"/>
            <a:ext cx="5788601" cy="508000"/>
          </a:xfrm>
          <a:prstGeom prst="rect">
            <a:avLst/>
          </a:prstGeom>
          <a:noFill/>
          <a:ln/>
        </p:spPr>
        <p:txBody>
          <a:bodyPr wrap="square" lIns="25400" tIns="25400" rIns="25400" bIns="25400" rtlCol="0" anchor="t">
            <a:normAutofit/>
          </a:bodyPr>
          <a:lstStyle/>
          <a:p>
            <a:pPr marL="0" indent="0" algn="l">
              <a:buNone/>
            </a:pPr>
            <a:r>
              <a:rPr lang="en-US" sz="3000" b="1" dirty="0">
                <a:solidFill>
                  <a:srgbClr val="1A1A1A"/>
                </a:solidFill>
                <a:latin typeface="Calibri" pitchFamily="34" charset="0"/>
                <a:ea typeface="Calibri" pitchFamily="34" charset="-122"/>
                <a:cs typeface="Calibri" pitchFamily="34" charset="-120"/>
              </a:rPr>
              <a:t>1.6. Service cost in the month </a:t>
            </a:r>
            <a:endParaRPr lang="en-US" sz="3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62" y="-29528"/>
            <a:ext cx="18307050" cy="10329862"/>
            <a:chOff x="0" y="0"/>
            <a:chExt cx="24409400" cy="13773150"/>
          </a:xfrm>
        </p:grpSpPr>
        <p:sp>
          <p:nvSpPr>
            <p:cNvPr id="3" name="Freeform 3"/>
            <p:cNvSpPr/>
            <p:nvPr/>
          </p:nvSpPr>
          <p:spPr>
            <a:xfrm>
              <a:off x="12700" y="12700"/>
              <a:ext cx="24384000" cy="13747750"/>
            </a:xfrm>
            <a:custGeom>
              <a:avLst/>
              <a:gdLst/>
              <a:ahLst/>
              <a:cxnLst/>
              <a:rect l="l" t="t" r="r" b="b"/>
              <a:pathLst>
                <a:path w="24384000" h="13747750">
                  <a:moveTo>
                    <a:pt x="0" y="0"/>
                  </a:moveTo>
                  <a:lnTo>
                    <a:pt x="24384000" y="0"/>
                  </a:lnTo>
                  <a:lnTo>
                    <a:pt x="24384000" y="13747750"/>
                  </a:lnTo>
                  <a:lnTo>
                    <a:pt x="0" y="13747750"/>
                  </a:lnTo>
                  <a:close/>
                </a:path>
              </a:pathLst>
            </a:custGeom>
            <a:solidFill>
              <a:srgbClr val="7DB039"/>
            </a:solidFill>
          </p:spPr>
          <p:txBody>
            <a:bodyPr/>
            <a:lstStyle/>
            <a:p>
              <a:endParaRPr lang="en-US"/>
            </a:p>
          </p:txBody>
        </p:sp>
        <p:sp>
          <p:nvSpPr>
            <p:cNvPr id="4" name="Freeform 4"/>
            <p:cNvSpPr/>
            <p:nvPr/>
          </p:nvSpPr>
          <p:spPr>
            <a:xfrm>
              <a:off x="0" y="0"/>
              <a:ext cx="24409400" cy="13773150"/>
            </a:xfrm>
            <a:custGeom>
              <a:avLst/>
              <a:gdLst/>
              <a:ahLst/>
              <a:cxnLst/>
              <a:rect l="l" t="t" r="r" b="b"/>
              <a:pathLst>
                <a:path w="24409400" h="13773150">
                  <a:moveTo>
                    <a:pt x="12700" y="0"/>
                  </a:moveTo>
                  <a:lnTo>
                    <a:pt x="24396700" y="0"/>
                  </a:lnTo>
                  <a:cubicBezTo>
                    <a:pt x="24403686" y="0"/>
                    <a:pt x="24409400" y="5715"/>
                    <a:pt x="24409400" y="12700"/>
                  </a:cubicBezTo>
                  <a:lnTo>
                    <a:pt x="24409400" y="13760450"/>
                  </a:lnTo>
                  <a:cubicBezTo>
                    <a:pt x="24409400" y="13767436"/>
                    <a:pt x="24403686" y="13773150"/>
                    <a:pt x="24396700" y="13773150"/>
                  </a:cubicBezTo>
                  <a:lnTo>
                    <a:pt x="12700" y="13773150"/>
                  </a:lnTo>
                  <a:cubicBezTo>
                    <a:pt x="5715" y="13773150"/>
                    <a:pt x="0" y="13767436"/>
                    <a:pt x="0" y="13760450"/>
                  </a:cubicBezTo>
                  <a:lnTo>
                    <a:pt x="0" y="12700"/>
                  </a:lnTo>
                  <a:cubicBezTo>
                    <a:pt x="0" y="5715"/>
                    <a:pt x="5715" y="0"/>
                    <a:pt x="12700" y="0"/>
                  </a:cubicBezTo>
                  <a:moveTo>
                    <a:pt x="12700" y="25400"/>
                  </a:moveTo>
                  <a:lnTo>
                    <a:pt x="12700" y="12700"/>
                  </a:lnTo>
                  <a:lnTo>
                    <a:pt x="25400" y="12700"/>
                  </a:lnTo>
                  <a:lnTo>
                    <a:pt x="25400" y="13760450"/>
                  </a:lnTo>
                  <a:lnTo>
                    <a:pt x="12700" y="13760450"/>
                  </a:lnTo>
                  <a:lnTo>
                    <a:pt x="12700" y="13747750"/>
                  </a:lnTo>
                  <a:lnTo>
                    <a:pt x="24396700" y="13747750"/>
                  </a:lnTo>
                  <a:lnTo>
                    <a:pt x="24396700" y="13760450"/>
                  </a:lnTo>
                  <a:lnTo>
                    <a:pt x="24384000" y="13760450"/>
                  </a:lnTo>
                  <a:lnTo>
                    <a:pt x="24384000" y="12700"/>
                  </a:lnTo>
                  <a:lnTo>
                    <a:pt x="24396700" y="12700"/>
                  </a:lnTo>
                  <a:lnTo>
                    <a:pt x="24396700" y="25400"/>
                  </a:lnTo>
                  <a:lnTo>
                    <a:pt x="12700" y="25400"/>
                  </a:lnTo>
                  <a:close/>
                </a:path>
              </a:pathLst>
            </a:custGeom>
            <a:solidFill>
              <a:srgbClr val="2F5597"/>
            </a:solidFill>
          </p:spPr>
          <p:txBody>
            <a:bodyPr/>
            <a:lstStyle/>
            <a:p>
              <a:endParaRPr lang="en-US"/>
            </a:p>
          </p:txBody>
        </p:sp>
      </p:grpSp>
      <p:grpSp>
        <p:nvGrpSpPr>
          <p:cNvPr id="5" name="Group 5"/>
          <p:cNvGrpSpPr/>
          <p:nvPr/>
        </p:nvGrpSpPr>
        <p:grpSpPr>
          <a:xfrm>
            <a:off x="13882688" y="457200"/>
            <a:ext cx="3726180" cy="830580"/>
            <a:chOff x="0" y="0"/>
            <a:chExt cx="4968240" cy="1107440"/>
          </a:xfrm>
        </p:grpSpPr>
        <p:sp>
          <p:nvSpPr>
            <p:cNvPr id="6" name="Freeform 6" descr="939fdf69654cbb4694a0a885ba77713"/>
            <p:cNvSpPr/>
            <p:nvPr/>
          </p:nvSpPr>
          <p:spPr>
            <a:xfrm>
              <a:off x="0" y="0"/>
              <a:ext cx="4968240" cy="1107440"/>
            </a:xfrm>
            <a:custGeom>
              <a:avLst/>
              <a:gdLst/>
              <a:ahLst/>
              <a:cxnLst/>
              <a:rect l="l" t="t" r="r" b="b"/>
              <a:pathLst>
                <a:path w="4968240" h="1107440">
                  <a:moveTo>
                    <a:pt x="0" y="0"/>
                  </a:moveTo>
                  <a:lnTo>
                    <a:pt x="4968240" y="0"/>
                  </a:lnTo>
                  <a:lnTo>
                    <a:pt x="4968240" y="1107440"/>
                  </a:lnTo>
                  <a:lnTo>
                    <a:pt x="0" y="1107440"/>
                  </a:lnTo>
                  <a:lnTo>
                    <a:pt x="0" y="0"/>
                  </a:lnTo>
                  <a:close/>
                </a:path>
              </a:pathLst>
            </a:custGeom>
            <a:blipFill>
              <a:blip r:embed="rId2"/>
              <a:stretch>
                <a:fillRect t="-21" b="-21"/>
              </a:stretch>
            </a:blipFill>
          </p:spPr>
          <p:txBody>
            <a:bodyPr/>
            <a:lstStyle/>
            <a:p>
              <a:endParaRPr lang="en-US"/>
            </a:p>
          </p:txBody>
        </p:sp>
      </p:grpSp>
      <p:grpSp>
        <p:nvGrpSpPr>
          <p:cNvPr id="7" name="Group 7"/>
          <p:cNvGrpSpPr/>
          <p:nvPr/>
        </p:nvGrpSpPr>
        <p:grpSpPr>
          <a:xfrm>
            <a:off x="7623781" y="5217795"/>
            <a:ext cx="10664219" cy="5069205"/>
            <a:chOff x="0" y="0"/>
            <a:chExt cx="16262350" cy="7730260"/>
          </a:xfrm>
        </p:grpSpPr>
        <p:sp>
          <p:nvSpPr>
            <p:cNvPr id="8" name="Freeform 8" descr="未标题-3"/>
            <p:cNvSpPr/>
            <p:nvPr/>
          </p:nvSpPr>
          <p:spPr>
            <a:xfrm>
              <a:off x="0" y="0"/>
              <a:ext cx="16262350" cy="7730260"/>
            </a:xfrm>
            <a:custGeom>
              <a:avLst/>
              <a:gdLst/>
              <a:ahLst/>
              <a:cxnLst/>
              <a:rect l="l" t="t" r="r" b="b"/>
              <a:pathLst>
                <a:path w="16262350" h="7730260">
                  <a:moveTo>
                    <a:pt x="0" y="0"/>
                  </a:moveTo>
                  <a:lnTo>
                    <a:pt x="16262350" y="0"/>
                  </a:lnTo>
                  <a:lnTo>
                    <a:pt x="16262350" y="7730260"/>
                  </a:lnTo>
                  <a:lnTo>
                    <a:pt x="0" y="7730260"/>
                  </a:lnTo>
                  <a:lnTo>
                    <a:pt x="0" y="0"/>
                  </a:lnTo>
                  <a:close/>
                </a:path>
              </a:pathLst>
            </a:custGeom>
            <a:blipFill>
              <a:blip r:embed="rId3"/>
              <a:stretch>
                <a:fillRect t="-13111" b="-13111"/>
              </a:stretch>
            </a:blipFill>
          </p:spPr>
          <p:txBody>
            <a:bodyPr/>
            <a:lstStyle/>
            <a:p>
              <a:endParaRPr lang="en-US"/>
            </a:p>
          </p:txBody>
        </p:sp>
      </p:grpSp>
      <p:sp>
        <p:nvSpPr>
          <p:cNvPr id="9" name="TextBox 9"/>
          <p:cNvSpPr txBox="1"/>
          <p:nvPr/>
        </p:nvSpPr>
        <p:spPr>
          <a:xfrm>
            <a:off x="1028700" y="2727675"/>
            <a:ext cx="14973300" cy="769441"/>
          </a:xfrm>
          <a:prstGeom prst="rect">
            <a:avLst/>
          </a:prstGeom>
        </p:spPr>
        <p:txBody>
          <a:bodyPr wrap="square" lIns="0" tIns="0" rIns="0" bIns="0" rtlCol="0" anchor="t">
            <a:spAutoFit/>
          </a:bodyPr>
          <a:lstStyle>
            <a:defPPr>
              <a:defRPr lang="en-US"/>
            </a:defPPr>
            <a:lvl1pPr>
              <a:lnSpc>
                <a:spcPts val="6000"/>
              </a:lnSpc>
              <a:defRPr sz="5000" b="1">
                <a:solidFill>
                  <a:srgbClr val="FFFFFF"/>
                </a:solidFill>
                <a:latin typeface="Aptos" panose="020B0004020202020204" pitchFamily="34" charset="0"/>
                <a:ea typeface="Arial Bold"/>
                <a:cs typeface="Arial Bold"/>
              </a:defRPr>
            </a:lvl1pPr>
          </a:lstStyle>
          <a:p>
            <a:r>
              <a:rPr lang="en-US">
                <a:latin typeface="+mj-lt"/>
                <a:sym typeface="Arial Bold"/>
              </a:rPr>
              <a:t>2. </a:t>
            </a:r>
            <a:r>
              <a:rPr lang="en-US">
                <a:latin typeface="+mj-lt"/>
                <a:sym typeface="Arial"/>
              </a:rPr>
              <a:t>Issues, actions &amp; resolution progress tracking</a:t>
            </a:r>
            <a:endParaRPr lang="en-US">
              <a:latin typeface="+mj-lt"/>
              <a:sym typeface="Arial Bo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D2225-AE35-D06E-6777-98C39194361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2260A86-0C84-EC34-BA6D-7B3172817D0F}"/>
              </a:ext>
            </a:extLst>
          </p:cNvPr>
          <p:cNvGrpSpPr/>
          <p:nvPr/>
        </p:nvGrpSpPr>
        <p:grpSpPr>
          <a:xfrm>
            <a:off x="647996" y="647996"/>
            <a:ext cx="431997" cy="431997"/>
            <a:chOff x="0" y="0"/>
            <a:chExt cx="575996" cy="575996"/>
          </a:xfrm>
        </p:grpSpPr>
        <p:sp>
          <p:nvSpPr>
            <p:cNvPr id="3" name="Freeform 3">
              <a:extLst>
                <a:ext uri="{FF2B5EF4-FFF2-40B4-BE49-F238E27FC236}">
                  <a16:creationId xmlns:a16="http://schemas.microsoft.com/office/drawing/2014/main" id="{24056C96-3298-FFF1-3B6A-F76BBF14253E}"/>
                </a:ext>
              </a:extLst>
            </p:cNvPr>
            <p:cNvSpPr/>
            <p:nvPr/>
          </p:nvSpPr>
          <p:spPr>
            <a:xfrm>
              <a:off x="0" y="0"/>
              <a:ext cx="575945" cy="575945"/>
            </a:xfrm>
            <a:custGeom>
              <a:avLst/>
              <a:gdLst/>
              <a:ahLst/>
              <a:cxnLst/>
              <a:rect l="l" t="t" r="r" b="b"/>
              <a:pathLst>
                <a:path w="575945" h="575945">
                  <a:moveTo>
                    <a:pt x="315087" y="0"/>
                  </a:moveTo>
                  <a:lnTo>
                    <a:pt x="0" y="0"/>
                  </a:lnTo>
                  <a:lnTo>
                    <a:pt x="0" y="315087"/>
                  </a:lnTo>
                  <a:cubicBezTo>
                    <a:pt x="0" y="459232"/>
                    <a:pt x="116840" y="575945"/>
                    <a:pt x="260858" y="575945"/>
                  </a:cubicBezTo>
                  <a:lnTo>
                    <a:pt x="575945" y="575945"/>
                  </a:lnTo>
                  <a:lnTo>
                    <a:pt x="575945" y="260858"/>
                  </a:lnTo>
                  <a:cubicBezTo>
                    <a:pt x="575945" y="116840"/>
                    <a:pt x="459232" y="0"/>
                    <a:pt x="315087" y="0"/>
                  </a:cubicBezTo>
                  <a:close/>
                </a:path>
              </a:pathLst>
            </a:custGeom>
            <a:solidFill>
              <a:srgbClr val="619B32"/>
            </a:solidFill>
          </p:spPr>
          <p:txBody>
            <a:bodyPr/>
            <a:lstStyle/>
            <a:p>
              <a:endParaRPr lang="en-US" sz="2700"/>
            </a:p>
          </p:txBody>
        </p:sp>
      </p:grpSp>
      <p:grpSp>
        <p:nvGrpSpPr>
          <p:cNvPr id="4" name="Group 4">
            <a:extLst>
              <a:ext uri="{FF2B5EF4-FFF2-40B4-BE49-F238E27FC236}">
                <a16:creationId xmlns:a16="http://schemas.microsoft.com/office/drawing/2014/main" id="{726B5E4A-8410-606E-1716-BF4FB7B2E3B7}"/>
              </a:ext>
            </a:extLst>
          </p:cNvPr>
          <p:cNvGrpSpPr/>
          <p:nvPr/>
        </p:nvGrpSpPr>
        <p:grpSpPr>
          <a:xfrm>
            <a:off x="1296000" y="1296001"/>
            <a:ext cx="10799997" cy="16202"/>
            <a:chOff x="0" y="0"/>
            <a:chExt cx="14399997" cy="21603"/>
          </a:xfrm>
        </p:grpSpPr>
        <p:sp>
          <p:nvSpPr>
            <p:cNvPr id="5" name="Freeform 5">
              <a:extLst>
                <a:ext uri="{FF2B5EF4-FFF2-40B4-BE49-F238E27FC236}">
                  <a16:creationId xmlns:a16="http://schemas.microsoft.com/office/drawing/2014/main" id="{A9D19788-7178-A130-6DD5-A8E575910301}"/>
                </a:ext>
              </a:extLst>
            </p:cNvPr>
            <p:cNvSpPr/>
            <p:nvPr/>
          </p:nvSpPr>
          <p:spPr>
            <a:xfrm>
              <a:off x="0" y="0"/>
              <a:ext cx="14400022" cy="21590"/>
            </a:xfrm>
            <a:custGeom>
              <a:avLst/>
              <a:gdLst/>
              <a:ahLst/>
              <a:cxnLst/>
              <a:rect l="l" t="t" r="r" b="b"/>
              <a:pathLst>
                <a:path w="14400022" h="21590">
                  <a:moveTo>
                    <a:pt x="0" y="21590"/>
                  </a:moveTo>
                  <a:lnTo>
                    <a:pt x="14400022" y="21590"/>
                  </a:lnTo>
                  <a:lnTo>
                    <a:pt x="14400022" y="0"/>
                  </a:lnTo>
                  <a:lnTo>
                    <a:pt x="0" y="0"/>
                  </a:lnTo>
                  <a:lnTo>
                    <a:pt x="0" y="21590"/>
                  </a:lnTo>
                  <a:close/>
                </a:path>
              </a:pathLst>
            </a:custGeom>
            <a:solidFill>
              <a:srgbClr val="A6A6A6"/>
            </a:solidFill>
          </p:spPr>
          <p:txBody>
            <a:bodyPr/>
            <a:lstStyle/>
            <a:p>
              <a:endParaRPr lang="en-US" sz="2700"/>
            </a:p>
          </p:txBody>
        </p:sp>
      </p:grpSp>
      <p:grpSp>
        <p:nvGrpSpPr>
          <p:cNvPr id="6" name="Group 6">
            <a:extLst>
              <a:ext uri="{FF2B5EF4-FFF2-40B4-BE49-F238E27FC236}">
                <a16:creationId xmlns:a16="http://schemas.microsoft.com/office/drawing/2014/main" id="{F9DDB965-76A0-848C-6688-A2D19088E6F6}"/>
              </a:ext>
            </a:extLst>
          </p:cNvPr>
          <p:cNvGrpSpPr/>
          <p:nvPr/>
        </p:nvGrpSpPr>
        <p:grpSpPr>
          <a:xfrm>
            <a:off x="14513244" y="661988"/>
            <a:ext cx="3095625" cy="689610"/>
            <a:chOff x="0" y="0"/>
            <a:chExt cx="4127500" cy="919480"/>
          </a:xfrm>
        </p:grpSpPr>
        <p:sp>
          <p:nvSpPr>
            <p:cNvPr id="7" name="Freeform 7" descr="微信图片_20250327170611">
              <a:extLst>
                <a:ext uri="{FF2B5EF4-FFF2-40B4-BE49-F238E27FC236}">
                  <a16:creationId xmlns:a16="http://schemas.microsoft.com/office/drawing/2014/main" id="{E7809376-99B2-49ED-93FB-54C1F3A963BC}"/>
                </a:ext>
              </a:extLst>
            </p:cNvPr>
            <p:cNvSpPr/>
            <p:nvPr/>
          </p:nvSpPr>
          <p:spPr>
            <a:xfrm>
              <a:off x="0" y="0"/>
              <a:ext cx="4127500" cy="919480"/>
            </a:xfrm>
            <a:custGeom>
              <a:avLst/>
              <a:gdLst/>
              <a:ahLst/>
              <a:cxnLst/>
              <a:rect l="l" t="t" r="r" b="b"/>
              <a:pathLst>
                <a:path w="4127500" h="919480">
                  <a:moveTo>
                    <a:pt x="0" y="0"/>
                  </a:moveTo>
                  <a:lnTo>
                    <a:pt x="4127500" y="0"/>
                  </a:lnTo>
                  <a:lnTo>
                    <a:pt x="4127500" y="919480"/>
                  </a:lnTo>
                  <a:lnTo>
                    <a:pt x="0" y="919480"/>
                  </a:lnTo>
                  <a:lnTo>
                    <a:pt x="0" y="0"/>
                  </a:lnTo>
                  <a:close/>
                </a:path>
              </a:pathLst>
            </a:custGeom>
            <a:blipFill>
              <a:blip r:embed="rId2"/>
              <a:stretch>
                <a:fillRect t="-52" b="-51"/>
              </a:stretch>
            </a:blipFill>
          </p:spPr>
          <p:txBody>
            <a:bodyPr/>
            <a:lstStyle/>
            <a:p>
              <a:endParaRPr lang="en-US" sz="2700"/>
            </a:p>
          </p:txBody>
        </p:sp>
      </p:grpSp>
      <p:grpSp>
        <p:nvGrpSpPr>
          <p:cNvPr id="8" name="Group 8">
            <a:extLst>
              <a:ext uri="{FF2B5EF4-FFF2-40B4-BE49-F238E27FC236}">
                <a16:creationId xmlns:a16="http://schemas.microsoft.com/office/drawing/2014/main" id="{2429589C-55A0-E1FC-2CAA-B142B699FB9B}"/>
              </a:ext>
            </a:extLst>
          </p:cNvPr>
          <p:cNvGrpSpPr/>
          <p:nvPr/>
        </p:nvGrpSpPr>
        <p:grpSpPr>
          <a:xfrm>
            <a:off x="1096520" y="432002"/>
            <a:ext cx="13416723" cy="863997"/>
            <a:chOff x="-217331" y="5"/>
            <a:chExt cx="14617328" cy="1151996"/>
          </a:xfrm>
        </p:grpSpPr>
        <p:sp>
          <p:nvSpPr>
            <p:cNvPr id="9" name="Freeform 9">
              <a:extLst>
                <a:ext uri="{FF2B5EF4-FFF2-40B4-BE49-F238E27FC236}">
                  <a16:creationId xmlns:a16="http://schemas.microsoft.com/office/drawing/2014/main" id="{B191CA48-C3DB-481C-E154-41FB7F491B32}"/>
                </a:ext>
              </a:extLst>
            </p:cNvPr>
            <p:cNvSpPr/>
            <p:nvPr/>
          </p:nvSpPr>
          <p:spPr>
            <a:xfrm>
              <a:off x="-217331" y="5"/>
              <a:ext cx="14400000" cy="1151996"/>
            </a:xfrm>
            <a:custGeom>
              <a:avLst/>
              <a:gdLst/>
              <a:ahLst/>
              <a:cxnLst/>
              <a:rect l="l" t="t" r="r" b="b"/>
              <a:pathLst>
                <a:path w="14400000" h="1151996">
                  <a:moveTo>
                    <a:pt x="0" y="0"/>
                  </a:moveTo>
                  <a:lnTo>
                    <a:pt x="14400000" y="0"/>
                  </a:lnTo>
                  <a:lnTo>
                    <a:pt x="14400000" y="1151996"/>
                  </a:lnTo>
                  <a:lnTo>
                    <a:pt x="0" y="1151996"/>
                  </a:lnTo>
                  <a:close/>
                </a:path>
              </a:pathLst>
            </a:custGeom>
            <a:blipFill>
              <a:blip r:embed="rId3">
                <a:alphaModFix amt="0"/>
              </a:blip>
              <a:stretch>
                <a:fillRect t="-193563" b="-193564"/>
              </a:stretch>
            </a:blipFill>
          </p:spPr>
          <p:txBody>
            <a:bodyPr/>
            <a:lstStyle/>
            <a:p>
              <a:endParaRPr lang="en-US" sz="2700"/>
            </a:p>
          </p:txBody>
        </p:sp>
        <p:sp>
          <p:nvSpPr>
            <p:cNvPr id="10" name="TextBox 10">
              <a:extLst>
                <a:ext uri="{FF2B5EF4-FFF2-40B4-BE49-F238E27FC236}">
                  <a16:creationId xmlns:a16="http://schemas.microsoft.com/office/drawing/2014/main" id="{541413FC-BAF3-3512-DEEF-C7CA7CFC6744}"/>
                </a:ext>
              </a:extLst>
            </p:cNvPr>
            <p:cNvSpPr txBox="1"/>
            <p:nvPr/>
          </p:nvSpPr>
          <p:spPr>
            <a:xfrm>
              <a:off x="0" y="19050"/>
              <a:ext cx="14399997" cy="1132950"/>
            </a:xfrm>
            <a:prstGeom prst="rect">
              <a:avLst/>
            </a:prstGeom>
          </p:spPr>
          <p:txBody>
            <a:bodyPr lIns="0" tIns="0" rIns="0" bIns="0" rtlCol="0" anchor="ctr"/>
            <a:lstStyle>
              <a:defPPr>
                <a:defRPr lang="en-US"/>
              </a:defPPr>
              <a:lvl1pPr>
                <a:lnSpc>
                  <a:spcPts val="3132"/>
                </a:lnSpc>
                <a:defRPr sz="2800" b="1">
                  <a:solidFill>
                    <a:srgbClr val="000000"/>
                  </a:solidFill>
                  <a:latin typeface="Aptos Narrow" panose="020B0004020202020204" pitchFamily="34" charset="0"/>
                  <a:ea typeface="Arial Bold"/>
                  <a:cs typeface="Arial Bold"/>
                </a:defRPr>
              </a:lvl1pPr>
            </a:lstStyle>
            <a:p>
              <a:r>
                <a:rPr lang="en-US" dirty="0">
                  <a:solidFill>
                    <a:srgbClr val="1A1A1A"/>
                  </a:solidFill>
                  <a:latin typeface="Calibri" pitchFamily="34" charset="0"/>
                  <a:ea typeface="Calibri" pitchFamily="34" charset="-122"/>
                  <a:cs typeface="Calibri" pitchFamily="34" charset="-120"/>
                </a:rPr>
                <a:t>Audit program for quality control of charging stations and BSS</a:t>
              </a:r>
              <a:endParaRPr lang="en-US" dirty="0"/>
            </a:p>
          </p:txBody>
        </p:sp>
      </p:grpSp>
      <p:sp>
        <p:nvSpPr>
          <p:cNvPr id="13" name="TextBox 12">
            <a:extLst>
              <a:ext uri="{FF2B5EF4-FFF2-40B4-BE49-F238E27FC236}">
                <a16:creationId xmlns:a16="http://schemas.microsoft.com/office/drawing/2014/main" id="{30EEB217-CCE9-8634-B758-6DAD84E2EAEB}"/>
              </a:ext>
            </a:extLst>
          </p:cNvPr>
          <p:cNvSpPr txBox="1"/>
          <p:nvPr/>
        </p:nvSpPr>
        <p:spPr>
          <a:xfrm>
            <a:off x="1524000" y="1714500"/>
            <a:ext cx="4343400" cy="1463641"/>
          </a:xfrm>
          <a:prstGeom prst="rect">
            <a:avLst/>
          </a:prstGeom>
          <a:noFill/>
        </p:spPr>
        <p:txBody>
          <a:bodyPr wrap="square">
            <a:noAutofit/>
          </a:bodyPr>
          <a:lstStyle/>
          <a:p>
            <a:pPr algn="just">
              <a:lnSpc>
                <a:spcPts val="2700"/>
              </a:lnSpc>
              <a:spcBef>
                <a:spcPts val="600"/>
              </a:spcBef>
              <a:spcAft>
                <a:spcPts val="600"/>
              </a:spcAft>
            </a:pPr>
            <a:r>
              <a:rPr lang="en-US" sz="2400" b="1">
                <a:latin typeface="+mj-lt"/>
              </a:rPr>
              <a:t>See the detailed file attached.</a:t>
            </a:r>
          </a:p>
        </p:txBody>
      </p:sp>
    </p:spTree>
    <p:extLst>
      <p:ext uri="{BB962C8B-B14F-4D97-AF65-F5344CB8AC3E}">
        <p14:creationId xmlns:p14="http://schemas.microsoft.com/office/powerpoint/2010/main" val="9566432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62" y="-29528"/>
            <a:ext cx="18307050" cy="10329862"/>
            <a:chOff x="0" y="0"/>
            <a:chExt cx="24409400" cy="13773150"/>
          </a:xfrm>
        </p:grpSpPr>
        <p:sp>
          <p:nvSpPr>
            <p:cNvPr id="3" name="Freeform 3"/>
            <p:cNvSpPr/>
            <p:nvPr/>
          </p:nvSpPr>
          <p:spPr>
            <a:xfrm>
              <a:off x="12700" y="12700"/>
              <a:ext cx="24384000" cy="13747750"/>
            </a:xfrm>
            <a:custGeom>
              <a:avLst/>
              <a:gdLst/>
              <a:ahLst/>
              <a:cxnLst/>
              <a:rect l="l" t="t" r="r" b="b"/>
              <a:pathLst>
                <a:path w="24384000" h="13747750">
                  <a:moveTo>
                    <a:pt x="0" y="0"/>
                  </a:moveTo>
                  <a:lnTo>
                    <a:pt x="24384000" y="0"/>
                  </a:lnTo>
                  <a:lnTo>
                    <a:pt x="24384000" y="13747750"/>
                  </a:lnTo>
                  <a:lnTo>
                    <a:pt x="0" y="13747750"/>
                  </a:lnTo>
                  <a:close/>
                </a:path>
              </a:pathLst>
            </a:custGeom>
            <a:solidFill>
              <a:srgbClr val="7DB039"/>
            </a:solidFill>
          </p:spPr>
          <p:txBody>
            <a:bodyPr/>
            <a:lstStyle/>
            <a:p>
              <a:endParaRPr lang="en-US"/>
            </a:p>
          </p:txBody>
        </p:sp>
        <p:sp>
          <p:nvSpPr>
            <p:cNvPr id="4" name="Freeform 4"/>
            <p:cNvSpPr/>
            <p:nvPr/>
          </p:nvSpPr>
          <p:spPr>
            <a:xfrm>
              <a:off x="0" y="0"/>
              <a:ext cx="24409400" cy="13773150"/>
            </a:xfrm>
            <a:custGeom>
              <a:avLst/>
              <a:gdLst/>
              <a:ahLst/>
              <a:cxnLst/>
              <a:rect l="l" t="t" r="r" b="b"/>
              <a:pathLst>
                <a:path w="24409400" h="13773150">
                  <a:moveTo>
                    <a:pt x="12700" y="0"/>
                  </a:moveTo>
                  <a:lnTo>
                    <a:pt x="24396700" y="0"/>
                  </a:lnTo>
                  <a:cubicBezTo>
                    <a:pt x="24403686" y="0"/>
                    <a:pt x="24409400" y="5715"/>
                    <a:pt x="24409400" y="12700"/>
                  </a:cubicBezTo>
                  <a:lnTo>
                    <a:pt x="24409400" y="13760450"/>
                  </a:lnTo>
                  <a:cubicBezTo>
                    <a:pt x="24409400" y="13767436"/>
                    <a:pt x="24403686" y="13773150"/>
                    <a:pt x="24396700" y="13773150"/>
                  </a:cubicBezTo>
                  <a:lnTo>
                    <a:pt x="12700" y="13773150"/>
                  </a:lnTo>
                  <a:cubicBezTo>
                    <a:pt x="5715" y="13773150"/>
                    <a:pt x="0" y="13767436"/>
                    <a:pt x="0" y="13760450"/>
                  </a:cubicBezTo>
                  <a:lnTo>
                    <a:pt x="0" y="12700"/>
                  </a:lnTo>
                  <a:cubicBezTo>
                    <a:pt x="0" y="5715"/>
                    <a:pt x="5715" y="0"/>
                    <a:pt x="12700" y="0"/>
                  </a:cubicBezTo>
                  <a:moveTo>
                    <a:pt x="12700" y="25400"/>
                  </a:moveTo>
                  <a:lnTo>
                    <a:pt x="12700" y="12700"/>
                  </a:lnTo>
                  <a:lnTo>
                    <a:pt x="25400" y="12700"/>
                  </a:lnTo>
                  <a:lnTo>
                    <a:pt x="25400" y="13760450"/>
                  </a:lnTo>
                  <a:lnTo>
                    <a:pt x="12700" y="13760450"/>
                  </a:lnTo>
                  <a:lnTo>
                    <a:pt x="12700" y="13747750"/>
                  </a:lnTo>
                  <a:lnTo>
                    <a:pt x="24396700" y="13747750"/>
                  </a:lnTo>
                  <a:lnTo>
                    <a:pt x="24396700" y="13760450"/>
                  </a:lnTo>
                  <a:lnTo>
                    <a:pt x="24384000" y="13760450"/>
                  </a:lnTo>
                  <a:lnTo>
                    <a:pt x="24384000" y="12700"/>
                  </a:lnTo>
                  <a:lnTo>
                    <a:pt x="24396700" y="12700"/>
                  </a:lnTo>
                  <a:lnTo>
                    <a:pt x="24396700" y="25400"/>
                  </a:lnTo>
                  <a:lnTo>
                    <a:pt x="12700" y="25400"/>
                  </a:lnTo>
                  <a:close/>
                </a:path>
              </a:pathLst>
            </a:custGeom>
            <a:solidFill>
              <a:srgbClr val="2F5597"/>
            </a:solidFill>
          </p:spPr>
          <p:txBody>
            <a:bodyPr/>
            <a:lstStyle/>
            <a:p>
              <a:endParaRPr lang="en-US"/>
            </a:p>
          </p:txBody>
        </p:sp>
      </p:grpSp>
      <p:grpSp>
        <p:nvGrpSpPr>
          <p:cNvPr id="5" name="Group 5"/>
          <p:cNvGrpSpPr/>
          <p:nvPr/>
        </p:nvGrpSpPr>
        <p:grpSpPr>
          <a:xfrm>
            <a:off x="13882688" y="457200"/>
            <a:ext cx="3726180" cy="830580"/>
            <a:chOff x="0" y="0"/>
            <a:chExt cx="4968240" cy="1107440"/>
          </a:xfrm>
        </p:grpSpPr>
        <p:sp>
          <p:nvSpPr>
            <p:cNvPr id="6" name="Freeform 6" descr="939fdf69654cbb4694a0a885ba77713"/>
            <p:cNvSpPr/>
            <p:nvPr/>
          </p:nvSpPr>
          <p:spPr>
            <a:xfrm>
              <a:off x="0" y="0"/>
              <a:ext cx="4968240" cy="1107440"/>
            </a:xfrm>
            <a:custGeom>
              <a:avLst/>
              <a:gdLst/>
              <a:ahLst/>
              <a:cxnLst/>
              <a:rect l="l" t="t" r="r" b="b"/>
              <a:pathLst>
                <a:path w="4968240" h="1107440">
                  <a:moveTo>
                    <a:pt x="0" y="0"/>
                  </a:moveTo>
                  <a:lnTo>
                    <a:pt x="4968240" y="0"/>
                  </a:lnTo>
                  <a:lnTo>
                    <a:pt x="4968240" y="1107440"/>
                  </a:lnTo>
                  <a:lnTo>
                    <a:pt x="0" y="1107440"/>
                  </a:lnTo>
                  <a:lnTo>
                    <a:pt x="0" y="0"/>
                  </a:lnTo>
                  <a:close/>
                </a:path>
              </a:pathLst>
            </a:custGeom>
            <a:blipFill>
              <a:blip r:embed="rId2"/>
              <a:stretch>
                <a:fillRect t="-21" b="-21"/>
              </a:stretch>
            </a:blipFill>
          </p:spPr>
          <p:txBody>
            <a:bodyPr/>
            <a:lstStyle/>
            <a:p>
              <a:endParaRPr lang="en-US"/>
            </a:p>
          </p:txBody>
        </p:sp>
      </p:grpSp>
      <p:grpSp>
        <p:nvGrpSpPr>
          <p:cNvPr id="7" name="Group 7"/>
          <p:cNvGrpSpPr/>
          <p:nvPr/>
        </p:nvGrpSpPr>
        <p:grpSpPr>
          <a:xfrm>
            <a:off x="6585585" y="7191375"/>
            <a:ext cx="3070860" cy="787718"/>
            <a:chOff x="0" y="0"/>
            <a:chExt cx="4094480" cy="1050290"/>
          </a:xfrm>
        </p:grpSpPr>
        <p:sp>
          <p:nvSpPr>
            <p:cNvPr id="8" name="Freeform 8"/>
            <p:cNvSpPr/>
            <p:nvPr/>
          </p:nvSpPr>
          <p:spPr>
            <a:xfrm>
              <a:off x="0" y="0"/>
              <a:ext cx="4094480" cy="1050290"/>
            </a:xfrm>
            <a:custGeom>
              <a:avLst/>
              <a:gdLst/>
              <a:ahLst/>
              <a:cxnLst/>
              <a:rect l="l" t="t" r="r" b="b"/>
              <a:pathLst>
                <a:path w="4094480" h="1050290">
                  <a:moveTo>
                    <a:pt x="0" y="525145"/>
                  </a:moveTo>
                  <a:cubicBezTo>
                    <a:pt x="0" y="235077"/>
                    <a:pt x="235077" y="0"/>
                    <a:pt x="525145" y="0"/>
                  </a:cubicBezTo>
                  <a:lnTo>
                    <a:pt x="3569335" y="0"/>
                  </a:lnTo>
                  <a:cubicBezTo>
                    <a:pt x="3859403" y="0"/>
                    <a:pt x="4094480" y="235077"/>
                    <a:pt x="4094480" y="525145"/>
                  </a:cubicBezTo>
                  <a:cubicBezTo>
                    <a:pt x="4094480" y="815213"/>
                    <a:pt x="3859403" y="1050290"/>
                    <a:pt x="3569335" y="1050290"/>
                  </a:cubicBezTo>
                  <a:lnTo>
                    <a:pt x="525145" y="1050290"/>
                  </a:lnTo>
                  <a:cubicBezTo>
                    <a:pt x="235077" y="1050290"/>
                    <a:pt x="0" y="815213"/>
                    <a:pt x="0" y="525145"/>
                  </a:cubicBezTo>
                  <a:close/>
                </a:path>
              </a:pathLst>
            </a:custGeom>
            <a:gradFill rotWithShape="1">
              <a:gsLst>
                <a:gs pos="0">
                  <a:srgbClr val="619B32">
                    <a:alpha val="100000"/>
                  </a:srgbClr>
                </a:gs>
                <a:gs pos="93000">
                  <a:srgbClr val="B7D882">
                    <a:alpha val="100000"/>
                  </a:srgbClr>
                </a:gs>
              </a:gsLst>
              <a:lin ang="9000000"/>
            </a:gradFill>
          </p:spPr>
          <p:txBody>
            <a:bodyPr/>
            <a:lstStyle/>
            <a:p>
              <a:endParaRPr lang="en-US"/>
            </a:p>
          </p:txBody>
        </p:sp>
      </p:grpSp>
      <p:grpSp>
        <p:nvGrpSpPr>
          <p:cNvPr id="9" name="Group 9"/>
          <p:cNvGrpSpPr/>
          <p:nvPr/>
        </p:nvGrpSpPr>
        <p:grpSpPr>
          <a:xfrm>
            <a:off x="6941820" y="7191375"/>
            <a:ext cx="5886450" cy="787718"/>
            <a:chOff x="0" y="0"/>
            <a:chExt cx="7848600" cy="1050290"/>
          </a:xfrm>
        </p:grpSpPr>
        <p:sp>
          <p:nvSpPr>
            <p:cNvPr id="10" name="Freeform 10"/>
            <p:cNvSpPr/>
            <p:nvPr/>
          </p:nvSpPr>
          <p:spPr>
            <a:xfrm>
              <a:off x="0" y="0"/>
              <a:ext cx="7848600" cy="1050290"/>
            </a:xfrm>
            <a:custGeom>
              <a:avLst/>
              <a:gdLst/>
              <a:ahLst/>
              <a:cxnLst/>
              <a:rect l="l" t="t" r="r" b="b"/>
              <a:pathLst>
                <a:path w="7848600" h="1050290">
                  <a:moveTo>
                    <a:pt x="0" y="525145"/>
                  </a:moveTo>
                  <a:cubicBezTo>
                    <a:pt x="0" y="235077"/>
                    <a:pt x="275669" y="0"/>
                    <a:pt x="615825" y="0"/>
                  </a:cubicBezTo>
                  <a:lnTo>
                    <a:pt x="7232776" y="0"/>
                  </a:lnTo>
                  <a:cubicBezTo>
                    <a:pt x="7572931" y="0"/>
                    <a:pt x="7848600" y="235077"/>
                    <a:pt x="7848600" y="525145"/>
                  </a:cubicBezTo>
                  <a:cubicBezTo>
                    <a:pt x="7848600" y="815213"/>
                    <a:pt x="7572931" y="1050290"/>
                    <a:pt x="7232776" y="1050290"/>
                  </a:cubicBezTo>
                  <a:lnTo>
                    <a:pt x="615825" y="1050290"/>
                  </a:lnTo>
                  <a:cubicBezTo>
                    <a:pt x="275669" y="1050290"/>
                    <a:pt x="0" y="815213"/>
                    <a:pt x="0" y="525145"/>
                  </a:cubicBezTo>
                  <a:close/>
                </a:path>
              </a:pathLst>
            </a:custGeom>
            <a:solidFill>
              <a:srgbClr val="FFFFFF"/>
            </a:solidFill>
          </p:spPr>
          <p:txBody>
            <a:bodyPr/>
            <a:lstStyle/>
            <a:p>
              <a:endParaRPr lang="en-US"/>
            </a:p>
          </p:txBody>
        </p:sp>
      </p:grpSp>
      <p:grpSp>
        <p:nvGrpSpPr>
          <p:cNvPr id="11" name="Group 11"/>
          <p:cNvGrpSpPr/>
          <p:nvPr/>
        </p:nvGrpSpPr>
        <p:grpSpPr>
          <a:xfrm>
            <a:off x="7382828" y="7299007"/>
            <a:ext cx="571500" cy="571500"/>
            <a:chOff x="0" y="0"/>
            <a:chExt cx="762000" cy="762000"/>
          </a:xfrm>
        </p:grpSpPr>
        <p:sp>
          <p:nvSpPr>
            <p:cNvPr id="12" name="Freeform 12" descr="人"/>
            <p:cNvSpPr/>
            <p:nvPr/>
          </p:nvSpPr>
          <p:spPr>
            <a:xfrm>
              <a:off x="0" y="0"/>
              <a:ext cx="762000" cy="762000"/>
            </a:xfrm>
            <a:custGeom>
              <a:avLst/>
              <a:gdLst/>
              <a:ahLst/>
              <a:cxnLst/>
              <a:rect l="l" t="t" r="r" b="b"/>
              <a:pathLst>
                <a:path w="762000" h="762000">
                  <a:moveTo>
                    <a:pt x="0" y="0"/>
                  </a:moveTo>
                  <a:lnTo>
                    <a:pt x="762000" y="0"/>
                  </a:lnTo>
                  <a:lnTo>
                    <a:pt x="762000" y="762000"/>
                  </a:lnTo>
                  <a:lnTo>
                    <a:pt x="0" y="762000"/>
                  </a:lnTo>
                  <a:lnTo>
                    <a:pt x="0" y="0"/>
                  </a:lnTo>
                  <a:close/>
                </a:path>
              </a:pathLst>
            </a:custGeom>
            <a:blipFill>
              <a:blip r:embed="rId3"/>
              <a:stretch>
                <a:fillRect/>
              </a:stretch>
            </a:blipFill>
          </p:spPr>
          <p:txBody>
            <a:bodyPr/>
            <a:lstStyle/>
            <a:p>
              <a:endParaRPr lang="en-US"/>
            </a:p>
          </p:txBody>
        </p:sp>
      </p:grpSp>
      <p:sp>
        <p:nvSpPr>
          <p:cNvPr id="13" name="TextBox 13"/>
          <p:cNvSpPr txBox="1"/>
          <p:nvPr/>
        </p:nvSpPr>
        <p:spPr>
          <a:xfrm>
            <a:off x="6387465" y="5735003"/>
            <a:ext cx="6440805" cy="1610677"/>
          </a:xfrm>
          <a:prstGeom prst="rect">
            <a:avLst/>
          </a:prstGeom>
        </p:spPr>
        <p:txBody>
          <a:bodyPr lIns="0" tIns="0" rIns="0" bIns="0" rtlCol="0" anchor="t">
            <a:spAutoFit/>
          </a:bodyPr>
          <a:lstStyle/>
          <a:p>
            <a:pPr algn="l">
              <a:lnSpc>
                <a:spcPts val="7776"/>
              </a:lnSpc>
            </a:pPr>
            <a:r>
              <a:rPr lang="en-US" sz="7200" b="1">
                <a:solidFill>
                  <a:srgbClr val="FFFFFF"/>
                </a:solidFill>
                <a:latin typeface="Arial Bold"/>
                <a:ea typeface="Arial Bold"/>
                <a:cs typeface="Arial Bold"/>
                <a:sym typeface="Arial Bold"/>
              </a:rPr>
              <a:t>  Thank  You</a:t>
            </a:r>
          </a:p>
        </p:txBody>
      </p:sp>
      <p:sp>
        <p:nvSpPr>
          <p:cNvPr id="14" name="TextBox 14"/>
          <p:cNvSpPr txBox="1"/>
          <p:nvPr/>
        </p:nvSpPr>
        <p:spPr>
          <a:xfrm>
            <a:off x="8189595" y="7328344"/>
            <a:ext cx="3916680" cy="512961"/>
          </a:xfrm>
          <a:prstGeom prst="rect">
            <a:avLst/>
          </a:prstGeom>
        </p:spPr>
        <p:txBody>
          <a:bodyPr lIns="0" tIns="0" rIns="0" bIns="0" rtlCol="0" anchor="t">
            <a:spAutoFit/>
          </a:bodyPr>
          <a:lstStyle/>
          <a:p>
            <a:pPr algn="l">
              <a:lnSpc>
                <a:spcPts val="3996"/>
              </a:lnSpc>
            </a:pPr>
            <a:r>
              <a:rPr lang="en-US" sz="3600" dirty="0">
                <a:solidFill>
                  <a:srgbClr val="000000"/>
                </a:solidFill>
                <a:latin typeface="Aptos Narrow" panose="020B0004020202020204" pitchFamily="34" charset="0"/>
                <a:ea typeface="Arial"/>
                <a:cs typeface="Arial"/>
                <a:sym typeface="Arial"/>
              </a:rPr>
              <a:t>Jamie (CCVN)</a:t>
            </a:r>
          </a:p>
        </p:txBody>
      </p:sp>
      <p:grpSp>
        <p:nvGrpSpPr>
          <p:cNvPr id="15" name="Group 15"/>
          <p:cNvGrpSpPr/>
          <p:nvPr/>
        </p:nvGrpSpPr>
        <p:grpSpPr>
          <a:xfrm>
            <a:off x="7584757" y="2443162"/>
            <a:ext cx="3914775" cy="2886075"/>
            <a:chOff x="0" y="0"/>
            <a:chExt cx="5219700" cy="3848100"/>
          </a:xfrm>
        </p:grpSpPr>
        <p:sp>
          <p:nvSpPr>
            <p:cNvPr id="16" name="Freeform 16" descr="未标题-2"/>
            <p:cNvSpPr/>
            <p:nvPr/>
          </p:nvSpPr>
          <p:spPr>
            <a:xfrm>
              <a:off x="0" y="0"/>
              <a:ext cx="5219700" cy="3848100"/>
            </a:xfrm>
            <a:custGeom>
              <a:avLst/>
              <a:gdLst/>
              <a:ahLst/>
              <a:cxnLst/>
              <a:rect l="l" t="t" r="r" b="b"/>
              <a:pathLst>
                <a:path w="5219700" h="3848100">
                  <a:moveTo>
                    <a:pt x="0" y="0"/>
                  </a:moveTo>
                  <a:lnTo>
                    <a:pt x="5219700" y="0"/>
                  </a:lnTo>
                  <a:lnTo>
                    <a:pt x="5219700" y="3848100"/>
                  </a:lnTo>
                  <a:lnTo>
                    <a:pt x="0" y="3848100"/>
                  </a:lnTo>
                  <a:lnTo>
                    <a:pt x="0" y="0"/>
                  </a:lnTo>
                  <a:close/>
                </a:path>
              </a:pathLst>
            </a:custGeom>
            <a:blipFill>
              <a:blip r:embed="rId4"/>
              <a:stretch>
                <a:fillRect/>
              </a:stretch>
            </a:blipFill>
          </p:spPr>
          <p:txBody>
            <a:bodyPr/>
            <a:lstStyle/>
            <a:p>
              <a:endParaRPr lang="en-US"/>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438"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295B01F1-AA1F-429E-AF1B-562D96C603AC}">
  <we:reference id="wa200010001" version="1.0.0.1" store="en-US" storeType="OMEX"/>
  <we:alternateReferences>
    <we:reference id="wa200010001" version="1.0.0.1" store="" storeType="OMEX"/>
  </we:alternateReferences>
  <we:properties>
    <we:property name="claude.fileId" value="&quot;2d154bf4-636f-4c76-8801-6d47a8bf5216&quot;"/>
  </we:properties>
  <we:bindings/>
  <we:snapshot xmlns:r="http://schemas.openxmlformats.org/officeDocument/2006/relationships"/>
</we:webextension>
</file>

<file path=ppt/webextensions/webextension2.xml><?xml version="1.0" encoding="utf-8"?>
<we:webextension xmlns:we="http://schemas.microsoft.com/office/webextensions/webextension/2010/11" id="{BDB7201E-56DD-4528-BA9E-6B5FCFC59CC7}">
  <we:reference id="wa200010725" version="1.0.0.1" store="en-US" storeType="OMEX"/>
  <we:alternateReferences>
    <we:reference id="WA200010725" version="1.0.0.1" store="" storeType="OMEX"/>
  </we:alternateReferences>
  <we:properties>
    <we:property name="claude.fileId" value="&quot;48f2b627-c010-43b6-b353-ff52cb3de273&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521</TotalTime>
  <Words>5173</Words>
  <Application>Microsoft Office PowerPoint</Application>
  <PresentationFormat>Custom</PresentationFormat>
  <Paragraphs>1081</Paragraphs>
  <Slides>21</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Aptos Narrow</vt:lpstr>
      <vt:lpstr>Arial</vt:lpstr>
      <vt:lpstr>Arial Bold</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Vinh Phạm Quang</cp:lastModifiedBy>
  <cp:revision>19</cp:revision>
  <dcterms:created xsi:type="dcterms:W3CDTF">2026-07-30T03:20:21Z</dcterms:created>
  <dcterms:modified xsi:type="dcterms:W3CDTF">2026-07-31T01:57:12Z</dcterms:modified>
</cp:coreProperties>
</file>